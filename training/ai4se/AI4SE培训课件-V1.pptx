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61" r:id="rId7"/>
    <p:sldId id="262" r:id="rId8"/>
    <p:sldId id="263" r:id="rId9"/>
    <p:sldId id="378" r:id="rId10"/>
    <p:sldId id="379" r:id="rId11"/>
    <p:sldId id="380" r:id="rId12"/>
    <p:sldId id="265" r:id="rId13"/>
    <p:sldId id="502" r:id="rId14"/>
    <p:sldId id="268" r:id="rId15"/>
    <p:sldId id="506" r:id="rId16"/>
    <p:sldId id="267" r:id="rId17"/>
    <p:sldId id="272" r:id="rId18"/>
    <p:sldId id="270" r:id="rId19"/>
    <p:sldId id="271" r:id="rId20"/>
    <p:sldId id="269" r:id="rId21"/>
    <p:sldId id="274" r:id="rId22"/>
    <p:sldId id="279" r:id="rId23"/>
    <p:sldId id="280" r:id="rId24"/>
    <p:sldId id="277" r:id="rId25"/>
    <p:sldId id="448" r:id="rId26"/>
    <p:sldId id="282" r:id="rId27"/>
    <p:sldId id="508" r:id="rId28"/>
    <p:sldId id="287" r:id="rId29"/>
    <p:sldId id="503" r:id="rId30"/>
    <p:sldId id="504" r:id="rId31"/>
    <p:sldId id="505" r:id="rId32"/>
    <p:sldId id="281" r:id="rId33"/>
    <p:sldId id="283" r:id="rId34"/>
    <p:sldId id="284" r:id="rId35"/>
    <p:sldId id="288" r:id="rId36"/>
    <p:sldId id="449" r:id="rId37"/>
    <p:sldId id="290" r:id="rId38"/>
    <p:sldId id="291"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2" r:id="rId66"/>
    <p:sldId id="389" r:id="rId67"/>
    <p:sldId id="390" r:id="rId68"/>
    <p:sldId id="391" r:id="rId69"/>
    <p:sldId id="392" r:id="rId70"/>
    <p:sldId id="393" r:id="rId71"/>
    <p:sldId id="394" r:id="rId72"/>
    <p:sldId id="395" r:id="rId73"/>
    <p:sldId id="396" r:id="rId74"/>
    <p:sldId id="323" r:id="rId75"/>
    <p:sldId id="336" r:id="rId76"/>
    <p:sldId id="337" r:id="rId7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欢迎各位参加今天的AI4SE培训课程。在接下来的一天里，我们将一起深入探讨人工智能时代的软件工程思想与实践。这门课程不是泛泛介绍AI工具，而是系统性地梳理一套完整的认知框架和可落地的工程方法。无论你是开发工程师、技术管理者还是过程改进负责人，我相信今天的内容都能为你打开一扇新的窗口。</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今天的课程分为</a:t>
            </a:r>
            <a:r>
              <a:rPr lang="zh-CN" dirty="0"/>
              <a:t>六大主题模块，覆盖了从认知重塑到能力落地的完整知识链条。我们会先重新审视AI与人的关系，再建立工程哲学的基础，然后按软件工程的自然流程——需求与设计、编码、测试与质量保障——逐一深入，最后讨论过程体系的构建和能力落地的实操方法。整个课程的设计逻辑是层层递进、环环相扣的，请大家先对这个全景有一个整体印象。</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我们正式进入第一章——认知重塑。这是整个课程的思想基础。在讨论具体方法论之前，首先要回答一个根本问题：AI究竟改变了什么，又无法改变什么？如果我们对AI的认知错了，后面所有的努力都可能走偏。这一章的核心，就是帮大家理清AI与人的正确关系，建立一个经得起实践检验的认知框架。</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我们把工作分为两种类型，这是理解人机分工的关键框架。封闭式工作——规则明确、结果可验证、存在有限解——这类工作AI如鱼得水，代码生成、测试编写、文档同步都是它的强项。而开放式工作——没有标准答案、结果是无限解、依赖主观判断——AI最多作为灵感催化剂，架构设计、需求定义、战略决策这类工作依然要由人主导。一句话总结：AI负责处理确定性，人类负责探索不确定性。记住这个分工，后面很多方法论都建立在这个基础之上。</a:t>
            </a:r>
            <a:endParaRPr lang="zh-CN" dirty="0"/>
          </a:p>
          <a:p>
            <a:r>
              <a:rPr lang="zh-CN" dirty="0"/>
              <a:t>封闭式工作，</a:t>
            </a:r>
            <a:r>
              <a:rPr lang="en-US" altLang="zh-CN" dirty="0"/>
              <a:t>AI</a:t>
            </a:r>
            <a:r>
              <a:rPr lang="zh-CN" altLang="en-US" dirty="0"/>
              <a:t>可以自行判断</a:t>
            </a:r>
            <a:r>
              <a:rPr lang="zh-CN" altLang="en-US" dirty="0"/>
              <a:t>对错。</a:t>
            </a:r>
            <a:endParaRPr lang="zh-CN" altLang="en-US" dirty="0"/>
          </a:p>
          <a:p>
            <a:r>
              <a:rPr lang="zh-CN" altLang="en-US" dirty="0"/>
              <a:t>开发式工作，价值观、决策权在</a:t>
            </a:r>
            <a:r>
              <a:rPr lang="zh-CN" altLang="en-US" dirty="0"/>
              <a:t>人。</a:t>
            </a:r>
            <a:endParaRPr lang="zh-CN" altLang="en-US" dirty="0"/>
          </a:p>
          <a:p>
            <a:r>
              <a:rPr lang="zh-CN" altLang="en-US" dirty="0"/>
              <a:t>把开放式工作交给AI，不是让它替代人类的判断，而是把人类的判断拆解为"约束+选项+迭代"，让AI在这个框架内跑起来。</a:t>
            </a:r>
            <a:endParaRPr lang="zh-CN" altLang="en-US" dirty="0"/>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刚才的分工框架，我们来看一个更尖锐的观点：AI能做而人做不到的五件事。AI没有"人性弱点"——它不会累、不会烦、不会想走捷径。这意味着什么？文档与代码同步，人类觉得枯燥难坚持，AI可以在每次代码变更后自动完成。需求追踪矩阵，从需求到设计到代码到测试的完整追溯链条，人类觉得费力不讨好，AI可以不知疲倦地维护。更关键的是设计先行——人类总有"先动手再说"的冲动，AI完全没有这个心理障碍，你可以让它老老实实先出设计再写代码。</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剩下两件事讲完。测试驱动开发这个概念提了几十年了，但很多人就是做不到——因为先写测试是一种"延迟满足"，人类本能上排斥。而AI对此毫无感觉，你让它先写测试它就写，不抱怨不拖延。质量门禁也是同理——人类容易妥协，"这次就算了先合并吧"，AI不会，它能严格坚守每一项质量检查，不妥协不跳过。所以AI4SE的终极价值不是让人类写代码更快，而是让人类更守纪律，而且让守纪律不再痛苦。这是我觉得整个课程最值得反复咀嚼的观点。</a:t>
            </a:r>
            <a:endParaRPr lang="zh-CN" dirty="0"/>
          </a:p>
          <a:p>
            <a:r>
              <a:rPr lang="en-US" altLang="zh-CN" dirty="0"/>
              <a:t>AI</a:t>
            </a:r>
            <a:r>
              <a:rPr lang="zh-CN" altLang="en-US" dirty="0"/>
              <a:t>会执行命令，而人会讨厌</a:t>
            </a:r>
            <a:r>
              <a:rPr lang="zh-CN" altLang="en-US" dirty="0"/>
              <a:t>命令。</a:t>
            </a:r>
            <a:endParaRPr lang="zh-CN" altLang="en-US" dirty="0"/>
          </a:p>
          <a:p>
            <a:endParaRPr lang="zh-CN" altLang="en-US" dirty="0"/>
          </a:p>
          <a:p>
            <a:r>
              <a:rPr lang="zh-CN" altLang="en-US" dirty="0"/>
              <a:t>有哪些事情是人能做到而</a:t>
            </a:r>
            <a:r>
              <a:rPr lang="en-US" altLang="zh-CN" dirty="0"/>
              <a:t>AI</a:t>
            </a:r>
            <a:r>
              <a:rPr lang="zh-CN" altLang="en-US" dirty="0"/>
              <a:t>做不到的呢？</a:t>
            </a:r>
            <a:endParaRPr lang="zh-CN" altLang="en-US" dirty="0"/>
          </a:p>
          <a:p>
            <a:r>
              <a:rPr lang="zh-CN" altLang="en-US" dirty="0"/>
              <a:t>人有直觉，</a:t>
            </a:r>
            <a:r>
              <a:rPr lang="en-US" altLang="zh-CN" dirty="0"/>
              <a:t>AI</a:t>
            </a:r>
            <a:r>
              <a:rPr lang="zh-CN" altLang="en-US" dirty="0"/>
              <a:t>没有</a:t>
            </a:r>
            <a:r>
              <a:rPr lang="zh-CN" altLang="en-US" dirty="0"/>
              <a:t>直觉。</a:t>
            </a:r>
            <a:endParaRPr lang="zh-CN" altLang="en-US" dirty="0"/>
          </a:p>
          <a:p>
            <a:r>
              <a:rPr lang="zh-CN" altLang="en-US" dirty="0"/>
              <a:t>人能判断是设计问题，还是编码问题，</a:t>
            </a:r>
            <a:r>
              <a:rPr lang="en-US" altLang="zh-CN" dirty="0"/>
              <a:t>AI</a:t>
            </a:r>
            <a:r>
              <a:rPr lang="zh-CN" altLang="en-US" dirty="0"/>
              <a:t>只能看到编码问题。人和</a:t>
            </a:r>
            <a:r>
              <a:rPr lang="en-US" altLang="zh-CN" dirty="0"/>
              <a:t>AI</a:t>
            </a:r>
            <a:r>
              <a:rPr lang="zh-CN" altLang="en-US" dirty="0"/>
              <a:t>在不同的层次</a:t>
            </a:r>
            <a:r>
              <a:rPr lang="zh-CN" altLang="en-US" dirty="0"/>
              <a:t>上。</a:t>
            </a:r>
            <a:endParaRPr lang="zh-CN" altLang="en-US" dirty="0"/>
          </a:p>
          <a:p>
            <a:r>
              <a:rPr lang="zh-CN" altLang="en-US" dirty="0"/>
              <a:t>人是架构师，</a:t>
            </a:r>
            <a:r>
              <a:rPr lang="en-US" altLang="zh-CN" dirty="0"/>
              <a:t>AI</a:t>
            </a:r>
            <a:r>
              <a:rPr lang="zh-CN" altLang="en-US" dirty="0"/>
              <a:t>不是架构</a:t>
            </a:r>
            <a:r>
              <a:rPr lang="zh-CN" altLang="en-US" dirty="0"/>
              <a:t>师。</a:t>
            </a:r>
            <a:endParaRPr lang="zh-CN" altLang="en-US" dirty="0"/>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把</a:t>
            </a:r>
            <a:r>
              <a:rPr lang="en-US" altLang="zh-CN"/>
              <a:t>how to do </a:t>
            </a:r>
            <a:r>
              <a:rPr lang="zh-CN" altLang="en-US"/>
              <a:t>交给</a:t>
            </a:r>
            <a:r>
              <a:rPr lang="en-US" altLang="zh-CN"/>
              <a:t>AI</a:t>
            </a:r>
            <a:r>
              <a:rPr lang="zh-CN" altLang="en-US"/>
              <a:t>去处理，人把时间花在</a:t>
            </a:r>
            <a:r>
              <a:rPr lang="en-US" altLang="zh-CN"/>
              <a:t>what</a:t>
            </a:r>
            <a:r>
              <a:rPr lang="zh-CN" altLang="en-US"/>
              <a:t>上。</a:t>
            </a:r>
            <a:endParaRPr lang="zh-CN" altLang="en-US"/>
          </a:p>
          <a:p>
            <a:r>
              <a:rPr lang="en-US" altLang="zh-CN"/>
              <a:t>what</a:t>
            </a:r>
            <a:r>
              <a:rPr lang="zh-CN" altLang="en-US"/>
              <a:t>比</a:t>
            </a:r>
            <a:r>
              <a:rPr lang="en-US" altLang="zh-CN"/>
              <a:t>how</a:t>
            </a:r>
            <a:r>
              <a:rPr lang="zh-CN" altLang="en-US"/>
              <a:t>更</a:t>
            </a:r>
            <a:r>
              <a:rPr lang="zh-CN" altLang="en-US"/>
              <a:t>重要。</a:t>
            </a:r>
            <a:endParaRPr lang="zh-CN" altLang="en-US"/>
          </a:p>
          <a:p>
            <a:r>
              <a:rPr lang="zh-CN" altLang="en-US"/>
              <a:t>不要让</a:t>
            </a:r>
            <a:r>
              <a:rPr lang="en-US" altLang="zh-CN"/>
              <a:t>AI</a:t>
            </a:r>
            <a:r>
              <a:rPr lang="zh-CN" altLang="en-US"/>
              <a:t>在</a:t>
            </a:r>
            <a:r>
              <a:rPr lang="en-US" altLang="zh-CN"/>
              <a:t>what</a:t>
            </a:r>
            <a:r>
              <a:rPr lang="zh-CN" altLang="en-US"/>
              <a:t>上</a:t>
            </a:r>
            <a:r>
              <a:rPr lang="zh-CN" altLang="en-US"/>
              <a:t>幻想。</a:t>
            </a:r>
            <a:endParaRPr lang="zh-CN" altLang="en-US"/>
          </a:p>
          <a:p>
            <a:r>
              <a:rPr lang="zh-CN" altLang="en-US"/>
              <a:t>是人说的需求，不是</a:t>
            </a:r>
            <a:r>
              <a:rPr lang="en-US" altLang="zh-CN"/>
              <a:t>AI</a:t>
            </a:r>
            <a:r>
              <a:rPr lang="zh-CN" altLang="en-US"/>
              <a:t>说的需求。需求定义者是</a:t>
            </a:r>
            <a:r>
              <a:rPr lang="zh-CN" altLang="en-US"/>
              <a:t>人。</a:t>
            </a:r>
            <a:endParaRPr lang="zh-CN" altLang="en-US"/>
          </a:p>
          <a:p>
            <a:r>
              <a:rPr lang="zh-CN" altLang="en-US"/>
              <a:t>人写需求给</a:t>
            </a:r>
            <a:r>
              <a:rPr lang="en-US" altLang="zh-CN"/>
              <a:t>AI</a:t>
            </a:r>
            <a:r>
              <a:rPr lang="zh-CN" altLang="en-US"/>
              <a:t>看，</a:t>
            </a:r>
            <a:r>
              <a:rPr lang="en-US" altLang="zh-CN"/>
              <a:t>AI</a:t>
            </a:r>
            <a:r>
              <a:rPr lang="zh-CN" altLang="en-US"/>
              <a:t>写代码给人看。你敬我一尺，我敬你一丈。你写一句话需求，我写三千行</a:t>
            </a:r>
            <a:r>
              <a:rPr lang="zh-CN" altLang="en-US"/>
              <a:t>代码。</a:t>
            </a:r>
            <a:endParaRPr lang="zh-CN" altLang="en-US"/>
          </a:p>
          <a:p>
            <a:r>
              <a:rPr lang="zh-CN" altLang="en-US"/>
              <a:t>以前自己想，自己干，不要让自己理解自己，只需要逐步想清楚，现在需要指挥别人干，要说清楚任务</a:t>
            </a:r>
            <a:r>
              <a:rPr lang="zh-CN" altLang="en-US"/>
              <a:t>了。</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原来要关注逻辑细节，现在要关注业务</a:t>
            </a:r>
            <a:r>
              <a:rPr lang="zh-CN" altLang="en-US"/>
              <a:t>细节！</a:t>
            </a:r>
            <a:endParaRPr lang="zh-CN" altLang="en-US"/>
          </a:p>
          <a:p>
            <a:r>
              <a:rPr lang="zh-CN" altLang="en-US"/>
              <a:t>原来不爱写文档，偏爱写代码，现在要写文档</a:t>
            </a:r>
            <a:r>
              <a:rPr lang="zh-CN" altLang="en-US"/>
              <a:t>了！</a:t>
            </a:r>
            <a:endParaRPr lang="zh-CN" altLang="en-US"/>
          </a:p>
          <a:p>
            <a:r>
              <a:rPr lang="zh-CN" altLang="en-US"/>
              <a:t>原来做验证，现在做确认，确认大于验证</a:t>
            </a:r>
            <a:r>
              <a:rPr lang="zh-CN" altLang="en-US"/>
              <a:t>了！</a:t>
            </a:r>
            <a:endParaRPr lang="zh-CN" altLang="en-US"/>
          </a:p>
          <a:p>
            <a:r>
              <a:rPr lang="zh-CN" altLang="en-US"/>
              <a:t>业务逻辑的</a:t>
            </a:r>
            <a:r>
              <a:rPr lang="zh-CN" altLang="en-US"/>
              <a:t>正确性</a:t>
            </a:r>
            <a:endParaRPr lang="zh-CN" altLang="en-US"/>
          </a:p>
          <a:p>
            <a:r>
              <a:rPr lang="zh-CN" altLang="en-US"/>
              <a:t>代码太多，</a:t>
            </a:r>
            <a:r>
              <a:rPr lang="zh-CN" altLang="en-US"/>
              <a:t>看不过来。</a:t>
            </a:r>
            <a:endParaRPr lang="zh-CN" altLang="en-US"/>
          </a:p>
          <a:p>
            <a:r>
              <a:rPr lang="zh-CN" altLang="en-US"/>
              <a:t>不看代码看</a:t>
            </a:r>
            <a:r>
              <a:rPr lang="zh-CN" altLang="en-US"/>
              <a:t>逻辑。</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全栈工程师是未来</a:t>
            </a:r>
            <a:r>
              <a:rPr lang="zh-CN" altLang="en-US"/>
              <a:t>趋势。</a:t>
            </a:r>
            <a:endParaRPr lang="zh-CN" altLang="en-US"/>
          </a:p>
          <a:p>
            <a:r>
              <a:rPr lang="zh-CN" altLang="en-US"/>
              <a:t>需求与架构更</a:t>
            </a:r>
            <a:r>
              <a:rPr lang="zh-CN" altLang="en-US"/>
              <a:t>关键。</a:t>
            </a:r>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们把这些散点串起来，总结一下四个维度的认知转变。角色维度：从"程序员"到"AI编排师"——你不再写具体步骤，而是定义目标、边界和验收标准。能力维度：核心竞争力从技术深度转向业务抽象能力加逻辑严谨性。流程维度：从"先写后改"的试错模式到"先想清楚再动手"的规划模式。标准维度：从用代码行数衡量产出到用功能点和质量指标衡量价值。这四个转变彼此关联，共同构成了AI时代的全新工作范式。</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花一点时间再深入讨论银弹论，因为这关乎整个课程的思想底色。Brooks时代的"本质复杂度"是什么？是指软件问题本身固有的复杂性，无论用什么工具都不会消失。但AI的出现让我们重新审视这个边界——曾经被认为是本质复杂度的某些部分，比如需求理解的沟通过程、设计方案的探索过程，在特定场景下正被AI逐步转化为可处理的偶然复杂度。这个边界移动就是我们今天讨论所有方法论的底层逻辑——拥抱AI去消灭一切可以消灭的偶然复杂度，同时把人的精力百分之百聚焦在真正不可替代的本质复杂度上。</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先从"银弹论"谈起。一九八六年，Brooks提出了著名的"没有银弹"论断——没有任何一种技术或管理上的进步，能够独立承诺在十年内将软件生产率提高一个数量级。这个论断到今天依然成立。AI消灭不了本质复杂度——模糊的业务理解、艰难的架构权衡、测试预言的判定、最终责任的承担，这些该人扛的还是要人扛。但AI把消灭偶然复杂度这件事推到了前所未有的程度——代码生成、测试编写、文档同步这些体力活几乎可以归零。所以不是银弹失效了，而是银弹的边界在移动。</a:t>
            </a:r>
            <a:endParaRPr lang="zh-CN" dirty="0"/>
          </a:p>
          <a:p>
            <a:endParaRPr lang="zh-CN" dirty="0"/>
          </a:p>
          <a:p>
            <a:r>
              <a:rPr lang="zh-CN" dirty="0"/>
              <a:t>1. 本质复杂度（Essential Complexity）</a:t>
            </a:r>
            <a:endParaRPr lang="zh-CN" dirty="0"/>
          </a:p>
          <a:p>
            <a:endParaRPr lang="zh-CN" dirty="0"/>
          </a:p>
          <a:p>
            <a:r>
              <a:rPr lang="zh-CN" dirty="0"/>
              <a:t>定义：这是问题本身固有的、不可再分的复杂程度。它由问题的核心需求决定，无论你用何种方法解决，这部分难度都无法被消除。</a:t>
            </a:r>
            <a:endParaRPr lang="zh-CN" dirty="0"/>
          </a:p>
          <a:p>
            <a:endParaRPr lang="zh-CN" dirty="0"/>
          </a:p>
          <a:p>
            <a:r>
              <a:rPr lang="zh-CN" dirty="0"/>
              <a:t>装修类比：你想把一套毛坯房变成可以居住的家。“必须通水电”、“必须砌墙隔间”、“必须粉刷墙面”，这些是“住房”这个需求本身自带的硬性工作。无论你请多厉害的施工队，这几步都省不掉。</a:t>
            </a:r>
            <a:endParaRPr lang="zh-CN" dirty="0"/>
          </a:p>
          <a:p>
            <a:r>
              <a:rPr lang="zh-CN" dirty="0"/>
              <a:t>软件类比：你要做一个银行转账系统。“必须保证账户金额扣减和增加同时成功”、“必须记录每一笔流水备查”。这些是金融业务固有的逻辑复杂性，用任何编程语言都无法回避。</a:t>
            </a:r>
            <a:endParaRPr lang="zh-CN" dirty="0"/>
          </a:p>
          <a:p>
            <a:r>
              <a:rPr lang="zh-CN" dirty="0"/>
              <a:t>2. 偶然复杂度（Accidental Complexity）</a:t>
            </a:r>
            <a:endParaRPr lang="zh-CN" dirty="0"/>
          </a:p>
          <a:p>
            <a:endParaRPr lang="zh-CN" dirty="0"/>
          </a:p>
          <a:p>
            <a:r>
              <a:rPr lang="zh-CN" dirty="0"/>
              <a:t>定义：这是你人为引入的、非固有的复杂程度。它来源于你选择的工具、方法、组织方式或过程，而非问题本身。这部分复杂度是可以被优化甚至消除的。</a:t>
            </a:r>
            <a:endParaRPr lang="zh-CN" dirty="0"/>
          </a:p>
          <a:p>
            <a:endParaRPr lang="zh-CN" dirty="0"/>
          </a:p>
          <a:p>
            <a:r>
              <a:rPr lang="zh-CN" dirty="0"/>
              <a:t>装修类比：你为了砌墙，用的是手工砌砖还是用装配式预制板；你为了找平地面，用的是劣质水平仪导致反复返工；或者你把电线埋进墙里时没有提前拍照记录线路走向，导致后期打孔时提心吊胆。这些“折腾”不是住房必需的，而是你因工具或工艺选择而额外付出的代价。</a:t>
            </a:r>
            <a:endParaRPr lang="zh-CN" dirty="0"/>
          </a:p>
          <a:p>
            <a:r>
              <a:rPr lang="zh-CN" dirty="0"/>
              <a:t>软件类比：你为了做转账系统，选择了极其冷门的编程语言，导致花三天时间配置编译环境；或者你的代码层级设计不合理，改一个字段要修改20个文件；或者为了过度追求“高复用”而设计了极其抽象、晦涩的框架。这些并非业务需要，而是技术选型和设计带来的额外成本。</a:t>
            </a:r>
            <a:endParaRPr lang="zh-CN" dirty="0"/>
          </a:p>
          <a:p>
            <a:endParaRPr lang="zh-CN" dirty="0"/>
          </a:p>
          <a:p>
            <a:r>
              <a:rPr lang="zh-CN" dirty="0"/>
              <a:t>二者最核心的区别</a:t>
            </a:r>
            <a:endParaRPr lang="zh-CN" dirty="0"/>
          </a:p>
          <a:p>
            <a:endParaRPr lang="zh-CN" dirty="0"/>
          </a:p>
          <a:p>
            <a:r>
              <a:rPr lang="zh-CN" dirty="0"/>
              <a:t>本质复杂度关乎 “做什么（What）”——是业务逻辑的拓扑结构。</a:t>
            </a:r>
            <a:endParaRPr lang="zh-CN" dirty="0"/>
          </a:p>
          <a:p>
            <a:r>
              <a:rPr lang="zh-CN" dirty="0"/>
              <a:t>偶然复杂度关乎 “怎么做（How）”——是实施路径的摩擦阻力。</a:t>
            </a:r>
            <a:endParaRPr lang="zh-CN" dirty="0"/>
          </a:p>
          <a:p>
            <a:r>
              <a:rPr lang="zh-CN" dirty="0"/>
              <a:t>一个重要的警示（反直觉）：</a:t>
            </a:r>
            <a:endParaRPr lang="zh-CN" dirty="0"/>
          </a:p>
          <a:p>
            <a:r>
              <a:rPr lang="zh-CN" dirty="0"/>
              <a:t>很多时候，程序员试图“消除本质复杂度”时，反而会叠加巨大的偶然复杂度。例如，为了应对“未来可能变化的业务逻辑”（本质），你引入了一个极其复杂的“规则引擎”和“插件架构”（偶然）。结果业务根本没变，但团队花了两周去学习这个引擎怎么用——你用偶然的复杂性，去解决尚未到来的本质复杂性，这往往是项目失败的根源。</a:t>
            </a:r>
            <a:endParaRPr lang="zh-CN" dirty="0"/>
          </a:p>
          <a:p>
            <a:endParaRPr lang="zh-CN" dirty="0"/>
          </a:p>
          <a:p>
            <a:r>
              <a:rPr lang="zh-CN" dirty="0"/>
              <a:t>本质复杂度没有变少：AI虽然强大，但底层业务的边界条件、异常处理、数据一致性校验依然是硬骨头。</a:t>
            </a:r>
            <a:endParaRPr lang="zh-CN" dirty="0"/>
          </a:p>
          <a:p>
            <a:r>
              <a:rPr lang="zh-CN" dirty="0"/>
              <a:t>偶然复杂度正在被AI大幅削减：如今，配置环境、写重复的CRUD代码、编写单元测试模板等“偶然”杂活，正被AI编程助手快速碾压。未来的开发者，核心竞争力不再是“防止偶然复杂度”，而是“精准识别并驾驭本质复杂度”——即用清晰的架构，把复杂的业务逻辑像乐高一样规整地搭起来，而不是用花哨的技术去掩盖它。</a:t>
            </a:r>
            <a:endParaRPr lang="zh-CN" dirty="0"/>
          </a:p>
          <a:p>
            <a:r>
              <a:rPr lang="zh-CN" dirty="0"/>
              <a:t>给你的行动建议：当你下次感到“好难”时，先反问自己——“这个难，是业务本身就绕不开的坎，还是我因为用了某个新框架/写了过度设计而自己挖的坑？” 把精力省下来，只攻克前者。</a:t>
            </a:r>
            <a:endParaRPr lang="zh-CN" dirty="0"/>
          </a:p>
          <a:p>
            <a:endParaRPr lang="zh-CN" dirty="0"/>
          </a:p>
          <a:p>
            <a:r>
              <a:rPr lang="zh-CN" dirty="0"/>
              <a:t>如何用事件风暴（Event Storming）或DDD（领域驱动设计）来清晰界定本质复杂度</a:t>
            </a:r>
            <a:endParaRPr lang="zh-CN" dirty="0"/>
          </a:p>
          <a:p>
            <a:r>
              <a:rPr lang="zh-CN" dirty="0"/>
              <a:t>这个话题切入得非常精准。事件风暴（Event Storming）和DDD（领域驱动设计），本质上就是一套专门用来“剥离偶然复杂度、让本质复杂度显形”的认知手术刀。</a:t>
            </a:r>
            <a:endParaRPr lang="zh-CN" dirty="0"/>
          </a:p>
          <a:p>
            <a:endParaRPr lang="zh-CN" dirty="0"/>
          </a:p>
          <a:p>
            <a:r>
              <a:rPr lang="zh-CN" dirty="0"/>
              <a:t>在实操中，我们并不靠“脑补”来区分二者，而是靠一套严格的工作坊流程。下面我带你走进一场真实的事件风暴现场，看看它是如何一步步“榨出”本质复杂度的。</a:t>
            </a:r>
            <a:endParaRPr lang="zh-CN" dirty="0"/>
          </a:p>
          <a:p>
            <a:endParaRPr lang="zh-CN" dirty="0"/>
          </a:p>
          <a:p>
            <a:r>
              <a:rPr lang="zh-CN" dirty="0"/>
              <a:t>第一步：用“橙色便签纸”把本质复杂度钉在墙上</a:t>
            </a:r>
            <a:endParaRPr lang="zh-CN" dirty="0"/>
          </a:p>
          <a:p>
            <a:endParaRPr lang="zh-CN" dirty="0"/>
          </a:p>
          <a:p>
            <a:r>
              <a:rPr lang="zh-CN" dirty="0"/>
              <a:t>事件风暴的第一步，所有人（业务专家、产品、开发）围在一面巨大的墙前，只做一件事：用橙色便签写下所有已经发生的领域事件（Domain Event）。</a:t>
            </a:r>
            <a:endParaRPr lang="zh-CN" dirty="0"/>
          </a:p>
          <a:p>
            <a:endParaRPr lang="zh-CN" dirty="0"/>
          </a:p>
          <a:p>
            <a:r>
              <a:rPr lang="zh-CN" dirty="0"/>
              <a:t>规则：只写事实，不写做法。时态必须是过去时（如“订单已创建”、“库存已锁定”、“款项已扣减”）。</a:t>
            </a:r>
            <a:endParaRPr lang="zh-CN" dirty="0"/>
          </a:p>
          <a:p>
            <a:r>
              <a:rPr lang="zh-CN" dirty="0"/>
              <a:t>作用：这些橙色便签就是本质复杂度的最小单元。因为无论你用微服务还是单体，用Java还是Go，一个电商系统最终必然会产生“订单已支付”这个事实——这是业务绕不开的刚性约束。</a:t>
            </a:r>
            <a:endParaRPr lang="zh-CN" dirty="0"/>
          </a:p>
          <a:p>
            <a:r>
              <a:rPr lang="zh-CN" dirty="0"/>
              <a:t>关键技巧：主持人要不断质问：“这是业务要求必须发生的结果，还是你为了实现它而设计的某个技术动作？”如果是“发送了MQ消息”或“更新了Redis缓存”，撕掉——这些都是偶然复杂度，不能上墙。</a:t>
            </a:r>
            <a:endParaRPr lang="zh-CN" dirty="0"/>
          </a:p>
          <a:p>
            <a:endParaRPr lang="zh-CN" dirty="0"/>
          </a:p>
          <a:p>
            <a:r>
              <a:rPr lang="zh-CN" dirty="0"/>
              <a:t>第二步：用“粉紫色便签”逼问“为什么”——找出核心枢纽</a:t>
            </a:r>
            <a:endParaRPr lang="zh-CN" dirty="0"/>
          </a:p>
          <a:p>
            <a:endParaRPr lang="zh-CN" dirty="0"/>
          </a:p>
          <a:p>
            <a:r>
              <a:rPr lang="zh-CN" dirty="0"/>
              <a:t>当橙色事件流排满墙面（通常有几十个），团队开始对每个事件追问命令（Command，用蓝色便签）和政策/规则（Policy，用淡紫色**便签）。</a:t>
            </a:r>
            <a:endParaRPr lang="zh-CN" dirty="0"/>
          </a:p>
          <a:p>
            <a:endParaRPr lang="zh-CN" dirty="0"/>
          </a:p>
          <a:p>
            <a:r>
              <a:rPr lang="zh-CN" dirty="0"/>
              <a:t>最关键的环节来了：识别“决策点”。</a:t>
            </a:r>
            <a:endParaRPr lang="zh-CN" dirty="0"/>
          </a:p>
          <a:p>
            <a:endParaRPr lang="zh-CN" dirty="0"/>
          </a:p>
          <a:p>
            <a:r>
              <a:rPr lang="zh-CN" dirty="0"/>
              <a:t>当发现某个事件触发后，业务方必须依据当前状态来做判断（比如：“库存充足才扣减，不足则拒绝”）。</a:t>
            </a:r>
            <a:endParaRPr lang="zh-CN" dirty="0"/>
          </a:p>
          <a:p>
            <a:r>
              <a:rPr lang="zh-CN" dirty="0"/>
              <a:t>这个判断规则，就是本质复杂度的深水区。它不会被任何技术手段简化为“if-else”之外的东西，它是业务的核心逻辑熵。</a:t>
            </a:r>
            <a:endParaRPr lang="zh-CN" dirty="0"/>
          </a:p>
          <a:p>
            <a:r>
              <a:rPr lang="zh-CN" dirty="0"/>
              <a:t>这时，DDD的聚合（Aggregate）概念介入。我们会把一组紧密关联的事件和命令圈起来，形成一个一致性边界（Transactional Boundary）。比如“订单聚合”里，“订单已创建”和“订单已取消”绝对不能同时发生，这种强一致性约束，就是不可削减的本质复杂度。</a:t>
            </a:r>
            <a:endParaRPr lang="zh-CN" dirty="0"/>
          </a:p>
          <a:p>
            <a:endParaRPr lang="zh-CN" dirty="0"/>
          </a:p>
          <a:p>
            <a:r>
              <a:rPr lang="zh-CN" dirty="0"/>
              <a:t>第三步：识别“读模型”——主动剔除90%的偶然复杂度</a:t>
            </a:r>
            <a:endParaRPr lang="zh-CN" dirty="0"/>
          </a:p>
          <a:p>
            <a:endParaRPr lang="zh-CN" dirty="0"/>
          </a:p>
          <a:p>
            <a:r>
              <a:rPr lang="zh-CN" dirty="0"/>
              <a:t>这是很多人忽略的黄金步骤。事件风暴中，我们会专门用绿色便签标注读模型（Read Model）——即用户界面上需要展示的数据视图。</a:t>
            </a:r>
            <a:endParaRPr lang="zh-CN" dirty="0"/>
          </a:p>
          <a:p>
            <a:endParaRPr lang="zh-CN" dirty="0"/>
          </a:p>
          <a:p>
            <a:r>
              <a:rPr lang="zh-CN" dirty="0"/>
              <a:t>发现：你会发现，墙上有大量看似复杂的逻辑（比如复杂的多表关联查询、缓存更新策略），实际上只是为了让前端展示一个“订单列表页”而已。</a:t>
            </a:r>
            <a:endParaRPr lang="zh-CN" dirty="0"/>
          </a:p>
          <a:p>
            <a:r>
              <a:rPr lang="zh-CN" dirty="0"/>
              <a:t>本质判断：展示逻辑本身不是本质复杂度，因为“展示”即使延迟几秒甚至用最终一致性都能接受。</a:t>
            </a:r>
            <a:endParaRPr lang="zh-CN" dirty="0"/>
          </a:p>
          <a:p>
            <a:r>
              <a:rPr lang="zh-CN" dirty="0"/>
              <a:t>行动：一旦确认它是读模型，我们就果断将其剥离出核心领域，用CQRS（命令查询职责分离）扔到旁边。这直接消除了大量因“既要写又要查”而产生的偶然复杂度（如复杂的ORM配置、事务传播行为）。</a:t>
            </a:r>
            <a:endParaRPr lang="zh-CN" dirty="0"/>
          </a:p>
          <a:p>
            <a:r>
              <a:rPr lang="zh-CN" dirty="0"/>
              <a:t>第四步：用“边界上下文”划定战场</a:t>
            </a:r>
            <a:endParaRPr lang="zh-CN" dirty="0"/>
          </a:p>
          <a:p>
            <a:endParaRPr lang="zh-CN" dirty="0"/>
          </a:p>
          <a:p>
            <a:r>
              <a:rPr lang="zh-CN" dirty="0"/>
              <a:t>当所有本质逻辑清晰后，我们用粗记号笔在墙上画大圈——这就是限界上下文（Bounded Context）。</a:t>
            </a:r>
            <a:endParaRPr lang="zh-CN" dirty="0"/>
          </a:p>
          <a:p>
            <a:endParaRPr lang="zh-CN" dirty="0"/>
          </a:p>
          <a:p>
            <a:r>
              <a:rPr lang="zh-CN" dirty="0"/>
              <a:t>支付上下文只管资金流水（强一致性）。</a:t>
            </a:r>
            <a:endParaRPr lang="zh-CN" dirty="0"/>
          </a:p>
          <a:p>
            <a:r>
              <a:rPr lang="zh-CN" dirty="0"/>
              <a:t>库存上下文只管物理货架（最终一致性即可）。</a:t>
            </a:r>
            <a:endParaRPr lang="zh-CN" dirty="0"/>
          </a:p>
          <a:p>
            <a:r>
              <a:rPr lang="zh-CN" dirty="0"/>
              <a:t>通知上下文只管发邮件（完全异步）。</a:t>
            </a:r>
            <a:endParaRPr lang="zh-CN" dirty="0"/>
          </a:p>
          <a:p>
            <a:r>
              <a:rPr lang="zh-CN" dirty="0"/>
              <a:t>界定本质复杂度的终极标准在此刻诞生：跨上下文之间的交互，全部允许使用“最终一致性”和“异步消息”；只有在同一个上下文内部，才需要事务和强一致性。</a:t>
            </a:r>
            <a:endParaRPr lang="zh-CN" dirty="0"/>
          </a:p>
          <a:p>
            <a:endParaRPr lang="zh-CN" dirty="0"/>
          </a:p>
          <a:p>
            <a:r>
              <a:rPr lang="zh-CN" dirty="0"/>
              <a:t>你会发现，原本以为极其复杂的分布式事务（偶然复杂度），其实是因为你把“库存扣减”和“支付成功”错误地放进了同一个上下文。一旦重新划分边界，90%的分布式锁、重试补偿机制突然就消失了——因为它们在新的上下文划分下，根本不是本质需求。</a:t>
            </a:r>
            <a:endParaRPr lang="zh-CN" dirty="0"/>
          </a:p>
          <a:p>
            <a:endParaRPr lang="zh-CN" dirty="0"/>
          </a:p>
          <a:p>
            <a:r>
              <a:rPr lang="zh-CN" dirty="0"/>
              <a:t>给你的实操清单（下次工作坊直接用）</a:t>
            </a:r>
            <a:endParaRPr lang="zh-CN" dirty="0"/>
          </a:p>
          <a:p>
            <a:endParaRPr lang="zh-CN" dirty="0"/>
          </a:p>
          <a:p>
            <a:r>
              <a:rPr lang="zh-CN" dirty="0"/>
              <a:t>步骤	动作	针对目标</a:t>
            </a:r>
            <a:endParaRPr lang="zh-CN" dirty="0"/>
          </a:p>
          <a:p>
            <a:r>
              <a:rPr lang="zh-CN" dirty="0"/>
              <a:t>1	只写“已发生的事实（橙色）”，禁止写技术动作	锁定业务刚性约束</a:t>
            </a:r>
            <a:endParaRPr lang="zh-CN" dirty="0"/>
          </a:p>
          <a:p>
            <a:r>
              <a:rPr lang="zh-CN" dirty="0"/>
              <a:t>2	追问每个命令的“前置条件”和“不可违反的不变量”	挖掘核心决策逻辑（真·本质）</a:t>
            </a:r>
            <a:endParaRPr lang="zh-CN" dirty="0"/>
          </a:p>
          <a:p>
            <a:r>
              <a:rPr lang="zh-CN" dirty="0"/>
              <a:t>3	凡是给前端看的数据，全部贴绿签扔出圈外	批量清除查询引起的偶然复杂度</a:t>
            </a:r>
            <a:endParaRPr lang="zh-CN" dirty="0"/>
          </a:p>
          <a:p>
            <a:r>
              <a:rPr lang="zh-CN" dirty="0"/>
              <a:t>4	圈定强一致性边界，圈外的对话全用异步	删除伪需求导致的分布式复杂性</a:t>
            </a:r>
            <a:endParaRPr lang="zh-CN" dirty="0"/>
          </a:p>
          <a:p>
            <a:r>
              <a:rPr lang="zh-CN" dirty="0"/>
              <a:t>5	最后问一句：“如果去掉这个功能，业务还能跑吗？”	终极验伪，筛出伪本质</a:t>
            </a:r>
            <a:endParaRPr lang="zh-CN" dirty="0"/>
          </a:p>
          <a:p>
            <a:r>
              <a:rPr lang="zh-CN" dirty="0"/>
              <a:t>2026年的新变化：AI如何融入这场工作坊？</a:t>
            </a:r>
            <a:endParaRPr lang="zh-CN" dirty="0"/>
          </a:p>
          <a:p>
            <a:endParaRPr lang="zh-CN" dirty="0"/>
          </a:p>
          <a:p>
            <a:r>
              <a:rPr lang="zh-CN" dirty="0"/>
              <a:t>现在（2026年），AI已经能快速生成事件流草稿。但AI无法替代的，恰恰是第三步和第四步的人为裁决——因为只有业务专家知道“这个数据晚两秒展示会不会导致老板拍桌子”，只有领域专家知道“库存和支付到底能不能最终一致”。</a:t>
            </a:r>
            <a:endParaRPr lang="zh-CN" dirty="0"/>
          </a:p>
          <a:p>
            <a:endParaRPr lang="zh-CN" dirty="0"/>
          </a:p>
          <a:p>
            <a:r>
              <a:rPr lang="zh-CN" dirty="0"/>
              <a:t>所以，现在DDD工作坊的新流程是：先用AI跑出100个候选事件（含大量偶然），再由团队用上述步骤做“减法”。减法做得越狠，偶然复杂度剥离得越干净，后面写代码时的AI生成准确率就越高。</a:t>
            </a:r>
            <a:endParaRPr lang="zh-CN" dirty="0"/>
          </a:p>
          <a:p>
            <a:endParaRPr lang="zh-CN" dirty="0"/>
          </a:p>
          <a:p>
            <a:r>
              <a:rPr lang="zh-CN" dirty="0"/>
              <a:t>当你做完这场工作坊，你会发现：那些剩下的、无论如何都绕不开的“强一致性判断逻辑”和“不可变事件流”，就是你的本质复杂度——它们通常只占原来看似复杂系统的20%，但却决定了业务的核心竞争力。</a:t>
            </a:r>
            <a:endParaRPr lang="zh-CN" dirty="0"/>
          </a:p>
          <a:p>
            <a:endParaRPr lang="zh-CN" dirty="0"/>
          </a:p>
          <a:p>
            <a:r>
              <a:rPr lang="zh-CN" dirty="0"/>
              <a:t>如果你感兴趣，我可以接着给你拆解一个真实案例：比如“机票超售场景”下，如何用这套方法把“复杂的抢票逻辑”简化成三个聚合之间的消息流转，想继续听吗？</a:t>
            </a:r>
            <a:endParaRPr lang="zh-CN" dirty="0"/>
          </a:p>
          <a:p>
            <a:endParaRPr lang="zh-CN" dirty="0"/>
          </a:p>
          <a:p>
            <a:r>
              <a:rPr lang="zh-CN" dirty="0"/>
              <a:t>AI时代哪些偶然复杂度最该交给工具</a:t>
            </a:r>
            <a:endParaRPr lang="zh-CN" dirty="0"/>
          </a:p>
          <a:p>
            <a:r>
              <a:rPr lang="zh-CN" dirty="0"/>
              <a:t>这个问题问到了点子上。在2026年，AI已经像水电一样普及，但最致命的错误不是不用AI，而是把AI用在了错误的地方——去解决本质复杂度，或者试图用AI“简化”那些根本不可简化的业务逻辑。</a:t>
            </a:r>
            <a:endParaRPr lang="zh-CN" dirty="0"/>
          </a:p>
          <a:p>
            <a:endParaRPr lang="zh-CN" dirty="0"/>
          </a:p>
          <a:p>
            <a:r>
              <a:rPr lang="zh-CN" dirty="0"/>
              <a:t>相反，偶然复杂度恰恰是AI大显身手的舞台。根据我观察到的国内外一线团队实践，以下5类偶然复杂度，现在最应该毫不犹豫地扔给AI工具处理：</a:t>
            </a:r>
            <a:endParaRPr lang="zh-CN" dirty="0"/>
          </a:p>
          <a:p>
            <a:endParaRPr lang="zh-CN" dirty="0"/>
          </a:p>
          <a:p>
            <a:r>
              <a:rPr lang="zh-CN" dirty="0"/>
              <a:t>第1类：环境搭建与“依赖地狱”（最该交，零容忍）</a:t>
            </a:r>
            <a:endParaRPr lang="zh-CN" dirty="0"/>
          </a:p>
          <a:p>
            <a:endParaRPr lang="zh-CN" dirty="0"/>
          </a:p>
          <a:p>
            <a:r>
              <a:rPr lang="zh-CN" dirty="0"/>
              <a:t>表现：配置Dockerfile、写docker-compose.yml、解决maven/gradle/npm包版本冲突、折腾Python虚拟环境。花费半天时间只为让“Hello World”跑起来。</a:t>
            </a:r>
            <a:endParaRPr lang="zh-CN" dirty="0"/>
          </a:p>
          <a:p>
            <a:r>
              <a:rPr lang="zh-CN" dirty="0"/>
              <a:t>为什么是偶然：这是典型的“想做红烧肉，却花了两小时磨刀”。业务本身根本不关心你用的是Spring Boot 3.2还是3.3。</a:t>
            </a:r>
            <a:endParaRPr lang="zh-CN" dirty="0"/>
          </a:p>
          <a:p>
            <a:r>
              <a:rPr lang="zh-CN" dirty="0"/>
              <a:t>2026年的解法：直接用AI对话式运维（如结合了Agent能力的DevOps工具）。直接对AI说：“帮我生成一个基于Node.js 20、连接PostgreSQL和Redis的本地开发环境配置文件，并要求一键启动。” AI不仅生成配置，还能根据你本机的端口占用情况自动调整映射。</a:t>
            </a:r>
            <a:endParaRPr lang="zh-CN" dirty="0"/>
          </a:p>
          <a:p>
            <a:r>
              <a:rPr lang="zh-CN" dirty="0"/>
              <a:t>节省时间：这类问题通常占据新手入职第一周的40%，现在缩减为3分钟。</a:t>
            </a:r>
            <a:endParaRPr lang="zh-CN" dirty="0"/>
          </a:p>
          <a:p>
            <a:r>
              <a:rPr lang="zh-CN" dirty="0"/>
              <a:t>第2类：重复性“样板代码”与基础CRUD（批量生成）</a:t>
            </a:r>
            <a:endParaRPr lang="zh-CN" dirty="0"/>
          </a:p>
          <a:p>
            <a:endParaRPr lang="zh-CN" dirty="0"/>
          </a:p>
          <a:p>
            <a:r>
              <a:rPr lang="zh-CN" dirty="0"/>
              <a:t>表现：写Controller、Service、Mapper/Dao的增删改查，写字段校验注解（如@NotNull），写简单的单元测试Mock模板。</a:t>
            </a:r>
            <a:endParaRPr lang="zh-CN" dirty="0"/>
          </a:p>
          <a:p>
            <a:r>
              <a:rPr lang="zh-CN" dirty="0"/>
              <a:t>为什么是偶然：这些是“胶水代码”，只负责把用户请求糊到数据库上。业务的本质是“转账规则”或“库存扣减策略”，而不是“通过ID查询用户”。</a:t>
            </a:r>
            <a:endParaRPr lang="zh-CN" dirty="0"/>
          </a:p>
          <a:p>
            <a:r>
              <a:rPr lang="zh-CN" dirty="0"/>
              <a:t>2026年的解法：使用Cursor / Copilot / 通义灵码的“从数据库表生成全栈代码”功能，或直接输入接口文档（Swagger/OpenAPI）让AI生成完整的服务端骨架。更高级的，结合SQL生成API的工具（如PocketBase或Supabase的AI增强版），连后端代码都不用写。</a:t>
            </a:r>
            <a:endParaRPr lang="zh-CN" dirty="0"/>
          </a:p>
          <a:p>
            <a:r>
              <a:rPr lang="zh-CN" dirty="0"/>
              <a:t>标准：凡是格式固定、逻辑单一路径的代码，AI生成率应达到90%以上，人只负责Review边界异常（如SQL注入风险，虽然AI现在防得不错）。</a:t>
            </a:r>
            <a:endParaRPr lang="zh-CN" dirty="0"/>
          </a:p>
          <a:p>
            <a:r>
              <a:rPr lang="zh-CN" dirty="0"/>
              <a:t>第3类：数据迁移与老旧代码“破译”（磨人重灾区）</a:t>
            </a:r>
            <a:endParaRPr lang="zh-CN" dirty="0"/>
          </a:p>
          <a:p>
            <a:endParaRPr lang="zh-CN" dirty="0"/>
          </a:p>
          <a:p>
            <a:r>
              <a:rPr lang="zh-CN" dirty="0"/>
              <a:t>表现：你要把一个十年老系统的存储过程（上千行PL/SQL）迁移到新Java服务；或者需要理解一段没有注释、作者已离职的混乱Python脚本，找出它到底在算什么指标。</a:t>
            </a:r>
            <a:endParaRPr lang="zh-CN" dirty="0"/>
          </a:p>
          <a:p>
            <a:r>
              <a:rPr lang="zh-CN" dirty="0"/>
              <a:t>为什么是偶然：这段代码的功能（算出月度报表）是本质，但那段“面条式”的写法和晦涩的字段名是历史遗留的偶然。</a:t>
            </a:r>
            <a:endParaRPr lang="zh-CN" dirty="0"/>
          </a:p>
          <a:p>
            <a:r>
              <a:rPr lang="zh-CN" dirty="0"/>
              <a:t>2026年的解法：将老代码全选，粘贴给AI（如Claude 4或GPT-5级模型），Prompt这样说：“请解读这段代码的业务逻辑，用中文业务语言列出步骤，并帮我重构成可读性强的Java 21代码，使用Stream和Record特性。”</a:t>
            </a:r>
            <a:endParaRPr lang="zh-CN" dirty="0"/>
          </a:p>
          <a:p>
            <a:r>
              <a:rPr lang="zh-CN" dirty="0"/>
              <a:t>惊喜：现在的AI不仅能翻译，还能指出原代码中的逻辑漏洞（例如Integer比较用了==），这叫“AI代码考古”。</a:t>
            </a:r>
            <a:endParaRPr lang="zh-CN" dirty="0"/>
          </a:p>
          <a:p>
            <a:r>
              <a:rPr lang="zh-CN" dirty="0"/>
              <a:t>第4类：测试数据构造与“边界条件”暴力枚举</a:t>
            </a:r>
            <a:endParaRPr lang="zh-CN" dirty="0"/>
          </a:p>
          <a:p>
            <a:endParaRPr lang="zh-CN" dirty="0"/>
          </a:p>
          <a:p>
            <a:r>
              <a:rPr lang="zh-CN" dirty="0"/>
              <a:t>表现：为了测试一个“优惠券计算”接口，你需要构造：过期券、未开始券、满减券、折扣券、叠加冲突券……手动在Postman里填JSON填到眼瞎。</a:t>
            </a:r>
            <a:endParaRPr lang="zh-CN" dirty="0"/>
          </a:p>
          <a:p>
            <a:r>
              <a:rPr lang="zh-CN" dirty="0"/>
              <a:t>为什么是偶然：测试覆盖率是质量要求（本质），但手工捏造几十个JSON对象绝对是纯粹的体力活。</a:t>
            </a:r>
            <a:endParaRPr lang="zh-CN" dirty="0"/>
          </a:p>
          <a:p>
            <a:r>
              <a:rPr lang="zh-CN" dirty="0"/>
              <a:t>2026年的解法：使用AI测试生成工具（如GitHub Copilot Workshop或Diffblue）。给AI一个Java类或接口定义，命令：“生成覆盖所有边界条件的单元测试，包括null值、空集合、极大值、极小值，并使用工厂模式构造测试数据。”</a:t>
            </a:r>
            <a:endParaRPr lang="zh-CN" dirty="0"/>
          </a:p>
          <a:p>
            <a:r>
              <a:rPr lang="zh-CN" dirty="0"/>
              <a:t>进阶：甚至可以让AI基于你的生产日志（脱敏后），自动生成符合真实分布的测试数据集，这在压测时极度有用。</a:t>
            </a:r>
            <a:endParaRPr lang="zh-CN" dirty="0"/>
          </a:p>
          <a:p>
            <a:r>
              <a:rPr lang="zh-CN" dirty="0"/>
              <a:t>第5类：文档撰写与“上下文切换”记忆唤醒</a:t>
            </a:r>
            <a:endParaRPr lang="zh-CN" dirty="0"/>
          </a:p>
          <a:p>
            <a:endParaRPr lang="zh-CN" dirty="0"/>
          </a:p>
          <a:p>
            <a:r>
              <a:rPr lang="zh-CN" dirty="0"/>
              <a:t>表现：上周写的复杂算法，今天同事来问你为什么要这么设计；或者需要给新功能写上线部署手册。</a:t>
            </a:r>
            <a:endParaRPr lang="zh-CN" dirty="0"/>
          </a:p>
          <a:p>
            <a:r>
              <a:rPr lang="zh-CN" dirty="0"/>
              <a:t>为什么是偶然：代码是本质，但将脑中的逻辑转译成人类语言这个动作，并不产生业务价值，完全是沟通成本。</a:t>
            </a:r>
            <a:endParaRPr lang="zh-CN" dirty="0"/>
          </a:p>
          <a:p>
            <a:r>
              <a:rPr lang="zh-CN" dirty="0"/>
              <a:t>2026年的解法：不再手动写文档。而是使用AI文档生成器，挂载你的Git仓库，AI自动分析Git提交记录和代码变更，生成变更日志（Changelog）。针对具体函数，使用AI代码注释生成，Prompt：“为这个类生成符合JavaDoc规范的注释，并用中文解释其设计模式，重点说明为何使用异步而非同步。” 关键是将AI集成到CI/CD流水线，每次发布自动生成一份《本次迭代业务影响说明》。</a:t>
            </a:r>
            <a:endParaRPr lang="zh-CN" dirty="0"/>
          </a:p>
          <a:p>
            <a:r>
              <a:rPr lang="zh-CN" dirty="0"/>
              <a:t>⚠️ 最重要的避坑指南（给2026年的你）</a:t>
            </a:r>
            <a:endParaRPr lang="zh-CN" dirty="0"/>
          </a:p>
          <a:p>
            <a:endParaRPr lang="zh-CN" dirty="0"/>
          </a:p>
          <a:p>
            <a:r>
              <a:rPr lang="zh-CN" dirty="0"/>
              <a:t>虽然以上这些交出去很爽，但有一条红线绝对不能碰：</a:t>
            </a:r>
            <a:endParaRPr lang="zh-CN" dirty="0"/>
          </a:p>
          <a:p>
            <a:endParaRPr lang="zh-CN" dirty="0"/>
          </a:p>
          <a:p>
            <a:r>
              <a:rPr lang="zh-CN" dirty="0"/>
              <a:t>绝对不要用AI去生成“核心算法中的业务判定规则”（即本质复杂度）。</a:t>
            </a:r>
            <a:endParaRPr lang="zh-CN" dirty="0"/>
          </a:p>
          <a:p>
            <a:endParaRPr lang="zh-CN" dirty="0"/>
          </a:p>
          <a:p>
            <a:r>
              <a:rPr lang="zh-CN" dirty="0"/>
              <a:t>比如，AI建议你“为了简化代码，将‘VIP用户’的折扣从0.8改为0.9”——它没有错，但它不知道这个0.1的差异代表着老板签了多少对赌协议。本质复杂度必须由“领域专家（你）”锁定，AI只能当“执行者”。</a:t>
            </a:r>
            <a:endParaRPr lang="zh-CN" dirty="0"/>
          </a:p>
          <a:p>
            <a:endParaRPr lang="zh-CN" dirty="0"/>
          </a:p>
          <a:p>
            <a:r>
              <a:rPr lang="zh-CN" dirty="0"/>
              <a:t>你的下一步行动清单</a:t>
            </a:r>
            <a:endParaRPr lang="zh-CN" dirty="0"/>
          </a:p>
          <a:p>
            <a:endParaRPr lang="zh-CN" dirty="0"/>
          </a:p>
          <a:p>
            <a:r>
              <a:rPr lang="zh-CN" dirty="0"/>
              <a:t>今天就能做的	一个月内能优化的</a:t>
            </a:r>
            <a:endParaRPr lang="zh-CN" dirty="0"/>
          </a:p>
          <a:p>
            <a:r>
              <a:rPr lang="zh-CN" dirty="0"/>
              <a:t>把所有// TODO注释粘贴给AI，让它写完	引入AI驱动的代码审查（PR Review），自动标记“高偶然复杂度区域”</a:t>
            </a:r>
            <a:endParaRPr lang="zh-CN" dirty="0"/>
          </a:p>
          <a:p>
            <a:r>
              <a:rPr lang="zh-CN" dirty="0"/>
              <a:t>遇到Maven/Gradle报错，直接复制错误扔给Kimi/ChatGPT	搭建内部AI知识库，喂入你团队的编码规范，让AI生成的代码自带风格</a:t>
            </a:r>
            <a:endParaRPr lang="zh-CN" dirty="0"/>
          </a:p>
          <a:p>
            <a:r>
              <a:rPr lang="zh-CN" dirty="0"/>
              <a:t>写单元测试时，只写关键断言，其余让AI填充	尝试用AI重构旧的工具类，消灭重复代码（DRY）</a:t>
            </a:r>
            <a:endParaRPr lang="zh-CN" dirty="0"/>
          </a:p>
          <a:p>
            <a:r>
              <a:rPr lang="zh-CN" dirty="0"/>
              <a:t>把时间从“搬砖”里抢出来，去思考“为什么这个订单状态机在退款时会有三个并行分支？”——这才是你比AI贵十倍的原因。</a:t>
            </a:r>
            <a:endParaRPr lang="zh-CN" dirty="0"/>
          </a:p>
          <a:p>
            <a:endParaRPr lang="zh-CN" dirty="0"/>
          </a:p>
          <a:p>
            <a:r>
              <a:rPr lang="zh-CN" dirty="0"/>
              <a:t>如果你想知道，“如何训练AI识别你们公司特有的业务术语，让它生成的不再是通用代码，而是符合你们业务中台的代码”，我可以接着聊聊“RAG（检索增强生成）结合DDD术语库”的落地姿势，感兴趣吗？😊</a:t>
            </a:r>
            <a:endParaRPr lang="zh-CN" dirty="0"/>
          </a:p>
          <a:p>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我们来谈一个很多人关心的问题：AI到底能不能写出没有Bug的代码？实事求是的答案是，AI的本质是概率性文本接龙，不是逻辑推导——所以它写不出绝对意义上的零Bug代码。但我们把错误的类型分一下层就会发现：语法错误几乎可以消除，逻辑错误需要人审，边界工程错误需要测试闭环来捕获，只有安全业务类的错误需要真正的领域知识。在"人定规则、AI落地、测试闭环"这个范式下，我们完全可以产出通过所有测试、可以上线的零缺陷代码。关键是心态——AI是副驾驶，不是自动驾驶。</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二章，工程哲学。有了正确的认知之后，我们需要建立一套价值观和方法论来指导日常实践。软件工程从来不只是技术问题，更是哲学问题——你相信什么，你就会怎么做。这一章我们会重新审视软件工程的本质，探讨AI时代"银弹论"的新边界，提出代码质量的三层金字塔模型，以及一条投入产出比最高的方法论——去模糊化。</a:t>
            </a:r>
            <a:endParaRPr 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刚才讲的是理想状态，现实中用AI编程会遇到哪些痛点？我们总结了三个核心痛点和对策。第一个痛点是忘性大——对话上下文一长，早期约定就被遗忘了。对策很明确：不要把约定放在对话记忆里，而是把规则外置、契约文档化、用回归测试做护城河。第二个痛点是自以为是——AI遇到模糊信息时，不是主动追问你，而是基于概率脑补一个它认为最可能的答案。对策就是去模糊化沟通、精确输入、Sample-First先给样例。第三个痛点是知识陈旧——训练数据有截止日期，AI可能用旧的API。对策是建立RAG知识库、用Skill注入最新知识、强化代码审查。</a:t>
            </a:r>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我们进入一个非常实用的模型——代码质量的三层金字塔。让AI生成代码，我们要追求三个层次的质量。底层是"正确"——代码要匹配需求，这可以通过TDD来约束：先写测试，再让AI生成代码，测试通过就等于正确。中层是"无坏味道"——代码要整洁，没有重复、没有过长方法、没有过高的圈复杂度，这可以通过自动扫描和AI辅助重构来保证。顶层是"优美"——设计层次优雅，这需要意图识别、模式推荐和SOLID自检。三层从下往上，对人的能力要求递增，自动化程度递减。</a:t>
            </a:r>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知道了金字塔的结构，我们再来看如何在实践中落地。推荐的递进工作流是这样：先做设计决策，确定架构模式、组件边界和接口契约——这是优美层的动作，最考验人的判断力。然后进入TDD循环，红绿重构，每次只针对一个测试——这是正确层的动作，靠方法约束。最后运行坏味道扫描，自动检测并修复问题——这是无坏味道层的动作，自动化程度最高。金字塔从难到易，但真正决定代码质量上限的，恰恰是最上面那层，也就是人的设计判断力。</a:t>
            </a:r>
            <a:endParaRPr 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刚才对银弹论的重新审视，我们引出本章的核心论断：AI编程更应工程化，同时AI编程也更能工程化。为什么更应工程化？因为AI放大了不规范的成本——AI时代的不规范意味着AI的输出不可控，返工成本成倍增加，这倒逼你必须工程化。为什么更能工程化呢？因为AI天生就是工程化的完美执行者——永不疲惫、持续注意力、无捷径倾向、严格遵守硬性约束，以前工程化卡在人性的执行上，现在AI让严格执行首次成为可能。</a:t>
            </a:r>
            <a:endParaRPr 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AI</a:t>
            </a:r>
            <a:r>
              <a:rPr lang="zh-CN" altLang="en-US" dirty="0"/>
              <a:t>编码必须</a:t>
            </a:r>
            <a:r>
              <a:rPr lang="en-US" altLang="zh-CN" dirty="0"/>
              <a:t>TDD</a:t>
            </a:r>
            <a:r>
              <a:rPr lang="zh-CN" altLang="en-US" dirty="0"/>
              <a:t>，必须</a:t>
            </a:r>
            <a:r>
              <a:rPr lang="en-US" altLang="zh-CN" dirty="0"/>
              <a:t>SDD</a:t>
            </a:r>
            <a:r>
              <a:rPr lang="zh-CN" altLang="en-US" dirty="0"/>
              <a:t>。</a:t>
            </a:r>
            <a:endParaRPr lang="zh-CN" altLang="en-US" dirty="0"/>
          </a:p>
          <a:p>
            <a:r>
              <a:rPr lang="zh-CN" altLang="en-US" dirty="0"/>
              <a:t>需求、测试用例、案例或原型，三件套。</a:t>
            </a:r>
            <a:endParaRPr lang="zh-CN" altLang="en-US" dirty="0"/>
          </a:p>
          <a:p>
            <a:r>
              <a:rPr lang="zh-CN" dirty="0"/>
              <a:t>三大策略落地需要一套工程化框架，我们提出了四层架构。第一层是原则，这是不可妥协的工程底线，比如每次变更必须通过全部测试。第二层是规范，包括编码规范、命名约定和架构约束，这是标准化的执行标准。第三层是Skill，把可复用的AI工作流封装起来，沉淀最佳实践。第四层是工具链，包括自动化测试、代码扫描和CI/CD流水线。四层之间是递进支撑关系——原则指引规范，规范固化到Skill，Skill驱动工具链。</a:t>
            </a:r>
            <a:endParaRPr 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先讲AI开发的四大核心原则，这四条原则是让AI开发从试错式编码转向规范化工程落地的基石。第一条是完备规划——先定规则再写代码，需求文档、业务事件、业务能力、结构化描述、工作流编排，这五步走完才让AI动手。第二条是分级MVP——把大需求层层拆解为最小可验证单元，大需求拆成中需求、中需求拆成小需求、小需求拆成最小可验证单元。第三条是增量实现——小步叠加、只增不改，每次只添加一个已验证过的最小单元。第四条是局部修改——改哪里说哪里，圈外不动，严禁AI顺手"优化"你根本没提到的部分。</a:t>
            </a:r>
            <a:endParaRPr 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大原则的核心理念可以浓缩为一句话：鼓励有效增量，减少无效迭代。什么是有效增量？每个增量都是可验证、可交付、不破坏已有功能的独立单元。什么是无效迭代？一个大需求一次扔给AI，多轮修改返工，质量不可控，最后交付时间反而更晚。四大原则是一个乘法关系——有效交付等于完备规划乘以分级MVP乘以增量实现乘以局部修改，任何一个环节打折扣，整体产出都会受到影响。</a:t>
            </a:r>
            <a:endParaRPr 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章的总结。工程哲学层面我们有四大认知。第一，AI不是银弹，但能消灭偶然复杂度让人聚焦本质。第二，AI倒逼工程化——不规范的成本被AI放大，守纪律的价值被AI彰显。第三，代码质量要从正确到无坏味道再到优美逐层递进。第四，去模糊化是投入产出比最高的投资。关键行动也很直接：建立工程化体系，养成去模糊化的沟通习惯，让AI在清晰的约束框架内发挥最大效能。</a:t>
            </a:r>
            <a:endParaRPr 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进入第三章——需求与设计。如果说认知重塑是思想基础，工程哲学是价值观，那么需求与设计就是一切的起点。AI时代有一个被反复验证的铁律：需求质量直接决定了代码质量的上限。AI不会替你去追问模糊的需求，你给它什么它就基于什么来生成。这一章我们要解决的核心问题，就是从模糊想法到精确规格的完整转化之道。</a:t>
            </a:r>
            <a:endParaRPr 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我们看需求转化的完整链路。核心问题是：AI无法主动追问模糊需求，开发人员必须承担起把模糊需求转化为精确规格的责任。这条转化链路是：从模糊的业务需求出发，先识别关键业务事件，然后映射出对应的业务能力，接着用统一模板做结构化描述，最后形成AI可读的规格。这里有一个五项检查单——目标明确性、输入完整性、输出规范性、边界清晰性、验收可测性——任何一项不通过，就不应该让AI开始写代码。你给AI的指令越清晰，AI给你的回报就越精准。</a:t>
            </a:r>
            <a:endParaRPr 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绝不和</a:t>
            </a:r>
            <a:r>
              <a:rPr lang="en-US" altLang="zh-CN" dirty="0"/>
              <a:t>AI</a:t>
            </a:r>
            <a:r>
              <a:rPr lang="zh-CN" altLang="en-US" dirty="0"/>
              <a:t>说形容词！</a:t>
            </a:r>
            <a:endParaRPr lang="zh-CN" altLang="en-US" dirty="0"/>
          </a:p>
          <a:p>
            <a:endParaRPr lang="zh-CN" dirty="0"/>
          </a:p>
          <a:p>
            <a:r>
              <a:rPr lang="zh-CN" dirty="0"/>
              <a:t>在结束本章之前，我要强调一条被严重低估的核心方法论——去模糊化。我们做过统计，得出了一个"一比十定律"：前期投入一分钟去模糊化，可以节省十分钟返工时间。模糊沟通的代价是一个恶性循环——目标模糊导致AI输出偏离，偏离导致返工，返工后再次模糊沟通，再次偏离，如此往复。怎么打破这个循环？八条去模糊化方法论：量化角色定位、量化任务目标、量化篇幅规范、量化输出格式、明确内容边界、清晰应用场景、精确逻辑颗粒度、可测验收标准。核心原则就一句：摒弃所有形容词和副词的沟通方式，实现确定性交付。</a:t>
            </a:r>
            <a:endParaRPr 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去模糊化方法论在需求阶段做一个具体演示。用"做一个用户管理系统"这个例子——这是一句典型的模糊需求，AI根本无从下手。去模糊化之后变成什么？目标明确为企业内部用户的生命周期管理，角色清晰为普通用户、部门管理员和系统管理员三类。功能域划分好——注册登录、权限管理、部门归属、状态流转。非功能需求量化——支持一千并发、响应时间低于两百毫秒、数据加密存储。从一句话到一份AI可以直接生成代码的结构化规格，这个转变的过程就是去模糊化的价值所在。</a:t>
            </a:r>
            <a:endParaRPr 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前面的案例，我们把需求到规格的转化链路标准化为五个步骤。第一步，需求文档——收集整理原始需求，完成去模糊化。第二步，业务事件识别——找到关键业务事件，比如用户注册、订单创建这种触发点。第三步，业务能力映射——为每个事件匹配需要的业务能力。第四步，结构化描述——用统一模板描述每个能力的输入、输出、边界和异常。第五步，工作流编排——把独立的能力串联起来，形成AI可以直接执行的开发任务包。这五步走完，模糊的需求就变成了一个可执行、可验证的规格体系。</a:t>
            </a:r>
            <a:endParaRPr 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转化链路，我们提取出三条黄金法则。第一条是完备规划法则——先想清楚再让AI动手，想清楚了就不用做两遍。我们的实践数据表明，需求阶段投入一小时，编码阶段至少能节省一天。第二条是Spec先行法则——Spec是人与AI之间的合同，双方必须以它为唯一真相源。没有Spec就不写代码，这是一条硬性纪律。第三条是分层拆解法则——从粗粒度到细粒度逐层拆解，每一层独立验证通过后再进入下一层，坚决禁止一次把全部需求扔给AI。</a:t>
            </a:r>
            <a:endParaRPr 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来看一个更高层面的闭环——需求探索和缺陷复盘的辩证统一。往前看是需求探索和技术预研，识别潜在风险、明确验收标准、设计测试策略。往后看是缺陷复盘和根因分析，从现象追到根因、从教训提炼预防措施。这两者必须打通——复盘发现的教训沉淀为测试设计规范，应用到下一个需求的探索中，形成持续改进的飞轮。如果只做探索不复盘，教训会流失；如果只复盘不反哺探索，改进就停留在纸面上。只有两者的闭环才能让质量能力持续进化。</a:t>
            </a:r>
            <a:endParaRPr 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给大家介绍一个实战工具——AI需求分析师。它的核心思路是将资深需求工程师的方法论注入AI，实现三十分钟从模糊想法到完整需求规格。底层是一套十二元素需求体系——角色、目标、前置条件、后置条件、主流程、异常流程、数据项、校验规则等。在此基础上构建了三大核心能力：结构化对话引导，通过VIST和AED校验逐步澄清模糊需求；自动完备性检查，识别遗漏、矛盾和歧义；CLOUD拆分，将大需求合理拆解为独立可交付单元。这个工具的意义在于大幅降低了对专业需求工程师的依赖度。</a:t>
            </a:r>
            <a:endParaRPr 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下面通过一个完整的实战案例来演示这些原则如何落地。我们用Vibe Coding的方法从零构建了一个"AI需求分析师"软件，整个过程分为五个阶段。第一阶段是想法注入——通过与AI的持续对话，逐步把领域方法论注入进去，让AI理解需求分析师的专业知识体系。第二阶段是Spec生成——基于注入的知识生成结构化的Spec，这个Spec成为后续所有开发的唯一真相源。第三阶段是技术预研——系统性地让AI列出技术选项，由人来做出最终选择，用实验替代猜测。第四阶段是从对话中提取可复用构件。第五阶段是识别设计模式。</a:t>
            </a:r>
            <a:endParaRPr 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实战案例带来了几条深刻教训。第一，增量注入知识，不要一次把所有东西都给AI，分阶段喂入效果更好。第二，人做决策，AI列选项做优劣分析，但最终选择权必须握在人手里。第三，Spec先行再动代码，一行代码都不要在Spec完成之前写。第四，永远不要跳过技术预研，不要想当然地认为AI给出的技术方案就是最合适的。这四条教训背后其实是一个核心原则：人的判断力是整个过程中不可替代的稀缺资源，要把它用在最关键的地方。</a:t>
            </a:r>
            <a:endParaRPr 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需求与设计这一章的要点。核心认知是：AI无法主动追问模糊需求，模糊的输入必然产生模糊的输出，这个因果关系是铁律。我们提供的方法论包括四大核心原则、五步转化法和Spec先行原则。工具层面有AI需求分析师、结构化需求模板和去模糊化检查单。我希望大家带走的行动项是：把需求工程能力提升为团队的核心竞争力——AI时代的需求工程比以往任何时候都更重要。</a:t>
            </a:r>
            <a:endParaRPr 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进入第四章——编码。有了高质量的需求规格，接下来就要考虑如何高效地把代码写出来。但我想在一开始就纠正一个普遍的误解：AI编码不是"让AI替我们写代码"，而是"人与AI高效协作编码"。这两者的区别在于，前者是放任不管，后者是有策略有纪律地协作。这一章我们分享的全部是最佳实践的总结，很多是从真实的踩坑经验中提炼出来的。</a:t>
            </a:r>
            <a:endParaRPr 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首先讲一个被严重低估的真实规律：AI天生"喜新厌旧"。面对全新独立的需求，AI表现极好。一旦涉及已有代码，表现就下降。涉及多模块接口时容易出错。面对历史遗留代码时，常常越改越乱。这个规律的根本原因在于AI是语言模型而非逻辑引擎——它不真正理解你的代码库的整体结构。对策有三条：契约先行，在编码前就定义好清晰的接口契约；回归测试护城河，每次变更都跑完整回归；原子化提交，每次只提交一个独立的功能变更。最优策略不是"先随便写再慢慢改"，而是力争一次成功。</a:t>
            </a:r>
            <a:endParaRPr 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么面对复杂需求怎么做到一次成功？答案是小步快跑、步步为营。为什么大需求直接扔给AI注定失败？四个原因：AI是语言模型而非逻辑引擎，无法自主规划复杂任务的执行顺序；AI缺乏真实的执行环境，无法通过运行代码来验证自己的输出；上下文窗口有上限，超出部分会被遗忘；训练数据有"平均化"陷阱，AI倾向于给出最常见而非最合适的方案。正确的方法是把复杂需求拆解为独立的、可验证的小任务，逐个执行，每个任务确认后再进入下一个，最终累积成一个完整系统。人类负责定流程和拆任务，AI负责执行和写代码。</a:t>
            </a:r>
            <a:endParaRPr 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处理Bug是编程中不可避免的环节，而AI调试有一个默认行为需要高度警惕：它看到现象后倾向于直接给出它最熟悉的解决方案，而不是先定位根本原因。我们总结了九条防坑原则：让AI给出修复前必须先确认它找到了真正的根因，警惕它为了快速修复而牺牲架构完整性的权宜之计，在排查过程中保持初心不被次生问题带偏。同时要建立六步标准调试流程——复现、日志收集、假设生成、根因定位、修复、回归验证。关键心态是：AI是工具，根因分析的责任始终在人身上。</a:t>
            </a:r>
            <a:endParaRPr 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给大家讲一个真实的血泪教训，我称之为"第七个字符的陷阱"。一个Excel自动化程序，B二十七单元格有一个公式，含义是从字符串第七个字符开始取。程序写入的是"Maturity Level 五"，第七个字符是字母t而不是数字，结果全盘崩溃。这个案例有几点深刻教训：Excel公式、数据验证和宏共同构成了一套不透明的隐式契约系统，字符串位置依赖是定时炸弹，AI根本不会主动发现这类隐性契约——它只能由人来识别并显式化。这类问题是工程质量的头号杀手，但往往在代码审查中最容易被忽略。</a:t>
            </a:r>
            <a:endParaRPr 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软件复用在AI时代有了全新的可能。我们构建了一套"提取、沉淀、登记、推荐、评审"的全闭环复用机制。在源码级，建立可复用组件清单，让AI在编码时主动推荐已有组件。在设计级，提取设计模式沉淀为Skill，在开发全流程中主动推荐和校验。这个闭环让复用从"靠人的记忆"变成了"AI主动推荐"——以前是有经验的工程师知道有个组件可以复用，现在AI替所有人记住了。这不只是效率的提升，更是团队知识的民主化。</a:t>
            </a:r>
            <a:endParaRPr 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围绕重构我们总结了几个要点。首先要认识到重构不是一次性事件，而是持续改进的过程。常见的问题类型包括重复代码、死代码、霰弹式修改和异步竞态。关键经验是三句话：小步快跑每次只改一点，保持向后兼容不产生破坏性变更，优先复用公共组件。最核心的原则是建立单一真相源、统一命名约定和代码审查清单——让AI辅助执行重构，但主导权始终在人手里。</a:t>
            </a:r>
            <a:endParaRPr 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用一个具体案例来展示小步重构的魅力——从Flash提示逐步迁移到统一的Toast组件。之前的状况是多个页面各自实现Flash提示，用户体验不一致，维护成本高。迁移策略不是一次全部改完，而是每次只迁移一个页面，立即测试确认无问题，然后再迁移下一个。这样做有五大优势：风险可控、即时反馈、边做边学、不影响正常开发节奏、也容易说服团队。重构的本质不是革命而是演化——每次只改一点，立即验证，随时可以停下来。</a:t>
            </a:r>
            <a:endParaRPr 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结束编码这一章之前，我想引入一个更高级的概念——全变更蒸馏。简单说就是，不只是修复每次变更引入的错误，更是管理每一次变化，让AI从"代码生成器"升级为"学习型协作者"。这个框架有四层：第一层变更归零，做技术归零和管理归零，彻底理解每次变更的根本原因。第二层四环节改进，在需求、设计、编码、测试四个环节找到改进点。第三层模式提炼，从具体变更中抽象出可复用的模式和反模式。第四层原则蒸馏，将模式上升为组织级原则，注入Skill和规则体系。最终的效果是AI能基于历史经验主动提醒风险并匹配合适的解决方案。</a:t>
            </a:r>
            <a:endParaRPr 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编码这一章的核心收获。第一，正视AI"喜新厌旧"的规律，对全新需求和历史代码采用不同的协作策略。第二，养成小步快跑的习惯，把复杂需求拆解为可验证的最小单元逐步累积。第三，牢记大懒人三法则：想清楚再动手、改哪里圈外不动、先跑通主干。第四，调试时始终保持根因导向，AI给的是参考方案而非最终诊断。第五，把每次变更都视作可进化的资产——不只是修Bug，更是沉淀知识和升级AI协作能力的机会。</a:t>
            </a:r>
            <a:endParaRPr 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五章——测试与质量保障。如果说需求决定了代码质量的上限，那么测试就是保住这个上限的安全网。在AI时代有一个反直觉的事实：测试不是变少了，而是变得更重要、更自动化了。因为AI生成代码的速度越快，质量保障的压力就越大。这一章我们会建立一个完整的测试策略框架，从单Bug评审到全维度覆盖，从策略转变到护城河建设。</a:t>
            </a:r>
            <a:endParaRPr 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看一组量化数据来建立直观感受。测试覆盖率从零到百分之九十五以上，平均调试时间从四小时缩短到五分钟。这不是夸张，背后的规律是测试覆盖率与调试时间呈负指数关系——测试覆盖率每提升三十个百分点，调试时间大约缩短一半以上。原因很简单：测试越完备，AI定位Bug的搜索空间就越小，给出的修复方案就越精准。所以我们建议坚持测试金字塔原则：底层大量单元测试，中层集成测试，顶层少量端到端测试。投资测试不是成本，而是最高的效率杠杆。</a:t>
            </a:r>
            <a:endParaRPr 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看一个"修复即将引入新问题"的典型示例：一个Bug的三次后置评审。第一轮评审发现了三个严重问题和两个中等问题，修复后第二轮评审发现还有一个严重问题和一个中等问题，再次修复后第三轮评审才做到零严重零中等。这个收敛过程告诉我们，一次评审远远不够，必须把"评审、修复、再评审"作为标准迭代闭环。我们推荐采用后置四区评审法：区内逻辑审查、输出侧影响分析、输入侧依赖检查和共享状态风险评估。结构化方法永远比个体经验更可靠。</a:t>
            </a:r>
            <a:endParaRPr 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用例设计不能凭经验拍脑袋，我们提出了一套五维度分类体系，五个维度各自独立、互不交叉。第一个维度是合法性区分，正向用例验证正常功能，反向用例验证异常处理。第二个维度是等价类覆盖，有效等价类代表典型输入，无效等价类代表非法输入。第三个维度是边界值校验，临界值包括最小边界加一减一，极值包括空值、null值和超长输入。第四个维度是测试范围分层，从单组件到跨功能到端到端逐层扩展。第五个维度是风险猜错补充，覆盖断网超时等极端场景和已知的易出错模式。</a:t>
            </a:r>
            <a:endParaRPr 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维度的落地还需要配合标准化的用例模板和设计顺序。设计顺序建议从合法性开始，再到等价类，然后边界值，接着范围分层，最后风险猜错。标准化模板包含用例编号、测试维度、测试类型、前置条件、输入数据、预期输出、实际结果和备注。这套体系的真正价值在于：新人也能设计出和老员工同等质量的测试用例。测试设计从一门"艺术"变成了一门"科学"，这才是工程化的意义所在。</a:t>
            </a:r>
            <a:endParaRPr 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策略在AI时代正在发生四个根本性转变。测试生成上，从人写测试变成AI生成测试加人审核心逻辑。测试执行上，从定期执行变成每次变更自动执行全量回归。测试维护上，从代码改了测试没改变成AI同步维护测试与代码。测试分析上，从人工分析结果变成AI自动分类、定位和建议修复。这四个转变不是未来的想象，而是现在就可以落地的事情。每一个转变背后都有工具链和Skill体系的支撑。</a:t>
            </a:r>
            <a:endParaRPr 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四个转变落实到工程体系，我们提出三层测试护城河架构。第一层是本地层——开发者每次保存代码时自动运行单元测试和坏味道扫描，实现秒级反馈。第二层是CI层——每次提交触发全量回归测试、覆盖率检查和安全扫描，实现分钟级反馈。第三层是质量门禁层——合并前必须通过所有层级检查，任何一项不通过自动拦截。关键原则是：每一层都是全自动化、不可跳过、AI辅助执行的。这不是理想状态，是可以通过工具链今天就能做到的工程实践。</a:t>
            </a:r>
            <a:endParaRPr 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说完了怎么测，我们还需要回答一个问题：AI生成的代码质量到底怎么度量？我们提炼了四个核心指标。测试覆盖率——AI代码的测试覆盖率至少应该达到人类代码的标准。缺陷密度——每千行代码的缺陷数量，用来对比AI代码与人类代码的质量基线。坏味道密度——每千行代码中坏味道的数量，衡量代码整洁度。变更失败率——每次变更导致回归失败的概率，这是衡量系统稳定性和AI"喜新厌旧"影响的关键指标。四者结合，才能对一个AI编码项目做出完整健康度评估。</a:t>
            </a:r>
            <a:endParaRPr 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我们把这个链路再往上拉一层——从Bug修复到知识沉淀。每次Bug修复都不应该止步于代码改动，而要形成一个完整的知识链条：Bug发现到根因分析、修复验证、在需求设计编码测试四个环节找到改进点、从具体问题中提炼模式、更新相应的Skill、更新测试规范、最终沉淀到知识库。举一个前面第七个字符陷阱的例子——一个Excel数据验证Bug让我们发现了隐式契约问题，我们把它沉淀为"位置依赖检测"Skill，更新了编码规范，之后AI就能自动检测类似问题。这就让每一次Bug都变成了团队的永久资产。</a:t>
            </a:r>
            <a:endParaRPr 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与质量保障这一章的总结。第一，测试完备度与AI编码效率正相关——覆盖率每提升三十个百分点，调试时间缩短超过一半。第二，要用五维度分类体系替代经验主义的用例设计。第三，四个策略转变推动测试全流程自动化。第四，三层护城河构成了本地到CI到质量门禁的自动化防线。第五，把Bug治理和知识沉淀打通——每一个Bug都是升级AI能力的机会。关键行动是现在就建立团队的测试基础设施和知识沉淀机制。</a:t>
            </a:r>
            <a:endParaRPr 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六章——过程体系。前面我们讲了认知、需求、编码和测试，这些属于个体层面的工程实践。但当这些实践要在一个组织里规模化推行时，就需要一套过程体系来管理。这一章我们把AI纳入软件过程管理的框架中，探讨一个核心命题：敏捷和CMMI这两大软件工程流派，在AI时代应该怎么重新理解和运用？</a:t>
            </a:r>
            <a:endParaRPr 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问题的答案可能会让很多人意外——人类编程爱敏捷，AI编程爱CMMI。人类为什么爱敏捷？因为人怕约束、怕繁琐流程、怕文档工作，敏捷帮人减少了这些形式化的东西。AI为什么爱CMMI？因为AI守规则、无惰性、不抵触流程——CMMI要求的全流程留痕、标准化作业、量化度量，恰好全是AI的强项。真相不是CMMI过时了，而是人性拒绝CMMI的繁琐。现在AI恰好能轻松落地那些曾经让人头疼的CMMI流程——这对搭档不是对立的，而是互相成就的黄金组合。</a:t>
            </a:r>
            <a:endParaRPr 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在实践中这套体系怎么建？我们设计了一个三级递进架构。第一层是OSSP——组织标准软件流程，这是企业级的通用研发基线。第二层是PDP——项目定义流程，基于OSSP做项目的柔性适配，支持重装和轻装两种模式。第三层是Harness——AI协同规则，把过程规范转化为AI可识别、可执行、可校验的结构化规则。Harness不是简单的提示词集合，它包含四大组件：原则、规则、技能和规格。组织级到项目级到个人级，三级分层覆盖，让AI在规则体系内高效运转。</a:t>
            </a:r>
            <a:endParaRPr 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体系，怎么度量成熟度？我们提出了Harness成熟度模型，五级递进。L一是初始级——个人英雄主义，没有统一规范，AI使用全靠个人能力。L二是可管理级——项目级规则开始出现，团队开始共享Prompt和Skill。L三是已定义级——组织级标准确立，有统一的Skill库和知识库，AI协作流程标准化。L四是量化管理级——数据驱动持续优化，度量AI协作效率，量化质量指标。L五是优化级——AI自驱动演进，AI主动识别改进机会，自动更新规则和Skill。大部分团队目前停留在L一到L二之间，这条路还很长。</a:t>
            </a:r>
            <a:endParaRPr 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每一级的升级路径都有明确的关键行动。从L一到L二，核心是建立统一Prompt模板和Skill仓库。从L二到L三，需要制定组织级AI协作标准和度量体系。从L三到L四，必须建立数据采集和分析基础设施，确定量化基线。从L四到L五，建设AI自反馈闭环和自动规则优化机制。大家可以用三个问题来自评一下：团队有没有统一的AI使用规范？Skill是否跨项目复用？AI协作效率是否有数据度量？如果三个答案都是否，那你们就处在L一。如果有部分是，那可能在L二。全部是的话，恭喜你们已经超过大多数团队了。</a:t>
            </a:r>
            <a:endParaRPr 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成熟度模型的落地需要具体的方法论，我们提出了LLM赋能CMMI实施的协作模式。核心模式是：动态项目特征加上静态组织资产，通过结构化提示词驱动AI输出，人审核执行后将经验反哺沉淀。以CMMI计划实践域为例——WBS分解、任务分配、工作量估算、进度编排——这些都可以由AI辅助生成结构化的输出。分工原则很清楚：人聚焦决策判断——这个估算合理吗、这个优先级对吗，AI负责信息处理和结构化输出。两者各司其职，效率最高。</a:t>
            </a:r>
            <a:endParaRPr 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方法扩展到CMMI的八条核心实践，每一条都遵循同一个协作模式：动态知识输入、静态知识检索、结构化Prompt、AI执行、人审核、知识沉淀。这八条实践覆盖了工作方法制定、技能规划、预算进度编制、干系人参与、移交策划、资源协调、计划集成和量化过程设计。这个模式的通用性意味着，一旦团队掌握了这一套协作方法，就可以在各个过程域之间快速复制和推广。</a:t>
            </a:r>
            <a:endParaRPr 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用一张映射表来总结Harness和CMMI的关系。Harness解决的是"AI能不能把事做成"的问题，CMMI解决的是"AI是否持续、可靠、可控地把正确的事做成"的问题。CMMI的每个关键过程域都可以映射到Harness的工程实践上：需求管理映射到Spec规范和需求Skill，计划和监控映射到Rules规则和工作流Skill，配置管理映射到版本控制Skill和变更管理Rules，验证确认映射到测试Skill和质量门禁Rules。这个映射关系让CMMI不再是高高在上的理论框架，而变成了一套有AI落地的实操体系。</a:t>
            </a:r>
            <a:endParaRPr 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范围进一步扩大到CMMI的全部二十个实践域。从需求开发管理到技术方案，从产品集成到同行评审，从验证确认到质量保证——每一个实践域都可以用统一的LLM协作模式来赋能。核心理念就三点：让AI赋能过程执行，让人聚焦决策判断，让数据驱动持续改进。这不是替代CMMI，而是用AI让CMMI的实施变得可持续、可度量、可复制。</a:t>
            </a:r>
            <a:endParaRPr 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总结过程体系的三大核心原则。人机分工原则：人做决策——判断、取舍、创新，AI做执行——生成、检查、记录。分工越清晰，效率越高。标准先行原则：先有标准后有执行——AI需要明确的规则才能高效工作，模糊的标准必然导致模糊的输出。持续度量原则：没有度量就没有改进，HMM五级模型提供清晰的升级路径，每一级都有可量化的衡量指标。这三条原则合在一起，构成了AI时代过程管理的基本宪法。</a:t>
            </a:r>
            <a:endParaRPr 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三思而后</a:t>
            </a:r>
            <a:r>
              <a:rPr lang="zh-CN" altLang="en-US"/>
              <a:t>行。</a:t>
            </a:r>
            <a:endParaRPr lang="zh-CN" altLang="en-US"/>
          </a:p>
          <a:p>
            <a:r>
              <a:rPr lang="zh-CN" altLang="en-US"/>
              <a:t>控制变动范围，</a:t>
            </a:r>
            <a:r>
              <a:rPr lang="en-US" altLang="zh-CN"/>
              <a:t>AI</a:t>
            </a:r>
            <a:r>
              <a:rPr lang="zh-CN" altLang="en-US"/>
              <a:t>记性差，又</a:t>
            </a:r>
            <a:r>
              <a:rPr lang="zh-CN" altLang="en-US"/>
              <a:t>自以为是。</a:t>
            </a:r>
            <a:endParaRPr lang="zh-CN" altLang="en-US"/>
          </a:p>
          <a:p>
            <a:r>
              <a:rPr lang="en-US" altLang="zh-CN"/>
              <a:t>AI</a:t>
            </a:r>
            <a:r>
              <a:rPr lang="zh-CN" altLang="en-US"/>
              <a:t>快速原型绝对胜任，要出精品，需要工程化</a:t>
            </a:r>
            <a:r>
              <a:rPr lang="zh-CN" altLang="en-US"/>
              <a:t>控制。</a:t>
            </a:r>
            <a:endParaRPr lang="zh-CN" altLang="en-US"/>
          </a:p>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5000</a:t>
            </a:r>
            <a:r>
              <a:rPr lang="zh-CN" altLang="en-US"/>
              <a:t>行代码以内，</a:t>
            </a:r>
            <a:r>
              <a:rPr lang="en-US" altLang="zh-CN"/>
              <a:t>AI</a:t>
            </a:r>
            <a:r>
              <a:rPr lang="zh-CN" altLang="en-US"/>
              <a:t>能做到一次</a:t>
            </a:r>
            <a:r>
              <a:rPr lang="zh-CN" altLang="en-US"/>
              <a:t>过。</a:t>
            </a:r>
            <a:endParaRPr lang="zh-CN" altLang="en-US"/>
          </a:p>
          <a:p>
            <a:r>
              <a:rPr lang="zh-CN" altLang="en-US"/>
              <a:t>每项工作要做完美都很难，都要做评审，人与</a:t>
            </a:r>
            <a:r>
              <a:rPr lang="en-US" altLang="zh-CN"/>
              <a:t>AI</a:t>
            </a:r>
            <a:r>
              <a:rPr lang="zh-CN" altLang="en-US"/>
              <a:t>都犯错。让</a:t>
            </a:r>
            <a:r>
              <a:rPr lang="en-US" altLang="zh-CN"/>
              <a:t>AI</a:t>
            </a:r>
            <a:r>
              <a:rPr lang="zh-CN" altLang="en-US"/>
              <a:t>自己做</a:t>
            </a:r>
            <a:r>
              <a:rPr lang="zh-CN" altLang="en-US"/>
              <a:t>评审。</a:t>
            </a:r>
            <a:endParaRPr lang="zh-CN" altLang="en-US"/>
          </a:p>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哪些不能修改</a:t>
            </a:r>
            <a:r>
              <a:rPr lang="zh-CN" altLang="en-US"/>
              <a:t>的？</a:t>
            </a:r>
            <a:endParaRPr lang="zh-CN" altLang="en-US"/>
          </a:p>
          <a:p>
            <a:r>
              <a:rPr lang="zh-CN" altLang="en-US"/>
              <a:t>影响了哪些</a:t>
            </a:r>
            <a:r>
              <a:rPr lang="zh-CN" altLang="en-US"/>
              <a:t>地方？</a:t>
            </a:r>
            <a:endParaRPr lang="zh-CN" altLang="en-US"/>
          </a:p>
          <a:p>
            <a:r>
              <a:rPr lang="zh-CN" altLang="en-US"/>
              <a:t>圈定范围最重要！圈定范围！圈定</a:t>
            </a:r>
            <a:r>
              <a:rPr lang="zh-CN" altLang="en-US"/>
              <a:t>范围！</a:t>
            </a:r>
            <a:endParaRPr lang="zh-CN" altLang="en-US"/>
          </a:p>
          <a:p>
            <a:endParaRPr lang="zh-CN" altLang="en-US"/>
          </a:p>
          <a:p>
            <a:r>
              <a:rPr lang="zh-CN" altLang="en-US"/>
              <a:t>让</a:t>
            </a:r>
            <a:r>
              <a:rPr lang="en-US" altLang="zh-CN"/>
              <a:t>AI</a:t>
            </a:r>
            <a:r>
              <a:rPr lang="zh-CN" altLang="en-US"/>
              <a:t>输出流程图是可以</a:t>
            </a:r>
            <a:r>
              <a:rPr lang="zh-CN" altLang="en-US"/>
              <a:t>的！</a:t>
            </a:r>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a:p>
            <a:r>
              <a:rPr lang="zh-CN" altLang="en-US"/>
              <a:t>渐进对话，不忘</a:t>
            </a:r>
            <a:r>
              <a:rPr lang="zh-CN" altLang="en-US"/>
              <a:t>初心。</a:t>
            </a:r>
            <a:endParaRPr lang="zh-CN" altLang="en-US"/>
          </a:p>
          <a:p>
            <a:endParaRPr lang="zh-CN" altLang="en-US"/>
          </a:p>
          <a:p>
            <a:r>
              <a:rPr lang="zh-CN" altLang="en-US"/>
              <a:t>外科手术：波及范围</a:t>
            </a:r>
            <a:r>
              <a:rPr lang="zh-CN" altLang="en-US"/>
              <a:t>分析</a:t>
            </a:r>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找到根因再改</a:t>
            </a:r>
            <a:r>
              <a:rPr lang="zh-CN" altLang="en-US"/>
              <a:t>代码。</a:t>
            </a:r>
            <a:endParaRPr lang="zh-CN" altLang="en-US"/>
          </a:p>
          <a:p>
            <a:r>
              <a:rPr lang="zh-CN" altLang="en-US"/>
              <a:t>对遗留代码可以画</a:t>
            </a:r>
            <a:r>
              <a:rPr lang="zh-CN" altLang="en-US"/>
              <a:t>流程图。</a:t>
            </a:r>
            <a:endParaRPr lang="zh-CN" altLang="en-US"/>
          </a:p>
          <a:p>
            <a:endParaRPr lang="zh-CN" altLang="en-US"/>
          </a:p>
          <a:p>
            <a:r>
              <a:rPr lang="zh-CN" altLang="en-US"/>
              <a:t>最容易出错的地方就是边界</a:t>
            </a:r>
            <a:r>
              <a:rPr lang="zh-CN" altLang="en-US"/>
              <a:t>值与</a:t>
            </a:r>
            <a:r>
              <a:rPr lang="zh-CN" altLang="en-US"/>
              <a:t>接口！</a:t>
            </a:r>
            <a:endParaRPr lang="zh-CN" altLang="en-US"/>
          </a:p>
          <a:p>
            <a:r>
              <a:rPr lang="zh-CN" altLang="en-US"/>
              <a:t>有接口必</a:t>
            </a:r>
            <a:r>
              <a:rPr lang="zh-CN" altLang="en-US"/>
              <a:t>出错。</a:t>
            </a:r>
            <a:endParaRPr lang="zh-CN" altLang="en-US"/>
          </a:p>
          <a:p>
            <a:r>
              <a:rPr lang="zh-CN" altLang="en-US"/>
              <a:t>有逻辑必</a:t>
            </a:r>
            <a:r>
              <a:rPr lang="zh-CN" altLang="en-US"/>
              <a:t>出错。</a:t>
            </a:r>
            <a:endParaRPr lang="zh-CN" altLang="en-US"/>
          </a:p>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回归</a:t>
            </a:r>
            <a:r>
              <a:rPr lang="zh-CN" altLang="en-US"/>
              <a:t>校验：</a:t>
            </a:r>
            <a:endParaRPr lang="zh-CN" altLang="en-US"/>
          </a:p>
          <a:p>
            <a:r>
              <a:rPr lang="zh-CN" altLang="en-US"/>
              <a:t>评审与测试，二者</a:t>
            </a:r>
            <a:r>
              <a:rPr lang="zh-CN" altLang="en-US"/>
              <a:t>兼备。</a:t>
            </a:r>
            <a:endParaRPr lang="zh-CN" altLang="en-US"/>
          </a:p>
          <a:p>
            <a:r>
              <a:rPr lang="zh-CN" altLang="en-US"/>
              <a:t>验证与确认，二者</a:t>
            </a:r>
            <a:r>
              <a:rPr lang="zh-CN" altLang="en-US"/>
              <a:t>兼备。</a:t>
            </a:r>
            <a:endParaRPr lang="zh-CN" altLang="en-US"/>
          </a:p>
          <a:p>
            <a:endParaRPr lang="zh-CN" altLang="en-US"/>
          </a:p>
          <a:p>
            <a:r>
              <a:rPr lang="zh-CN" altLang="en-US"/>
              <a:t>约束</a:t>
            </a:r>
            <a:r>
              <a:rPr lang="zh-CN" altLang="en-US"/>
              <a:t>内化：</a:t>
            </a:r>
            <a:endParaRPr lang="zh-CN" altLang="en-US"/>
          </a:p>
          <a:p>
            <a:r>
              <a:rPr lang="zh-CN" altLang="en-US"/>
              <a:t>规则</a:t>
            </a:r>
            <a:endParaRPr lang="zh-CN" altLang="en-US"/>
          </a:p>
          <a:p>
            <a:r>
              <a:rPr lang="en-US" altLang="zh-CN"/>
              <a:t>DOD</a:t>
            </a:r>
            <a:endParaRPr lang="en-US" altLang="zh-CN"/>
          </a:p>
          <a:p>
            <a:r>
              <a:rPr lang="zh-CN" altLang="en-US"/>
              <a:t>经验教训</a:t>
            </a:r>
            <a:r>
              <a:rPr lang="zh-CN" altLang="en-US"/>
              <a:t>总结</a:t>
            </a:r>
            <a:endParaRPr lang="zh-CN" altLang="en-US"/>
          </a:p>
          <a:p>
            <a:r>
              <a:rPr lang="zh-CN" altLang="en-US"/>
              <a:t>检查</a:t>
            </a:r>
            <a:r>
              <a:rPr lang="zh-CN" altLang="en-US"/>
              <a:t>单</a:t>
            </a:r>
            <a:endParaRPr lang="zh-CN" altLang="en-US"/>
          </a:p>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程体系这一章的核心收获。洞察层面：人类爱敏捷、AI爱CMMI，它们是互补的，不是对立的。架构层面：OSSP基线到PDP适配到Harness执行，三级递进。度量层面：HMM五级成熟度模型为持续改进提供清晰路标。方法层面：LLM赋能全部二十个CMMI实践域的统一协作方案已经成形。最终的行动项是建立自己团队的Harness体系，启动过程成熟度的持续升级。</a:t>
            </a:r>
            <a:endParaRPr 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我们来做全场总结。今天我们从认知重塑出发，经过工程哲学、需求与设计、编码、测试与质量保障、过程体系，最后到能力落地，七大模块构成了完整的AI4SE能力体系。把它串起来看是一条清晰的逻辑链：正确认知是思想基础，工程哲学是价值观和方法论，需求与设计决定了输入质量，编码决定了执行效率，测试构建了安全网，过程体系提供了组织能力，能力落地让一切变成日常实践。核心公式只有一句话：AI4SE的成功等于正确认知乘以工程哲学乘以精准需求乘以规范编码乘以完备测试乘以成熟过程乘以持续落地。AI不是银弹，但是最强辅助——拥抱AI效率红利，清醒认知能力边界，回归工程本质。谢谢大家。</a:t>
            </a:r>
            <a:endParaRPr lang="zh-CN"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谢谢各位今天的全程参与。现在进入问答环节，关于今天的任何话题——无论是认知框架、工程哲学、需求方法、编码实践还是Skill体系——都可以提问交流。我也很希望听到各位在实际工作中遇到的挑战和思考。请。</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pic>
        <p:nvPicPr>
          <p:cNvPr id="8" name="图片 7" descr="麦哲思logo-横版透明底"/>
          <p:cNvPicPr>
            <a:picLocks noChangeAspect="1"/>
          </p:cNvPicPr>
          <p:nvPr userDrawn="1"/>
        </p:nvPicPr>
        <p:blipFill>
          <a:blip r:embed="rId2"/>
          <a:stretch>
            <a:fillRect/>
          </a:stretch>
        </p:blipFill>
        <p:spPr>
          <a:xfrm>
            <a:off x="10223500" y="191135"/>
            <a:ext cx="1719580" cy="3746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pic>
        <p:nvPicPr>
          <p:cNvPr id="8" name="图片 7" descr="麦哲思logo-横版透明底"/>
          <p:cNvPicPr>
            <a:picLocks noChangeAspect="1"/>
          </p:cNvPicPr>
          <p:nvPr userDrawn="1"/>
        </p:nvPicPr>
        <p:blipFill>
          <a:blip r:embed="rId12"/>
          <a:stretch>
            <a:fillRect/>
          </a:stretch>
        </p:blipFill>
        <p:spPr>
          <a:xfrm>
            <a:off x="10223500" y="191135"/>
            <a:ext cx="1719580" cy="37465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0" Type="http://schemas.openxmlformats.org/officeDocument/2006/relationships/notesSlide" Target="../notesSlides/notesSlide17.xml"/><Relationship Id="rId2" Type="http://schemas.openxmlformats.org/officeDocument/2006/relationships/tags" Target="../tags/tag5.xml"/><Relationship Id="rId19" Type="http://schemas.openxmlformats.org/officeDocument/2006/relationships/slideLayout" Target="../slideLayouts/slideLayout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image" Target="../media/image1.png"/><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2.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3.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4.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5.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6.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7.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8.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50.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1408430"/>
            <a:ext cx="13335000" cy="9048750"/>
            <a:chOff x="0" y="-1428750"/>
            <a:chExt cx="13335000" cy="904875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1428750"/>
              <a:ext cx="5715000" cy="5715000"/>
            </a:xfrm>
            <a:prstGeom prst="ellipse">
              <a:avLst/>
            </a:prstGeom>
            <a:solidFill>
              <a:srgbClr val="FFFFFF">
                <a:alpha val="4000"/>
              </a:srgbClr>
            </a:solidFill>
            <a:ln>
              <a:noFill/>
            </a:ln>
          </p:spPr>
        </p:sp>
        <p:sp>
          <p:nvSpPr>
            <p:cNvPr id="4" name="Ellipse 4"/>
            <p:cNvSpPr/>
            <p:nvPr/>
          </p:nvSpPr>
          <p:spPr>
            <a:xfrm>
              <a:off x="0" y="3810000"/>
              <a:ext cx="3810000" cy="3810000"/>
            </a:xfrm>
            <a:prstGeom prst="ellipse">
              <a:avLst/>
            </a:prstGeom>
            <a:solidFill>
              <a:srgbClr val="FFFFFF">
                <a:alpha val="3000"/>
              </a:srgbClr>
            </a:solidFill>
            <a:ln>
              <a:noFill/>
            </a:ln>
          </p:spPr>
        </p:sp>
        <p:sp>
          <p:nvSpPr>
            <p:cNvPr id="5" name="Rectangle 5"/>
            <p:cNvSpPr/>
            <p:nvPr/>
          </p:nvSpPr>
          <p:spPr>
            <a:xfrm>
              <a:off x="0" y="0"/>
              <a:ext cx="12192000" cy="57150"/>
            </a:xfrm>
            <a:prstGeom prst="rect">
              <a:avLst/>
            </a:prstGeom>
            <a:gradFill>
              <a:gsLst>
                <a:gs pos="0">
                  <a:srgbClr val="FF6F00"/>
                </a:gs>
                <a:gs pos="100000">
                  <a:srgbClr val="FF6F00">
                    <a:alpha val="0"/>
                  </a:srgbClr>
                </a:gs>
              </a:gsLst>
              <a:lin ang="0" scaled="1"/>
            </a:gradFill>
            <a:ln>
              <a:noFill/>
            </a:ln>
          </p:spPr>
        </p:sp>
      </p:grpSp>
      <p:grpSp>
        <p:nvGrpSpPr>
          <p:cNvPr id="11" name="Group 11"/>
          <p:cNvGrpSpPr/>
          <p:nvPr/>
        </p:nvGrpSpPr>
        <p:grpSpPr>
          <a:xfrm>
            <a:off x="4191000" y="1990725"/>
            <a:ext cx="3810000" cy="1924050"/>
            <a:chOff x="4191000" y="1990725"/>
            <a:chExt cx="3810000" cy="1924050"/>
          </a:xfrm>
        </p:grpSpPr>
        <p:sp>
          <p:nvSpPr>
            <p:cNvPr id="7" name="TextBox 7"/>
            <p:cNvSpPr txBox="1"/>
            <p:nvPr/>
          </p:nvSpPr>
          <p:spPr>
            <a:xfrm>
              <a:off x="5251252" y="1990725"/>
              <a:ext cx="1689497" cy="914400"/>
            </a:xfrm>
            <a:prstGeom prst="rect">
              <a:avLst/>
            </a:prstGeom>
            <a:noFill/>
            <a:ln>
              <a:noFill/>
            </a:ln>
          </p:spPr>
          <p:txBody>
            <a:bodyPr wrap="none" lIns="0" tIns="0" rIns="0" bIns="0" anchor="t" anchorCtr="0">
              <a:spAutoFit/>
            </a:bodyPr>
            <a:lstStyle/>
            <a:p>
              <a:pPr algn="ctr"/>
              <a:r>
                <a:rPr lang="zh-CN" sz="4500" b="1" dirty="0">
                  <a:solidFill>
                    <a:srgbClr val="FFFFFF"/>
                  </a:solidFill>
                  <a:latin typeface="Segoe UI" panose="020B0502040204020203"/>
                  <a:ea typeface="微软雅黑" panose="020B0503020204020204" charset="-122"/>
                  <a:cs typeface="Segoe UI" panose="020B0502040204020203"/>
                </a:rPr>
                <a:t>AI4SE</a:t>
              </a:r>
              <a:endParaRPr lang="zh-CN" sz="4500" b="1" dirty="0">
                <a:solidFill>
                  <a:srgbClr val="FFFFFF"/>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4191000" y="2714625"/>
              <a:ext cx="3810000" cy="28575"/>
            </a:xfrm>
            <a:prstGeom prst="roundRect">
              <a:avLst>
                <a:gd name="adj" fmla="val 50000"/>
              </a:avLst>
            </a:prstGeom>
            <a:solidFill>
              <a:srgbClr val="FF6F00">
                <a:alpha val="80000"/>
              </a:srgbClr>
            </a:solidFill>
            <a:ln>
              <a:noFill/>
            </a:ln>
          </p:spPr>
        </p:sp>
        <p:sp>
          <p:nvSpPr>
            <p:cNvPr id="9" name="TextBox 9"/>
            <p:cNvSpPr txBox="1"/>
            <p:nvPr/>
          </p:nvSpPr>
          <p:spPr>
            <a:xfrm>
              <a:off x="4529137" y="3011805"/>
              <a:ext cx="3133725" cy="426720"/>
            </a:xfrm>
            <a:prstGeom prst="rect">
              <a:avLst/>
            </a:prstGeom>
            <a:noFill/>
            <a:ln>
              <a:noFill/>
            </a:ln>
          </p:spPr>
          <p:txBody>
            <a:bodyPr wrap="none" lIns="0" tIns="0" rIns="0" bIns="0" anchor="t" anchorCtr="0">
              <a:spAutoFit/>
            </a:bodyPr>
            <a:lstStyle/>
            <a:p>
              <a:pPr algn="ctr"/>
              <a:r>
                <a:rPr lang="zh-CN" sz="2100" dirty="0">
                  <a:solidFill>
                    <a:srgbClr val="FFFFFF">
                      <a:alphaMod val="90000"/>
                    </a:srgbClr>
                  </a:solidFill>
                  <a:latin typeface="Segoe UI" panose="020B0502040204020203"/>
                  <a:ea typeface="微软雅黑" panose="020B0503020204020204" charset="-122"/>
                  <a:cs typeface="Segoe UI" panose="020B0502040204020203"/>
                </a:rPr>
                <a:t>人工智能时代的软件工程</a:t>
              </a:r>
              <a:endParaRPr lang="zh-CN" sz="2100" dirty="0">
                <a:solidFill>
                  <a:srgbClr val="FFFFFF">
                    <a:alphaMod val="90000"/>
                  </a:srgbClr>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369242" y="3488055"/>
              <a:ext cx="1453515" cy="426720"/>
            </a:xfrm>
            <a:prstGeom prst="rect">
              <a:avLst/>
            </a:prstGeom>
            <a:noFill/>
            <a:ln>
              <a:noFill/>
            </a:ln>
          </p:spPr>
          <p:txBody>
            <a:bodyPr wrap="none" lIns="0" tIns="0" rIns="0" bIns="0" anchor="t" anchorCtr="0">
              <a:spAutoFit/>
            </a:bodyPr>
            <a:lstStyle/>
            <a:p>
              <a:pPr algn="ctr"/>
              <a:r>
                <a:rPr lang="zh-CN" sz="2100" dirty="0">
                  <a:solidFill>
                    <a:srgbClr val="FFFFFF">
                      <a:alphaMod val="90000"/>
                    </a:srgbClr>
                  </a:solidFill>
                  <a:latin typeface="Segoe UI" panose="020B0502040204020203"/>
                  <a:ea typeface="微软雅黑" panose="020B0503020204020204" charset="-122"/>
                  <a:cs typeface="Segoe UI" panose="020B0502040204020203"/>
                </a:rPr>
                <a:t>思想与实践</a:t>
              </a:r>
              <a:endParaRPr lang="zh-CN" sz="2100" dirty="0">
                <a:solidFill>
                  <a:srgbClr val="FFFFFF">
                    <a:alphaMod val="90000"/>
                  </a:srgbClr>
                </a:solidFill>
                <a:latin typeface="Segoe UI" panose="020B0502040204020203"/>
                <a:ea typeface="微软雅黑" panose="020B0503020204020204" charset="-122"/>
                <a:cs typeface="Segoe UI" panose="020B0502040204020203"/>
              </a:endParaRPr>
            </a:p>
          </p:txBody>
        </p:sp>
      </p:grpSp>
      <p:grpSp>
        <p:nvGrpSpPr>
          <p:cNvPr id="15" name="Group 15"/>
          <p:cNvGrpSpPr/>
          <p:nvPr/>
        </p:nvGrpSpPr>
        <p:grpSpPr>
          <a:xfrm>
            <a:off x="4172521" y="4918710"/>
            <a:ext cx="3846957" cy="1474946"/>
            <a:chOff x="4172521" y="4918710"/>
            <a:chExt cx="3846957" cy="1474946"/>
          </a:xfrm>
        </p:grpSpPr>
        <p:sp>
          <p:nvSpPr>
            <p:cNvPr id="13" name="TextBox 13"/>
            <p:cNvSpPr txBox="1"/>
            <p:nvPr/>
          </p:nvSpPr>
          <p:spPr>
            <a:xfrm>
              <a:off x="4172521" y="4918710"/>
              <a:ext cx="3846957" cy="243840"/>
            </a:xfrm>
            <a:prstGeom prst="rect">
              <a:avLst/>
            </a:prstGeom>
            <a:noFill/>
            <a:ln>
              <a:noFill/>
            </a:ln>
          </p:spPr>
          <p:txBody>
            <a:bodyPr wrap="none" lIns="0" tIns="0" rIns="0" bIns="0" anchor="t" anchorCtr="0">
              <a:spAutoFit/>
            </a:bodyPr>
            <a:lstStyle/>
            <a:p>
              <a:pPr algn="ctr"/>
              <a:r>
                <a:rPr lang="zh-CN" sz="1200" dirty="0">
                  <a:solidFill>
                    <a:srgbClr val="FFFFFF">
                      <a:alphaMod val="40000"/>
                    </a:srgbClr>
                  </a:solidFill>
                  <a:latin typeface="Segoe UI" panose="020B0502040204020203"/>
                  <a:ea typeface="微软雅黑" panose="020B0503020204020204" charset="-122"/>
                  <a:cs typeface="Segoe UI" panose="020B0502040204020203"/>
                </a:rPr>
                <a:t>从认知重塑到能力落地，构建AI时代的软件工程新范式</a:t>
              </a:r>
              <a:endParaRPr lang="zh-CN" sz="1200" dirty="0">
                <a:solidFill>
                  <a:srgbClr val="FFFFFF">
                    <a:alphaMod val="40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5916692" y="6165056"/>
              <a:ext cx="358616" cy="228600"/>
            </a:xfrm>
            <a:prstGeom prst="rect">
              <a:avLst/>
            </a:prstGeom>
            <a:noFill/>
            <a:ln>
              <a:noFill/>
            </a:ln>
          </p:spPr>
          <p:txBody>
            <a:bodyPr wrap="none" lIns="0" tIns="0" rIns="0" bIns="0" anchor="t" anchorCtr="0">
              <a:spAutoFit/>
            </a:bodyPr>
            <a:lstStyle/>
            <a:p>
              <a:pPr algn="ctr"/>
              <a:r>
                <a:rPr lang="zh-CN" sz="1125" dirty="0">
                  <a:solidFill>
                    <a:srgbClr val="FFFFFF">
                      <a:alphaMod val="30000"/>
                    </a:srgbClr>
                  </a:solidFill>
                  <a:latin typeface="Segoe UI" panose="020B0502040204020203"/>
                  <a:ea typeface="微软雅黑" panose="020B0503020204020204" charset="-122"/>
                  <a:cs typeface="Segoe UI" panose="020B0502040204020203"/>
                </a:rPr>
                <a:t>2026</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gr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8" name="Group 8"/>
          <p:cNvGrpSpPr/>
          <p:nvPr/>
        </p:nvGrpSpPr>
        <p:grpSpPr>
          <a:xfrm>
            <a:off x="5305616" y="1190625"/>
            <a:ext cx="1580769" cy="548640"/>
            <a:chOff x="5305616" y="260985"/>
            <a:chExt cx="1580769" cy="548640"/>
          </a:xfrm>
        </p:grpSpPr>
        <p:sp>
          <p:nvSpPr>
            <p:cNvPr id="5" name="TextBox 5"/>
            <p:cNvSpPr txBox="1"/>
            <p:nvPr/>
          </p:nvSpPr>
          <p:spPr>
            <a:xfrm>
              <a:off x="5305616" y="260985"/>
              <a:ext cx="1580769" cy="548640"/>
            </a:xfrm>
            <a:prstGeom prst="rect">
              <a:avLst/>
            </a:prstGeom>
            <a:noFill/>
            <a:ln>
              <a:noFill/>
            </a:ln>
          </p:spPr>
          <p:txBody>
            <a:bodyPr wrap="none" lIns="0" tIns="0" rIns="0" bIns="0" anchor="t" anchorCtr="0">
              <a:spAutoFit/>
            </a:bodyPr>
            <a:lstStyle/>
            <a:p>
              <a:pPr algn="ctr"/>
              <a:r>
                <a:rPr lang="zh-CN" sz="2700" b="1" dirty="0">
                  <a:solidFill>
                    <a:srgbClr val="1565C0"/>
                  </a:solidFill>
                  <a:latin typeface="Segoe UI" panose="020B0502040204020203"/>
                  <a:ea typeface="微软雅黑" panose="020B0503020204020204" charset="-122"/>
                  <a:cs typeface="Segoe UI" panose="020B0502040204020203"/>
                </a:rPr>
                <a:t>课程目录</a:t>
              </a:r>
              <a:endParaRPr lang="zh-CN" sz="2700" b="1" dirty="0">
                <a:solidFill>
                  <a:srgbClr val="1565C0"/>
                </a:solidFill>
                <a:latin typeface="Segoe UI" panose="020B0502040204020203"/>
                <a:ea typeface="微软雅黑" panose="020B0503020204020204" charset="-122"/>
                <a:cs typeface="Segoe UI" panose="020B0502040204020203"/>
              </a:endParaRPr>
            </a:p>
          </p:txBody>
        </p:sp>
        <p:sp>
          <p:nvSpPr>
            <p:cNvPr id="6" name="Rectangle 6"/>
            <p:cNvSpPr/>
            <p:nvPr/>
          </p:nvSpPr>
          <p:spPr>
            <a:xfrm>
              <a:off x="5334000" y="666750"/>
              <a:ext cx="1524000" cy="28575"/>
            </a:xfrm>
            <a:prstGeom prst="roundRect">
              <a:avLst>
                <a:gd name="adj" fmla="val 50000"/>
              </a:avLst>
            </a:prstGeom>
            <a:solidFill>
              <a:srgbClr val="FF6F00"/>
            </a:solidFill>
            <a:ln>
              <a:noFill/>
            </a:ln>
          </p:spPr>
        </p:sp>
      </p:grpSp>
      <p:grpSp>
        <p:nvGrpSpPr>
          <p:cNvPr id="79" name="Group 79"/>
          <p:cNvGrpSpPr/>
          <p:nvPr/>
        </p:nvGrpSpPr>
        <p:grpSpPr>
          <a:xfrm>
            <a:off x="571500" y="2215515"/>
            <a:ext cx="11049000" cy="3957062"/>
            <a:chOff x="571500" y="1285875"/>
            <a:chExt cx="11049000" cy="3957062"/>
          </a:xfrm>
        </p:grpSpPr>
        <p:grpSp>
          <p:nvGrpSpPr>
            <p:cNvPr id="18" name="Group 18"/>
            <p:cNvGrpSpPr/>
            <p:nvPr/>
          </p:nvGrpSpPr>
          <p:grpSpPr>
            <a:xfrm>
              <a:off x="571500" y="1285875"/>
              <a:ext cx="3524250" cy="1476375"/>
              <a:chOff x="571500" y="1285875"/>
              <a:chExt cx="3524250" cy="1476375"/>
            </a:xfrm>
          </p:grpSpPr>
          <p:sp>
            <p:nvSpPr>
              <p:cNvPr id="9" name="Rectangle 9"/>
              <p:cNvSpPr/>
              <p:nvPr/>
            </p:nvSpPr>
            <p:spPr>
              <a:xfrm>
                <a:off x="571500" y="1285875"/>
                <a:ext cx="3524250" cy="1476375"/>
              </a:xfrm>
              <a:prstGeom prst="roundRect">
                <a:avLst>
                  <a:gd name="adj" fmla="val 7742"/>
                </a:avLst>
              </a:prstGeom>
              <a:solidFill>
                <a:srgbClr val="FFFFFF"/>
              </a:solidFill>
              <a:ln>
                <a:noFill/>
              </a:ln>
            </p:spPr>
          </p:sp>
          <p:sp>
            <p:nvSpPr>
              <p:cNvPr id="10" name="Rectangle 10"/>
              <p:cNvSpPr/>
              <p:nvPr/>
            </p:nvSpPr>
            <p:spPr>
              <a:xfrm>
                <a:off x="571500" y="1285875"/>
                <a:ext cx="57150" cy="1476375"/>
              </a:xfrm>
              <a:prstGeom prst="roundRect">
                <a:avLst>
                  <a:gd name="adj" fmla="val 50000"/>
                </a:avLst>
              </a:prstGeom>
              <a:solidFill>
                <a:srgbClr val="1565C0"/>
              </a:solidFill>
              <a:ln>
                <a:noFill/>
              </a:ln>
            </p:spPr>
          </p:sp>
          <p:grpSp>
            <p:nvGrpSpPr>
              <p:cNvPr id="13" name="Group 13"/>
              <p:cNvGrpSpPr/>
              <p:nvPr/>
            </p:nvGrpSpPr>
            <p:grpSpPr>
              <a:xfrm>
                <a:off x="910480" y="1544666"/>
                <a:ext cx="236186" cy="300803"/>
                <a:chOff x="910480" y="1544666"/>
                <a:chExt cx="236186" cy="300803"/>
              </a:xfrm>
            </p:grpSpPr>
            <p:sp>
              <p:nvSpPr>
                <p:cNvPr id="11" name="Freeform 11"/>
                <p:cNvSpPr/>
                <p:nvPr/>
              </p:nvSpPr>
              <p:spPr>
                <a:xfrm>
                  <a:off x="921222" y="1555450"/>
                  <a:ext cx="214663" cy="236440"/>
                </a:xfrm>
                <a:custGeom>
                  <a:avLst/>
                  <a:gdLst/>
                  <a:ahLst/>
                  <a:cxnLst/>
                  <a:rect l="l" t="t" r="r" b="b"/>
                  <a:pathLst>
                    <a:path w="214663" h="236440">
                      <a:moveTo>
                        <a:pt x="214634" y="107853"/>
                      </a:moveTo>
                      <a:cubicBezTo>
                        <a:pt x="214663" y="140752"/>
                        <a:pt x="199552" y="171834"/>
                        <a:pt x="173660" y="192131"/>
                      </a:cubicBezTo>
                      <a:cubicBezTo>
                        <a:pt x="165753" y="198259"/>
                        <a:pt x="161105" y="207684"/>
                        <a:pt x="161056" y="217688"/>
                      </a:cubicBezTo>
                      <a:lnTo>
                        <a:pt x="161056" y="225725"/>
                      </a:lnTo>
                      <a:cubicBezTo>
                        <a:pt x="161056" y="231643"/>
                        <a:pt x="156258" y="236440"/>
                        <a:pt x="150340" y="236440"/>
                      </a:cubicBezTo>
                      <a:lnTo>
                        <a:pt x="64615" y="236440"/>
                      </a:lnTo>
                      <a:cubicBezTo>
                        <a:pt x="58697" y="236440"/>
                        <a:pt x="53900" y="231643"/>
                        <a:pt x="53900" y="225725"/>
                      </a:cubicBezTo>
                      <a:lnTo>
                        <a:pt x="53900" y="217688"/>
                      </a:lnTo>
                      <a:cubicBezTo>
                        <a:pt x="53889" y="207739"/>
                        <a:pt x="49294" y="198350"/>
                        <a:pt x="41443" y="192238"/>
                      </a:cubicBezTo>
                      <a:cubicBezTo>
                        <a:pt x="15634" y="172077"/>
                        <a:pt x="482" y="141205"/>
                        <a:pt x="321" y="108456"/>
                      </a:cubicBezTo>
                      <a:cubicBezTo>
                        <a:pt x="0" y="50377"/>
                        <a:pt x="46827" y="2036"/>
                        <a:pt x="104893" y="697"/>
                      </a:cubicBezTo>
                      <a:cubicBezTo>
                        <a:pt x="133757" y="0"/>
                        <a:pt x="161682" y="10981"/>
                        <a:pt x="182340" y="31153"/>
                      </a:cubicBezTo>
                      <a:cubicBezTo>
                        <a:pt x="202999" y="51325"/>
                        <a:pt x="214642" y="78980"/>
                        <a:pt x="214634" y="107853"/>
                      </a:cubicBezTo>
                      <a:close/>
                    </a:path>
                  </a:pathLst>
                </a:custGeom>
                <a:solidFill>
                  <a:srgbClr val="1565C0">
                    <a:alpha val="20000"/>
                  </a:srgbClr>
                </a:solidFill>
                <a:ln>
                  <a:noFill/>
                </a:ln>
              </p:spPr>
            </p:sp>
            <p:sp>
              <p:nvSpPr>
                <p:cNvPr id="12" name="Freeform 12"/>
                <p:cNvSpPr/>
                <p:nvPr/>
              </p:nvSpPr>
              <p:spPr>
                <a:xfrm>
                  <a:off x="910480" y="1544666"/>
                  <a:ext cx="236186" cy="300803"/>
                </a:xfrm>
                <a:custGeom>
                  <a:avLst/>
                  <a:gdLst/>
                  <a:ahLst/>
                  <a:cxnLst/>
                  <a:rect l="l" t="t" r="r" b="b"/>
                  <a:pathLst>
                    <a:path w="236186" h="300803">
                      <a:moveTo>
                        <a:pt x="182514" y="290087"/>
                      </a:moveTo>
                      <a:cubicBezTo>
                        <a:pt x="182514" y="296005"/>
                        <a:pt x="177716" y="300803"/>
                        <a:pt x="171798" y="300803"/>
                      </a:cubicBezTo>
                      <a:lnTo>
                        <a:pt x="64642" y="300803"/>
                      </a:lnTo>
                      <a:cubicBezTo>
                        <a:pt x="58724" y="300803"/>
                        <a:pt x="53926" y="296005"/>
                        <a:pt x="53926" y="290087"/>
                      </a:cubicBezTo>
                      <a:cubicBezTo>
                        <a:pt x="53926" y="284169"/>
                        <a:pt x="58724" y="279371"/>
                        <a:pt x="64642" y="279371"/>
                      </a:cubicBezTo>
                      <a:lnTo>
                        <a:pt x="171798" y="279371"/>
                      </a:lnTo>
                      <a:cubicBezTo>
                        <a:pt x="177716" y="279371"/>
                        <a:pt x="182514" y="284169"/>
                        <a:pt x="182514" y="290087"/>
                      </a:cubicBezTo>
                      <a:close/>
                      <a:moveTo>
                        <a:pt x="236092" y="118637"/>
                      </a:moveTo>
                      <a:cubicBezTo>
                        <a:pt x="236186" y="154837"/>
                        <a:pt x="219556" y="189050"/>
                        <a:pt x="191033" y="211341"/>
                      </a:cubicBezTo>
                      <a:cubicBezTo>
                        <a:pt x="185699" y="215429"/>
                        <a:pt x="182555" y="221752"/>
                        <a:pt x="182514" y="228472"/>
                      </a:cubicBezTo>
                      <a:lnTo>
                        <a:pt x="182514" y="236509"/>
                      </a:lnTo>
                      <a:cubicBezTo>
                        <a:pt x="182514" y="248345"/>
                        <a:pt x="172919" y="257940"/>
                        <a:pt x="161083" y="257940"/>
                      </a:cubicBezTo>
                      <a:lnTo>
                        <a:pt x="75358" y="257940"/>
                      </a:lnTo>
                      <a:cubicBezTo>
                        <a:pt x="63521" y="257940"/>
                        <a:pt x="53926" y="248345"/>
                        <a:pt x="53926" y="236509"/>
                      </a:cubicBezTo>
                      <a:lnTo>
                        <a:pt x="53926" y="228472"/>
                      </a:lnTo>
                      <a:cubicBezTo>
                        <a:pt x="53922" y="221832"/>
                        <a:pt x="50840" y="215569"/>
                        <a:pt x="45582" y="211515"/>
                      </a:cubicBezTo>
                      <a:cubicBezTo>
                        <a:pt x="17133" y="189359"/>
                        <a:pt x="453" y="155352"/>
                        <a:pt x="348" y="119293"/>
                      </a:cubicBezTo>
                      <a:cubicBezTo>
                        <a:pt x="0" y="55455"/>
                        <a:pt x="51596" y="2292"/>
                        <a:pt x="115380" y="765"/>
                      </a:cubicBezTo>
                      <a:cubicBezTo>
                        <a:pt x="147131" y="0"/>
                        <a:pt x="177847" y="12080"/>
                        <a:pt x="200570" y="34269"/>
                      </a:cubicBezTo>
                      <a:cubicBezTo>
                        <a:pt x="223294" y="56457"/>
                        <a:pt x="236101" y="86877"/>
                        <a:pt x="236092" y="118637"/>
                      </a:cubicBezTo>
                      <a:close/>
                      <a:moveTo>
                        <a:pt x="214661" y="118637"/>
                      </a:moveTo>
                      <a:cubicBezTo>
                        <a:pt x="214668" y="92650"/>
                        <a:pt x="204188" y="67760"/>
                        <a:pt x="185595" y="49606"/>
                      </a:cubicBezTo>
                      <a:cubicBezTo>
                        <a:pt x="167002" y="31451"/>
                        <a:pt x="141869" y="21568"/>
                        <a:pt x="115889" y="22196"/>
                      </a:cubicBezTo>
                      <a:cubicBezTo>
                        <a:pt x="63651" y="23429"/>
                        <a:pt x="21498" y="66921"/>
                        <a:pt x="21780" y="119159"/>
                      </a:cubicBezTo>
                      <a:cubicBezTo>
                        <a:pt x="21879" y="148650"/>
                        <a:pt x="35530" y="176457"/>
                        <a:pt x="58802" y="194571"/>
                      </a:cubicBezTo>
                      <a:cubicBezTo>
                        <a:pt x="69265" y="202704"/>
                        <a:pt x="75377" y="215220"/>
                        <a:pt x="75358" y="228472"/>
                      </a:cubicBezTo>
                      <a:lnTo>
                        <a:pt x="75358" y="236509"/>
                      </a:lnTo>
                      <a:lnTo>
                        <a:pt x="161083" y="236509"/>
                      </a:lnTo>
                      <a:lnTo>
                        <a:pt x="161083" y="228472"/>
                      </a:lnTo>
                      <a:cubicBezTo>
                        <a:pt x="161113" y="215183"/>
                        <a:pt x="167277" y="202652"/>
                        <a:pt x="177786" y="194517"/>
                      </a:cubicBezTo>
                      <a:cubicBezTo>
                        <a:pt x="201132" y="176272"/>
                        <a:pt x="214741" y="148267"/>
                        <a:pt x="214661" y="118637"/>
                      </a:cubicBezTo>
                      <a:close/>
                      <a:moveTo>
                        <a:pt x="193082" y="106127"/>
                      </a:moveTo>
                      <a:cubicBezTo>
                        <a:pt x="187391" y="74339"/>
                        <a:pt x="162506" y="49459"/>
                        <a:pt x="130717" y="43775"/>
                      </a:cubicBezTo>
                      <a:cubicBezTo>
                        <a:pt x="124881" y="42791"/>
                        <a:pt x="119351" y="46725"/>
                        <a:pt x="118367" y="52562"/>
                      </a:cubicBezTo>
                      <a:cubicBezTo>
                        <a:pt x="117384" y="58398"/>
                        <a:pt x="121318" y="63928"/>
                        <a:pt x="127154" y="64912"/>
                      </a:cubicBezTo>
                      <a:cubicBezTo>
                        <a:pt x="149349" y="68649"/>
                        <a:pt x="168182" y="87481"/>
                        <a:pt x="171946" y="109716"/>
                      </a:cubicBezTo>
                      <a:cubicBezTo>
                        <a:pt x="172821" y="114869"/>
                        <a:pt x="177287" y="118639"/>
                        <a:pt x="182514" y="118637"/>
                      </a:cubicBezTo>
                      <a:cubicBezTo>
                        <a:pt x="183119" y="118633"/>
                        <a:pt x="183724" y="118584"/>
                        <a:pt x="184322" y="118490"/>
                      </a:cubicBezTo>
                      <a:cubicBezTo>
                        <a:pt x="190155" y="117494"/>
                        <a:pt x="194076" y="111959"/>
                        <a:pt x="193082" y="106127"/>
                      </a:cubicBezTo>
                      <a:close/>
                    </a:path>
                  </a:pathLst>
                </a:custGeom>
                <a:solidFill>
                  <a:srgbClr val="1565C0"/>
                </a:solidFill>
                <a:ln>
                  <a:noFill/>
                </a:ln>
              </p:spPr>
            </p:sp>
          </p:grpSp>
          <p:sp>
            <p:nvSpPr>
              <p:cNvPr id="14" name="TextBox 14"/>
              <p:cNvSpPr txBox="1"/>
              <p:nvPr/>
            </p:nvSpPr>
            <p:spPr>
              <a:xfrm>
                <a:off x="1358265" y="1501140"/>
                <a:ext cx="1406690"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01 认知重塑</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842010" y="1965960"/>
                <a:ext cx="16066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重新理解AI与人的关系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842010" y="2204085"/>
                <a:ext cx="187071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建立正确的AI4SE认知框架</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4333875" y="1285875"/>
              <a:ext cx="3524250" cy="1476375"/>
              <a:chOff x="4333875" y="1285875"/>
              <a:chExt cx="3524250" cy="1476375"/>
            </a:xfrm>
          </p:grpSpPr>
          <p:sp>
            <p:nvSpPr>
              <p:cNvPr id="19" name="Rectangle 19"/>
              <p:cNvSpPr/>
              <p:nvPr/>
            </p:nvSpPr>
            <p:spPr>
              <a:xfrm>
                <a:off x="4333875" y="1285875"/>
                <a:ext cx="3524250" cy="1476375"/>
              </a:xfrm>
              <a:prstGeom prst="roundRect">
                <a:avLst>
                  <a:gd name="adj" fmla="val 7742"/>
                </a:avLst>
              </a:prstGeom>
              <a:solidFill>
                <a:srgbClr val="FFFFFF"/>
              </a:solidFill>
              <a:ln>
                <a:noFill/>
              </a:ln>
            </p:spPr>
          </p:sp>
          <p:sp>
            <p:nvSpPr>
              <p:cNvPr id="20" name="Rectangle 20"/>
              <p:cNvSpPr/>
              <p:nvPr/>
            </p:nvSpPr>
            <p:spPr>
              <a:xfrm>
                <a:off x="4333875" y="1285875"/>
                <a:ext cx="57150" cy="1476375"/>
              </a:xfrm>
              <a:prstGeom prst="roundRect">
                <a:avLst>
                  <a:gd name="adj" fmla="val 50000"/>
                </a:avLst>
              </a:prstGeom>
              <a:solidFill>
                <a:srgbClr val="00838F"/>
              </a:solidFill>
              <a:ln>
                <a:noFill/>
              </a:ln>
            </p:spPr>
          </p:sp>
          <p:grpSp>
            <p:nvGrpSpPr>
              <p:cNvPr id="23" name="Group 23"/>
              <p:cNvGrpSpPr/>
              <p:nvPr/>
            </p:nvGrpSpPr>
            <p:grpSpPr>
              <a:xfrm>
                <a:off x="4636919" y="1543189"/>
                <a:ext cx="310688" cy="308538"/>
                <a:chOff x="4636919" y="1543189"/>
                <a:chExt cx="310688" cy="308538"/>
              </a:xfrm>
            </p:grpSpPr>
            <p:sp>
              <p:nvSpPr>
                <p:cNvPr id="21" name="Freeform 21"/>
                <p:cNvSpPr/>
                <p:nvPr/>
              </p:nvSpPr>
              <p:spPr>
                <a:xfrm>
                  <a:off x="4726781" y="163115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00838F">
                    <a:alpha val="20000"/>
                  </a:srgbClr>
                </a:solidFill>
                <a:ln>
                  <a:noFill/>
                </a:ln>
              </p:spPr>
            </p:sp>
            <p:sp>
              <p:nvSpPr>
                <p:cNvPr id="22" name="Freeform 22"/>
                <p:cNvSpPr/>
                <p:nvPr/>
              </p:nvSpPr>
              <p:spPr>
                <a:xfrm>
                  <a:off x="4636919" y="1543189"/>
                  <a:ext cx="310688" cy="308538"/>
                </a:xfrm>
                <a:custGeom>
                  <a:avLst/>
                  <a:gdLst/>
                  <a:ahLst/>
                  <a:cxnLst/>
                  <a:rect l="l" t="t" r="r" b="b"/>
                  <a:pathLst>
                    <a:path w="310688" h="308538">
                      <a:moveTo>
                        <a:pt x="279890" y="92200"/>
                      </a:moveTo>
                      <a:cubicBezTo>
                        <a:pt x="310688" y="156613"/>
                        <a:pt x="287855" y="233884"/>
                        <a:pt x="226992" y="271211"/>
                      </a:cubicBezTo>
                      <a:cubicBezTo>
                        <a:pt x="166129" y="308538"/>
                        <a:pt x="86903" y="293860"/>
                        <a:pt x="43452" y="237207"/>
                      </a:cubicBezTo>
                      <a:cubicBezTo>
                        <a:pt x="0" y="180554"/>
                        <a:pt x="6363" y="100232"/>
                        <a:pt x="58192" y="51127"/>
                      </a:cubicBezTo>
                      <a:cubicBezTo>
                        <a:pt x="110021" y="2021"/>
                        <a:pt x="190570" y="0"/>
                        <a:pt x="244797" y="46444"/>
                      </a:cubicBezTo>
                      <a:lnTo>
                        <a:pt x="275162" y="16065"/>
                      </a:lnTo>
                      <a:cubicBezTo>
                        <a:pt x="279349" y="11878"/>
                        <a:pt x="286138" y="11878"/>
                        <a:pt x="290325" y="16065"/>
                      </a:cubicBezTo>
                      <a:cubicBezTo>
                        <a:pt x="294512" y="20252"/>
                        <a:pt x="294512" y="27041"/>
                        <a:pt x="290325" y="31228"/>
                      </a:cubicBezTo>
                      <a:lnTo>
                        <a:pt x="161737" y="159815"/>
                      </a:lnTo>
                      <a:cubicBezTo>
                        <a:pt x="157550" y="164002"/>
                        <a:pt x="150762" y="164002"/>
                        <a:pt x="146574" y="159815"/>
                      </a:cubicBezTo>
                      <a:cubicBezTo>
                        <a:pt x="142387" y="155628"/>
                        <a:pt x="142387" y="148840"/>
                        <a:pt x="146574" y="144653"/>
                      </a:cubicBezTo>
                      <a:lnTo>
                        <a:pt x="183704" y="107523"/>
                      </a:lnTo>
                      <a:cubicBezTo>
                        <a:pt x="162988" y="93822"/>
                        <a:pt x="135572" y="96155"/>
                        <a:pt x="117468" y="113158"/>
                      </a:cubicBezTo>
                      <a:cubicBezTo>
                        <a:pt x="99365" y="130162"/>
                        <a:pt x="95320" y="157378"/>
                        <a:pt x="107697" y="178911"/>
                      </a:cubicBezTo>
                      <a:cubicBezTo>
                        <a:pt x="120074" y="200445"/>
                        <a:pt x="145627" y="210649"/>
                        <a:pt x="169432" y="203564"/>
                      </a:cubicBezTo>
                      <a:cubicBezTo>
                        <a:pt x="193237" y="196479"/>
                        <a:pt x="209052" y="173963"/>
                        <a:pt x="207640" y="149167"/>
                      </a:cubicBezTo>
                      <a:cubicBezTo>
                        <a:pt x="207307" y="143248"/>
                        <a:pt x="211835" y="138181"/>
                        <a:pt x="217753" y="137848"/>
                      </a:cubicBezTo>
                      <a:cubicBezTo>
                        <a:pt x="223671" y="137515"/>
                        <a:pt x="228739" y="142043"/>
                        <a:pt x="229071" y="147961"/>
                      </a:cubicBezTo>
                      <a:cubicBezTo>
                        <a:pt x="231084" y="183081"/>
                        <a:pt x="208419" y="214882"/>
                        <a:pt x="174565" y="224440"/>
                      </a:cubicBezTo>
                      <a:cubicBezTo>
                        <a:pt x="140710" y="233998"/>
                        <a:pt x="104761" y="218744"/>
                        <a:pt x="88110" y="187756"/>
                      </a:cubicBezTo>
                      <a:cubicBezTo>
                        <a:pt x="71459" y="156769"/>
                        <a:pt x="78580" y="118372"/>
                        <a:pt x="105235" y="95416"/>
                      </a:cubicBezTo>
                      <a:cubicBezTo>
                        <a:pt x="131891" y="72460"/>
                        <a:pt x="170918" y="71111"/>
                        <a:pt x="199094" y="92173"/>
                      </a:cubicBezTo>
                      <a:lnTo>
                        <a:pt x="229567" y="61700"/>
                      </a:lnTo>
                      <a:cubicBezTo>
                        <a:pt x="183323" y="23306"/>
                        <a:pt x="115580" y="25918"/>
                        <a:pt x="72430" y="67761"/>
                      </a:cubicBezTo>
                      <a:cubicBezTo>
                        <a:pt x="29281" y="109603"/>
                        <a:pt x="24586" y="177234"/>
                        <a:pt x="61540" y="224637"/>
                      </a:cubicBezTo>
                      <a:cubicBezTo>
                        <a:pt x="98494" y="272040"/>
                        <a:pt x="165227" y="283988"/>
                        <a:pt x="216332" y="252351"/>
                      </a:cubicBezTo>
                      <a:cubicBezTo>
                        <a:pt x="267438" y="220714"/>
                        <a:pt x="286500" y="155656"/>
                        <a:pt x="260549" y="101442"/>
                      </a:cubicBezTo>
                      <a:cubicBezTo>
                        <a:pt x="257996" y="96101"/>
                        <a:pt x="260257" y="89702"/>
                        <a:pt x="265598" y="87150"/>
                      </a:cubicBezTo>
                      <a:cubicBezTo>
                        <a:pt x="270939" y="84598"/>
                        <a:pt x="277338" y="86859"/>
                        <a:pt x="279890" y="92200"/>
                      </a:cubicBezTo>
                      <a:close/>
                    </a:path>
                  </a:pathLst>
                </a:custGeom>
                <a:solidFill>
                  <a:srgbClr val="00838F"/>
                </a:solidFill>
                <a:ln>
                  <a:noFill/>
                </a:ln>
              </p:spPr>
            </p:sp>
          </p:grpSp>
          <p:sp>
            <p:nvSpPr>
              <p:cNvPr id="24" name="TextBox 24"/>
              <p:cNvSpPr txBox="1"/>
              <p:nvPr/>
            </p:nvSpPr>
            <p:spPr>
              <a:xfrm>
                <a:off x="5120640" y="1501140"/>
                <a:ext cx="1406690"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02 工程哲学</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4604385" y="196596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重新审视软件工程的本质与方法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4604385" y="220408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银弹论、工程化、代码质量三层模型</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8096250" y="1285875"/>
              <a:ext cx="3524250" cy="1476375"/>
              <a:chOff x="8096250" y="1285875"/>
              <a:chExt cx="3524250" cy="1476375"/>
            </a:xfrm>
          </p:grpSpPr>
          <p:sp>
            <p:nvSpPr>
              <p:cNvPr id="29" name="Rectangle 29"/>
              <p:cNvSpPr/>
              <p:nvPr/>
            </p:nvSpPr>
            <p:spPr>
              <a:xfrm>
                <a:off x="8096250" y="1285875"/>
                <a:ext cx="3524250" cy="1476375"/>
              </a:xfrm>
              <a:prstGeom prst="roundRect">
                <a:avLst>
                  <a:gd name="adj" fmla="val 7742"/>
                </a:avLst>
              </a:prstGeom>
              <a:solidFill>
                <a:srgbClr val="FFFFFF"/>
              </a:solidFill>
              <a:ln>
                <a:noFill/>
              </a:ln>
            </p:spPr>
          </p:sp>
          <p:sp>
            <p:nvSpPr>
              <p:cNvPr id="30" name="Rectangle 30"/>
              <p:cNvSpPr/>
              <p:nvPr/>
            </p:nvSpPr>
            <p:spPr>
              <a:xfrm>
                <a:off x="8096250" y="1285875"/>
                <a:ext cx="57150" cy="1476375"/>
              </a:xfrm>
              <a:prstGeom prst="roundRect">
                <a:avLst>
                  <a:gd name="adj" fmla="val 50000"/>
                </a:avLst>
              </a:prstGeom>
              <a:solidFill>
                <a:srgbClr val="1565C0"/>
              </a:solidFill>
              <a:ln>
                <a:noFill/>
              </a:ln>
            </p:spPr>
          </p:sp>
          <p:grpSp>
            <p:nvGrpSpPr>
              <p:cNvPr id="33" name="Group 33"/>
              <p:cNvGrpSpPr/>
              <p:nvPr/>
            </p:nvGrpSpPr>
            <p:grpSpPr>
              <a:xfrm>
                <a:off x="8392408" y="1588294"/>
                <a:ext cx="322085" cy="214312"/>
                <a:chOff x="8392408" y="1588294"/>
                <a:chExt cx="322085" cy="214312"/>
              </a:xfrm>
            </p:grpSpPr>
            <p:sp>
              <p:nvSpPr>
                <p:cNvPr id="31" name="Freeform 31"/>
                <p:cNvSpPr/>
                <p:nvPr/>
              </p:nvSpPr>
              <p:spPr>
                <a:xfrm>
                  <a:off x="8403431" y="1599009"/>
                  <a:ext cx="300038" cy="192881"/>
                </a:xfrm>
                <a:custGeom>
                  <a:avLst/>
                  <a:gdLst/>
                  <a:ahLst/>
                  <a:cxnLst/>
                  <a:rect l="l" t="t" r="r" b="b"/>
                  <a:pathLst>
                    <a:path w="300038" h="192881">
                      <a:moveTo>
                        <a:pt x="150019" y="0"/>
                      </a:moveTo>
                      <a:cubicBezTo>
                        <a:pt x="42862" y="0"/>
                        <a:pt x="0" y="96441"/>
                        <a:pt x="0" y="96441"/>
                      </a:cubicBezTo>
                      <a:cubicBezTo>
                        <a:pt x="0" y="96441"/>
                        <a:pt x="42862" y="192881"/>
                        <a:pt x="150019" y="192881"/>
                      </a:cubicBezTo>
                      <a:cubicBezTo>
                        <a:pt x="257175" y="192881"/>
                        <a:pt x="300038" y="96441"/>
                        <a:pt x="300038" y="96441"/>
                      </a:cubicBezTo>
                      <a:cubicBezTo>
                        <a:pt x="300038" y="96441"/>
                        <a:pt x="257175" y="0"/>
                        <a:pt x="150019" y="0"/>
                      </a:cubicBezTo>
                      <a:close/>
                      <a:moveTo>
                        <a:pt x="150019" y="150019"/>
                      </a:moveTo>
                      <a:cubicBezTo>
                        <a:pt x="120428" y="150019"/>
                        <a:pt x="96441" y="126031"/>
                        <a:pt x="96441" y="96441"/>
                      </a:cubicBezTo>
                      <a:cubicBezTo>
                        <a:pt x="96441" y="66850"/>
                        <a:pt x="120428" y="42862"/>
                        <a:pt x="150019" y="42862"/>
                      </a:cubicBezTo>
                      <a:cubicBezTo>
                        <a:pt x="179609" y="42862"/>
                        <a:pt x="203597" y="66850"/>
                        <a:pt x="203597" y="96441"/>
                      </a:cubicBezTo>
                      <a:cubicBezTo>
                        <a:pt x="203597" y="126031"/>
                        <a:pt x="179609" y="150019"/>
                        <a:pt x="150019" y="150019"/>
                      </a:cubicBezTo>
                      <a:close/>
                    </a:path>
                  </a:pathLst>
                </a:custGeom>
                <a:solidFill>
                  <a:srgbClr val="1565C0">
                    <a:alpha val="20000"/>
                  </a:srgbClr>
                </a:solidFill>
                <a:ln>
                  <a:noFill/>
                </a:ln>
              </p:spPr>
            </p:sp>
            <p:sp>
              <p:nvSpPr>
                <p:cNvPr id="32" name="Freeform 32"/>
                <p:cNvSpPr/>
                <p:nvPr/>
              </p:nvSpPr>
              <p:spPr>
                <a:xfrm>
                  <a:off x="8392408" y="1588294"/>
                  <a:ext cx="322085" cy="214312"/>
                </a:xfrm>
                <a:custGeom>
                  <a:avLst/>
                  <a:gdLst/>
                  <a:ahLst/>
                  <a:cxnLst/>
                  <a:rect l="l" t="t" r="r" b="b"/>
                  <a:pathLst>
                    <a:path w="322085" h="214312">
                      <a:moveTo>
                        <a:pt x="320852" y="102816"/>
                      </a:moveTo>
                      <a:cubicBezTo>
                        <a:pt x="320384" y="101758"/>
                        <a:pt x="309038" y="76590"/>
                        <a:pt x="283817" y="51368"/>
                      </a:cubicBezTo>
                      <a:cubicBezTo>
                        <a:pt x="250210" y="17761"/>
                        <a:pt x="207762" y="0"/>
                        <a:pt x="161042" y="0"/>
                      </a:cubicBezTo>
                      <a:cubicBezTo>
                        <a:pt x="114322" y="0"/>
                        <a:pt x="71875" y="17761"/>
                        <a:pt x="38268" y="51368"/>
                      </a:cubicBezTo>
                      <a:cubicBezTo>
                        <a:pt x="13046" y="76590"/>
                        <a:pt x="1647" y="101798"/>
                        <a:pt x="1232" y="102816"/>
                      </a:cubicBezTo>
                      <a:cubicBezTo>
                        <a:pt x="0" y="105588"/>
                        <a:pt x="0" y="108751"/>
                        <a:pt x="1232" y="111523"/>
                      </a:cubicBezTo>
                      <a:cubicBezTo>
                        <a:pt x="1701" y="112581"/>
                        <a:pt x="13046" y="137736"/>
                        <a:pt x="38268" y="162958"/>
                      </a:cubicBezTo>
                      <a:cubicBezTo>
                        <a:pt x="71875" y="196551"/>
                        <a:pt x="114322" y="214312"/>
                        <a:pt x="161042" y="214312"/>
                      </a:cubicBezTo>
                      <a:cubicBezTo>
                        <a:pt x="207762" y="214312"/>
                        <a:pt x="250210" y="196551"/>
                        <a:pt x="283817" y="162958"/>
                      </a:cubicBezTo>
                      <a:cubicBezTo>
                        <a:pt x="309038" y="137736"/>
                        <a:pt x="320384" y="112581"/>
                        <a:pt x="320852" y="111523"/>
                      </a:cubicBezTo>
                      <a:cubicBezTo>
                        <a:pt x="322085" y="108751"/>
                        <a:pt x="322085" y="105588"/>
                        <a:pt x="320852" y="102816"/>
                      </a:cubicBezTo>
                      <a:close/>
                      <a:moveTo>
                        <a:pt x="161042" y="192881"/>
                      </a:moveTo>
                      <a:cubicBezTo>
                        <a:pt x="119814" y="192881"/>
                        <a:pt x="83796" y="177893"/>
                        <a:pt x="53980" y="148344"/>
                      </a:cubicBezTo>
                      <a:cubicBezTo>
                        <a:pt x="41746" y="136178"/>
                        <a:pt x="31338" y="122305"/>
                        <a:pt x="23079" y="107156"/>
                      </a:cubicBezTo>
                      <a:cubicBezTo>
                        <a:pt x="31335" y="92006"/>
                        <a:pt x="41744" y="78133"/>
                        <a:pt x="53980" y="65968"/>
                      </a:cubicBezTo>
                      <a:cubicBezTo>
                        <a:pt x="83796" y="36420"/>
                        <a:pt x="119814" y="21431"/>
                        <a:pt x="161042" y="21431"/>
                      </a:cubicBezTo>
                      <a:cubicBezTo>
                        <a:pt x="202271" y="21431"/>
                        <a:pt x="238289" y="36420"/>
                        <a:pt x="268105" y="65968"/>
                      </a:cubicBezTo>
                      <a:cubicBezTo>
                        <a:pt x="280363" y="78130"/>
                        <a:pt x="290794" y="92003"/>
                        <a:pt x="299073" y="107156"/>
                      </a:cubicBezTo>
                      <a:cubicBezTo>
                        <a:pt x="289415" y="125185"/>
                        <a:pt x="247343" y="192881"/>
                        <a:pt x="161042" y="192881"/>
                      </a:cubicBezTo>
                      <a:close/>
                      <a:moveTo>
                        <a:pt x="161042" y="42862"/>
                      </a:moveTo>
                      <a:cubicBezTo>
                        <a:pt x="125534" y="42862"/>
                        <a:pt x="96749" y="71648"/>
                        <a:pt x="96749" y="107156"/>
                      </a:cubicBezTo>
                      <a:cubicBezTo>
                        <a:pt x="96749" y="142665"/>
                        <a:pt x="125534" y="171450"/>
                        <a:pt x="161042" y="171450"/>
                      </a:cubicBezTo>
                      <a:cubicBezTo>
                        <a:pt x="196551" y="171450"/>
                        <a:pt x="225336" y="142665"/>
                        <a:pt x="225336" y="107156"/>
                      </a:cubicBezTo>
                      <a:cubicBezTo>
                        <a:pt x="225299" y="71663"/>
                        <a:pt x="196535" y="42899"/>
                        <a:pt x="161042" y="42862"/>
                      </a:cubicBezTo>
                      <a:close/>
                      <a:moveTo>
                        <a:pt x="161042" y="150019"/>
                      </a:moveTo>
                      <a:cubicBezTo>
                        <a:pt x="137370" y="150019"/>
                        <a:pt x="118180" y="130829"/>
                        <a:pt x="118180" y="107156"/>
                      </a:cubicBezTo>
                      <a:cubicBezTo>
                        <a:pt x="118180" y="83484"/>
                        <a:pt x="137370" y="64294"/>
                        <a:pt x="161042" y="64294"/>
                      </a:cubicBezTo>
                      <a:cubicBezTo>
                        <a:pt x="184715" y="64294"/>
                        <a:pt x="203905" y="83484"/>
                        <a:pt x="203905" y="107156"/>
                      </a:cubicBezTo>
                      <a:cubicBezTo>
                        <a:pt x="203905" y="130829"/>
                        <a:pt x="184715" y="150019"/>
                        <a:pt x="161042" y="150019"/>
                      </a:cubicBezTo>
                      <a:close/>
                    </a:path>
                  </a:pathLst>
                </a:custGeom>
                <a:solidFill>
                  <a:srgbClr val="1565C0"/>
                </a:solidFill>
                <a:ln>
                  <a:noFill/>
                </a:ln>
              </p:spPr>
            </p:sp>
          </p:grpSp>
          <p:sp>
            <p:nvSpPr>
              <p:cNvPr id="34" name="TextBox 34"/>
              <p:cNvSpPr txBox="1"/>
              <p:nvPr/>
            </p:nvSpPr>
            <p:spPr>
              <a:xfrm>
                <a:off x="8883015" y="1501140"/>
                <a:ext cx="1658722"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03 需求与设计</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366760" y="1965960"/>
                <a:ext cx="21107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从模糊想法到精确规格的转化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8366760" y="2204085"/>
                <a:ext cx="182270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四大核心原则与Spec先行</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3000375"/>
              <a:ext cx="3524250" cy="1476375"/>
              <a:chOff x="571500" y="3000375"/>
              <a:chExt cx="3524250" cy="1476375"/>
            </a:xfrm>
          </p:grpSpPr>
          <p:sp>
            <p:nvSpPr>
              <p:cNvPr id="39" name="Rectangle 39"/>
              <p:cNvSpPr/>
              <p:nvPr/>
            </p:nvSpPr>
            <p:spPr>
              <a:xfrm>
                <a:off x="571500" y="3000375"/>
                <a:ext cx="3524250" cy="1476375"/>
              </a:xfrm>
              <a:prstGeom prst="roundRect">
                <a:avLst>
                  <a:gd name="adj" fmla="val 7742"/>
                </a:avLst>
              </a:prstGeom>
              <a:solidFill>
                <a:srgbClr val="FFFFFF"/>
              </a:solidFill>
              <a:ln>
                <a:noFill/>
              </a:ln>
            </p:spPr>
          </p:sp>
          <p:sp>
            <p:nvSpPr>
              <p:cNvPr id="40" name="Rectangle 40"/>
              <p:cNvSpPr/>
              <p:nvPr/>
            </p:nvSpPr>
            <p:spPr>
              <a:xfrm>
                <a:off x="571500" y="3000375"/>
                <a:ext cx="57150" cy="1476375"/>
              </a:xfrm>
              <a:prstGeom prst="roundRect">
                <a:avLst>
                  <a:gd name="adj" fmla="val 50000"/>
                </a:avLst>
              </a:prstGeom>
              <a:solidFill>
                <a:srgbClr val="00838F"/>
              </a:solidFill>
              <a:ln>
                <a:noFill/>
              </a:ln>
            </p:spPr>
          </p:sp>
          <p:grpSp>
            <p:nvGrpSpPr>
              <p:cNvPr id="43" name="Group 43"/>
              <p:cNvGrpSpPr/>
              <p:nvPr/>
            </p:nvGrpSpPr>
            <p:grpSpPr>
              <a:xfrm>
                <a:off x="867969" y="3281036"/>
                <a:ext cx="321462" cy="257503"/>
                <a:chOff x="867969" y="3281036"/>
                <a:chExt cx="321462" cy="257503"/>
              </a:xfrm>
            </p:grpSpPr>
            <p:sp>
              <p:nvSpPr>
                <p:cNvPr id="41" name="Freeform 41"/>
                <p:cNvSpPr/>
                <p:nvPr/>
              </p:nvSpPr>
              <p:spPr>
                <a:xfrm>
                  <a:off x="878681" y="3356372"/>
                  <a:ext cx="300038" cy="107156"/>
                </a:xfrm>
                <a:custGeom>
                  <a:avLst/>
                  <a:gdLst/>
                  <a:ahLst/>
                  <a:cxnLst/>
                  <a:rect l="l" t="t" r="r" b="b"/>
                  <a:pathLst>
                    <a:path w="300038" h="107156">
                      <a:moveTo>
                        <a:pt x="300038" y="53578"/>
                      </a:moveTo>
                      <a:lnTo>
                        <a:pt x="235744" y="107156"/>
                      </a:lnTo>
                      <a:lnTo>
                        <a:pt x="64294" y="107156"/>
                      </a:lnTo>
                      <a:lnTo>
                        <a:pt x="0" y="53578"/>
                      </a:lnTo>
                      <a:lnTo>
                        <a:pt x="64294" y="0"/>
                      </a:lnTo>
                      <a:lnTo>
                        <a:pt x="235744" y="0"/>
                      </a:lnTo>
                      <a:close/>
                    </a:path>
                  </a:pathLst>
                </a:custGeom>
                <a:solidFill>
                  <a:srgbClr val="00838F">
                    <a:alpha val="20000"/>
                  </a:srgbClr>
                </a:solidFill>
                <a:ln>
                  <a:noFill/>
                </a:ln>
              </p:spPr>
            </p:sp>
            <p:sp>
              <p:nvSpPr>
                <p:cNvPr id="42" name="Freeform 42"/>
                <p:cNvSpPr/>
                <p:nvPr/>
              </p:nvSpPr>
              <p:spPr>
                <a:xfrm>
                  <a:off x="867969" y="3281036"/>
                  <a:ext cx="321462" cy="257503"/>
                </a:xfrm>
                <a:custGeom>
                  <a:avLst/>
                  <a:gdLst/>
                  <a:ahLst/>
                  <a:cxnLst/>
                  <a:rect l="l" t="t" r="r" b="b"/>
                  <a:pathLst>
                    <a:path w="321462" h="257503">
                      <a:moveTo>
                        <a:pt x="81864" y="83574"/>
                      </a:moveTo>
                      <a:lnTo>
                        <a:pt x="27456" y="128914"/>
                      </a:lnTo>
                      <a:lnTo>
                        <a:pt x="81864" y="174255"/>
                      </a:lnTo>
                      <a:cubicBezTo>
                        <a:pt x="84892" y="176679"/>
                        <a:pt x="86374" y="180549"/>
                        <a:pt x="85738" y="184375"/>
                      </a:cubicBezTo>
                      <a:cubicBezTo>
                        <a:pt x="85103" y="188201"/>
                        <a:pt x="82450" y="191386"/>
                        <a:pt x="78802" y="192701"/>
                      </a:cubicBezTo>
                      <a:cubicBezTo>
                        <a:pt x="75153" y="194016"/>
                        <a:pt x="71079" y="193257"/>
                        <a:pt x="68148" y="190717"/>
                      </a:cubicBezTo>
                      <a:lnTo>
                        <a:pt x="3854" y="137139"/>
                      </a:lnTo>
                      <a:cubicBezTo>
                        <a:pt x="1412" y="135103"/>
                        <a:pt x="0" y="132087"/>
                        <a:pt x="0" y="128908"/>
                      </a:cubicBezTo>
                      <a:cubicBezTo>
                        <a:pt x="0" y="125728"/>
                        <a:pt x="1412" y="122713"/>
                        <a:pt x="3854" y="120677"/>
                      </a:cubicBezTo>
                      <a:lnTo>
                        <a:pt x="68148" y="67099"/>
                      </a:lnTo>
                      <a:cubicBezTo>
                        <a:pt x="72698" y="63311"/>
                        <a:pt x="79456" y="63929"/>
                        <a:pt x="83244" y="68478"/>
                      </a:cubicBezTo>
                      <a:cubicBezTo>
                        <a:pt x="87031" y="73028"/>
                        <a:pt x="86414" y="79786"/>
                        <a:pt x="81864" y="83574"/>
                      </a:cubicBezTo>
                      <a:close/>
                      <a:moveTo>
                        <a:pt x="317608" y="120677"/>
                      </a:moveTo>
                      <a:lnTo>
                        <a:pt x="253314" y="67099"/>
                      </a:lnTo>
                      <a:cubicBezTo>
                        <a:pt x="248765" y="63311"/>
                        <a:pt x="242006" y="63929"/>
                        <a:pt x="238219" y="68478"/>
                      </a:cubicBezTo>
                      <a:cubicBezTo>
                        <a:pt x="234431" y="73028"/>
                        <a:pt x="235049" y="79786"/>
                        <a:pt x="239598" y="83574"/>
                      </a:cubicBezTo>
                      <a:lnTo>
                        <a:pt x="294007" y="128914"/>
                      </a:lnTo>
                      <a:lnTo>
                        <a:pt x="239598" y="174255"/>
                      </a:lnTo>
                      <a:cubicBezTo>
                        <a:pt x="236570" y="176679"/>
                        <a:pt x="235089" y="180549"/>
                        <a:pt x="235724" y="184375"/>
                      </a:cubicBezTo>
                      <a:cubicBezTo>
                        <a:pt x="236359" y="188201"/>
                        <a:pt x="239012" y="191386"/>
                        <a:pt x="242661" y="192701"/>
                      </a:cubicBezTo>
                      <a:cubicBezTo>
                        <a:pt x="246309" y="194016"/>
                        <a:pt x="250384" y="193257"/>
                        <a:pt x="253314" y="190717"/>
                      </a:cubicBezTo>
                      <a:lnTo>
                        <a:pt x="317608" y="137139"/>
                      </a:lnTo>
                      <a:cubicBezTo>
                        <a:pt x="320050" y="135103"/>
                        <a:pt x="321462" y="132087"/>
                        <a:pt x="321462" y="128908"/>
                      </a:cubicBezTo>
                      <a:cubicBezTo>
                        <a:pt x="321462" y="125728"/>
                        <a:pt x="320050" y="122713"/>
                        <a:pt x="317608" y="120677"/>
                      </a:cubicBezTo>
                      <a:close/>
                      <a:moveTo>
                        <a:pt x="207250" y="970"/>
                      </a:moveTo>
                      <a:cubicBezTo>
                        <a:pt x="204579" y="0"/>
                        <a:pt x="201632" y="131"/>
                        <a:pt x="199057" y="1334"/>
                      </a:cubicBezTo>
                      <a:cubicBezTo>
                        <a:pt x="196482" y="2538"/>
                        <a:pt x="194491" y="4714"/>
                        <a:pt x="193521" y="7386"/>
                      </a:cubicBezTo>
                      <a:lnTo>
                        <a:pt x="107796" y="243130"/>
                      </a:lnTo>
                      <a:cubicBezTo>
                        <a:pt x="106822" y="245803"/>
                        <a:pt x="106951" y="248753"/>
                        <a:pt x="108154" y="251331"/>
                      </a:cubicBezTo>
                      <a:cubicBezTo>
                        <a:pt x="109358" y="253909"/>
                        <a:pt x="111537" y="255903"/>
                        <a:pt x="114212" y="256872"/>
                      </a:cubicBezTo>
                      <a:cubicBezTo>
                        <a:pt x="115386" y="257290"/>
                        <a:pt x="116623" y="257503"/>
                        <a:pt x="117869" y="257502"/>
                      </a:cubicBezTo>
                      <a:cubicBezTo>
                        <a:pt x="122377" y="257502"/>
                        <a:pt x="126403" y="254681"/>
                        <a:pt x="127941" y="250443"/>
                      </a:cubicBezTo>
                      <a:lnTo>
                        <a:pt x="213666" y="14699"/>
                      </a:lnTo>
                      <a:cubicBezTo>
                        <a:pt x="214636" y="12028"/>
                        <a:pt x="214505" y="9081"/>
                        <a:pt x="213302" y="6506"/>
                      </a:cubicBezTo>
                      <a:cubicBezTo>
                        <a:pt x="212099" y="3931"/>
                        <a:pt x="209922" y="1940"/>
                        <a:pt x="207250" y="970"/>
                      </a:cubicBezTo>
                      <a:close/>
                    </a:path>
                  </a:pathLst>
                </a:custGeom>
                <a:solidFill>
                  <a:srgbClr val="00838F"/>
                </a:solidFill>
                <a:ln>
                  <a:noFill/>
                </a:ln>
              </p:spPr>
            </p:sp>
          </p:grpSp>
          <p:sp>
            <p:nvSpPr>
              <p:cNvPr id="44" name="TextBox 44"/>
              <p:cNvSpPr txBox="1"/>
              <p:nvPr/>
            </p:nvSpPr>
            <p:spPr>
              <a:xfrm>
                <a:off x="1358265" y="3215640"/>
                <a:ext cx="902627"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04 编码</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42010" y="3680460"/>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人机协作编码的最佳实践与方法论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842010" y="3918585"/>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小步快跑、结对调试、软件复用</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4333875" y="3000375"/>
              <a:ext cx="3524250" cy="1476375"/>
              <a:chOff x="4333875" y="3000375"/>
              <a:chExt cx="3524250" cy="1476375"/>
            </a:xfrm>
          </p:grpSpPr>
          <p:sp>
            <p:nvSpPr>
              <p:cNvPr id="49" name="Rectangle 49"/>
              <p:cNvSpPr/>
              <p:nvPr/>
            </p:nvSpPr>
            <p:spPr>
              <a:xfrm>
                <a:off x="4333875" y="3000375"/>
                <a:ext cx="3524250" cy="1476375"/>
              </a:xfrm>
              <a:prstGeom prst="roundRect">
                <a:avLst>
                  <a:gd name="adj" fmla="val 7742"/>
                </a:avLst>
              </a:prstGeom>
              <a:solidFill>
                <a:srgbClr val="FFFFFF"/>
              </a:solidFill>
              <a:ln>
                <a:noFill/>
              </a:ln>
            </p:spPr>
          </p:sp>
          <p:sp>
            <p:nvSpPr>
              <p:cNvPr id="50" name="Rectangle 50"/>
              <p:cNvSpPr/>
              <p:nvPr/>
            </p:nvSpPr>
            <p:spPr>
              <a:xfrm>
                <a:off x="4333875" y="3000375"/>
                <a:ext cx="57150" cy="1476375"/>
              </a:xfrm>
              <a:prstGeom prst="roundRect">
                <a:avLst>
                  <a:gd name="adj" fmla="val 50000"/>
                </a:avLst>
              </a:prstGeom>
              <a:solidFill>
                <a:srgbClr val="1565C0"/>
              </a:solidFill>
              <a:ln>
                <a:noFill/>
              </a:ln>
            </p:spPr>
          </p:sp>
          <p:grpSp>
            <p:nvGrpSpPr>
              <p:cNvPr id="53" name="Group 53"/>
              <p:cNvGrpSpPr/>
              <p:nvPr/>
            </p:nvGrpSpPr>
            <p:grpSpPr>
              <a:xfrm>
                <a:off x="4662488" y="3292078"/>
                <a:ext cx="257175" cy="268256"/>
                <a:chOff x="4662488" y="3292078"/>
                <a:chExt cx="257175" cy="268256"/>
              </a:xfrm>
            </p:grpSpPr>
            <p:sp>
              <p:nvSpPr>
                <p:cNvPr id="51" name="Freeform 51"/>
                <p:cNvSpPr/>
                <p:nvPr/>
              </p:nvSpPr>
              <p:spPr>
                <a:xfrm>
                  <a:off x="4673203" y="3302794"/>
                  <a:ext cx="235744" cy="246620"/>
                </a:xfrm>
                <a:custGeom>
                  <a:avLst/>
                  <a:gdLst/>
                  <a:ahLst/>
                  <a:cxnLst/>
                  <a:rect l="l" t="t" r="r" b="b"/>
                  <a:pathLst>
                    <a:path w="235744" h="246620">
                      <a:moveTo>
                        <a:pt x="235744" y="10716"/>
                      </a:moveTo>
                      <a:lnTo>
                        <a:pt x="235744" y="89435"/>
                      </a:lnTo>
                      <a:cubicBezTo>
                        <a:pt x="235744" y="202190"/>
                        <a:pt x="140227" y="239548"/>
                        <a:pt x="121167" y="245883"/>
                      </a:cubicBezTo>
                      <a:cubicBezTo>
                        <a:pt x="119032" y="246620"/>
                        <a:pt x="116712" y="246620"/>
                        <a:pt x="114577" y="245883"/>
                      </a:cubicBezTo>
                      <a:cubicBezTo>
                        <a:pt x="95516" y="239575"/>
                        <a:pt x="0" y="202257"/>
                        <a:pt x="0" y="89462"/>
                      </a:cubicBezTo>
                      <a:lnTo>
                        <a:pt x="0" y="10716"/>
                      </a:lnTo>
                      <a:cubicBezTo>
                        <a:pt x="0" y="4798"/>
                        <a:pt x="4798" y="0"/>
                        <a:pt x="10716" y="0"/>
                      </a:cubicBezTo>
                      <a:lnTo>
                        <a:pt x="225028" y="0"/>
                      </a:lnTo>
                      <a:cubicBezTo>
                        <a:pt x="230946" y="0"/>
                        <a:pt x="235744" y="4798"/>
                        <a:pt x="235744" y="10716"/>
                      </a:cubicBezTo>
                      <a:close/>
                    </a:path>
                  </a:pathLst>
                </a:custGeom>
                <a:solidFill>
                  <a:srgbClr val="1565C0">
                    <a:alpha val="20000"/>
                  </a:srgbClr>
                </a:solidFill>
                <a:ln>
                  <a:noFill/>
                </a:ln>
              </p:spPr>
            </p:sp>
            <p:sp>
              <p:nvSpPr>
                <p:cNvPr id="52" name="Freeform 52"/>
                <p:cNvSpPr/>
                <p:nvPr/>
              </p:nvSpPr>
              <p:spPr>
                <a:xfrm>
                  <a:off x="4662488" y="3292078"/>
                  <a:ext cx="257175" cy="268256"/>
                </a:xfrm>
                <a:custGeom>
                  <a:avLst/>
                  <a:gdLst/>
                  <a:ahLst/>
                  <a:cxnLst/>
                  <a:rect l="l" t="t" r="r" b="b"/>
                  <a:pathLst>
                    <a:path w="257175" h="268256">
                      <a:moveTo>
                        <a:pt x="235744" y="0"/>
                      </a:moveTo>
                      <a:lnTo>
                        <a:pt x="21431" y="0"/>
                      </a:lnTo>
                      <a:cubicBezTo>
                        <a:pt x="9595" y="0"/>
                        <a:pt x="0" y="9595"/>
                        <a:pt x="0" y="21431"/>
                      </a:cubicBezTo>
                      <a:lnTo>
                        <a:pt x="0" y="100164"/>
                      </a:lnTo>
                      <a:cubicBezTo>
                        <a:pt x="0" y="220193"/>
                        <a:pt x="101557" y="260015"/>
                        <a:pt x="121890" y="266779"/>
                      </a:cubicBezTo>
                      <a:cubicBezTo>
                        <a:pt x="126233" y="268256"/>
                        <a:pt x="130942" y="268256"/>
                        <a:pt x="135285" y="266779"/>
                      </a:cubicBezTo>
                      <a:cubicBezTo>
                        <a:pt x="155644" y="260015"/>
                        <a:pt x="257175" y="220193"/>
                        <a:pt x="257175" y="100164"/>
                      </a:cubicBezTo>
                      <a:lnTo>
                        <a:pt x="257175" y="21431"/>
                      </a:lnTo>
                      <a:cubicBezTo>
                        <a:pt x="257175" y="9595"/>
                        <a:pt x="247580" y="0"/>
                        <a:pt x="235744" y="0"/>
                      </a:cubicBezTo>
                      <a:close/>
                      <a:moveTo>
                        <a:pt x="235744" y="100178"/>
                      </a:moveTo>
                      <a:cubicBezTo>
                        <a:pt x="235744" y="205218"/>
                        <a:pt x="146871" y="240311"/>
                        <a:pt x="128588" y="246419"/>
                      </a:cubicBezTo>
                      <a:cubicBezTo>
                        <a:pt x="110465" y="240378"/>
                        <a:pt x="21431" y="205311"/>
                        <a:pt x="21431" y="100178"/>
                      </a:cubicBezTo>
                      <a:lnTo>
                        <a:pt x="21431" y="21431"/>
                      </a:lnTo>
                      <a:lnTo>
                        <a:pt x="235744" y="21431"/>
                      </a:lnTo>
                      <a:close/>
                      <a:moveTo>
                        <a:pt x="67428" y="136169"/>
                      </a:moveTo>
                      <a:cubicBezTo>
                        <a:pt x="63241" y="131982"/>
                        <a:pt x="63241" y="125193"/>
                        <a:pt x="67428" y="121006"/>
                      </a:cubicBezTo>
                      <a:cubicBezTo>
                        <a:pt x="71615" y="116819"/>
                        <a:pt x="78404" y="116819"/>
                        <a:pt x="82591" y="121006"/>
                      </a:cubicBezTo>
                      <a:lnTo>
                        <a:pt x="107156" y="145572"/>
                      </a:lnTo>
                      <a:lnTo>
                        <a:pt x="174584" y="78144"/>
                      </a:lnTo>
                      <a:cubicBezTo>
                        <a:pt x="178771" y="73957"/>
                        <a:pt x="185560" y="73957"/>
                        <a:pt x="189747" y="78144"/>
                      </a:cubicBezTo>
                      <a:cubicBezTo>
                        <a:pt x="193934" y="82331"/>
                        <a:pt x="193934" y="89119"/>
                        <a:pt x="189747" y="93306"/>
                      </a:cubicBezTo>
                      <a:lnTo>
                        <a:pt x="114738" y="168316"/>
                      </a:lnTo>
                      <a:cubicBezTo>
                        <a:pt x="112728" y="170328"/>
                        <a:pt x="110000" y="171458"/>
                        <a:pt x="107156" y="171458"/>
                      </a:cubicBezTo>
                      <a:cubicBezTo>
                        <a:pt x="104312" y="171458"/>
                        <a:pt x="101585" y="170328"/>
                        <a:pt x="99575" y="168316"/>
                      </a:cubicBezTo>
                      <a:close/>
                    </a:path>
                  </a:pathLst>
                </a:custGeom>
                <a:solidFill>
                  <a:srgbClr val="1565C0"/>
                </a:solidFill>
                <a:ln>
                  <a:noFill/>
                </a:ln>
              </p:spPr>
            </p:sp>
          </p:grpSp>
          <p:sp>
            <p:nvSpPr>
              <p:cNvPr id="54" name="TextBox 54"/>
              <p:cNvSpPr txBox="1"/>
              <p:nvPr/>
            </p:nvSpPr>
            <p:spPr>
              <a:xfrm>
                <a:off x="5120640" y="3215640"/>
                <a:ext cx="2162785"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05 测试与质量保障</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4604385" y="3680460"/>
                <a:ext cx="17666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构建AI编码的质量护城河</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4604385" y="3918585"/>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五维度分类、后置评审、测试策略</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68" name="Group 68"/>
            <p:cNvGrpSpPr/>
            <p:nvPr/>
          </p:nvGrpSpPr>
          <p:grpSpPr>
            <a:xfrm>
              <a:off x="8096250" y="3000375"/>
              <a:ext cx="3524250" cy="1476375"/>
              <a:chOff x="8096250" y="3000375"/>
              <a:chExt cx="3524250" cy="1476375"/>
            </a:xfrm>
          </p:grpSpPr>
          <p:sp>
            <p:nvSpPr>
              <p:cNvPr id="59" name="Rectangle 59"/>
              <p:cNvSpPr/>
              <p:nvPr/>
            </p:nvSpPr>
            <p:spPr>
              <a:xfrm>
                <a:off x="8096250" y="3000375"/>
                <a:ext cx="3524250" cy="1476375"/>
              </a:xfrm>
              <a:prstGeom prst="roundRect">
                <a:avLst>
                  <a:gd name="adj" fmla="val 7742"/>
                </a:avLst>
              </a:prstGeom>
              <a:solidFill>
                <a:srgbClr val="FFFFFF"/>
              </a:solidFill>
              <a:ln>
                <a:noFill/>
              </a:ln>
            </p:spPr>
          </p:sp>
          <p:sp>
            <p:nvSpPr>
              <p:cNvPr id="60" name="Rectangle 60"/>
              <p:cNvSpPr/>
              <p:nvPr/>
            </p:nvSpPr>
            <p:spPr>
              <a:xfrm>
                <a:off x="8096250" y="3000375"/>
                <a:ext cx="57150" cy="1476375"/>
              </a:xfrm>
              <a:prstGeom prst="roundRect">
                <a:avLst>
                  <a:gd name="adj" fmla="val 50000"/>
                </a:avLst>
              </a:prstGeom>
              <a:solidFill>
                <a:srgbClr val="00838F"/>
              </a:solidFill>
              <a:ln>
                <a:noFill/>
              </a:ln>
            </p:spPr>
          </p:sp>
          <p:grpSp>
            <p:nvGrpSpPr>
              <p:cNvPr id="63" name="Group 63"/>
              <p:cNvGrpSpPr/>
              <p:nvPr/>
            </p:nvGrpSpPr>
            <p:grpSpPr>
              <a:xfrm>
                <a:off x="8403431" y="3281362"/>
                <a:ext cx="289322" cy="257175"/>
                <a:chOff x="8403431" y="3281362"/>
                <a:chExt cx="289322" cy="257175"/>
              </a:xfrm>
            </p:grpSpPr>
            <p:sp>
              <p:nvSpPr>
                <p:cNvPr id="61" name="Freeform 61"/>
                <p:cNvSpPr/>
                <p:nvPr/>
              </p:nvSpPr>
              <p:spPr>
                <a:xfrm>
                  <a:off x="8414147" y="3292078"/>
                  <a:ext cx="267891" cy="235744"/>
                </a:xfrm>
                <a:custGeom>
                  <a:avLst/>
                  <a:gdLst/>
                  <a:ahLst/>
                  <a:cxnLst/>
                  <a:rect l="l" t="t" r="r" b="b"/>
                  <a:pathLst>
                    <a:path w="267891" h="235744">
                      <a:moveTo>
                        <a:pt x="64294" y="96441"/>
                      </a:moveTo>
                      <a:lnTo>
                        <a:pt x="64294" y="139303"/>
                      </a:lnTo>
                      <a:cubicBezTo>
                        <a:pt x="64294" y="145221"/>
                        <a:pt x="59496" y="150019"/>
                        <a:pt x="53578" y="150019"/>
                      </a:cubicBezTo>
                      <a:lnTo>
                        <a:pt x="10716" y="150019"/>
                      </a:lnTo>
                      <a:cubicBezTo>
                        <a:pt x="4798" y="150019"/>
                        <a:pt x="0" y="145221"/>
                        <a:pt x="0" y="139303"/>
                      </a:cubicBezTo>
                      <a:lnTo>
                        <a:pt x="0" y="96441"/>
                      </a:lnTo>
                      <a:cubicBezTo>
                        <a:pt x="0" y="90523"/>
                        <a:pt x="4798" y="85725"/>
                        <a:pt x="10716" y="85725"/>
                      </a:cubicBezTo>
                      <a:lnTo>
                        <a:pt x="53578" y="85725"/>
                      </a:lnTo>
                      <a:cubicBezTo>
                        <a:pt x="59496" y="85725"/>
                        <a:pt x="64294" y="90523"/>
                        <a:pt x="64294" y="96441"/>
                      </a:cubicBezTo>
                      <a:close/>
                      <a:moveTo>
                        <a:pt x="257175" y="0"/>
                      </a:moveTo>
                      <a:lnTo>
                        <a:pt x="192881" y="0"/>
                      </a:lnTo>
                      <a:cubicBezTo>
                        <a:pt x="186963" y="0"/>
                        <a:pt x="182166" y="4798"/>
                        <a:pt x="182166" y="10716"/>
                      </a:cubicBezTo>
                      <a:lnTo>
                        <a:pt x="182166" y="75009"/>
                      </a:lnTo>
                      <a:cubicBezTo>
                        <a:pt x="182166" y="80927"/>
                        <a:pt x="186963" y="85725"/>
                        <a:pt x="192881" y="85725"/>
                      </a:cubicBezTo>
                      <a:lnTo>
                        <a:pt x="257175" y="85725"/>
                      </a:lnTo>
                      <a:cubicBezTo>
                        <a:pt x="263093" y="85725"/>
                        <a:pt x="267891" y="80927"/>
                        <a:pt x="267891" y="75009"/>
                      </a:cubicBezTo>
                      <a:lnTo>
                        <a:pt x="267891" y="10716"/>
                      </a:lnTo>
                      <a:cubicBezTo>
                        <a:pt x="267891" y="4798"/>
                        <a:pt x="263093" y="0"/>
                        <a:pt x="257175" y="0"/>
                      </a:cubicBezTo>
                      <a:close/>
                      <a:moveTo>
                        <a:pt x="257175" y="150019"/>
                      </a:moveTo>
                      <a:lnTo>
                        <a:pt x="192881" y="150019"/>
                      </a:lnTo>
                      <a:cubicBezTo>
                        <a:pt x="186963" y="150019"/>
                        <a:pt x="182166" y="154816"/>
                        <a:pt x="182166" y="160734"/>
                      </a:cubicBezTo>
                      <a:lnTo>
                        <a:pt x="182166" y="225028"/>
                      </a:lnTo>
                      <a:cubicBezTo>
                        <a:pt x="182166" y="230946"/>
                        <a:pt x="186963" y="235744"/>
                        <a:pt x="192881" y="235744"/>
                      </a:cubicBezTo>
                      <a:lnTo>
                        <a:pt x="257175" y="235744"/>
                      </a:lnTo>
                      <a:cubicBezTo>
                        <a:pt x="263093" y="235744"/>
                        <a:pt x="267891" y="230946"/>
                        <a:pt x="267891" y="225028"/>
                      </a:cubicBezTo>
                      <a:lnTo>
                        <a:pt x="267891" y="160734"/>
                      </a:lnTo>
                      <a:cubicBezTo>
                        <a:pt x="267891" y="154816"/>
                        <a:pt x="263093" y="150019"/>
                        <a:pt x="257175" y="150019"/>
                      </a:cubicBezTo>
                      <a:close/>
                    </a:path>
                  </a:pathLst>
                </a:custGeom>
                <a:solidFill>
                  <a:srgbClr val="00838F">
                    <a:alpha val="20000"/>
                  </a:srgbClr>
                </a:solidFill>
                <a:ln>
                  <a:noFill/>
                </a:ln>
              </p:spPr>
            </p:sp>
            <p:sp>
              <p:nvSpPr>
                <p:cNvPr id="62" name="Freeform 62"/>
                <p:cNvSpPr/>
                <p:nvPr/>
              </p:nvSpPr>
              <p:spPr>
                <a:xfrm>
                  <a:off x="8403431" y="3281362"/>
                  <a:ext cx="289322" cy="257175"/>
                </a:xfrm>
                <a:custGeom>
                  <a:avLst/>
                  <a:gdLst/>
                  <a:ahLst/>
                  <a:cxnLst/>
                  <a:rect l="l" t="t" r="r" b="b"/>
                  <a:pathLst>
                    <a:path w="289322" h="257175">
                      <a:moveTo>
                        <a:pt x="203597" y="107156"/>
                      </a:moveTo>
                      <a:lnTo>
                        <a:pt x="267891" y="107156"/>
                      </a:lnTo>
                      <a:cubicBezTo>
                        <a:pt x="279727" y="107156"/>
                        <a:pt x="289322" y="97561"/>
                        <a:pt x="289322" y="85725"/>
                      </a:cubicBezTo>
                      <a:lnTo>
                        <a:pt x="289322" y="21431"/>
                      </a:lnTo>
                      <a:cubicBezTo>
                        <a:pt x="289322" y="9595"/>
                        <a:pt x="279727" y="0"/>
                        <a:pt x="267891" y="0"/>
                      </a:cubicBezTo>
                      <a:lnTo>
                        <a:pt x="203597" y="0"/>
                      </a:lnTo>
                      <a:cubicBezTo>
                        <a:pt x="191761" y="0"/>
                        <a:pt x="182166" y="9595"/>
                        <a:pt x="182166" y="21431"/>
                      </a:cubicBezTo>
                      <a:lnTo>
                        <a:pt x="182166" y="42862"/>
                      </a:lnTo>
                      <a:lnTo>
                        <a:pt x="171450" y="42862"/>
                      </a:lnTo>
                      <a:cubicBezTo>
                        <a:pt x="147778" y="42862"/>
                        <a:pt x="128588" y="62053"/>
                        <a:pt x="128588" y="85725"/>
                      </a:cubicBezTo>
                      <a:lnTo>
                        <a:pt x="128588" y="117872"/>
                      </a:lnTo>
                      <a:lnTo>
                        <a:pt x="85725" y="117872"/>
                      </a:lnTo>
                      <a:lnTo>
                        <a:pt x="85725" y="107156"/>
                      </a:lnTo>
                      <a:cubicBezTo>
                        <a:pt x="85725" y="95320"/>
                        <a:pt x="76130" y="85725"/>
                        <a:pt x="64294" y="85725"/>
                      </a:cubicBezTo>
                      <a:lnTo>
                        <a:pt x="21431" y="85725"/>
                      </a:lnTo>
                      <a:cubicBezTo>
                        <a:pt x="9595" y="85725"/>
                        <a:pt x="0" y="95320"/>
                        <a:pt x="0" y="107156"/>
                      </a:cubicBezTo>
                      <a:lnTo>
                        <a:pt x="0" y="150019"/>
                      </a:lnTo>
                      <a:cubicBezTo>
                        <a:pt x="0" y="161855"/>
                        <a:pt x="9595" y="171450"/>
                        <a:pt x="21431" y="171450"/>
                      </a:cubicBezTo>
                      <a:lnTo>
                        <a:pt x="64294" y="171450"/>
                      </a:lnTo>
                      <a:cubicBezTo>
                        <a:pt x="76130" y="171450"/>
                        <a:pt x="85725" y="161855"/>
                        <a:pt x="85725" y="150019"/>
                      </a:cubicBezTo>
                      <a:lnTo>
                        <a:pt x="85725" y="139303"/>
                      </a:lnTo>
                      <a:lnTo>
                        <a:pt x="128588" y="139303"/>
                      </a:lnTo>
                      <a:lnTo>
                        <a:pt x="128588" y="171450"/>
                      </a:lnTo>
                      <a:cubicBezTo>
                        <a:pt x="128588" y="195122"/>
                        <a:pt x="147778" y="214312"/>
                        <a:pt x="171450" y="214312"/>
                      </a:cubicBezTo>
                      <a:lnTo>
                        <a:pt x="182166" y="214312"/>
                      </a:lnTo>
                      <a:lnTo>
                        <a:pt x="182166" y="235744"/>
                      </a:lnTo>
                      <a:cubicBezTo>
                        <a:pt x="182166" y="247580"/>
                        <a:pt x="191761" y="257175"/>
                        <a:pt x="203597" y="257175"/>
                      </a:cubicBezTo>
                      <a:lnTo>
                        <a:pt x="267891" y="257175"/>
                      </a:lnTo>
                      <a:cubicBezTo>
                        <a:pt x="279727" y="257175"/>
                        <a:pt x="289322" y="247580"/>
                        <a:pt x="289322" y="235744"/>
                      </a:cubicBezTo>
                      <a:lnTo>
                        <a:pt x="289322" y="171450"/>
                      </a:lnTo>
                      <a:cubicBezTo>
                        <a:pt x="289322" y="159614"/>
                        <a:pt x="279727" y="150019"/>
                        <a:pt x="267891" y="150019"/>
                      </a:cubicBezTo>
                      <a:lnTo>
                        <a:pt x="203597" y="150019"/>
                      </a:lnTo>
                      <a:cubicBezTo>
                        <a:pt x="191761" y="150019"/>
                        <a:pt x="182166" y="159614"/>
                        <a:pt x="182166" y="171450"/>
                      </a:cubicBezTo>
                      <a:lnTo>
                        <a:pt x="182166" y="192881"/>
                      </a:lnTo>
                      <a:lnTo>
                        <a:pt x="171450" y="192881"/>
                      </a:lnTo>
                      <a:cubicBezTo>
                        <a:pt x="159614" y="192881"/>
                        <a:pt x="150019" y="183286"/>
                        <a:pt x="150019" y="171450"/>
                      </a:cubicBezTo>
                      <a:lnTo>
                        <a:pt x="150019" y="85725"/>
                      </a:lnTo>
                      <a:cubicBezTo>
                        <a:pt x="150019" y="73889"/>
                        <a:pt x="159614" y="64294"/>
                        <a:pt x="171450" y="64294"/>
                      </a:cubicBezTo>
                      <a:lnTo>
                        <a:pt x="182166" y="64294"/>
                      </a:lnTo>
                      <a:lnTo>
                        <a:pt x="182166" y="85725"/>
                      </a:lnTo>
                      <a:cubicBezTo>
                        <a:pt x="182166" y="97561"/>
                        <a:pt x="191761" y="107156"/>
                        <a:pt x="203597" y="107156"/>
                      </a:cubicBezTo>
                      <a:close/>
                      <a:moveTo>
                        <a:pt x="64294" y="150019"/>
                      </a:moveTo>
                      <a:lnTo>
                        <a:pt x="21431" y="150019"/>
                      </a:lnTo>
                      <a:lnTo>
                        <a:pt x="21431" y="107156"/>
                      </a:lnTo>
                      <a:lnTo>
                        <a:pt x="64294" y="107156"/>
                      </a:lnTo>
                      <a:lnTo>
                        <a:pt x="64294" y="150019"/>
                      </a:lnTo>
                      <a:close/>
                      <a:moveTo>
                        <a:pt x="203597" y="171450"/>
                      </a:moveTo>
                      <a:lnTo>
                        <a:pt x="267891" y="171450"/>
                      </a:lnTo>
                      <a:lnTo>
                        <a:pt x="267891" y="235744"/>
                      </a:lnTo>
                      <a:lnTo>
                        <a:pt x="203597" y="235744"/>
                      </a:lnTo>
                      <a:close/>
                      <a:moveTo>
                        <a:pt x="203597" y="21431"/>
                      </a:moveTo>
                      <a:lnTo>
                        <a:pt x="267891" y="21431"/>
                      </a:lnTo>
                      <a:lnTo>
                        <a:pt x="267891" y="85725"/>
                      </a:lnTo>
                      <a:lnTo>
                        <a:pt x="203597" y="85725"/>
                      </a:lnTo>
                      <a:close/>
                    </a:path>
                  </a:pathLst>
                </a:custGeom>
                <a:solidFill>
                  <a:srgbClr val="00838F"/>
                </a:solidFill>
                <a:ln>
                  <a:noFill/>
                </a:ln>
              </p:spPr>
            </p:sp>
          </p:grpSp>
          <p:sp>
            <p:nvSpPr>
              <p:cNvPr id="64" name="TextBox 64"/>
              <p:cNvSpPr txBox="1"/>
              <p:nvPr/>
            </p:nvSpPr>
            <p:spPr>
              <a:xfrm>
                <a:off x="8883015" y="3215640"/>
                <a:ext cx="1406690"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06 过程体系</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65" name="TextBox 65"/>
              <p:cNvSpPr txBox="1"/>
              <p:nvPr/>
            </p:nvSpPr>
            <p:spPr>
              <a:xfrm>
                <a:off x="8366760" y="3680460"/>
                <a:ext cx="252679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从敏捷到CMMI，从OSSP到Harness</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8366760" y="3918585"/>
                <a:ext cx="193471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HMM成熟度模型与LLM赋能</a:t>
                </a:r>
                <a:endParaRPr lang="zh-CN" sz="1200" dirty="0">
                  <a:solidFill>
                    <a:srgbClr val="546E7A"/>
                  </a:solidFill>
                  <a:latin typeface="Segoe UI" panose="020B0502040204020203"/>
                  <a:ea typeface="微软雅黑" panose="020B0503020204020204" charset="-122"/>
                  <a:cs typeface="Segoe UI" panose="020B0502040204020203"/>
                </a:endParaRPr>
              </a:p>
            </p:txBody>
          </p:sp>
        </p:grpSp>
        <p:sp>
          <p:nvSpPr>
            <p:cNvPr id="71" name="Freeform 71"/>
            <p:cNvSpPr/>
            <p:nvPr/>
          </p:nvSpPr>
          <p:spPr>
            <a:xfrm>
              <a:off x="910360" y="5101559"/>
              <a:ext cx="236681" cy="141378"/>
            </a:xfrm>
            <a:custGeom>
              <a:avLst/>
              <a:gdLst/>
              <a:ahLst/>
              <a:cxnLst/>
              <a:rect l="l" t="t" r="r" b="b"/>
              <a:pathLst>
                <a:path w="236681" h="141378">
                  <a:moveTo>
                    <a:pt x="73884" y="108616"/>
                  </a:moveTo>
                  <a:lnTo>
                    <a:pt x="34437" y="138406"/>
                  </a:lnTo>
                  <a:cubicBezTo>
                    <a:pt x="31549" y="140719"/>
                    <a:pt x="27671" y="141378"/>
                    <a:pt x="24181" y="140149"/>
                  </a:cubicBezTo>
                  <a:cubicBezTo>
                    <a:pt x="20690" y="138920"/>
                    <a:pt x="18081" y="135977"/>
                    <a:pt x="17279" y="132365"/>
                  </a:cubicBezTo>
                  <a:lnTo>
                    <a:pt x="723" y="57851"/>
                  </a:lnTo>
                  <a:cubicBezTo>
                    <a:pt x="0" y="54609"/>
                    <a:pt x="821" y="51215"/>
                    <a:pt x="2947" y="48662"/>
                  </a:cubicBezTo>
                  <a:lnTo>
                    <a:pt x="43545" y="0"/>
                  </a:lnTo>
                  <a:cubicBezTo>
                    <a:pt x="41992" y="31263"/>
                    <a:pt x="49626" y="67669"/>
                    <a:pt x="73884" y="108616"/>
                  </a:cubicBezTo>
                  <a:close/>
                  <a:moveTo>
                    <a:pt x="233734" y="48662"/>
                  </a:moveTo>
                  <a:lnTo>
                    <a:pt x="193135" y="0"/>
                  </a:lnTo>
                  <a:cubicBezTo>
                    <a:pt x="194756" y="31263"/>
                    <a:pt x="187054" y="67669"/>
                    <a:pt x="162797" y="108616"/>
                  </a:cubicBezTo>
                  <a:lnTo>
                    <a:pt x="202244" y="138406"/>
                  </a:lnTo>
                  <a:cubicBezTo>
                    <a:pt x="205132" y="140719"/>
                    <a:pt x="209010" y="141378"/>
                    <a:pt x="212500" y="140149"/>
                  </a:cubicBezTo>
                  <a:cubicBezTo>
                    <a:pt x="215990" y="138920"/>
                    <a:pt x="218600" y="135977"/>
                    <a:pt x="219402" y="132365"/>
                  </a:cubicBezTo>
                  <a:lnTo>
                    <a:pt x="235958" y="57851"/>
                  </a:lnTo>
                  <a:cubicBezTo>
                    <a:pt x="236681" y="54609"/>
                    <a:pt x="235860" y="51215"/>
                    <a:pt x="233734" y="48662"/>
                  </a:cubicBezTo>
                  <a:close/>
                </a:path>
              </a:pathLst>
            </a:custGeom>
            <a:solidFill>
              <a:srgbClr val="FF6F00">
                <a:alpha val="20000"/>
              </a:srgbClr>
            </a:solidFill>
            <a:ln>
              <a:noFill/>
            </a:ln>
          </p:spPr>
        </p:sp>
      </p:grpSp>
      <p:sp>
        <p:nvSpPr>
          <p:cNvPr id="80" name="TextBox 80"/>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17" name="图片 1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slide(fromBottom)">
                                      <p:cBhvr>
                                        <p:cTn id="7"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476250"/>
            <a:ext cx="12382500" cy="7429500"/>
            <a:chOff x="0" y="-476250"/>
            <a:chExt cx="12382500" cy="74295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476250"/>
              <a:ext cx="4762500" cy="4762500"/>
            </a:xfrm>
            <a:prstGeom prst="ellipse">
              <a:avLst/>
            </a:prstGeom>
            <a:solidFill>
              <a:srgbClr val="FFFFFF">
                <a:alpha val="4000"/>
              </a:srgbClr>
            </a:solidFill>
            <a:ln>
              <a:noFill/>
            </a:ln>
          </p:spPr>
        </p:sp>
        <p:sp>
          <p:nvSpPr>
            <p:cNvPr id="4" name="Ellipse 4"/>
            <p:cNvSpPr/>
            <p:nvPr/>
          </p:nvSpPr>
          <p:spPr>
            <a:xfrm>
              <a:off x="666750" y="3524250"/>
              <a:ext cx="3429000" cy="3429000"/>
            </a:xfrm>
            <a:prstGeom prst="ellipse">
              <a:avLst/>
            </a:prstGeom>
            <a:solidFill>
              <a:srgbClr val="FFFFFF">
                <a:alpha val="3000"/>
              </a:srgbClr>
            </a:solidFill>
            <a:ln>
              <a:noFill/>
            </a:ln>
          </p:spPr>
        </p:sp>
      </p:grpSp>
      <p:grpSp>
        <p:nvGrpSpPr>
          <p:cNvPr id="12" name="Group 12"/>
          <p:cNvGrpSpPr/>
          <p:nvPr/>
        </p:nvGrpSpPr>
        <p:grpSpPr>
          <a:xfrm>
            <a:off x="883920" y="1893570"/>
            <a:ext cx="5007150" cy="2976086"/>
            <a:chOff x="883920" y="1893570"/>
            <a:chExt cx="5007150" cy="2976086"/>
          </a:xfrm>
        </p:grpSpPr>
        <p:sp>
          <p:nvSpPr>
            <p:cNvPr id="7" name="Rectangle 7"/>
            <p:cNvSpPr/>
            <p:nvPr/>
          </p:nvSpPr>
          <p:spPr>
            <a:xfrm>
              <a:off x="613410" y="2809875"/>
              <a:ext cx="762000" cy="38100"/>
            </a:xfrm>
            <a:prstGeom prst="roundRect">
              <a:avLst>
                <a:gd name="adj" fmla="val 50000"/>
              </a:avLst>
            </a:prstGeom>
            <a:solidFill>
              <a:srgbClr val="FF6F00"/>
            </a:solidFill>
            <a:ln>
              <a:noFill/>
            </a:ln>
          </p:spPr>
        </p:sp>
        <p:sp>
          <p:nvSpPr>
            <p:cNvPr id="8" name="TextBox 8"/>
            <p:cNvSpPr txBox="1"/>
            <p:nvPr/>
          </p:nvSpPr>
          <p:spPr>
            <a:xfrm>
              <a:off x="571500" y="3168015"/>
              <a:ext cx="1932051"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认知重塑</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9" name="TextBox 9"/>
            <p:cNvSpPr txBox="1"/>
            <p:nvPr/>
          </p:nvSpPr>
          <p:spPr>
            <a:xfrm>
              <a:off x="592455" y="3917632"/>
              <a:ext cx="4959525"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重新理解AI与人的关系，建立正确的AI4SE认知框架</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613410" y="4381500"/>
              <a:ext cx="1905000" cy="19050"/>
            </a:xfrm>
            <a:prstGeom prst="rect">
              <a:avLst/>
            </a:prstGeom>
            <a:solidFill>
              <a:srgbClr val="FFFFFF">
                <a:alpha val="20000"/>
              </a:srgbClr>
            </a:solidFill>
            <a:ln>
              <a:noFill/>
            </a:ln>
          </p:spPr>
        </p:sp>
        <p:sp>
          <p:nvSpPr>
            <p:cNvPr id="11" name="TextBox 11"/>
            <p:cNvSpPr txBox="1"/>
            <p:nvPr/>
          </p:nvSpPr>
          <p:spPr>
            <a:xfrm>
              <a:off x="599122" y="4641056"/>
              <a:ext cx="4379119"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AI编程模式核心感悟 · 两类工作哲学 · AI能做而人做不到的五件事</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3" name="TextBox 13"/>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03</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31602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AI时代的两类工作哲学</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0" name="Group 20"/>
          <p:cNvGrpSpPr/>
          <p:nvPr/>
        </p:nvGrpSpPr>
        <p:grpSpPr>
          <a:xfrm>
            <a:off x="571500" y="904875"/>
            <a:ext cx="5334000" cy="3138170"/>
            <a:chOff x="571500" y="904875"/>
            <a:chExt cx="5334000" cy="2667000"/>
          </a:xfrm>
        </p:grpSpPr>
        <p:sp>
          <p:nvSpPr>
            <p:cNvPr id="10" name="Rectangle 10"/>
            <p:cNvSpPr/>
            <p:nvPr/>
          </p:nvSpPr>
          <p:spPr>
            <a:xfrm>
              <a:off x="571500" y="904875"/>
              <a:ext cx="5334000" cy="2667000"/>
            </a:xfrm>
            <a:prstGeom prst="roundRect">
              <a:avLst>
                <a:gd name="adj" fmla="val 4286"/>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2E7D32"/>
            </a:solidFill>
            <a:ln>
              <a:noFill/>
            </a:ln>
          </p:spPr>
        </p:sp>
        <p:sp>
          <p:nvSpPr>
            <p:cNvPr id="12" name="TextBox 12"/>
            <p:cNvSpPr txBox="1"/>
            <p:nvPr/>
          </p:nvSpPr>
          <p:spPr>
            <a:xfrm>
              <a:off x="2178050" y="1060297"/>
              <a:ext cx="2878455" cy="261195"/>
            </a:xfrm>
            <a:prstGeom prst="rect">
              <a:avLst/>
            </a:prstGeom>
            <a:noFill/>
            <a:ln>
              <a:noFill/>
            </a:ln>
          </p:spPr>
          <p:txBody>
            <a:bodyPr wrap="square" lIns="0" tIns="0" rIns="0" bIns="0" anchor="t" anchorCtr="0">
              <a:spAutoFit/>
            </a:bodyPr>
            <a:lstStyle/>
            <a:p>
              <a:pPr algn="ctr"/>
              <a:r>
                <a:rPr lang="zh-CN" sz="2000" b="1" dirty="0">
                  <a:solidFill>
                    <a:srgbClr val="2E7D32"/>
                  </a:solidFill>
                  <a:latin typeface="Segoe UI" panose="020B0502040204020203"/>
                  <a:ea typeface="微软雅黑" panose="020B0503020204020204" charset="-122"/>
                  <a:cs typeface="Segoe UI" panose="020B0502040204020203"/>
                </a:rPr>
                <a:t>封闭式工作 → AI主场</a:t>
              </a:r>
              <a:endParaRPr lang="zh-CN" sz="2000" b="1" dirty="0">
                <a:solidFill>
                  <a:srgbClr val="2E7D32"/>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7895" y="1545451"/>
              <a:ext cx="4572635" cy="182945"/>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特征：规则明确、结果可验证、存在有限解</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937895" y="1878961"/>
              <a:ext cx="4572000" cy="182945"/>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AI表现：如鱼得水</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952500" y="2190750"/>
              <a:ext cx="4572000" cy="266700"/>
            </a:xfrm>
            <a:prstGeom prst="roundRect">
              <a:avLst>
                <a:gd name="adj" fmla="val 21429"/>
              </a:avLst>
            </a:prstGeom>
            <a:solidFill>
              <a:srgbClr val="2E7D32">
                <a:alpha val="8000"/>
              </a:srgbClr>
            </a:solidFill>
            <a:ln>
              <a:noFill/>
            </a:ln>
          </p:spPr>
        </p:sp>
        <p:sp>
          <p:nvSpPr>
            <p:cNvPr id="16" name="TextBox 16"/>
            <p:cNvSpPr txBox="1"/>
            <p:nvPr/>
          </p:nvSpPr>
          <p:spPr>
            <a:xfrm>
              <a:off x="1127760" y="2242153"/>
              <a:ext cx="4382135" cy="208848"/>
            </a:xfrm>
            <a:prstGeom prst="rect">
              <a:avLst/>
            </a:prstGeom>
            <a:noFill/>
            <a:ln>
              <a:noFill/>
            </a:ln>
          </p:spPr>
          <p:txBody>
            <a:bodyPr wrap="square" lIns="0" tIns="0" rIns="0" bIns="0" anchor="t" anchorCtr="0">
              <a:spAutoFit/>
            </a:bodyPr>
            <a:lstStyle/>
            <a:p>
              <a:pPr algn="l"/>
              <a:r>
                <a:rPr lang="zh-CN" sz="1600" dirty="0">
                  <a:solidFill>
                    <a:srgbClr val="2E7D32"/>
                  </a:solidFill>
                  <a:latin typeface="Segoe UI" panose="020B0502040204020203"/>
                  <a:ea typeface="微软雅黑" panose="020B0503020204020204" charset="-122"/>
                  <a:cs typeface="Segoe UI" panose="020B0502040204020203"/>
                </a:rPr>
                <a:t>代码生成 · 测试编写 · 文档同步 · 格式转换</a:t>
              </a:r>
              <a:endParaRPr lang="zh-CN" sz="1600" dirty="0">
                <a:solidFill>
                  <a:srgbClr val="2E7D32"/>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952500" y="2571750"/>
              <a:ext cx="4572000" cy="266700"/>
            </a:xfrm>
            <a:prstGeom prst="roundRect">
              <a:avLst>
                <a:gd name="adj" fmla="val 21429"/>
              </a:avLst>
            </a:prstGeom>
            <a:solidFill>
              <a:srgbClr val="2E7D32">
                <a:alpha val="8000"/>
              </a:srgbClr>
            </a:solidFill>
            <a:ln>
              <a:noFill/>
            </a:ln>
          </p:spPr>
        </p:sp>
        <p:sp>
          <p:nvSpPr>
            <p:cNvPr id="18" name="TextBox 18"/>
            <p:cNvSpPr txBox="1"/>
            <p:nvPr/>
          </p:nvSpPr>
          <p:spPr>
            <a:xfrm>
              <a:off x="1127760" y="2623153"/>
              <a:ext cx="4382135" cy="208848"/>
            </a:xfrm>
            <a:prstGeom prst="rect">
              <a:avLst/>
            </a:prstGeom>
            <a:noFill/>
            <a:ln>
              <a:noFill/>
            </a:ln>
          </p:spPr>
          <p:txBody>
            <a:bodyPr wrap="square" lIns="0" tIns="0" rIns="0" bIns="0" anchor="t" anchorCtr="0">
              <a:spAutoFit/>
            </a:bodyPr>
            <a:lstStyle/>
            <a:p>
              <a:pPr algn="l"/>
              <a:r>
                <a:rPr lang="zh-CN" sz="1600" dirty="0">
                  <a:solidFill>
                    <a:srgbClr val="2E7D32"/>
                  </a:solidFill>
                  <a:latin typeface="Segoe UI" panose="020B0502040204020203"/>
                  <a:ea typeface="微软雅黑" panose="020B0503020204020204" charset="-122"/>
                  <a:cs typeface="Segoe UI" panose="020B0502040204020203"/>
                </a:rPr>
                <a:t>数据清洗 · 正则匹配 · API调用 · CRUD操作</a:t>
              </a:r>
              <a:endParaRPr lang="zh-CN" sz="1600" dirty="0">
                <a:solidFill>
                  <a:srgbClr val="2E7D32"/>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2312670" y="3116942"/>
              <a:ext cx="2222500" cy="141931"/>
            </a:xfrm>
            <a:prstGeom prst="rect">
              <a:avLst/>
            </a:prstGeom>
            <a:noFill/>
            <a:ln>
              <a:noFill/>
            </a:ln>
          </p:spPr>
          <p:txBody>
            <a:bodyPr wrap="square" lIns="0" tIns="0" rIns="0" bIns="0" anchor="t" anchorCtr="0">
              <a:noAutofit/>
            </a:bodyPr>
            <a:lstStyle/>
            <a:p>
              <a:pPr algn="ctr"/>
              <a:r>
                <a:rPr lang="zh-CN" sz="1600" dirty="0">
                  <a:solidFill>
                    <a:srgbClr val="546E7A"/>
                  </a:solidFill>
                  <a:latin typeface="Segoe UI" panose="020B0502040204020203"/>
                  <a:ea typeface="微软雅黑" panose="020B0503020204020204" charset="-122"/>
                  <a:cs typeface="Segoe UI" panose="020B0502040204020203"/>
                </a:rPr>
                <a:t>AI负责处理确定性</a:t>
              </a:r>
              <a:endParaRPr lang="zh-CN" sz="1600" dirty="0">
                <a:solidFill>
                  <a:srgbClr val="546E7A"/>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6286500" y="904875"/>
            <a:ext cx="5334000" cy="3138805"/>
            <a:chOff x="6286500" y="904875"/>
            <a:chExt cx="5334000" cy="2667000"/>
          </a:xfrm>
        </p:grpSpPr>
        <p:sp>
          <p:nvSpPr>
            <p:cNvPr id="21" name="Rectangle 21"/>
            <p:cNvSpPr/>
            <p:nvPr/>
          </p:nvSpPr>
          <p:spPr>
            <a:xfrm>
              <a:off x="6286500" y="904875"/>
              <a:ext cx="5334000" cy="2667000"/>
            </a:xfrm>
            <a:prstGeom prst="roundRect">
              <a:avLst>
                <a:gd name="adj" fmla="val 4286"/>
              </a:avLst>
            </a:prstGeom>
            <a:solidFill>
              <a:srgbClr val="FFFFFF"/>
            </a:solidFill>
            <a:ln>
              <a:noFill/>
            </a:ln>
          </p:spPr>
        </p:sp>
        <p:sp>
          <p:nvSpPr>
            <p:cNvPr id="22" name="Rectangle 22"/>
            <p:cNvSpPr/>
            <p:nvPr/>
          </p:nvSpPr>
          <p:spPr>
            <a:xfrm>
              <a:off x="6286500" y="904875"/>
              <a:ext cx="5334000" cy="38100"/>
            </a:xfrm>
            <a:prstGeom prst="roundRect">
              <a:avLst>
                <a:gd name="adj" fmla="val 50000"/>
              </a:avLst>
            </a:prstGeom>
            <a:solidFill>
              <a:srgbClr val="FF6F00"/>
            </a:solidFill>
            <a:ln>
              <a:noFill/>
            </a:ln>
          </p:spPr>
        </p:sp>
        <p:sp>
          <p:nvSpPr>
            <p:cNvPr id="23" name="TextBox 23"/>
            <p:cNvSpPr txBox="1"/>
            <p:nvPr/>
          </p:nvSpPr>
          <p:spPr>
            <a:xfrm>
              <a:off x="7385050" y="1060266"/>
              <a:ext cx="2878455" cy="261143"/>
            </a:xfrm>
            <a:prstGeom prst="rect">
              <a:avLst/>
            </a:prstGeom>
            <a:noFill/>
            <a:ln>
              <a:noFill/>
            </a:ln>
          </p:spPr>
          <p:txBody>
            <a:bodyPr wrap="square" lIns="0" tIns="0" rIns="0" bIns="0" anchor="t" anchorCtr="0">
              <a:spAutoFit/>
            </a:bodyPr>
            <a:lstStyle/>
            <a:p>
              <a:pPr algn="ctr"/>
              <a:r>
                <a:rPr lang="zh-CN" sz="2000" b="1" dirty="0">
                  <a:solidFill>
                    <a:srgbClr val="FF6F00"/>
                  </a:solidFill>
                  <a:latin typeface="Segoe UI" panose="020B0502040204020203"/>
                  <a:ea typeface="微软雅黑" panose="020B0503020204020204" charset="-122"/>
                  <a:cs typeface="Segoe UI" panose="020B0502040204020203"/>
                </a:rPr>
                <a:t>开放式工作 → 人类主场</a:t>
              </a:r>
              <a:endParaRPr lang="zh-CN" sz="2000" b="1" dirty="0">
                <a:solidFill>
                  <a:srgbClr val="FF6F0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652895" y="1545322"/>
              <a:ext cx="4572635" cy="182908"/>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特征：没有标准答案、结果是无限解、依赖主观判断</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652895" y="1878764"/>
              <a:ext cx="4572000" cy="182908"/>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AI表现：只是灵感催化剂</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6667500" y="2190750"/>
              <a:ext cx="4572000" cy="266700"/>
            </a:xfrm>
            <a:prstGeom prst="roundRect">
              <a:avLst>
                <a:gd name="adj" fmla="val 21429"/>
              </a:avLst>
            </a:prstGeom>
            <a:solidFill>
              <a:srgbClr val="FF6F00">
                <a:alpha val="8000"/>
              </a:srgbClr>
            </a:solidFill>
            <a:ln>
              <a:noFill/>
            </a:ln>
          </p:spPr>
        </p:sp>
        <p:sp>
          <p:nvSpPr>
            <p:cNvPr id="27" name="TextBox 27"/>
            <p:cNvSpPr txBox="1"/>
            <p:nvPr/>
          </p:nvSpPr>
          <p:spPr>
            <a:xfrm>
              <a:off x="6842760" y="2242422"/>
              <a:ext cx="4382770" cy="208806"/>
            </a:xfrm>
            <a:prstGeom prst="rect">
              <a:avLst/>
            </a:prstGeom>
            <a:noFill/>
            <a:ln>
              <a:noFill/>
            </a:ln>
          </p:spPr>
          <p:txBody>
            <a:bodyPr wrap="square" lIns="0" tIns="0" rIns="0" bIns="0" anchor="t" anchorCtr="0">
              <a:spAutoFit/>
            </a:bodyPr>
            <a:lstStyle/>
            <a:p>
              <a:pPr algn="l"/>
              <a:r>
                <a:rPr lang="zh-CN" sz="1600" dirty="0">
                  <a:solidFill>
                    <a:srgbClr val="FF6F00"/>
                  </a:solidFill>
                  <a:latin typeface="Segoe UI" panose="020B0502040204020203"/>
                  <a:ea typeface="微软雅黑" panose="020B0503020204020204" charset="-122"/>
                  <a:cs typeface="Segoe UI" panose="020B0502040204020203"/>
                </a:rPr>
                <a:t>架构设计 · 需求定义 · 战略决策 · 团队管理</a:t>
              </a:r>
              <a:endParaRPr lang="zh-CN" sz="1600" dirty="0">
                <a:solidFill>
                  <a:srgbClr val="FF6F00"/>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667500" y="2571750"/>
              <a:ext cx="4572000" cy="266700"/>
            </a:xfrm>
            <a:prstGeom prst="roundRect">
              <a:avLst>
                <a:gd name="adj" fmla="val 21429"/>
              </a:avLst>
            </a:prstGeom>
            <a:solidFill>
              <a:srgbClr val="FF6F00">
                <a:alpha val="8000"/>
              </a:srgbClr>
            </a:solidFill>
            <a:ln>
              <a:noFill/>
            </a:ln>
          </p:spPr>
        </p:sp>
        <p:sp>
          <p:nvSpPr>
            <p:cNvPr id="29" name="TextBox 29"/>
            <p:cNvSpPr txBox="1"/>
            <p:nvPr/>
          </p:nvSpPr>
          <p:spPr>
            <a:xfrm>
              <a:off x="6842760" y="2623345"/>
              <a:ext cx="4383405" cy="208806"/>
            </a:xfrm>
            <a:prstGeom prst="rect">
              <a:avLst/>
            </a:prstGeom>
            <a:noFill/>
            <a:ln>
              <a:noFill/>
            </a:ln>
          </p:spPr>
          <p:txBody>
            <a:bodyPr wrap="square" lIns="0" tIns="0" rIns="0" bIns="0" anchor="t" anchorCtr="0">
              <a:spAutoFit/>
            </a:bodyPr>
            <a:lstStyle/>
            <a:p>
              <a:pPr algn="l"/>
              <a:r>
                <a:rPr lang="zh-CN" sz="1600" dirty="0">
                  <a:solidFill>
                    <a:srgbClr val="FF6F00"/>
                  </a:solidFill>
                  <a:latin typeface="Segoe UI" panose="020B0502040204020203"/>
                  <a:ea typeface="微软雅黑" panose="020B0503020204020204" charset="-122"/>
                  <a:cs typeface="Segoe UI" panose="020B0502040204020203"/>
                </a:rPr>
                <a:t>创新突破 · 利益权衡 · 价值判断 · 人际协作</a:t>
              </a:r>
              <a:endParaRPr lang="zh-CN" sz="1600" dirty="0">
                <a:solidFill>
                  <a:srgbClr val="FF6F00"/>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766050" y="3117034"/>
              <a:ext cx="2497455" cy="146758"/>
            </a:xfrm>
            <a:prstGeom prst="rect">
              <a:avLst/>
            </a:prstGeom>
            <a:noFill/>
            <a:ln>
              <a:noFill/>
            </a:ln>
          </p:spPr>
          <p:txBody>
            <a:bodyPr wrap="square" lIns="0" tIns="0" rIns="0" bIns="0" anchor="t" anchorCtr="0">
              <a:noAutofit/>
            </a:bodyPr>
            <a:lstStyle/>
            <a:p>
              <a:pPr algn="ctr"/>
              <a:r>
                <a:rPr lang="zh-CN" sz="1600" dirty="0">
                  <a:solidFill>
                    <a:srgbClr val="546E7A"/>
                  </a:solidFill>
                  <a:latin typeface="Segoe UI" panose="020B0502040204020203"/>
                  <a:ea typeface="微软雅黑" panose="020B0503020204020204" charset="-122"/>
                  <a:cs typeface="Segoe UI" panose="020B0502040204020203"/>
                </a:rPr>
                <a:t>人类负责探索不确定性</a:t>
              </a:r>
              <a:endParaRPr lang="zh-CN" sz="1600" dirty="0">
                <a:solidFill>
                  <a:srgbClr val="546E7A"/>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571500" y="5140325"/>
            <a:ext cx="11049000" cy="476250"/>
            <a:chOff x="571500" y="3810000"/>
            <a:chExt cx="11049000" cy="476250"/>
          </a:xfrm>
        </p:grpSpPr>
        <p:sp>
          <p:nvSpPr>
            <p:cNvPr id="32" name="Rectangle 32"/>
            <p:cNvSpPr/>
            <p:nvPr/>
          </p:nvSpPr>
          <p:spPr>
            <a:xfrm>
              <a:off x="571500" y="3810000"/>
              <a:ext cx="11049000" cy="476250"/>
            </a:xfrm>
            <a:prstGeom prst="roundRect">
              <a:avLst>
                <a:gd name="adj" fmla="val 16000"/>
              </a:avLst>
            </a:prstGeom>
            <a:solidFill>
              <a:srgbClr val="1565C0">
                <a:alpha val="6000"/>
              </a:srgbClr>
            </a:solidFill>
            <a:ln>
              <a:noFill/>
            </a:ln>
          </p:spPr>
        </p:sp>
        <p:sp>
          <p:nvSpPr>
            <p:cNvPr id="33" name="TextBox 33"/>
            <p:cNvSpPr txBox="1"/>
            <p:nvPr/>
          </p:nvSpPr>
          <p:spPr>
            <a:xfrm>
              <a:off x="4147506" y="3975735"/>
              <a:ext cx="3896995"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panose="020B0503020204020204" charset="-122"/>
                  <a:cs typeface="Segoe UI" panose="020B0502040204020203"/>
                </a:rPr>
                <a:t>核心洞察：人类的价值在于价值</a:t>
              </a:r>
              <a:r>
                <a:rPr lang="zh-CN" b="1" dirty="0">
                  <a:solidFill>
                    <a:srgbClr val="1565C0"/>
                  </a:solidFill>
                  <a:latin typeface="Segoe UI" panose="020B0502040204020203"/>
                  <a:ea typeface="微软雅黑" panose="020B0503020204020204" charset="-122"/>
                  <a:cs typeface="Segoe UI" panose="020B0502040204020203"/>
                </a:rPr>
                <a:t>判断。</a:t>
              </a:r>
              <a:endParaRPr lang="zh-CN" b="1" dirty="0">
                <a:solidFill>
                  <a:srgbClr val="1565C0"/>
                </a:solidFill>
                <a:latin typeface="Segoe UI" panose="020B0502040204020203"/>
                <a:ea typeface="微软雅黑" panose="020B0503020204020204" charset="-122"/>
                <a:cs typeface="Segoe UI" panose="020B0502040204020203"/>
              </a:endParaRPr>
            </a:p>
          </p:txBody>
        </p:sp>
      </p:grpSp>
      <p:sp>
        <p:nvSpPr>
          <p:cNvPr id="35" name="TextBox 3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400"/>
                                        <p:tgtEl>
                                          <p:spTgt spid="3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1524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252412"/>
            <a:ext cx="11049000" cy="457200"/>
            <a:chOff x="571500" y="252412"/>
            <a:chExt cx="11049000" cy="457200"/>
          </a:xfrm>
        </p:grpSpPr>
        <p:sp>
          <p:nvSpPr>
            <p:cNvPr id="7" name="TextBox 7"/>
            <p:cNvSpPr txBox="1"/>
            <p:nvPr/>
          </p:nvSpPr>
          <p:spPr>
            <a:xfrm>
              <a:off x="571500" y="252412"/>
              <a:ext cx="4735485"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AI能做而人做不到的五件事（一）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3524250" cy="4000500"/>
            <a:chOff x="571500" y="904875"/>
            <a:chExt cx="3524250" cy="2000250"/>
          </a:xfrm>
        </p:grpSpPr>
        <p:sp>
          <p:nvSpPr>
            <p:cNvPr id="10" name="Rectangle 10"/>
            <p:cNvSpPr/>
            <p:nvPr/>
          </p:nvSpPr>
          <p:spPr>
            <a:xfrm>
              <a:off x="571500" y="904875"/>
              <a:ext cx="3524250" cy="2000250"/>
            </a:xfrm>
            <a:prstGeom prst="roundRect">
              <a:avLst>
                <a:gd name="adj" fmla="val 5714"/>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sp>
          <p:nvSpPr>
            <p:cNvPr id="12" name="TextBox 12"/>
            <p:cNvSpPr txBox="1"/>
            <p:nvPr/>
          </p:nvSpPr>
          <p:spPr>
            <a:xfrm>
              <a:off x="1371600" y="1092518"/>
              <a:ext cx="1924685" cy="153670"/>
            </a:xfrm>
            <a:prstGeom prst="rect">
              <a:avLst/>
            </a:prstGeom>
            <a:noFill/>
            <a:ln>
              <a:noFill/>
            </a:ln>
          </p:spPr>
          <p:txBody>
            <a:bodyPr wrap="square" lIns="0" tIns="0" rIns="0" bIns="0" anchor="t" anchorCtr="0">
              <a:spAutoFit/>
            </a:bodyPr>
            <a:lstStyle/>
            <a:p>
              <a:pPr algn="ctr"/>
              <a:r>
                <a:rPr lang="zh-CN" sz="2000" b="1" dirty="0">
                  <a:solidFill>
                    <a:srgbClr val="1565C0"/>
                  </a:solidFill>
                  <a:latin typeface="Segoe UI" panose="020B0502040204020203"/>
                  <a:ea typeface="微软雅黑" panose="020B0503020204020204" charset="-122"/>
                  <a:cs typeface="Segoe UI" panose="020B0502040204020203"/>
                </a:rPr>
                <a:t>文档与代码同步</a:t>
              </a:r>
              <a:endParaRPr lang="zh-CN" sz="200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822960" y="1442085"/>
              <a:ext cx="302196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人类痛点：写完代码不写文档，</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822960" y="1680210"/>
              <a:ext cx="275590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文档与代码永远不同步</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822960" y="1965960"/>
              <a:ext cx="322453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AI优势：每次代码变更后自动同步</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822960" y="2251710"/>
              <a:ext cx="266001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文档，无需人类意志力</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838200" y="2571750"/>
              <a:ext cx="2990850" cy="209550"/>
            </a:xfrm>
            <a:prstGeom prst="roundRect">
              <a:avLst>
                <a:gd name="adj" fmla="val 27273"/>
              </a:avLst>
            </a:prstGeom>
            <a:solidFill>
              <a:srgbClr val="2E7D32">
                <a:alpha val="10000"/>
              </a:srgbClr>
            </a:solidFill>
            <a:ln>
              <a:noFill/>
            </a:ln>
          </p:spPr>
        </p:sp>
        <p:sp>
          <p:nvSpPr>
            <p:cNvPr id="18" name="TextBox 18"/>
            <p:cNvSpPr txBox="1"/>
            <p:nvPr/>
          </p:nvSpPr>
          <p:spPr>
            <a:xfrm>
              <a:off x="1718945" y="2602548"/>
              <a:ext cx="1708785" cy="107633"/>
            </a:xfrm>
            <a:prstGeom prst="rect">
              <a:avLst/>
            </a:prstGeom>
            <a:noFill/>
            <a:ln>
              <a:noFill/>
            </a:ln>
          </p:spPr>
          <p:txBody>
            <a:bodyPr wrap="square" lIns="0" tIns="0" rIns="0" bIns="0" anchor="t" anchorCtr="0">
              <a:spAutoFit/>
            </a:bodyPr>
            <a:lstStyle/>
            <a:p>
              <a:pPr algn="ctr"/>
              <a:r>
                <a:rPr lang="zh-CN" sz="1400" dirty="0">
                  <a:solidFill>
                    <a:srgbClr val="2E7D32"/>
                  </a:solidFill>
                  <a:latin typeface="Segoe UI" panose="020B0502040204020203"/>
                  <a:ea typeface="微软雅黑" panose="020B0503020204020204" charset="-122"/>
                  <a:cs typeface="Segoe UI" panose="020B0502040204020203"/>
                </a:rPr>
                <a:t>理想主义照进现实</a:t>
              </a:r>
              <a:endParaRPr lang="zh-CN" sz="1400" dirty="0">
                <a:solidFill>
                  <a:srgbClr val="2E7D32"/>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4333875" y="904875"/>
            <a:ext cx="3524250" cy="4000500"/>
            <a:chOff x="4333875" y="904875"/>
            <a:chExt cx="3524250" cy="2000250"/>
          </a:xfrm>
        </p:grpSpPr>
        <p:sp>
          <p:nvSpPr>
            <p:cNvPr id="20" name="Rectangle 20"/>
            <p:cNvSpPr/>
            <p:nvPr/>
          </p:nvSpPr>
          <p:spPr>
            <a:xfrm>
              <a:off x="4333875" y="904875"/>
              <a:ext cx="3524250" cy="2000250"/>
            </a:xfrm>
            <a:prstGeom prst="roundRect">
              <a:avLst>
                <a:gd name="adj" fmla="val 5714"/>
              </a:avLst>
            </a:prstGeom>
            <a:solidFill>
              <a:srgbClr val="FFFFFF"/>
            </a:solidFill>
            <a:ln>
              <a:noFill/>
            </a:ln>
          </p:spPr>
        </p:sp>
        <p:sp>
          <p:nvSpPr>
            <p:cNvPr id="21" name="Rectangle 21"/>
            <p:cNvSpPr/>
            <p:nvPr/>
          </p:nvSpPr>
          <p:spPr>
            <a:xfrm>
              <a:off x="4333875" y="904875"/>
              <a:ext cx="3524250" cy="38100"/>
            </a:xfrm>
            <a:prstGeom prst="roundRect">
              <a:avLst>
                <a:gd name="adj" fmla="val 50000"/>
              </a:avLst>
            </a:prstGeom>
            <a:solidFill>
              <a:srgbClr val="00838F"/>
            </a:solidFill>
            <a:ln>
              <a:noFill/>
            </a:ln>
          </p:spPr>
        </p:sp>
        <p:sp>
          <p:nvSpPr>
            <p:cNvPr id="22" name="TextBox 22"/>
            <p:cNvSpPr txBox="1"/>
            <p:nvPr/>
          </p:nvSpPr>
          <p:spPr>
            <a:xfrm>
              <a:off x="5139055" y="1092518"/>
              <a:ext cx="1924685" cy="153670"/>
            </a:xfrm>
            <a:prstGeom prst="rect">
              <a:avLst/>
            </a:prstGeom>
            <a:noFill/>
            <a:ln>
              <a:noFill/>
            </a:ln>
          </p:spPr>
          <p:txBody>
            <a:bodyPr wrap="square" lIns="0" tIns="0" rIns="0" bIns="0" anchor="t" anchorCtr="0">
              <a:spAutoFit/>
            </a:bodyPr>
            <a:lstStyle/>
            <a:p>
              <a:pPr algn="ctr"/>
              <a:r>
                <a:rPr lang="zh-CN" sz="2000" b="1" dirty="0">
                  <a:solidFill>
                    <a:srgbClr val="00838F"/>
                  </a:solidFill>
                  <a:latin typeface="Segoe UI" panose="020B0502040204020203"/>
                  <a:ea typeface="微软雅黑" panose="020B0503020204020204" charset="-122"/>
                  <a:cs typeface="Segoe UI" panose="020B0502040204020203"/>
                </a:rPr>
                <a:t>需求追踪矩阵</a:t>
              </a:r>
              <a:endParaRPr lang="zh-CN" sz="2000" b="1" dirty="0">
                <a:solidFill>
                  <a:srgbClr val="00838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585335" y="1442085"/>
              <a:ext cx="2990215" cy="24606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人类痛点：需求→设计→代码→测试</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4585335" y="1680210"/>
              <a:ext cx="299021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完整追溯几乎不可能</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4585335" y="1965960"/>
              <a:ext cx="298069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AI优势：不知疲倦地维护</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4585335" y="2251710"/>
              <a:ext cx="298005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全链路双向追溯矩阵</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4600575" y="2571750"/>
              <a:ext cx="2990850" cy="209550"/>
            </a:xfrm>
            <a:prstGeom prst="roundRect">
              <a:avLst>
                <a:gd name="adj" fmla="val 27273"/>
              </a:avLst>
            </a:prstGeom>
            <a:solidFill>
              <a:srgbClr val="2E7D32">
                <a:alpha val="10000"/>
              </a:srgbClr>
            </a:solidFill>
            <a:ln>
              <a:noFill/>
            </a:ln>
          </p:spPr>
        </p:sp>
        <p:sp>
          <p:nvSpPr>
            <p:cNvPr id="28" name="TextBox 28"/>
            <p:cNvSpPr txBox="1"/>
            <p:nvPr/>
          </p:nvSpPr>
          <p:spPr>
            <a:xfrm>
              <a:off x="5556885" y="2602548"/>
              <a:ext cx="1633855" cy="107633"/>
            </a:xfrm>
            <a:prstGeom prst="rect">
              <a:avLst/>
            </a:prstGeom>
            <a:noFill/>
            <a:ln>
              <a:noFill/>
            </a:ln>
          </p:spPr>
          <p:txBody>
            <a:bodyPr wrap="square" lIns="0" tIns="0" rIns="0" bIns="0" anchor="t" anchorCtr="0">
              <a:spAutoFit/>
            </a:bodyPr>
            <a:lstStyle/>
            <a:p>
              <a:pPr algn="ctr"/>
              <a:r>
                <a:rPr lang="zh-CN" sz="1400" dirty="0">
                  <a:solidFill>
                    <a:srgbClr val="2E7D32"/>
                  </a:solidFill>
                  <a:latin typeface="Segoe UI" panose="020B0502040204020203"/>
                  <a:ea typeface="微软雅黑" panose="020B0503020204020204" charset="-122"/>
                  <a:cs typeface="Segoe UI" panose="020B0502040204020203"/>
                </a:rPr>
                <a:t>工程纪律的革命</a:t>
              </a:r>
              <a:endParaRPr lang="zh-CN" sz="1400" dirty="0">
                <a:solidFill>
                  <a:srgbClr val="2E7D32"/>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8096250" y="904875"/>
            <a:ext cx="3524250" cy="4000500"/>
            <a:chOff x="8096250" y="904875"/>
            <a:chExt cx="3524250" cy="2000250"/>
          </a:xfrm>
        </p:grpSpPr>
        <p:sp>
          <p:nvSpPr>
            <p:cNvPr id="30" name="Rectangle 30"/>
            <p:cNvSpPr/>
            <p:nvPr/>
          </p:nvSpPr>
          <p:spPr>
            <a:xfrm>
              <a:off x="8096250" y="904875"/>
              <a:ext cx="3524250" cy="2000250"/>
            </a:xfrm>
            <a:prstGeom prst="roundRect">
              <a:avLst>
                <a:gd name="adj" fmla="val 5714"/>
              </a:avLst>
            </a:prstGeom>
            <a:solidFill>
              <a:srgbClr val="FFFFFF"/>
            </a:solidFill>
            <a:ln>
              <a:noFill/>
            </a:ln>
          </p:spPr>
        </p:sp>
        <p:sp>
          <p:nvSpPr>
            <p:cNvPr id="31" name="Rectangle 31"/>
            <p:cNvSpPr/>
            <p:nvPr/>
          </p:nvSpPr>
          <p:spPr>
            <a:xfrm>
              <a:off x="8096250" y="904875"/>
              <a:ext cx="3524250" cy="38100"/>
            </a:xfrm>
            <a:prstGeom prst="roundRect">
              <a:avLst>
                <a:gd name="adj" fmla="val 50000"/>
              </a:avLst>
            </a:prstGeom>
            <a:solidFill>
              <a:srgbClr val="1565C0"/>
            </a:solidFill>
            <a:ln>
              <a:noFill/>
            </a:ln>
          </p:spPr>
        </p:sp>
        <p:sp>
          <p:nvSpPr>
            <p:cNvPr id="32" name="TextBox 32"/>
            <p:cNvSpPr txBox="1"/>
            <p:nvPr/>
          </p:nvSpPr>
          <p:spPr>
            <a:xfrm>
              <a:off x="9152255" y="1104900"/>
              <a:ext cx="1446530" cy="153670"/>
            </a:xfrm>
            <a:prstGeom prst="rect">
              <a:avLst/>
            </a:prstGeom>
            <a:noFill/>
            <a:ln>
              <a:noFill/>
            </a:ln>
          </p:spPr>
          <p:txBody>
            <a:bodyPr wrap="square" lIns="0" tIns="0" rIns="0" bIns="0" anchor="t" anchorCtr="0">
              <a:spAutoFit/>
            </a:bodyPr>
            <a:lstStyle/>
            <a:p>
              <a:pPr algn="ctr"/>
              <a:r>
                <a:rPr lang="zh-CN" sz="2000" b="1" dirty="0">
                  <a:solidFill>
                    <a:srgbClr val="1565C0"/>
                  </a:solidFill>
                  <a:latin typeface="Segoe UI" panose="020B0502040204020203"/>
                  <a:ea typeface="微软雅黑" panose="020B0503020204020204" charset="-122"/>
                  <a:cs typeface="Segoe UI" panose="020B0502040204020203"/>
                </a:rPr>
                <a:t>设计先行</a:t>
              </a:r>
              <a:endParaRPr lang="zh-CN" sz="2000" b="1" dirty="0">
                <a:solidFill>
                  <a:srgbClr val="1565C0"/>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8347710" y="1442085"/>
              <a:ext cx="298513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人类痛点："先动手再说"的冲动，</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8347710" y="1680210"/>
              <a:ext cx="299212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跳过设计直接写代码</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347710" y="1965960"/>
              <a:ext cx="3023870" cy="24606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AI优势：不抗拒先做设计再写代码</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8347710" y="2251710"/>
              <a:ext cx="305625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严格执行Spec先行流程</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8362950" y="2571750"/>
              <a:ext cx="2990850" cy="209550"/>
            </a:xfrm>
            <a:prstGeom prst="roundRect">
              <a:avLst>
                <a:gd name="adj" fmla="val 27273"/>
              </a:avLst>
            </a:prstGeom>
            <a:solidFill>
              <a:srgbClr val="2E7D32">
                <a:alpha val="10000"/>
              </a:srgbClr>
            </a:solidFill>
            <a:ln>
              <a:noFill/>
            </a:ln>
          </p:spPr>
        </p:sp>
        <p:sp>
          <p:nvSpPr>
            <p:cNvPr id="38" name="TextBox 38"/>
            <p:cNvSpPr txBox="1"/>
            <p:nvPr/>
          </p:nvSpPr>
          <p:spPr>
            <a:xfrm>
              <a:off x="9319260" y="2602548"/>
              <a:ext cx="1447165" cy="107633"/>
            </a:xfrm>
            <a:prstGeom prst="rect">
              <a:avLst/>
            </a:prstGeom>
            <a:noFill/>
            <a:ln>
              <a:noFill/>
            </a:ln>
          </p:spPr>
          <p:txBody>
            <a:bodyPr wrap="square" lIns="0" tIns="0" rIns="0" bIns="0" anchor="t" anchorCtr="0">
              <a:spAutoFit/>
            </a:bodyPr>
            <a:lstStyle/>
            <a:p>
              <a:pPr algn="ctr"/>
              <a:r>
                <a:rPr lang="zh-CN" sz="1400" dirty="0">
                  <a:solidFill>
                    <a:srgbClr val="2E7D32"/>
                  </a:solidFill>
                  <a:latin typeface="Segoe UI" panose="020B0502040204020203"/>
                  <a:ea typeface="微软雅黑" panose="020B0503020204020204" charset="-122"/>
                  <a:cs typeface="Segoe UI" panose="020B0502040204020203"/>
                </a:rPr>
                <a:t>规范化的守护者</a:t>
              </a:r>
              <a:endParaRPr lang="zh-CN" sz="1400" dirty="0">
                <a:solidFill>
                  <a:srgbClr val="2E7D32"/>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412750" y="5314950"/>
            <a:ext cx="11049000" cy="476250"/>
            <a:chOff x="571500" y="3143250"/>
            <a:chExt cx="11049000" cy="476250"/>
          </a:xfrm>
        </p:grpSpPr>
        <p:sp>
          <p:nvSpPr>
            <p:cNvPr id="40" name="Rectangle 40"/>
            <p:cNvSpPr/>
            <p:nvPr/>
          </p:nvSpPr>
          <p:spPr>
            <a:xfrm>
              <a:off x="571500" y="3143250"/>
              <a:ext cx="11049000" cy="476250"/>
            </a:xfrm>
            <a:prstGeom prst="roundRect">
              <a:avLst>
                <a:gd name="adj" fmla="val 16000"/>
              </a:avLst>
            </a:prstGeom>
            <a:solidFill>
              <a:srgbClr val="1565C0">
                <a:alpha val="6000"/>
              </a:srgbClr>
            </a:solidFill>
            <a:ln>
              <a:noFill/>
            </a:ln>
          </p:spPr>
        </p:sp>
        <p:sp>
          <p:nvSpPr>
            <p:cNvPr id="41" name="TextBox 41"/>
            <p:cNvSpPr txBox="1"/>
            <p:nvPr/>
          </p:nvSpPr>
          <p:spPr>
            <a:xfrm>
              <a:off x="2424113" y="3308985"/>
              <a:ext cx="7343775"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panose="020B0503020204020204" charset="-122"/>
                  <a:cs typeface="Segoe UI" panose="020B0502040204020203"/>
                </a:rPr>
                <a:t>核心洞察：AI没有"人性弱点"——不知疲倦、不拖延、不妥协、不走捷径</a:t>
              </a:r>
              <a:endParaRPr lang="zh-CN" b="1" dirty="0">
                <a:solidFill>
                  <a:srgbClr val="1565C0"/>
                </a:solidFill>
                <a:latin typeface="Segoe UI" panose="020B0502040204020203"/>
                <a:ea typeface="微软雅黑" panose="020B0503020204020204" charset="-122"/>
                <a:cs typeface="Segoe UI" panose="020B0502040204020203"/>
              </a:endParaRPr>
            </a:p>
          </p:txBody>
        </p:sp>
      </p:grpSp>
      <p:sp>
        <p:nvSpPr>
          <p:cNvPr id="43" name="TextBox 4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4" name="图片 4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slide(fromBottom)">
                                      <p:cBhvr>
                                        <p:cTn id="11" dur="400"/>
                                        <p:tgtEl>
                                          <p:spTgt spid="2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Bottom)">
                                      <p:cBhvr>
                                        <p:cTn id="15" dur="400"/>
                                        <p:tgtEl>
                                          <p:spTgt spid="3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4735485"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AI能做而人做不到的五件事（二）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1" name="Group 21"/>
          <p:cNvGrpSpPr/>
          <p:nvPr/>
        </p:nvGrpSpPr>
        <p:grpSpPr>
          <a:xfrm>
            <a:off x="571500" y="904875"/>
            <a:ext cx="5334000" cy="3821430"/>
            <a:chOff x="571500" y="904875"/>
            <a:chExt cx="5334000" cy="2571750"/>
          </a:xfrm>
        </p:grpSpPr>
        <p:sp>
          <p:nvSpPr>
            <p:cNvPr id="10" name="Rectangle 10"/>
            <p:cNvSpPr/>
            <p:nvPr/>
          </p:nvSpPr>
          <p:spPr>
            <a:xfrm>
              <a:off x="571500" y="904875"/>
              <a:ext cx="5334000" cy="2571750"/>
            </a:xfrm>
            <a:prstGeom prst="roundRect">
              <a:avLst>
                <a:gd name="adj" fmla="val 4444"/>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1691640" y="1107863"/>
              <a:ext cx="3062605" cy="248286"/>
            </a:xfrm>
            <a:prstGeom prst="rect">
              <a:avLst/>
            </a:prstGeom>
            <a:noFill/>
            <a:ln>
              <a:noFill/>
            </a:ln>
          </p:spPr>
          <p:txBody>
            <a:bodyPr wrap="square" lIns="0" tIns="0" rIns="0" bIns="0" anchor="t" anchorCtr="0">
              <a:spAutoFit/>
            </a:bodyPr>
            <a:lstStyle/>
            <a:p>
              <a:pPr algn="ctr"/>
              <a:r>
                <a:rPr lang="zh-CN" sz="2400" b="1" dirty="0">
                  <a:solidFill>
                    <a:srgbClr val="1565C0"/>
                  </a:solidFill>
                  <a:latin typeface="Segoe UI" panose="020B0502040204020203"/>
                  <a:ea typeface="微软雅黑" panose="020B0503020204020204" charset="-122"/>
                  <a:cs typeface="Segoe UI" panose="020B0502040204020203"/>
                </a:rPr>
                <a:t>测试驱动开发（TDD）</a:t>
              </a:r>
              <a:endParaRPr lang="zh-CN" sz="2400" b="1" dirty="0">
                <a:solidFill>
                  <a:srgbClr val="1565C0"/>
                </a:solidFill>
                <a:latin typeface="Segoe UI" panose="020B0502040204020203"/>
                <a:ea typeface="微软雅黑" panose="020B0503020204020204" charset="-122"/>
                <a:cs typeface="Segoe UI" panose="020B0502040204020203"/>
              </a:endParaRPr>
            </a:p>
          </p:txBody>
        </p:sp>
        <p:sp>
          <p:nvSpPr>
            <p:cNvPr id="13" name="Rectangle 13"/>
            <p:cNvSpPr/>
            <p:nvPr/>
          </p:nvSpPr>
          <p:spPr>
            <a:xfrm>
              <a:off x="952500" y="1476375"/>
              <a:ext cx="4572000" cy="381000"/>
            </a:xfrm>
            <a:prstGeom prst="roundRect">
              <a:avLst>
                <a:gd name="adj" fmla="val 20000"/>
              </a:avLst>
            </a:prstGeom>
            <a:solidFill>
              <a:srgbClr val="1565C0">
                <a:alpha val="6000"/>
              </a:srgbClr>
            </a:solidFill>
            <a:ln>
              <a:noFill/>
            </a:ln>
          </p:spPr>
        </p:sp>
        <p:sp>
          <p:nvSpPr>
            <p:cNvPr id="14" name="TextBox 14"/>
            <p:cNvSpPr txBox="1"/>
            <p:nvPr/>
          </p:nvSpPr>
          <p:spPr>
            <a:xfrm>
              <a:off x="1128395" y="1592897"/>
              <a:ext cx="4394835" cy="165382"/>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人类感受：先写测试是"延迟满足"，本能抗拒</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8212" y="1974056"/>
              <a:ext cx="606147" cy="165382"/>
            </a:xfrm>
            <a:prstGeom prst="rect">
              <a:avLst/>
            </a:prstGeom>
            <a:noFill/>
            <a:ln>
              <a:noFill/>
            </a:ln>
          </p:spPr>
          <p:txBody>
            <a:bodyPr wrap="square" lIns="0" tIns="0" rIns="0" bIns="0" anchor="t" anchorCtr="0">
              <a:spAutoFit/>
            </a:bodyPr>
            <a:lstStyle/>
            <a:p>
              <a:pPr algn="l"/>
              <a:r>
                <a:rPr lang="zh-CN" sz="1600" dirty="0">
                  <a:solidFill>
                    <a:srgbClr val="263238"/>
                  </a:solidFill>
                  <a:latin typeface="Segoe UI" panose="020B0502040204020203"/>
                  <a:ea typeface="微软雅黑" panose="020B0503020204020204" charset="-122"/>
                  <a:cs typeface="Segoe UI" panose="020B0502040204020203"/>
                </a:rPr>
                <a:t>AI真相：</a:t>
              </a:r>
              <a:endParaRPr lang="zh-CN" sz="1600" dirty="0">
                <a:solidFill>
                  <a:srgbClr val="26323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952500" y="2238375"/>
              <a:ext cx="4572000" cy="9525"/>
            </a:xfrm>
            <a:prstGeom prst="rect">
              <a:avLst/>
            </a:prstGeom>
            <a:solidFill>
              <a:srgbClr val="CFD8DC">
                <a:alpha val="50000"/>
              </a:srgbClr>
            </a:solidFill>
            <a:ln>
              <a:noFill/>
            </a:ln>
          </p:spPr>
        </p:sp>
        <p:sp>
          <p:nvSpPr>
            <p:cNvPr id="17" name="TextBox 17"/>
            <p:cNvSpPr txBox="1"/>
            <p:nvPr/>
          </p:nvSpPr>
          <p:spPr>
            <a:xfrm>
              <a:off x="1127760" y="2394593"/>
              <a:ext cx="4396105" cy="186322"/>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AI没有"满足延迟"的心理感受</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127760" y="2680485"/>
              <a:ext cx="4396740" cy="186322"/>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红→绿→重构循环，AI执行得天经地义</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1127760" y="2965950"/>
              <a:ext cx="4396105" cy="186322"/>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人类抗拒的"负担"变成AI的"默认模式"</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952500" y="3286125"/>
              <a:ext cx="4572000" cy="9525"/>
            </a:xfrm>
            <a:prstGeom prst="rect">
              <a:avLst/>
            </a:prstGeom>
            <a:solidFill>
              <a:srgbClr val="CFD8DC">
                <a:alpha val="50000"/>
              </a:srgbClr>
            </a:solidFill>
            <a:ln>
              <a:noFill/>
            </a:ln>
          </p:spPr>
        </p:sp>
      </p:grpSp>
      <p:grpSp>
        <p:nvGrpSpPr>
          <p:cNvPr id="33" name="Group 33"/>
          <p:cNvGrpSpPr/>
          <p:nvPr/>
        </p:nvGrpSpPr>
        <p:grpSpPr>
          <a:xfrm>
            <a:off x="6286500" y="904875"/>
            <a:ext cx="5334000" cy="3837940"/>
            <a:chOff x="6286500" y="904875"/>
            <a:chExt cx="5334000" cy="2571750"/>
          </a:xfrm>
        </p:grpSpPr>
        <p:sp>
          <p:nvSpPr>
            <p:cNvPr id="22" name="Rectangle 22"/>
            <p:cNvSpPr/>
            <p:nvPr/>
          </p:nvSpPr>
          <p:spPr>
            <a:xfrm>
              <a:off x="6286500" y="904875"/>
              <a:ext cx="5334000" cy="2571750"/>
            </a:xfrm>
            <a:prstGeom prst="roundRect">
              <a:avLst>
                <a:gd name="adj" fmla="val 4444"/>
              </a:avLst>
            </a:prstGeom>
            <a:solidFill>
              <a:srgbClr val="FFFFFF"/>
            </a:solidFill>
            <a:ln>
              <a:noFill/>
            </a:ln>
          </p:spPr>
        </p:sp>
        <p:sp>
          <p:nvSpPr>
            <p:cNvPr id="23" name="Rectangle 23"/>
            <p:cNvSpPr/>
            <p:nvPr/>
          </p:nvSpPr>
          <p:spPr>
            <a:xfrm>
              <a:off x="6286500" y="904875"/>
              <a:ext cx="5334000" cy="38100"/>
            </a:xfrm>
            <a:prstGeom prst="roundRect">
              <a:avLst>
                <a:gd name="adj" fmla="val 50000"/>
              </a:avLst>
            </a:prstGeom>
            <a:solidFill>
              <a:srgbClr val="00838F"/>
            </a:solidFill>
            <a:ln>
              <a:noFill/>
            </a:ln>
          </p:spPr>
        </p:sp>
        <p:sp>
          <p:nvSpPr>
            <p:cNvPr id="24" name="TextBox 24"/>
            <p:cNvSpPr txBox="1"/>
            <p:nvPr/>
          </p:nvSpPr>
          <p:spPr>
            <a:xfrm>
              <a:off x="8106410" y="1107841"/>
              <a:ext cx="1742440" cy="215305"/>
            </a:xfrm>
            <a:prstGeom prst="rect">
              <a:avLst/>
            </a:prstGeom>
            <a:noFill/>
            <a:ln>
              <a:noFill/>
            </a:ln>
          </p:spPr>
          <p:txBody>
            <a:bodyPr wrap="square" lIns="0" tIns="0" rIns="0" bIns="0" anchor="t" anchorCtr="0">
              <a:noAutofit/>
            </a:bodyPr>
            <a:lstStyle/>
            <a:p>
              <a:pPr algn="ctr"/>
              <a:r>
                <a:rPr lang="zh-CN" sz="2400" b="1" dirty="0">
                  <a:solidFill>
                    <a:srgbClr val="00838F"/>
                  </a:solidFill>
                  <a:latin typeface="Segoe UI" panose="020B0502040204020203"/>
                  <a:ea typeface="微软雅黑" panose="020B0503020204020204" charset="-122"/>
                  <a:cs typeface="Segoe UI" panose="020B0502040204020203"/>
                </a:rPr>
                <a:t>质量门禁</a:t>
              </a:r>
              <a:endParaRPr lang="zh-CN" sz="2400" b="1" dirty="0">
                <a:solidFill>
                  <a:srgbClr val="00838F"/>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6667500" y="1476375"/>
              <a:ext cx="4572000" cy="381000"/>
            </a:xfrm>
            <a:prstGeom prst="roundRect">
              <a:avLst>
                <a:gd name="adj" fmla="val 20000"/>
              </a:avLst>
            </a:prstGeom>
            <a:solidFill>
              <a:srgbClr val="00838F">
                <a:alpha val="6000"/>
              </a:srgbClr>
            </a:solidFill>
            <a:ln>
              <a:noFill/>
            </a:ln>
          </p:spPr>
        </p:sp>
        <p:sp>
          <p:nvSpPr>
            <p:cNvPr id="26" name="TextBox 26"/>
            <p:cNvSpPr txBox="1"/>
            <p:nvPr/>
          </p:nvSpPr>
          <p:spPr>
            <a:xfrm>
              <a:off x="6843395" y="1592916"/>
              <a:ext cx="4394835" cy="164670"/>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人类感受：会被deadline压垮而跳过检查</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6653212" y="1974056"/>
              <a:ext cx="606147" cy="164670"/>
            </a:xfrm>
            <a:prstGeom prst="rect">
              <a:avLst/>
            </a:prstGeom>
            <a:noFill/>
            <a:ln>
              <a:noFill/>
            </a:ln>
          </p:spPr>
          <p:txBody>
            <a:bodyPr wrap="square" lIns="0" tIns="0" rIns="0" bIns="0" anchor="t" anchorCtr="0">
              <a:spAutoFit/>
            </a:bodyPr>
            <a:lstStyle/>
            <a:p>
              <a:pPr algn="l"/>
              <a:r>
                <a:rPr lang="zh-CN" sz="1600" dirty="0">
                  <a:solidFill>
                    <a:srgbClr val="263238"/>
                  </a:solidFill>
                  <a:latin typeface="Segoe UI" panose="020B0502040204020203"/>
                  <a:ea typeface="微软雅黑" panose="020B0503020204020204" charset="-122"/>
                  <a:cs typeface="Segoe UI" panose="020B0502040204020203"/>
                </a:rPr>
                <a:t>AI真相：</a:t>
              </a:r>
              <a:endParaRPr lang="zh-CN" sz="1600" dirty="0">
                <a:solidFill>
                  <a:srgbClr val="26323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667500" y="2238375"/>
              <a:ext cx="4572000" cy="9525"/>
            </a:xfrm>
            <a:prstGeom prst="rect">
              <a:avLst/>
            </a:prstGeom>
            <a:solidFill>
              <a:srgbClr val="CFD8DC">
                <a:alpha val="50000"/>
              </a:srgbClr>
            </a:solidFill>
            <a:ln>
              <a:noFill/>
            </a:ln>
          </p:spPr>
        </p:sp>
        <p:sp>
          <p:nvSpPr>
            <p:cNvPr id="29" name="TextBox 29"/>
            <p:cNvSpPr txBox="1"/>
            <p:nvPr/>
          </p:nvSpPr>
          <p:spPr>
            <a:xfrm>
              <a:off x="6842760" y="2394567"/>
              <a:ext cx="4397375" cy="185520"/>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严格坚守每一项质量检查，不妥协不跳过</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842760" y="2680506"/>
              <a:ext cx="4396740" cy="371040"/>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覆盖率检查→坏味道扫描→安全审计→回归验证</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842760" y="2966019"/>
              <a:ext cx="4396740" cy="185520"/>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所有门禁零遗漏，不会因为"赶时间"而妥协</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6667500" y="3286125"/>
              <a:ext cx="4572000" cy="9525"/>
            </a:xfrm>
            <a:prstGeom prst="rect">
              <a:avLst/>
            </a:prstGeom>
            <a:solidFill>
              <a:srgbClr val="CFD8DC">
                <a:alpha val="50000"/>
              </a:srgbClr>
            </a:solidFill>
            <a:ln>
              <a:noFill/>
            </a:ln>
          </p:spPr>
        </p:sp>
      </p:grpSp>
      <p:grpSp>
        <p:nvGrpSpPr>
          <p:cNvPr id="38" name="Group 38"/>
          <p:cNvGrpSpPr/>
          <p:nvPr/>
        </p:nvGrpSpPr>
        <p:grpSpPr>
          <a:xfrm>
            <a:off x="628650" y="4953000"/>
            <a:ext cx="11049000" cy="762000"/>
            <a:chOff x="571500" y="3714750"/>
            <a:chExt cx="11049000" cy="762000"/>
          </a:xfrm>
        </p:grpSpPr>
        <p:sp>
          <p:nvSpPr>
            <p:cNvPr id="34" name="Rectangle 34"/>
            <p:cNvSpPr/>
            <p:nvPr/>
          </p:nvSpPr>
          <p:spPr>
            <a:xfrm>
              <a:off x="571500" y="3714750"/>
              <a:ext cx="11049000" cy="762000"/>
            </a:xfrm>
            <a:prstGeom prst="roundRect">
              <a:avLst>
                <a:gd name="adj" fmla="val 12500"/>
              </a:avLst>
            </a:prstGeom>
            <a:solidFill>
              <a:srgbClr val="1565C0">
                <a:alpha val="8000"/>
              </a:srgbClr>
            </a:solidFill>
            <a:ln>
              <a:noFill/>
            </a:ln>
          </p:spPr>
        </p:sp>
        <p:sp>
          <p:nvSpPr>
            <p:cNvPr id="35" name="Rectangle 35"/>
            <p:cNvSpPr/>
            <p:nvPr/>
          </p:nvSpPr>
          <p:spPr>
            <a:xfrm>
              <a:off x="571500" y="3714750"/>
              <a:ext cx="57150" cy="762000"/>
            </a:xfrm>
            <a:prstGeom prst="roundRect">
              <a:avLst>
                <a:gd name="adj" fmla="val 50000"/>
              </a:avLst>
            </a:prstGeom>
            <a:solidFill>
              <a:srgbClr val="FF6F00"/>
            </a:solidFill>
            <a:ln>
              <a:noFill/>
            </a:ln>
          </p:spPr>
        </p:sp>
        <p:sp>
          <p:nvSpPr>
            <p:cNvPr id="36" name="TextBox 36"/>
            <p:cNvSpPr txBox="1"/>
            <p:nvPr/>
          </p:nvSpPr>
          <p:spPr>
            <a:xfrm>
              <a:off x="5199380" y="3854768"/>
              <a:ext cx="1793240"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panose="020B0503020204020204" charset="-122"/>
                  <a:cs typeface="Segoe UI" panose="020B0502040204020203"/>
                </a:rPr>
                <a:t>AI4SE的终极价值</a:t>
              </a:r>
              <a:endParaRPr lang="zh-CN" b="1"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5181600" y="4164806"/>
              <a:ext cx="1828800" cy="276860"/>
            </a:xfrm>
            <a:prstGeom prst="rect">
              <a:avLst/>
            </a:prstGeom>
            <a:noFill/>
            <a:ln>
              <a:noFill/>
            </a:ln>
          </p:spPr>
          <p:txBody>
            <a:bodyPr wrap="none" lIns="0" tIns="0" rIns="0" bIns="0" anchor="t" anchorCtr="0">
              <a:spAutoFit/>
            </a:bodyPr>
            <a:lstStyle/>
            <a:p>
              <a:pPr algn="ctr"/>
              <a:r>
                <a:rPr lang="zh-CN" dirty="0">
                  <a:solidFill>
                    <a:srgbClr val="263238"/>
                  </a:solidFill>
                  <a:latin typeface="Segoe UI" panose="020B0502040204020203"/>
                  <a:ea typeface="微软雅黑" panose="020B0503020204020204" charset="-122"/>
                  <a:cs typeface="Segoe UI" panose="020B0502040204020203"/>
                </a:rPr>
                <a:t>让守纪律不再痛苦</a:t>
              </a:r>
              <a:endParaRPr lang="zh-CN" dirty="0">
                <a:solidFill>
                  <a:srgbClr val="263238"/>
                </a:solidFill>
                <a:latin typeface="Segoe UI" panose="020B0502040204020203"/>
                <a:ea typeface="微软雅黑" panose="020B0503020204020204" charset="-122"/>
                <a:cs typeface="Segoe UI" panose="020B0502040204020203"/>
              </a:endParaRPr>
            </a:p>
          </p:txBody>
        </p:sp>
      </p:grpSp>
      <p:sp>
        <p:nvSpPr>
          <p:cNvPr id="39" name="TextBox 3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0" name="图片 3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image">
                                      <p:cBhvr>
                                        <p:cTn id="7" dur="4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6" y="252412"/>
            <a:ext cx="11053444" cy="457200"/>
            <a:chOff x="567056" y="252412"/>
            <a:chExt cx="11053444" cy="457200"/>
          </a:xfrm>
        </p:grpSpPr>
        <p:sp>
          <p:nvSpPr>
            <p:cNvPr id="7" name="TextBox 7"/>
            <p:cNvSpPr txBox="1"/>
            <p:nvPr/>
          </p:nvSpPr>
          <p:spPr>
            <a:xfrm>
              <a:off x="571500" y="252412"/>
              <a:ext cx="478274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a:cs typeface="Segoe UI" panose="020B0502040204020203"/>
                </a:rPr>
                <a:t>认知重塑：角色与沟通的范式转移</a:t>
              </a:r>
              <a:endParaRPr lang="zh-CN" sz="225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1" name="Group 21"/>
          <p:cNvGrpSpPr/>
          <p:nvPr/>
        </p:nvGrpSpPr>
        <p:grpSpPr>
          <a:xfrm>
            <a:off x="571500" y="904875"/>
            <a:ext cx="3524250" cy="2286000"/>
            <a:chOff x="571500" y="904875"/>
            <a:chExt cx="3524250" cy="2286000"/>
          </a:xfrm>
        </p:grpSpPr>
        <p:sp>
          <p:nvSpPr>
            <p:cNvPr id="10" name="Rectangle 10"/>
            <p:cNvSpPr/>
            <p:nvPr/>
          </p:nvSpPr>
          <p:spPr>
            <a:xfrm>
              <a:off x="571500" y="904875"/>
              <a:ext cx="3524250" cy="2286000"/>
            </a:xfrm>
            <a:prstGeom prst="roundRect">
              <a:avLst>
                <a:gd name="adj" fmla="val 5000"/>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grpSp>
          <p:nvGrpSpPr>
            <p:cNvPr id="14" name="Group 14"/>
            <p:cNvGrpSpPr/>
            <p:nvPr/>
          </p:nvGrpSpPr>
          <p:grpSpPr>
            <a:xfrm>
              <a:off x="853573" y="1160057"/>
              <a:ext cx="276168" cy="274256"/>
              <a:chOff x="853573" y="1160057"/>
              <a:chExt cx="276168" cy="274256"/>
            </a:xfrm>
          </p:grpSpPr>
          <p:sp>
            <p:nvSpPr>
              <p:cNvPr id="12" name="Freeform 12"/>
              <p:cNvSpPr/>
              <p:nvPr/>
            </p:nvSpPr>
            <p:spPr>
              <a:xfrm>
                <a:off x="933450" y="1238250"/>
                <a:ext cx="114300" cy="114300"/>
              </a:xfrm>
              <a:custGeom>
                <a:avLst/>
                <a:gdLst/>
                <a:ahLst/>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rgbClr val="1565C0">
                  <a:alpha val="20000"/>
                </a:srgbClr>
              </a:solidFill>
              <a:ln>
                <a:noFill/>
              </a:ln>
            </p:spPr>
          </p:sp>
          <p:sp>
            <p:nvSpPr>
              <p:cNvPr id="13" name="Freeform 13"/>
              <p:cNvSpPr/>
              <p:nvPr/>
            </p:nvSpPr>
            <p:spPr>
              <a:xfrm>
                <a:off x="853573" y="1160057"/>
                <a:ext cx="276168" cy="274256"/>
              </a:xfrm>
              <a:custGeom>
                <a:avLst/>
                <a:gdLst/>
                <a:ahLst/>
                <a:cxnLst/>
                <a:rect l="l" t="t" r="r" b="b"/>
                <a:pathLst>
                  <a:path w="276168" h="274256">
                    <a:moveTo>
                      <a:pt x="248791" y="81955"/>
                    </a:moveTo>
                    <a:cubicBezTo>
                      <a:pt x="276168" y="139212"/>
                      <a:pt x="255871" y="207897"/>
                      <a:pt x="201770" y="241076"/>
                    </a:cubicBezTo>
                    <a:cubicBezTo>
                      <a:pt x="147670" y="274256"/>
                      <a:pt x="77247" y="261209"/>
                      <a:pt x="38624" y="210851"/>
                    </a:cubicBezTo>
                    <a:cubicBezTo>
                      <a:pt x="0" y="160493"/>
                      <a:pt x="5656" y="89095"/>
                      <a:pt x="51726" y="45446"/>
                    </a:cubicBezTo>
                    <a:cubicBezTo>
                      <a:pt x="97797" y="1797"/>
                      <a:pt x="169395" y="0"/>
                      <a:pt x="217597" y="41283"/>
                    </a:cubicBezTo>
                    <a:lnTo>
                      <a:pt x="244588" y="14280"/>
                    </a:lnTo>
                    <a:cubicBezTo>
                      <a:pt x="248310" y="10558"/>
                      <a:pt x="254345" y="10558"/>
                      <a:pt x="258066" y="14280"/>
                    </a:cubicBezTo>
                    <a:cubicBezTo>
                      <a:pt x="261788" y="18002"/>
                      <a:pt x="261788" y="24036"/>
                      <a:pt x="258066" y="27758"/>
                    </a:cubicBezTo>
                    <a:lnTo>
                      <a:pt x="143766" y="142058"/>
                    </a:lnTo>
                    <a:cubicBezTo>
                      <a:pt x="140045" y="145780"/>
                      <a:pt x="134010" y="145780"/>
                      <a:pt x="130288" y="142058"/>
                    </a:cubicBezTo>
                    <a:cubicBezTo>
                      <a:pt x="126567" y="138336"/>
                      <a:pt x="126567" y="132302"/>
                      <a:pt x="130288" y="128580"/>
                    </a:cubicBezTo>
                    <a:lnTo>
                      <a:pt x="163293" y="95576"/>
                    </a:lnTo>
                    <a:cubicBezTo>
                      <a:pt x="144878" y="83397"/>
                      <a:pt x="120508" y="85471"/>
                      <a:pt x="104416" y="100585"/>
                    </a:cubicBezTo>
                    <a:cubicBezTo>
                      <a:pt x="88324" y="115699"/>
                      <a:pt x="84729" y="139892"/>
                      <a:pt x="95731" y="159032"/>
                    </a:cubicBezTo>
                    <a:cubicBezTo>
                      <a:pt x="106732" y="178173"/>
                      <a:pt x="129446" y="187243"/>
                      <a:pt x="150606" y="180946"/>
                    </a:cubicBezTo>
                    <a:cubicBezTo>
                      <a:pt x="171766" y="174648"/>
                      <a:pt x="185824" y="154634"/>
                      <a:pt x="184569" y="132593"/>
                    </a:cubicBezTo>
                    <a:cubicBezTo>
                      <a:pt x="184273" y="127332"/>
                      <a:pt x="188298" y="122828"/>
                      <a:pt x="193558" y="122532"/>
                    </a:cubicBezTo>
                    <a:cubicBezTo>
                      <a:pt x="198819" y="122236"/>
                      <a:pt x="203323" y="126260"/>
                      <a:pt x="203619" y="131521"/>
                    </a:cubicBezTo>
                    <a:cubicBezTo>
                      <a:pt x="205408" y="162739"/>
                      <a:pt x="185262" y="191007"/>
                      <a:pt x="155168" y="199502"/>
                    </a:cubicBezTo>
                    <a:cubicBezTo>
                      <a:pt x="125075" y="207998"/>
                      <a:pt x="93121" y="194439"/>
                      <a:pt x="78320" y="166895"/>
                    </a:cubicBezTo>
                    <a:cubicBezTo>
                      <a:pt x="63519" y="139350"/>
                      <a:pt x="69849" y="105220"/>
                      <a:pt x="93543" y="84814"/>
                    </a:cubicBezTo>
                    <a:cubicBezTo>
                      <a:pt x="117236" y="64409"/>
                      <a:pt x="151927" y="63210"/>
                      <a:pt x="176973" y="81931"/>
                    </a:cubicBezTo>
                    <a:lnTo>
                      <a:pt x="204060" y="54845"/>
                    </a:lnTo>
                    <a:cubicBezTo>
                      <a:pt x="162954" y="20716"/>
                      <a:pt x="102738" y="23039"/>
                      <a:pt x="64382" y="60232"/>
                    </a:cubicBezTo>
                    <a:cubicBezTo>
                      <a:pt x="26027" y="97425"/>
                      <a:pt x="21854" y="157541"/>
                      <a:pt x="54702" y="199677"/>
                    </a:cubicBezTo>
                    <a:cubicBezTo>
                      <a:pt x="87551" y="241813"/>
                      <a:pt x="146868" y="252434"/>
                      <a:pt x="192295" y="224312"/>
                    </a:cubicBezTo>
                    <a:cubicBezTo>
                      <a:pt x="237723" y="196191"/>
                      <a:pt x="254667" y="138361"/>
                      <a:pt x="231599" y="90171"/>
                    </a:cubicBezTo>
                    <a:cubicBezTo>
                      <a:pt x="229330" y="85423"/>
                      <a:pt x="231340" y="79735"/>
                      <a:pt x="236087" y="77467"/>
                    </a:cubicBezTo>
                    <a:cubicBezTo>
                      <a:pt x="240835" y="75198"/>
                      <a:pt x="246523" y="77208"/>
                      <a:pt x="248791" y="81955"/>
                    </a:cubicBezTo>
                    <a:close/>
                  </a:path>
                </a:pathLst>
              </a:custGeom>
              <a:solidFill>
                <a:srgbClr val="1565C0"/>
              </a:solidFill>
              <a:ln>
                <a:noFill/>
              </a:ln>
            </p:spPr>
          </p:sp>
        </p:grpSp>
        <p:sp>
          <p:nvSpPr>
            <p:cNvPr id="15" name="TextBox 15"/>
            <p:cNvSpPr txBox="1"/>
            <p:nvPr/>
          </p:nvSpPr>
          <p:spPr>
            <a:xfrm>
              <a:off x="1266825" y="1190625"/>
              <a:ext cx="2700655" cy="307340"/>
            </a:xfrm>
            <a:prstGeom prst="rect">
              <a:avLst/>
            </a:prstGeom>
            <a:noFill/>
            <a:ln>
              <a:noFill/>
            </a:ln>
          </p:spPr>
          <p:txBody>
            <a:bodyPr wrap="none" lIns="0" tIns="0" rIns="0" bIns="0" anchor="t" anchorCtr="0">
              <a:spAutoFit/>
            </a:bodyPr>
            <a:lstStyle/>
            <a:p>
              <a:pPr algn="l"/>
              <a:r>
                <a:rPr lang="zh-CN" sz="2000" b="1" dirty="0">
                  <a:solidFill>
                    <a:srgbClr val="263238"/>
                  </a:solidFill>
                  <a:latin typeface="Segoe UI" panose="020B0502040204020203"/>
                  <a:ea typeface="微软雅黑"/>
                  <a:cs typeface="Segoe UI" panose="020B0502040204020203"/>
                </a:rPr>
                <a:t>What与How的严格区分</a:t>
              </a:r>
              <a:endParaRPr lang="zh-CN" sz="2000"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2960" y="1565910"/>
              <a:ext cx="296799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人从"写How"上升到"定义What"</a:t>
              </a:r>
              <a:endParaRPr lang="zh-CN" sz="1600"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2960" y="1813560"/>
              <a:ext cx="304165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算法、数据结构、设计模式→AI</a:t>
              </a:r>
              <a:endParaRPr lang="zh-CN" sz="1600"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2960" y="2061210"/>
              <a:ext cx="264096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业务目标、规则、分支→人</a:t>
              </a:r>
              <a:endParaRPr lang="zh-CN" sz="1600"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2960" y="2346960"/>
              <a:ext cx="265112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人审核AI选的How是否合理</a:t>
              </a:r>
              <a:endParaRPr lang="zh-CN" sz="1600"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2960" y="2775585"/>
              <a:ext cx="3210560" cy="276860"/>
            </a:xfrm>
            <a:prstGeom prst="rect">
              <a:avLst/>
            </a:prstGeom>
            <a:noFill/>
            <a:ln>
              <a:noFill/>
            </a:ln>
          </p:spPr>
          <p:txBody>
            <a:bodyPr wrap="none" lIns="0" tIns="0" rIns="0" bIns="0" anchor="t" anchorCtr="0">
              <a:spAutoFit/>
            </a:bodyPr>
            <a:lstStyle/>
            <a:p>
              <a:pPr algn="l"/>
              <a:r>
                <a:rPr lang="zh-CN" b="1" dirty="0">
                  <a:solidFill>
                    <a:srgbClr val="FF6F00"/>
                  </a:solidFill>
                  <a:latin typeface="Segoe UI" panose="020B0502040204020203"/>
                  <a:ea typeface="微软雅黑"/>
                  <a:cs typeface="Segoe UI" panose="020B0502040204020203"/>
                </a:rPr>
                <a:t>从"代码实现者"到"需求定义者"</a:t>
              </a:r>
              <a:endParaRPr lang="zh-CN" b="1" dirty="0">
                <a:solidFill>
                  <a:srgbClr val="FF6F00"/>
                </a:solidFill>
                <a:latin typeface="Segoe UI" panose="020B0502040204020203"/>
                <a:ea typeface="微软雅黑"/>
                <a:cs typeface="Segoe UI" panose="020B0502040204020203"/>
              </a:endParaRPr>
            </a:p>
          </p:txBody>
        </p:sp>
      </p:grpSp>
      <p:grpSp>
        <p:nvGrpSpPr>
          <p:cNvPr id="33" name="Group 33"/>
          <p:cNvGrpSpPr/>
          <p:nvPr/>
        </p:nvGrpSpPr>
        <p:grpSpPr>
          <a:xfrm>
            <a:off x="4333875" y="904875"/>
            <a:ext cx="3524250" cy="2286000"/>
            <a:chOff x="4333875" y="904875"/>
            <a:chExt cx="3524250" cy="2286000"/>
          </a:xfrm>
        </p:grpSpPr>
        <p:sp>
          <p:nvSpPr>
            <p:cNvPr id="22" name="Rectangle 22"/>
            <p:cNvSpPr/>
            <p:nvPr/>
          </p:nvSpPr>
          <p:spPr>
            <a:xfrm>
              <a:off x="4333875" y="904875"/>
              <a:ext cx="3524250" cy="2286000"/>
            </a:xfrm>
            <a:prstGeom prst="roundRect">
              <a:avLst>
                <a:gd name="adj" fmla="val 5000"/>
              </a:avLst>
            </a:prstGeom>
            <a:solidFill>
              <a:srgbClr val="FFFFFF"/>
            </a:solidFill>
            <a:ln>
              <a:noFill/>
            </a:ln>
          </p:spPr>
        </p:sp>
        <p:sp>
          <p:nvSpPr>
            <p:cNvPr id="23" name="Rectangle 23"/>
            <p:cNvSpPr/>
            <p:nvPr/>
          </p:nvSpPr>
          <p:spPr>
            <a:xfrm>
              <a:off x="4333875" y="904875"/>
              <a:ext cx="3524250" cy="38100"/>
            </a:xfrm>
            <a:prstGeom prst="roundRect">
              <a:avLst>
                <a:gd name="adj" fmla="val 50000"/>
              </a:avLst>
            </a:prstGeom>
            <a:solidFill>
              <a:srgbClr val="00838F"/>
            </a:solidFill>
            <a:ln>
              <a:noFill/>
            </a:ln>
          </p:spPr>
        </p:sp>
        <p:grpSp>
          <p:nvGrpSpPr>
            <p:cNvPr id="26" name="Group 26"/>
            <p:cNvGrpSpPr/>
            <p:nvPr/>
          </p:nvGrpSpPr>
          <p:grpSpPr>
            <a:xfrm>
              <a:off x="4610091" y="1166788"/>
              <a:ext cx="285759" cy="247698"/>
              <a:chOff x="4610091" y="1166788"/>
              <a:chExt cx="285759" cy="247698"/>
            </a:xfrm>
          </p:grpSpPr>
          <p:sp>
            <p:nvSpPr>
              <p:cNvPr id="24" name="Freeform 24"/>
              <p:cNvSpPr/>
              <p:nvPr/>
            </p:nvSpPr>
            <p:spPr>
              <a:xfrm>
                <a:off x="4619574" y="1181100"/>
                <a:ext cx="266759" cy="219075"/>
              </a:xfrm>
              <a:custGeom>
                <a:avLst/>
                <a:gdLst/>
                <a:ahLst/>
                <a:cxnLst/>
                <a:rect l="l" t="t" r="r" b="b"/>
                <a:pathLst>
                  <a:path w="266759" h="219075">
                    <a:moveTo>
                      <a:pt x="266751" y="109538"/>
                    </a:moveTo>
                    <a:cubicBezTo>
                      <a:pt x="266759" y="133763"/>
                      <a:pt x="251491" y="155362"/>
                      <a:pt x="228651" y="163437"/>
                    </a:cubicBezTo>
                    <a:lnTo>
                      <a:pt x="228651" y="163437"/>
                    </a:lnTo>
                    <a:lnTo>
                      <a:pt x="228651" y="171450"/>
                    </a:lnTo>
                    <a:cubicBezTo>
                      <a:pt x="228651" y="197753"/>
                      <a:pt x="207329" y="219075"/>
                      <a:pt x="181026" y="219075"/>
                    </a:cubicBezTo>
                    <a:cubicBezTo>
                      <a:pt x="154724" y="219075"/>
                      <a:pt x="133401" y="197753"/>
                      <a:pt x="133401" y="171450"/>
                    </a:cubicBezTo>
                    <a:cubicBezTo>
                      <a:pt x="133401" y="197753"/>
                      <a:pt x="112079" y="219075"/>
                      <a:pt x="85776" y="219075"/>
                    </a:cubicBezTo>
                    <a:cubicBezTo>
                      <a:pt x="59474" y="219075"/>
                      <a:pt x="38151" y="197753"/>
                      <a:pt x="38151" y="171450"/>
                    </a:cubicBezTo>
                    <a:lnTo>
                      <a:pt x="38151" y="163437"/>
                    </a:lnTo>
                    <a:lnTo>
                      <a:pt x="38151" y="163437"/>
                    </a:lnTo>
                    <a:cubicBezTo>
                      <a:pt x="15291" y="155379"/>
                      <a:pt x="0" y="133777"/>
                      <a:pt x="0" y="109538"/>
                    </a:cubicBezTo>
                    <a:cubicBezTo>
                      <a:pt x="0" y="85298"/>
                      <a:pt x="15291" y="63696"/>
                      <a:pt x="38151" y="55638"/>
                    </a:cubicBezTo>
                    <a:lnTo>
                      <a:pt x="38151" y="47625"/>
                    </a:lnTo>
                    <a:cubicBezTo>
                      <a:pt x="38151" y="21322"/>
                      <a:pt x="59474" y="0"/>
                      <a:pt x="85776" y="0"/>
                    </a:cubicBezTo>
                    <a:cubicBezTo>
                      <a:pt x="112079" y="0"/>
                      <a:pt x="133401" y="21322"/>
                      <a:pt x="133401" y="47625"/>
                    </a:cubicBezTo>
                    <a:cubicBezTo>
                      <a:pt x="133401" y="21322"/>
                      <a:pt x="154724" y="0"/>
                      <a:pt x="181026" y="0"/>
                    </a:cubicBezTo>
                    <a:cubicBezTo>
                      <a:pt x="207329" y="0"/>
                      <a:pt x="228651" y="21322"/>
                      <a:pt x="228651" y="47625"/>
                    </a:cubicBezTo>
                    <a:lnTo>
                      <a:pt x="228651" y="55638"/>
                    </a:lnTo>
                    <a:cubicBezTo>
                      <a:pt x="251491" y="63713"/>
                      <a:pt x="266759" y="85312"/>
                      <a:pt x="266751" y="109538"/>
                    </a:cubicBezTo>
                    <a:close/>
                  </a:path>
                </a:pathLst>
              </a:custGeom>
              <a:solidFill>
                <a:srgbClr val="00838F">
                  <a:alpha val="20000"/>
                </a:srgbClr>
              </a:solidFill>
              <a:ln>
                <a:noFill/>
              </a:ln>
            </p:spPr>
          </p:sp>
          <p:sp>
            <p:nvSpPr>
              <p:cNvPr id="25" name="Freeform 25"/>
              <p:cNvSpPr/>
              <p:nvPr/>
            </p:nvSpPr>
            <p:spPr>
              <a:xfrm>
                <a:off x="4610091" y="1166788"/>
                <a:ext cx="285759" cy="247698"/>
              </a:xfrm>
              <a:custGeom>
                <a:avLst/>
                <a:gdLst/>
                <a:ahLst/>
                <a:cxnLst/>
                <a:rect l="l" t="t" r="r" b="b"/>
                <a:pathLst>
                  <a:path w="285759" h="247698">
                    <a:moveTo>
                      <a:pt x="285759" y="123849"/>
                    </a:moveTo>
                    <a:cubicBezTo>
                      <a:pt x="285733" y="98099"/>
                      <a:pt x="270911" y="74656"/>
                      <a:pt x="247659" y="63592"/>
                    </a:cubicBezTo>
                    <a:lnTo>
                      <a:pt x="247659" y="61937"/>
                    </a:lnTo>
                    <a:cubicBezTo>
                      <a:pt x="247636" y="36738"/>
                      <a:pt x="231112" y="14527"/>
                      <a:pt x="206982" y="7264"/>
                    </a:cubicBezTo>
                    <a:cubicBezTo>
                      <a:pt x="182853" y="0"/>
                      <a:pt x="156813" y="9398"/>
                      <a:pt x="142884" y="30397"/>
                    </a:cubicBezTo>
                    <a:cubicBezTo>
                      <a:pt x="128955" y="9398"/>
                      <a:pt x="102915" y="0"/>
                      <a:pt x="78786" y="7264"/>
                    </a:cubicBezTo>
                    <a:cubicBezTo>
                      <a:pt x="54656" y="14527"/>
                      <a:pt x="38131" y="36738"/>
                      <a:pt x="38109" y="61937"/>
                    </a:cubicBezTo>
                    <a:lnTo>
                      <a:pt x="38109" y="63592"/>
                    </a:lnTo>
                    <a:cubicBezTo>
                      <a:pt x="14836" y="74627"/>
                      <a:pt x="0" y="98080"/>
                      <a:pt x="0" y="123837"/>
                    </a:cubicBezTo>
                    <a:cubicBezTo>
                      <a:pt x="0" y="149594"/>
                      <a:pt x="14836" y="173048"/>
                      <a:pt x="38109" y="184083"/>
                    </a:cubicBezTo>
                    <a:lnTo>
                      <a:pt x="38109" y="185762"/>
                    </a:lnTo>
                    <a:cubicBezTo>
                      <a:pt x="38131" y="210961"/>
                      <a:pt x="54656" y="233171"/>
                      <a:pt x="78786" y="240435"/>
                    </a:cubicBezTo>
                    <a:cubicBezTo>
                      <a:pt x="102915" y="247698"/>
                      <a:pt x="128955" y="238301"/>
                      <a:pt x="142884" y="217301"/>
                    </a:cubicBezTo>
                    <a:cubicBezTo>
                      <a:pt x="156813" y="238301"/>
                      <a:pt x="182853" y="247698"/>
                      <a:pt x="206982" y="240435"/>
                    </a:cubicBezTo>
                    <a:cubicBezTo>
                      <a:pt x="231112" y="233171"/>
                      <a:pt x="247636" y="210961"/>
                      <a:pt x="247659" y="185762"/>
                    </a:cubicBezTo>
                    <a:lnTo>
                      <a:pt x="247659" y="184083"/>
                    </a:lnTo>
                    <a:cubicBezTo>
                      <a:pt x="270907" y="173027"/>
                      <a:pt x="285730" y="149592"/>
                      <a:pt x="285759" y="123849"/>
                    </a:cubicBezTo>
                    <a:close/>
                    <a:moveTo>
                      <a:pt x="95259" y="223862"/>
                    </a:moveTo>
                    <a:cubicBezTo>
                      <a:pt x="75804" y="223859"/>
                      <a:pt x="59477" y="209199"/>
                      <a:pt x="57385" y="189857"/>
                    </a:cubicBezTo>
                    <a:cubicBezTo>
                      <a:pt x="60465" y="190297"/>
                      <a:pt x="63573" y="190520"/>
                      <a:pt x="66684" y="190524"/>
                    </a:cubicBezTo>
                    <a:lnTo>
                      <a:pt x="76209" y="190524"/>
                    </a:lnTo>
                    <a:cubicBezTo>
                      <a:pt x="81469" y="190524"/>
                      <a:pt x="85734" y="186260"/>
                      <a:pt x="85734" y="180999"/>
                    </a:cubicBezTo>
                    <a:cubicBezTo>
                      <a:pt x="85734" y="175739"/>
                      <a:pt x="81469" y="171474"/>
                      <a:pt x="76209" y="171474"/>
                    </a:cubicBezTo>
                    <a:lnTo>
                      <a:pt x="66684" y="171474"/>
                    </a:lnTo>
                    <a:cubicBezTo>
                      <a:pt x="43466" y="171501"/>
                      <a:pt x="23613" y="154783"/>
                      <a:pt x="19689" y="131899"/>
                    </a:cubicBezTo>
                    <a:cubicBezTo>
                      <a:pt x="15764" y="109016"/>
                      <a:pt x="28913" y="86637"/>
                      <a:pt x="50813" y="78927"/>
                    </a:cubicBezTo>
                    <a:cubicBezTo>
                      <a:pt x="54616" y="77580"/>
                      <a:pt x="57158" y="73984"/>
                      <a:pt x="57159" y="69950"/>
                    </a:cubicBezTo>
                    <a:lnTo>
                      <a:pt x="57159" y="61937"/>
                    </a:lnTo>
                    <a:cubicBezTo>
                      <a:pt x="57159" y="40895"/>
                      <a:pt x="74217" y="23837"/>
                      <a:pt x="95259" y="23837"/>
                    </a:cubicBezTo>
                    <a:cubicBezTo>
                      <a:pt x="116301" y="23837"/>
                      <a:pt x="133359" y="40895"/>
                      <a:pt x="133359" y="61937"/>
                    </a:cubicBezTo>
                    <a:lnTo>
                      <a:pt x="133359" y="143209"/>
                    </a:lnTo>
                    <a:cubicBezTo>
                      <a:pt x="122899" y="133802"/>
                      <a:pt x="109327" y="128601"/>
                      <a:pt x="95259" y="128612"/>
                    </a:cubicBezTo>
                    <a:cubicBezTo>
                      <a:pt x="89998" y="128612"/>
                      <a:pt x="85734" y="132876"/>
                      <a:pt x="85734" y="138137"/>
                    </a:cubicBezTo>
                    <a:cubicBezTo>
                      <a:pt x="85734" y="143397"/>
                      <a:pt x="89998" y="147662"/>
                      <a:pt x="95259" y="147662"/>
                    </a:cubicBezTo>
                    <a:cubicBezTo>
                      <a:pt x="116301" y="147662"/>
                      <a:pt x="133359" y="164720"/>
                      <a:pt x="133359" y="185762"/>
                    </a:cubicBezTo>
                    <a:cubicBezTo>
                      <a:pt x="133359" y="206804"/>
                      <a:pt x="116301" y="223862"/>
                      <a:pt x="95259" y="223862"/>
                    </a:cubicBezTo>
                    <a:close/>
                    <a:moveTo>
                      <a:pt x="219084" y="171474"/>
                    </a:moveTo>
                    <a:lnTo>
                      <a:pt x="209559" y="171474"/>
                    </a:lnTo>
                    <a:cubicBezTo>
                      <a:pt x="204298" y="171474"/>
                      <a:pt x="200034" y="175739"/>
                      <a:pt x="200034" y="180999"/>
                    </a:cubicBezTo>
                    <a:cubicBezTo>
                      <a:pt x="200034" y="186260"/>
                      <a:pt x="204298" y="190524"/>
                      <a:pt x="209559" y="190524"/>
                    </a:cubicBezTo>
                    <a:lnTo>
                      <a:pt x="219084" y="190524"/>
                    </a:lnTo>
                    <a:cubicBezTo>
                      <a:pt x="222195" y="190520"/>
                      <a:pt x="225303" y="190297"/>
                      <a:pt x="228383" y="189857"/>
                    </a:cubicBezTo>
                    <a:cubicBezTo>
                      <a:pt x="226178" y="210249"/>
                      <a:pt x="208226" y="225236"/>
                      <a:pt x="187768" y="223763"/>
                    </a:cubicBezTo>
                    <a:cubicBezTo>
                      <a:pt x="167311" y="222291"/>
                      <a:pt x="151690" y="204888"/>
                      <a:pt x="152428" y="184391"/>
                    </a:cubicBezTo>
                    <a:cubicBezTo>
                      <a:pt x="153166" y="163893"/>
                      <a:pt x="169998" y="147659"/>
                      <a:pt x="190509" y="147662"/>
                    </a:cubicBezTo>
                    <a:cubicBezTo>
                      <a:pt x="195769" y="147662"/>
                      <a:pt x="200034" y="143397"/>
                      <a:pt x="200034" y="138137"/>
                    </a:cubicBezTo>
                    <a:cubicBezTo>
                      <a:pt x="200034" y="132876"/>
                      <a:pt x="195769" y="128612"/>
                      <a:pt x="190509" y="128612"/>
                    </a:cubicBezTo>
                    <a:cubicBezTo>
                      <a:pt x="176441" y="128601"/>
                      <a:pt x="162868" y="133802"/>
                      <a:pt x="152409" y="143209"/>
                    </a:cubicBezTo>
                    <a:lnTo>
                      <a:pt x="152409" y="61937"/>
                    </a:lnTo>
                    <a:cubicBezTo>
                      <a:pt x="152409" y="40895"/>
                      <a:pt x="169467" y="23837"/>
                      <a:pt x="190509" y="23837"/>
                    </a:cubicBezTo>
                    <a:cubicBezTo>
                      <a:pt x="211551" y="23837"/>
                      <a:pt x="228609" y="40895"/>
                      <a:pt x="228609" y="61937"/>
                    </a:cubicBezTo>
                    <a:lnTo>
                      <a:pt x="228609" y="69950"/>
                    </a:lnTo>
                    <a:cubicBezTo>
                      <a:pt x="228610" y="73984"/>
                      <a:pt x="231152" y="77580"/>
                      <a:pt x="234955" y="78927"/>
                    </a:cubicBezTo>
                    <a:cubicBezTo>
                      <a:pt x="256855" y="86637"/>
                      <a:pt x="270004" y="109016"/>
                      <a:pt x="266079" y="131899"/>
                    </a:cubicBezTo>
                    <a:cubicBezTo>
                      <a:pt x="262155" y="154783"/>
                      <a:pt x="242301" y="171501"/>
                      <a:pt x="219084" y="171474"/>
                    </a:cubicBezTo>
                    <a:close/>
                    <a:moveTo>
                      <a:pt x="238134" y="109562"/>
                    </a:moveTo>
                    <a:cubicBezTo>
                      <a:pt x="238134" y="114822"/>
                      <a:pt x="233869" y="119087"/>
                      <a:pt x="228609" y="119087"/>
                    </a:cubicBezTo>
                    <a:lnTo>
                      <a:pt x="223846" y="119087"/>
                    </a:lnTo>
                    <a:cubicBezTo>
                      <a:pt x="200174" y="119087"/>
                      <a:pt x="180984" y="99897"/>
                      <a:pt x="180984" y="76224"/>
                    </a:cubicBezTo>
                    <a:lnTo>
                      <a:pt x="180984" y="71462"/>
                    </a:lnTo>
                    <a:cubicBezTo>
                      <a:pt x="180984" y="66201"/>
                      <a:pt x="185248" y="61937"/>
                      <a:pt x="190509" y="61937"/>
                    </a:cubicBezTo>
                    <a:cubicBezTo>
                      <a:pt x="195769" y="61937"/>
                      <a:pt x="200034" y="66201"/>
                      <a:pt x="200034" y="71462"/>
                    </a:cubicBezTo>
                    <a:lnTo>
                      <a:pt x="200034" y="76224"/>
                    </a:lnTo>
                    <a:cubicBezTo>
                      <a:pt x="200034" y="89376"/>
                      <a:pt x="210695" y="100037"/>
                      <a:pt x="223846" y="100037"/>
                    </a:cubicBezTo>
                    <a:lnTo>
                      <a:pt x="228609" y="100037"/>
                    </a:lnTo>
                    <a:cubicBezTo>
                      <a:pt x="233869" y="100037"/>
                      <a:pt x="238134" y="104301"/>
                      <a:pt x="238134" y="109562"/>
                    </a:cubicBezTo>
                    <a:close/>
                    <a:moveTo>
                      <a:pt x="61921" y="119087"/>
                    </a:moveTo>
                    <a:lnTo>
                      <a:pt x="57159" y="119087"/>
                    </a:lnTo>
                    <a:cubicBezTo>
                      <a:pt x="51898" y="119087"/>
                      <a:pt x="47634" y="114822"/>
                      <a:pt x="47634" y="109562"/>
                    </a:cubicBezTo>
                    <a:cubicBezTo>
                      <a:pt x="47634" y="104301"/>
                      <a:pt x="51898" y="100037"/>
                      <a:pt x="57159" y="100037"/>
                    </a:cubicBezTo>
                    <a:lnTo>
                      <a:pt x="61921" y="100037"/>
                    </a:lnTo>
                    <a:cubicBezTo>
                      <a:pt x="75073" y="100037"/>
                      <a:pt x="85734" y="89376"/>
                      <a:pt x="85734" y="76224"/>
                    </a:cubicBezTo>
                    <a:lnTo>
                      <a:pt x="85734" y="71462"/>
                    </a:lnTo>
                    <a:cubicBezTo>
                      <a:pt x="85734" y="66201"/>
                      <a:pt x="89998" y="61937"/>
                      <a:pt x="95259" y="61937"/>
                    </a:cubicBezTo>
                    <a:cubicBezTo>
                      <a:pt x="100519" y="61937"/>
                      <a:pt x="104784" y="66201"/>
                      <a:pt x="104784" y="71462"/>
                    </a:cubicBezTo>
                    <a:lnTo>
                      <a:pt x="104784" y="76224"/>
                    </a:lnTo>
                    <a:cubicBezTo>
                      <a:pt x="104784" y="99897"/>
                      <a:pt x="85594" y="119087"/>
                      <a:pt x="61921" y="119087"/>
                    </a:cubicBezTo>
                    <a:close/>
                  </a:path>
                </a:pathLst>
              </a:custGeom>
              <a:solidFill>
                <a:srgbClr val="00838F"/>
              </a:solidFill>
              <a:ln>
                <a:noFill/>
              </a:ln>
            </p:spPr>
          </p:sp>
        </p:grpSp>
        <p:sp>
          <p:nvSpPr>
            <p:cNvPr id="27" name="TextBox 27"/>
            <p:cNvSpPr txBox="1"/>
            <p:nvPr/>
          </p:nvSpPr>
          <p:spPr>
            <a:xfrm>
              <a:off x="5029200" y="1190625"/>
              <a:ext cx="2116455" cy="307340"/>
            </a:xfrm>
            <a:prstGeom prst="rect">
              <a:avLst/>
            </a:prstGeom>
            <a:noFill/>
            <a:ln>
              <a:noFill/>
            </a:ln>
          </p:spPr>
          <p:txBody>
            <a:bodyPr wrap="none" lIns="0" tIns="0" rIns="0" bIns="0" anchor="t" anchorCtr="0">
              <a:spAutoFit/>
            </a:bodyPr>
            <a:lstStyle/>
            <a:p>
              <a:pPr algn="l"/>
              <a:r>
                <a:rPr lang="zh-CN" sz="2000" b="1" dirty="0">
                  <a:solidFill>
                    <a:srgbClr val="263238"/>
                  </a:solidFill>
                  <a:latin typeface="Segoe UI" panose="020B0502040204020203"/>
                  <a:ea typeface="微软雅黑"/>
                  <a:cs typeface="Segoe UI" panose="020B0502040204020203"/>
                </a:rPr>
                <a:t>AI = "聪明的傻子"</a:t>
              </a:r>
              <a:endParaRPr lang="zh-CN" sz="2000" b="1" dirty="0">
                <a:solidFill>
                  <a:srgbClr val="263238"/>
                </a:solidFill>
                <a:latin typeface="Segoe UI" panose="020B0502040204020203"/>
                <a:ea typeface="微软雅黑"/>
                <a:cs typeface="Segoe UI" panose="020B0502040204020203"/>
              </a:endParaRPr>
            </a:p>
          </p:txBody>
        </p:sp>
        <p:sp>
          <p:nvSpPr>
            <p:cNvPr id="28" name="TextBox 28"/>
            <p:cNvSpPr txBox="1"/>
            <p:nvPr/>
          </p:nvSpPr>
          <p:spPr>
            <a:xfrm>
              <a:off x="4585335" y="1565910"/>
              <a:ext cx="24384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"聪明"：快速生成正确代码</a:t>
              </a:r>
              <a:endParaRPr lang="zh-CN" sz="1600"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5335" y="1813560"/>
              <a:ext cx="30480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"傻子"：不追问、不质疑、不补充</a:t>
              </a:r>
              <a:endParaRPr lang="zh-CN" sz="1600"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5335" y="2137410"/>
              <a:ext cx="263588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正是因为AI是"傻子"，你才被</a:t>
              </a:r>
              <a:endParaRPr lang="zh-CN" sz="1600"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5335" y="2385060"/>
              <a:ext cx="22352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迫把需求想清楚、写清楚</a:t>
              </a:r>
              <a:endParaRPr lang="zh-CN" sz="1600"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5335" y="2775585"/>
              <a:ext cx="2750820" cy="276860"/>
            </a:xfrm>
            <a:prstGeom prst="rect">
              <a:avLst/>
            </a:prstGeom>
            <a:noFill/>
            <a:ln>
              <a:noFill/>
            </a:ln>
          </p:spPr>
          <p:txBody>
            <a:bodyPr wrap="none" lIns="0" tIns="0" rIns="0" bIns="0" anchor="t" anchorCtr="0">
              <a:spAutoFit/>
            </a:bodyPr>
            <a:lstStyle/>
            <a:p>
              <a:pPr algn="l"/>
              <a:r>
                <a:rPr lang="zh-CN" b="1" dirty="0">
                  <a:solidFill>
                    <a:srgbClr val="FF6F00"/>
                  </a:solidFill>
                  <a:latin typeface="Segoe UI" panose="020B0502040204020203"/>
                  <a:ea typeface="微软雅黑"/>
                  <a:cs typeface="Segoe UI" panose="020B0502040204020203"/>
                </a:rPr>
                <a:t>倒逼开发者提升思维严谨性</a:t>
              </a:r>
              <a:endParaRPr lang="zh-CN" b="1"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8096250" y="904875"/>
            <a:ext cx="3524250" cy="2286000"/>
            <a:chOff x="8096250" y="904875"/>
            <a:chExt cx="3524250" cy="2286000"/>
          </a:xfrm>
        </p:grpSpPr>
        <p:sp>
          <p:nvSpPr>
            <p:cNvPr id="34" name="Rectangle 34"/>
            <p:cNvSpPr/>
            <p:nvPr/>
          </p:nvSpPr>
          <p:spPr>
            <a:xfrm>
              <a:off x="8096250" y="904875"/>
              <a:ext cx="3524250" cy="2286000"/>
            </a:xfrm>
            <a:prstGeom prst="roundRect">
              <a:avLst>
                <a:gd name="adj" fmla="val 5000"/>
              </a:avLst>
            </a:prstGeom>
            <a:solidFill>
              <a:srgbClr val="FFFFFF"/>
            </a:solidFill>
            <a:ln>
              <a:noFill/>
            </a:ln>
          </p:spPr>
        </p:sp>
        <p:sp>
          <p:nvSpPr>
            <p:cNvPr id="35" name="Rectangle 35"/>
            <p:cNvSpPr/>
            <p:nvPr/>
          </p:nvSpPr>
          <p:spPr>
            <a:xfrm>
              <a:off x="8096250" y="904875"/>
              <a:ext cx="3524250" cy="38100"/>
            </a:xfrm>
            <a:prstGeom prst="roundRect">
              <a:avLst>
                <a:gd name="adj" fmla="val 50000"/>
              </a:avLst>
            </a:prstGeom>
            <a:solidFill>
              <a:srgbClr val="1565C0"/>
            </a:solidFill>
            <a:ln>
              <a:noFill/>
            </a:ln>
          </p:spPr>
        </p:sp>
        <p:grpSp>
          <p:nvGrpSpPr>
            <p:cNvPr id="38" name="Group 38"/>
            <p:cNvGrpSpPr/>
            <p:nvPr/>
          </p:nvGrpSpPr>
          <p:grpSpPr>
            <a:xfrm>
              <a:off x="8385589" y="1171566"/>
              <a:ext cx="263750" cy="257353"/>
              <a:chOff x="8385589" y="1171566"/>
              <a:chExt cx="263750" cy="257353"/>
            </a:xfrm>
          </p:grpSpPr>
          <p:sp>
            <p:nvSpPr>
              <p:cNvPr id="36" name="Freeform 36"/>
              <p:cNvSpPr/>
              <p:nvPr/>
            </p:nvSpPr>
            <p:spPr>
              <a:xfrm>
                <a:off x="8392344" y="1171584"/>
                <a:ext cx="237311" cy="243253"/>
              </a:xfrm>
              <a:custGeom>
                <a:avLst/>
                <a:gdLst/>
                <a:ahLst/>
                <a:cxnLst/>
                <a:rect l="l" t="t" r="r" b="b"/>
                <a:pathLst>
                  <a:path w="237311" h="243253">
                    <a:moveTo>
                      <a:pt x="237306" y="123816"/>
                    </a:moveTo>
                    <a:cubicBezTo>
                      <a:pt x="237311" y="164672"/>
                      <a:pt x="215509" y="202423"/>
                      <a:pt x="180120" y="222838"/>
                    </a:cubicBezTo>
                    <a:cubicBezTo>
                      <a:pt x="144731" y="243253"/>
                      <a:pt x="101137" y="243227"/>
                      <a:pt x="65773" y="222769"/>
                    </a:cubicBezTo>
                    <a:lnTo>
                      <a:pt x="65773" y="222769"/>
                    </a:lnTo>
                    <a:lnTo>
                      <a:pt x="21255" y="237616"/>
                    </a:lnTo>
                    <a:cubicBezTo>
                      <a:pt x="17832" y="238758"/>
                      <a:pt x="14058" y="237867"/>
                      <a:pt x="11507" y="235316"/>
                    </a:cubicBezTo>
                    <a:cubicBezTo>
                      <a:pt x="8955" y="232764"/>
                      <a:pt x="8064" y="228990"/>
                      <a:pt x="9206" y="225567"/>
                    </a:cubicBezTo>
                    <a:lnTo>
                      <a:pt x="24053" y="181050"/>
                    </a:lnTo>
                    <a:lnTo>
                      <a:pt x="24053" y="181050"/>
                    </a:lnTo>
                    <a:cubicBezTo>
                      <a:pt x="0" y="139446"/>
                      <a:pt x="4540" y="87239"/>
                      <a:pt x="35413" y="50411"/>
                    </a:cubicBezTo>
                    <a:cubicBezTo>
                      <a:pt x="66286" y="13583"/>
                      <a:pt x="116898" y="0"/>
                      <a:pt x="162062" y="16421"/>
                    </a:cubicBezTo>
                    <a:cubicBezTo>
                      <a:pt x="207226" y="32842"/>
                      <a:pt x="237295" y="75760"/>
                      <a:pt x="237306" y="123816"/>
                    </a:cubicBezTo>
                    <a:close/>
                  </a:path>
                </a:pathLst>
              </a:custGeom>
              <a:solidFill>
                <a:srgbClr val="1565C0">
                  <a:alpha val="20000"/>
                </a:srgbClr>
              </a:solidFill>
              <a:ln>
                <a:noFill/>
              </a:ln>
            </p:spPr>
          </p:sp>
          <p:sp>
            <p:nvSpPr>
              <p:cNvPr id="37" name="Freeform 37"/>
              <p:cNvSpPr/>
              <p:nvPr/>
            </p:nvSpPr>
            <p:spPr>
              <a:xfrm>
                <a:off x="8385589" y="1171566"/>
                <a:ext cx="263750" cy="257353"/>
              </a:xfrm>
              <a:custGeom>
                <a:avLst/>
                <a:gdLst/>
                <a:ahLst/>
                <a:cxnLst/>
                <a:rect l="l" t="t" r="r" b="b"/>
                <a:pathLst>
                  <a:path w="263750" h="257353">
                    <a:moveTo>
                      <a:pt x="129761" y="9"/>
                    </a:moveTo>
                    <a:cubicBezTo>
                      <a:pt x="86276" y="0"/>
                      <a:pt x="45973" y="22802"/>
                      <a:pt x="23583" y="60080"/>
                    </a:cubicBezTo>
                    <a:cubicBezTo>
                      <a:pt x="1194" y="97358"/>
                      <a:pt x="0" y="143649"/>
                      <a:pt x="20438" y="182032"/>
                    </a:cubicBezTo>
                    <a:lnTo>
                      <a:pt x="6924" y="222573"/>
                    </a:lnTo>
                    <a:cubicBezTo>
                      <a:pt x="4641" y="229419"/>
                      <a:pt x="6423" y="236967"/>
                      <a:pt x="11526" y="242070"/>
                    </a:cubicBezTo>
                    <a:cubicBezTo>
                      <a:pt x="16629" y="247173"/>
                      <a:pt x="24177" y="248954"/>
                      <a:pt x="31023" y="246671"/>
                    </a:cubicBezTo>
                    <a:lnTo>
                      <a:pt x="71563" y="233158"/>
                    </a:lnTo>
                    <a:cubicBezTo>
                      <a:pt x="117053" y="257353"/>
                      <a:pt x="172772" y="250850"/>
                      <a:pt x="211468" y="216831"/>
                    </a:cubicBezTo>
                    <a:cubicBezTo>
                      <a:pt x="250164" y="182811"/>
                      <a:pt x="263750" y="128384"/>
                      <a:pt x="245581" y="80170"/>
                    </a:cubicBezTo>
                    <a:cubicBezTo>
                      <a:pt x="227412" y="31955"/>
                      <a:pt x="181285" y="31"/>
                      <a:pt x="129761" y="9"/>
                    </a:cubicBezTo>
                    <a:close/>
                    <a:moveTo>
                      <a:pt x="129761" y="228609"/>
                    </a:moveTo>
                    <a:cubicBezTo>
                      <a:pt x="111342" y="228622"/>
                      <a:pt x="93246" y="223771"/>
                      <a:pt x="77302" y="214548"/>
                    </a:cubicBezTo>
                    <a:cubicBezTo>
                      <a:pt x="75855" y="213709"/>
                      <a:pt x="74213" y="213265"/>
                      <a:pt x="72540" y="213262"/>
                    </a:cubicBezTo>
                    <a:cubicBezTo>
                      <a:pt x="71515" y="213263"/>
                      <a:pt x="70497" y="213432"/>
                      <a:pt x="69528" y="213762"/>
                    </a:cubicBezTo>
                    <a:lnTo>
                      <a:pt x="24986" y="228609"/>
                    </a:lnTo>
                    <a:lnTo>
                      <a:pt x="39833" y="184080"/>
                    </a:lnTo>
                    <a:cubicBezTo>
                      <a:pt x="40699" y="181492"/>
                      <a:pt x="40413" y="178657"/>
                      <a:pt x="39048" y="176293"/>
                    </a:cubicBezTo>
                    <a:cubicBezTo>
                      <a:pt x="15301" y="135238"/>
                      <a:pt x="22095" y="83352"/>
                      <a:pt x="55610" y="49794"/>
                    </a:cubicBezTo>
                    <a:cubicBezTo>
                      <a:pt x="89126" y="16236"/>
                      <a:pt x="141003" y="9377"/>
                      <a:pt x="182088" y="33072"/>
                    </a:cubicBezTo>
                    <a:cubicBezTo>
                      <a:pt x="223173" y="56766"/>
                      <a:pt x="243218" y="105104"/>
                      <a:pt x="230958" y="150920"/>
                    </a:cubicBezTo>
                    <a:cubicBezTo>
                      <a:pt x="218697" y="196736"/>
                      <a:pt x="177189" y="228602"/>
                      <a:pt x="129761" y="228609"/>
                    </a:cubicBezTo>
                    <a:close/>
                    <a:moveTo>
                      <a:pt x="144049" y="123834"/>
                    </a:moveTo>
                    <a:cubicBezTo>
                      <a:pt x="144049" y="131725"/>
                      <a:pt x="137652" y="138122"/>
                      <a:pt x="129761" y="138122"/>
                    </a:cubicBezTo>
                    <a:cubicBezTo>
                      <a:pt x="121870" y="138122"/>
                      <a:pt x="115474" y="131725"/>
                      <a:pt x="115474" y="123834"/>
                    </a:cubicBezTo>
                    <a:cubicBezTo>
                      <a:pt x="115474" y="115944"/>
                      <a:pt x="121870" y="109547"/>
                      <a:pt x="129761" y="109547"/>
                    </a:cubicBezTo>
                    <a:cubicBezTo>
                      <a:pt x="137652" y="109547"/>
                      <a:pt x="144049" y="115944"/>
                      <a:pt x="144049" y="123834"/>
                    </a:cubicBezTo>
                    <a:close/>
                    <a:moveTo>
                      <a:pt x="91661" y="123834"/>
                    </a:moveTo>
                    <a:cubicBezTo>
                      <a:pt x="91661" y="131725"/>
                      <a:pt x="85265" y="138122"/>
                      <a:pt x="77374" y="138122"/>
                    </a:cubicBezTo>
                    <a:cubicBezTo>
                      <a:pt x="69483" y="138122"/>
                      <a:pt x="63086" y="131725"/>
                      <a:pt x="63086" y="123834"/>
                    </a:cubicBezTo>
                    <a:cubicBezTo>
                      <a:pt x="63086" y="115944"/>
                      <a:pt x="69483" y="109547"/>
                      <a:pt x="77374" y="109547"/>
                    </a:cubicBezTo>
                    <a:cubicBezTo>
                      <a:pt x="85265" y="109547"/>
                      <a:pt x="91661" y="115944"/>
                      <a:pt x="91661" y="123834"/>
                    </a:cubicBezTo>
                    <a:close/>
                    <a:moveTo>
                      <a:pt x="196436" y="123834"/>
                    </a:moveTo>
                    <a:cubicBezTo>
                      <a:pt x="196436" y="131725"/>
                      <a:pt x="190040" y="138122"/>
                      <a:pt x="182149" y="138122"/>
                    </a:cubicBezTo>
                    <a:cubicBezTo>
                      <a:pt x="174258" y="138122"/>
                      <a:pt x="167861" y="131725"/>
                      <a:pt x="167861" y="123834"/>
                    </a:cubicBezTo>
                    <a:cubicBezTo>
                      <a:pt x="167861" y="115944"/>
                      <a:pt x="174258" y="109547"/>
                      <a:pt x="182149" y="109547"/>
                    </a:cubicBezTo>
                    <a:cubicBezTo>
                      <a:pt x="190040" y="109547"/>
                      <a:pt x="196436" y="115944"/>
                      <a:pt x="196436" y="123834"/>
                    </a:cubicBezTo>
                    <a:close/>
                  </a:path>
                </a:pathLst>
              </a:custGeom>
              <a:solidFill>
                <a:srgbClr val="1565C0"/>
              </a:solidFill>
              <a:ln>
                <a:noFill/>
              </a:ln>
            </p:spPr>
          </p:sp>
        </p:grpSp>
        <p:sp>
          <p:nvSpPr>
            <p:cNvPr id="39" name="TextBox 39"/>
            <p:cNvSpPr txBox="1"/>
            <p:nvPr/>
          </p:nvSpPr>
          <p:spPr>
            <a:xfrm>
              <a:off x="8791575" y="1190625"/>
              <a:ext cx="1527810" cy="307340"/>
            </a:xfrm>
            <a:prstGeom prst="rect">
              <a:avLst/>
            </a:prstGeom>
            <a:noFill/>
            <a:ln>
              <a:noFill/>
            </a:ln>
          </p:spPr>
          <p:txBody>
            <a:bodyPr wrap="none" lIns="0" tIns="0" rIns="0" bIns="0" anchor="t" anchorCtr="0">
              <a:spAutoFit/>
            </a:bodyPr>
            <a:lstStyle/>
            <a:p>
              <a:pPr algn="l"/>
              <a:r>
                <a:rPr lang="zh-CN" sz="2000" b="1" dirty="0">
                  <a:solidFill>
                    <a:srgbClr val="263238"/>
                  </a:solidFill>
                  <a:latin typeface="Segoe UI" panose="020B0502040204020203"/>
                  <a:ea typeface="微软雅黑"/>
                  <a:cs typeface="Segoe UI" panose="020B0502040204020203"/>
                </a:rPr>
                <a:t>沟通重点变了</a:t>
              </a:r>
              <a:endParaRPr lang="zh-CN" sz="2000" b="1" dirty="0">
                <a:solidFill>
                  <a:srgbClr val="263238"/>
                </a:solidFill>
                <a:latin typeface="Segoe UI" panose="020B0502040204020203"/>
                <a:ea typeface="微软雅黑"/>
                <a:cs typeface="Segoe UI" panose="020B0502040204020203"/>
              </a:endParaRPr>
            </a:p>
          </p:txBody>
        </p:sp>
        <p:sp>
          <p:nvSpPr>
            <p:cNvPr id="40" name="TextBox 40"/>
            <p:cNvSpPr txBox="1"/>
            <p:nvPr/>
          </p:nvSpPr>
          <p:spPr>
            <a:xfrm>
              <a:off x="8347710" y="1565910"/>
              <a:ext cx="304228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从"写给机器执行"→"写给AI理解"</a:t>
              </a:r>
              <a:endParaRPr lang="zh-CN" sz="1600"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7710" y="1870710"/>
              <a:ext cx="14224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编程范式转变：</a:t>
              </a:r>
              <a:endParaRPr lang="zh-CN" sz="1600" dirty="0">
                <a:solidFill>
                  <a:srgbClr val="546E7A"/>
                </a:solidFill>
                <a:latin typeface="Segoe UI" panose="020B0502040204020203"/>
                <a:ea typeface="微软雅黑"/>
                <a:cs typeface="Segoe UI" panose="020B0502040204020203"/>
              </a:endParaRPr>
            </a:p>
          </p:txBody>
        </p:sp>
        <p:sp>
          <p:nvSpPr>
            <p:cNvPr id="42" name="TextBox 42"/>
            <p:cNvSpPr txBox="1"/>
            <p:nvPr/>
          </p:nvSpPr>
          <p:spPr>
            <a:xfrm>
              <a:off x="8347710" y="2118360"/>
              <a:ext cx="236982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命令式编程 → 意图式编程</a:t>
              </a:r>
              <a:endParaRPr lang="zh-CN" sz="1600"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7710" y="2423160"/>
              <a:ext cx="189547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GIGO原则被放大十倍</a:t>
              </a:r>
              <a:endParaRPr lang="zh-CN" sz="1600"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7710" y="2775585"/>
              <a:ext cx="2140585" cy="276860"/>
            </a:xfrm>
            <a:prstGeom prst="rect">
              <a:avLst/>
            </a:prstGeom>
            <a:noFill/>
            <a:ln>
              <a:noFill/>
            </a:ln>
          </p:spPr>
          <p:txBody>
            <a:bodyPr wrap="none" lIns="0" tIns="0" rIns="0" bIns="0" anchor="t" anchorCtr="0">
              <a:spAutoFit/>
            </a:bodyPr>
            <a:lstStyle/>
            <a:p>
              <a:pPr algn="l"/>
              <a:r>
                <a:rPr lang="zh-CN" b="1" dirty="0">
                  <a:solidFill>
                    <a:srgbClr val="FF6F00"/>
                  </a:solidFill>
                  <a:latin typeface="Segoe UI" panose="020B0502040204020203"/>
                  <a:ea typeface="微软雅黑"/>
                  <a:cs typeface="Segoe UI" panose="020B0502040204020203"/>
                </a:rPr>
                <a:t>指令质量 = 输出质量</a:t>
              </a:r>
              <a:endParaRPr lang="zh-CN" b="1" dirty="0">
                <a:solidFill>
                  <a:srgbClr val="FF6F00"/>
                </a:solidFill>
                <a:latin typeface="Segoe UI" panose="020B0502040204020203"/>
                <a:ea typeface="微软雅黑"/>
                <a:cs typeface="Segoe UI" panose="020B0502040204020203"/>
              </a:endParaRPr>
            </a:p>
          </p:txBody>
        </p:sp>
      </p:grpSp>
      <p:grpSp>
        <p:nvGrpSpPr>
          <p:cNvPr id="48" name="Group 48"/>
          <p:cNvGrpSpPr/>
          <p:nvPr/>
        </p:nvGrpSpPr>
        <p:grpSpPr>
          <a:xfrm>
            <a:off x="571500" y="3429000"/>
            <a:ext cx="11049000" cy="495300"/>
            <a:chOff x="571500" y="3429000"/>
            <a:chExt cx="11049000" cy="495300"/>
          </a:xfrm>
        </p:grpSpPr>
        <p:sp>
          <p:nvSpPr>
            <p:cNvPr id="46" name="Rectangle 46"/>
            <p:cNvSpPr/>
            <p:nvPr/>
          </p:nvSpPr>
          <p:spPr>
            <a:xfrm>
              <a:off x="571500" y="3429000"/>
              <a:ext cx="11049000" cy="495300"/>
            </a:xfrm>
            <a:prstGeom prst="roundRect">
              <a:avLst>
                <a:gd name="adj" fmla="val 15385"/>
              </a:avLst>
            </a:prstGeom>
            <a:solidFill>
              <a:srgbClr val="1565C0">
                <a:alpha val="6000"/>
              </a:srgbClr>
            </a:solidFill>
            <a:ln>
              <a:noFill/>
            </a:ln>
          </p:spPr>
        </p:sp>
        <p:sp>
          <p:nvSpPr>
            <p:cNvPr id="47" name="TextBox 47"/>
            <p:cNvSpPr txBox="1"/>
            <p:nvPr/>
          </p:nvSpPr>
          <p:spPr>
            <a:xfrm>
              <a:off x="2312352" y="3597592"/>
              <a:ext cx="7567295"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a:cs typeface="Segoe UI" panose="020B0502040204020203"/>
                </a:rPr>
                <a:t>核心洞察：编程范式从"命令式"转向"意图式"，人从"翻译官"变为"指挥官"</a:t>
              </a:r>
              <a:endParaRPr lang="zh-CN" b="1" dirty="0">
                <a:solidFill>
                  <a:srgbClr val="1565C0"/>
                </a:solidFill>
                <a:latin typeface="Segoe UI" panose="020B0502040204020203"/>
                <a:ea typeface="微软雅黑"/>
                <a:cs typeface="Segoe UI" panose="020B0502040204020203"/>
              </a:endParaRPr>
            </a:p>
          </p:txBody>
        </p:sp>
      </p:grpSp>
      <p:grpSp>
        <p:nvGrpSpPr>
          <p:cNvPr id="62" name="Group 62"/>
          <p:cNvGrpSpPr/>
          <p:nvPr/>
        </p:nvGrpSpPr>
        <p:grpSpPr>
          <a:xfrm>
            <a:off x="571500" y="4191000"/>
            <a:ext cx="11049000" cy="1238250"/>
            <a:chOff x="571500" y="4191000"/>
            <a:chExt cx="11049000" cy="1238250"/>
          </a:xfrm>
        </p:grpSpPr>
        <p:sp>
          <p:nvSpPr>
            <p:cNvPr id="49" name="Rectangle 49"/>
            <p:cNvSpPr/>
            <p:nvPr/>
          </p:nvSpPr>
          <p:spPr>
            <a:xfrm>
              <a:off x="571500" y="4191000"/>
              <a:ext cx="11049000" cy="1238250"/>
            </a:xfrm>
            <a:prstGeom prst="roundRect">
              <a:avLst>
                <a:gd name="adj" fmla="val 9231"/>
              </a:avLst>
            </a:prstGeom>
            <a:solidFill>
              <a:srgbClr val="FFFFFF"/>
            </a:solidFill>
            <a:ln>
              <a:noFill/>
            </a:ln>
          </p:spPr>
        </p:sp>
        <p:sp>
          <p:nvSpPr>
            <p:cNvPr id="50" name="TextBox 50"/>
            <p:cNvSpPr txBox="1"/>
            <p:nvPr/>
          </p:nvSpPr>
          <p:spPr>
            <a:xfrm>
              <a:off x="5408295" y="4378642"/>
              <a:ext cx="1375410" cy="276860"/>
            </a:xfrm>
            <a:prstGeom prst="rect">
              <a:avLst/>
            </a:prstGeom>
            <a:noFill/>
            <a:ln>
              <a:noFill/>
            </a:ln>
          </p:spPr>
          <p:txBody>
            <a:bodyPr wrap="none" lIns="0" tIns="0" rIns="0" bIns="0" anchor="t" anchorCtr="0">
              <a:spAutoFit/>
            </a:bodyPr>
            <a:lstStyle/>
            <a:p>
              <a:pPr algn="ctr"/>
              <a:r>
                <a:rPr lang="zh-CN" b="1" dirty="0">
                  <a:solidFill>
                    <a:srgbClr val="263238"/>
                  </a:solidFill>
                  <a:latin typeface="Segoe UI" panose="020B0502040204020203"/>
                  <a:ea typeface="微软雅黑"/>
                  <a:cs typeface="Segoe UI" panose="020B0502040204020203"/>
                </a:rPr>
                <a:t>角色跃升路径</a:t>
              </a:r>
              <a:endParaRPr lang="zh-CN" b="1" dirty="0">
                <a:solidFill>
                  <a:srgbClr val="263238"/>
                </a:solidFill>
                <a:latin typeface="Segoe UI" panose="020B0502040204020203"/>
                <a:ea typeface="微软雅黑"/>
                <a:cs typeface="Segoe UI" panose="020B0502040204020203"/>
              </a:endParaRPr>
            </a:p>
          </p:txBody>
        </p:sp>
        <p:sp>
          <p:nvSpPr>
            <p:cNvPr id="51" name="Rectangle 51"/>
            <p:cNvSpPr/>
            <p:nvPr/>
          </p:nvSpPr>
          <p:spPr>
            <a:xfrm>
              <a:off x="1143000" y="4743450"/>
              <a:ext cx="1714500" cy="457200"/>
            </a:xfrm>
            <a:prstGeom prst="roundRect">
              <a:avLst>
                <a:gd name="adj" fmla="val 16667"/>
              </a:avLst>
            </a:prstGeom>
            <a:solidFill>
              <a:srgbClr val="1565C0">
                <a:alpha val="8000"/>
              </a:srgbClr>
            </a:solidFill>
            <a:ln>
              <a:noFill/>
            </a:ln>
          </p:spPr>
        </p:sp>
        <p:sp>
          <p:nvSpPr>
            <p:cNvPr id="52" name="TextBox 52"/>
            <p:cNvSpPr txBox="1"/>
            <p:nvPr/>
          </p:nvSpPr>
          <p:spPr>
            <a:xfrm>
              <a:off x="1427163" y="4899660"/>
              <a:ext cx="1146175"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a:cs typeface="Segoe UI" panose="020B0502040204020203"/>
                </a:rPr>
                <a:t>代码实现者</a:t>
              </a:r>
              <a:endParaRPr lang="zh-CN" b="1" dirty="0">
                <a:solidFill>
                  <a:srgbClr val="1565C0"/>
                </a:solidFill>
                <a:latin typeface="Segoe UI" panose="020B0502040204020203"/>
                <a:ea typeface="微软雅黑"/>
                <a:cs typeface="Segoe UI" panose="020B0502040204020203"/>
              </a:endParaRPr>
            </a:p>
          </p:txBody>
        </p:sp>
        <p:sp>
          <p:nvSpPr>
            <p:cNvPr id="53" name="TextBox 53"/>
            <p:cNvSpPr txBox="1"/>
            <p:nvPr/>
          </p:nvSpPr>
          <p:spPr>
            <a:xfrm>
              <a:off x="3219450" y="4867275"/>
              <a:ext cx="254000" cy="307340"/>
            </a:xfrm>
            <a:prstGeom prst="rect">
              <a:avLst/>
            </a:prstGeom>
            <a:noFill/>
            <a:ln>
              <a:noFill/>
            </a:ln>
          </p:spPr>
          <p:txBody>
            <a:bodyPr wrap="none" lIns="0" tIns="0" rIns="0" bIns="0" anchor="t" anchorCtr="0">
              <a:spAutoFit/>
            </a:bodyPr>
            <a:lstStyle/>
            <a:p>
              <a:pPr algn="l"/>
              <a:r>
                <a:rPr lang="zh-CN" sz="2000" dirty="0">
                  <a:solidFill>
                    <a:srgbClr val="90A4AE"/>
                  </a:solidFill>
                  <a:latin typeface="Segoe UI" panose="020B0502040204020203"/>
                  <a:ea typeface="微软雅黑"/>
                  <a:cs typeface="Segoe UI" panose="020B0502040204020203"/>
                </a:rPr>
                <a:t>→</a:t>
              </a:r>
              <a:endParaRPr lang="zh-CN" sz="2000" dirty="0">
                <a:solidFill>
                  <a:srgbClr val="90A4AE"/>
                </a:solidFill>
                <a:latin typeface="Segoe UI" panose="020B0502040204020203"/>
                <a:ea typeface="微软雅黑"/>
                <a:cs typeface="Segoe UI" panose="020B0502040204020203"/>
              </a:endParaRPr>
            </a:p>
          </p:txBody>
        </p:sp>
        <p:sp>
          <p:nvSpPr>
            <p:cNvPr id="54" name="Rectangle 54"/>
            <p:cNvSpPr/>
            <p:nvPr/>
          </p:nvSpPr>
          <p:spPr>
            <a:xfrm>
              <a:off x="3619500" y="4743450"/>
              <a:ext cx="1714500" cy="457200"/>
            </a:xfrm>
            <a:prstGeom prst="roundRect">
              <a:avLst>
                <a:gd name="adj" fmla="val 16667"/>
              </a:avLst>
            </a:prstGeom>
            <a:solidFill>
              <a:srgbClr val="00838F">
                <a:alpha val="8000"/>
              </a:srgbClr>
            </a:solidFill>
            <a:ln>
              <a:noFill/>
            </a:ln>
          </p:spPr>
        </p:sp>
        <p:sp>
          <p:nvSpPr>
            <p:cNvPr id="55" name="TextBox 55"/>
            <p:cNvSpPr txBox="1"/>
            <p:nvPr/>
          </p:nvSpPr>
          <p:spPr>
            <a:xfrm>
              <a:off x="3903662" y="4899660"/>
              <a:ext cx="1146175" cy="276860"/>
            </a:xfrm>
            <a:prstGeom prst="rect">
              <a:avLst/>
            </a:prstGeom>
            <a:noFill/>
            <a:ln>
              <a:noFill/>
            </a:ln>
          </p:spPr>
          <p:txBody>
            <a:bodyPr wrap="none" lIns="0" tIns="0" rIns="0" bIns="0" anchor="t" anchorCtr="0">
              <a:spAutoFit/>
            </a:bodyPr>
            <a:lstStyle/>
            <a:p>
              <a:pPr algn="ctr"/>
              <a:r>
                <a:rPr lang="zh-CN" b="1" dirty="0">
                  <a:solidFill>
                    <a:srgbClr val="00838F"/>
                  </a:solidFill>
                  <a:latin typeface="Segoe UI" panose="020B0502040204020203"/>
                  <a:ea typeface="微软雅黑"/>
                  <a:cs typeface="Segoe UI" panose="020B0502040204020203"/>
                </a:rPr>
                <a:t>需求定义者</a:t>
              </a:r>
              <a:endParaRPr lang="zh-CN" b="1" dirty="0">
                <a:solidFill>
                  <a:srgbClr val="00838F"/>
                </a:solidFill>
                <a:latin typeface="Segoe UI" panose="020B0502040204020203"/>
                <a:ea typeface="微软雅黑"/>
                <a:cs typeface="Segoe UI" panose="020B0502040204020203"/>
              </a:endParaRPr>
            </a:p>
          </p:txBody>
        </p:sp>
        <p:sp>
          <p:nvSpPr>
            <p:cNvPr id="56" name="TextBox 56"/>
            <p:cNvSpPr txBox="1"/>
            <p:nvPr/>
          </p:nvSpPr>
          <p:spPr>
            <a:xfrm>
              <a:off x="5695950" y="4867275"/>
              <a:ext cx="254000" cy="307340"/>
            </a:xfrm>
            <a:prstGeom prst="rect">
              <a:avLst/>
            </a:prstGeom>
            <a:noFill/>
            <a:ln>
              <a:noFill/>
            </a:ln>
          </p:spPr>
          <p:txBody>
            <a:bodyPr wrap="none" lIns="0" tIns="0" rIns="0" bIns="0" anchor="t" anchorCtr="0">
              <a:spAutoFit/>
            </a:bodyPr>
            <a:lstStyle/>
            <a:p>
              <a:pPr algn="l"/>
              <a:r>
                <a:rPr lang="zh-CN" sz="2000" dirty="0">
                  <a:solidFill>
                    <a:srgbClr val="90A4AE"/>
                  </a:solidFill>
                  <a:latin typeface="Segoe UI" panose="020B0502040204020203"/>
                  <a:ea typeface="微软雅黑"/>
                  <a:cs typeface="Segoe UI" panose="020B0502040204020203"/>
                </a:rPr>
                <a:t>→</a:t>
              </a:r>
              <a:endParaRPr lang="zh-CN" sz="2000" dirty="0">
                <a:solidFill>
                  <a:srgbClr val="90A4AE"/>
                </a:solidFill>
                <a:latin typeface="Segoe UI" panose="020B0502040204020203"/>
                <a:ea typeface="微软雅黑"/>
                <a:cs typeface="Segoe UI" panose="020B0502040204020203"/>
              </a:endParaRPr>
            </a:p>
          </p:txBody>
        </p:sp>
        <p:sp>
          <p:nvSpPr>
            <p:cNvPr id="57" name="Rectangle 57"/>
            <p:cNvSpPr/>
            <p:nvPr/>
          </p:nvSpPr>
          <p:spPr>
            <a:xfrm>
              <a:off x="6096000" y="4743450"/>
              <a:ext cx="1714500" cy="457200"/>
            </a:xfrm>
            <a:prstGeom prst="roundRect">
              <a:avLst>
                <a:gd name="adj" fmla="val 16667"/>
              </a:avLst>
            </a:prstGeom>
            <a:solidFill>
              <a:srgbClr val="FF6F00">
                <a:alpha val="8000"/>
              </a:srgbClr>
            </a:solidFill>
            <a:ln>
              <a:noFill/>
            </a:ln>
          </p:spPr>
        </p:sp>
        <p:sp>
          <p:nvSpPr>
            <p:cNvPr id="58" name="TextBox 58"/>
            <p:cNvSpPr txBox="1"/>
            <p:nvPr/>
          </p:nvSpPr>
          <p:spPr>
            <a:xfrm>
              <a:off x="6497956" y="4899660"/>
              <a:ext cx="910590" cy="276860"/>
            </a:xfrm>
            <a:prstGeom prst="rect">
              <a:avLst/>
            </a:prstGeom>
            <a:noFill/>
            <a:ln>
              <a:noFill/>
            </a:ln>
          </p:spPr>
          <p:txBody>
            <a:bodyPr wrap="none" lIns="0" tIns="0" rIns="0" bIns="0" anchor="t" anchorCtr="0">
              <a:spAutoFit/>
            </a:bodyPr>
            <a:lstStyle/>
            <a:p>
              <a:pPr algn="ctr"/>
              <a:r>
                <a:rPr lang="zh-CN" b="1" dirty="0">
                  <a:solidFill>
                    <a:srgbClr val="FF6F00"/>
                  </a:solidFill>
                  <a:latin typeface="Segoe UI" panose="020B0502040204020203"/>
                  <a:ea typeface="微软雅黑"/>
                  <a:cs typeface="Segoe UI" panose="020B0502040204020203"/>
                </a:rPr>
                <a:t>AI编排师</a:t>
              </a:r>
              <a:endParaRPr lang="zh-CN" b="1" dirty="0">
                <a:solidFill>
                  <a:srgbClr val="FF6F00"/>
                </a:solidFill>
                <a:latin typeface="Segoe UI" panose="020B0502040204020203"/>
                <a:ea typeface="微软雅黑"/>
                <a:cs typeface="Segoe UI" panose="020B0502040204020203"/>
              </a:endParaRPr>
            </a:p>
          </p:txBody>
        </p:sp>
        <p:sp>
          <p:nvSpPr>
            <p:cNvPr id="59" name="TextBox 59"/>
            <p:cNvSpPr txBox="1"/>
            <p:nvPr/>
          </p:nvSpPr>
          <p:spPr>
            <a:xfrm>
              <a:off x="8172450" y="4867275"/>
              <a:ext cx="254000" cy="307340"/>
            </a:xfrm>
            <a:prstGeom prst="rect">
              <a:avLst/>
            </a:prstGeom>
            <a:noFill/>
            <a:ln>
              <a:noFill/>
            </a:ln>
          </p:spPr>
          <p:txBody>
            <a:bodyPr wrap="none" lIns="0" tIns="0" rIns="0" bIns="0" anchor="t" anchorCtr="0">
              <a:spAutoFit/>
            </a:bodyPr>
            <a:lstStyle/>
            <a:p>
              <a:pPr algn="l"/>
              <a:r>
                <a:rPr lang="zh-CN" sz="2000" dirty="0">
                  <a:solidFill>
                    <a:srgbClr val="90A4AE"/>
                  </a:solidFill>
                  <a:latin typeface="Segoe UI" panose="020B0502040204020203"/>
                  <a:ea typeface="微软雅黑"/>
                  <a:cs typeface="Segoe UI" panose="020B0502040204020203"/>
                </a:rPr>
                <a:t>→</a:t>
              </a:r>
              <a:endParaRPr lang="zh-CN" sz="2000" dirty="0">
                <a:solidFill>
                  <a:srgbClr val="90A4AE"/>
                </a:solidFill>
                <a:latin typeface="Segoe UI" panose="020B0502040204020203"/>
                <a:ea typeface="微软雅黑"/>
                <a:cs typeface="Segoe UI" panose="020B0502040204020203"/>
              </a:endParaRPr>
            </a:p>
          </p:txBody>
        </p:sp>
        <p:sp>
          <p:nvSpPr>
            <p:cNvPr id="60" name="Rectangle 60"/>
            <p:cNvSpPr/>
            <p:nvPr/>
          </p:nvSpPr>
          <p:spPr>
            <a:xfrm>
              <a:off x="8572500" y="4743450"/>
              <a:ext cx="1905000" cy="457200"/>
            </a:xfrm>
            <a:prstGeom prst="roundRect">
              <a:avLst>
                <a:gd name="adj" fmla="val 16667"/>
              </a:avLst>
            </a:prstGeom>
            <a:solidFill>
              <a:srgbClr val="2E7D32">
                <a:alpha val="8000"/>
              </a:srgbClr>
            </a:solidFill>
            <a:ln>
              <a:noFill/>
            </a:ln>
          </p:spPr>
        </p:sp>
        <p:sp>
          <p:nvSpPr>
            <p:cNvPr id="61" name="TextBox 61"/>
            <p:cNvSpPr txBox="1"/>
            <p:nvPr/>
          </p:nvSpPr>
          <p:spPr>
            <a:xfrm>
              <a:off x="8951913" y="4899660"/>
              <a:ext cx="1146175" cy="276860"/>
            </a:xfrm>
            <a:prstGeom prst="rect">
              <a:avLst/>
            </a:prstGeom>
            <a:noFill/>
            <a:ln>
              <a:noFill/>
            </a:ln>
          </p:spPr>
          <p:txBody>
            <a:bodyPr wrap="none" lIns="0" tIns="0" rIns="0" bIns="0" anchor="t" anchorCtr="0">
              <a:spAutoFit/>
            </a:bodyPr>
            <a:lstStyle/>
            <a:p>
              <a:pPr algn="ctr"/>
              <a:r>
                <a:rPr lang="zh-CN" b="1" dirty="0">
                  <a:solidFill>
                    <a:srgbClr val="2E7D32"/>
                  </a:solidFill>
                  <a:latin typeface="Segoe UI" panose="020B0502040204020203"/>
                  <a:ea typeface="微软雅黑"/>
                  <a:cs typeface="Segoe UI" panose="020B0502040204020203"/>
                </a:rPr>
                <a:t>业务架构师</a:t>
              </a:r>
              <a:endParaRPr lang="zh-CN" b="1" dirty="0">
                <a:solidFill>
                  <a:srgbClr val="2E7D32"/>
                </a:solidFill>
                <a:latin typeface="Segoe UI" panose="020B0502040204020203"/>
                <a:ea typeface="微软雅黑"/>
                <a:cs typeface="Segoe UI" panose="020B0502040204020203"/>
              </a:endParaRPr>
            </a:p>
          </p:txBody>
        </p:sp>
      </p:grpSp>
      <p:sp>
        <p:nvSpPr>
          <p:cNvPr id="63" name="TextBox 63"/>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02</a:t>
            </a:r>
            <a:endParaRPr lang="zh-CN" sz="1125" dirty="0">
              <a:solidFill>
                <a:srgbClr val="90A4AE"/>
              </a:solidFill>
              <a:latin typeface="Segoe UI" panose="020B0502040204020203"/>
              <a:ea typeface="微软雅黑"/>
              <a:cs typeface="Segoe UI" panose="020B0502040204020203"/>
            </a:endParaRPr>
          </a:p>
        </p:txBody>
      </p:sp>
      <p:pic>
        <p:nvPicPr>
          <p:cNvPr id="64" name="图片 63"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400"/>
                                        <p:tgtEl>
                                          <p:spTgt spid="2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slide(fromBottom)">
                                      <p:cBhvr>
                                        <p:cTn id="11" dur="400"/>
                                        <p:tgtEl>
                                          <p:spTgt spid="33"/>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slide(fromBottom)">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slide(fromBottom)">
                                      <p:cBhvr>
                                        <p:cTn id="23"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48" grpId="0"/>
      <p:bldP spid="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6" y="252412"/>
            <a:ext cx="11053444" cy="457200"/>
            <a:chOff x="567056" y="252412"/>
            <a:chExt cx="11053444" cy="457200"/>
          </a:xfrm>
        </p:grpSpPr>
        <p:sp>
          <p:nvSpPr>
            <p:cNvPr id="7" name="TextBox 7"/>
            <p:cNvSpPr txBox="1"/>
            <p:nvPr/>
          </p:nvSpPr>
          <p:spPr>
            <a:xfrm>
              <a:off x="571500" y="252412"/>
              <a:ext cx="478274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a:cs typeface="Segoe UI" panose="020B0502040204020203"/>
                </a:rPr>
                <a:t>质量前移：验证与责任的重新定义</a:t>
              </a:r>
              <a:endParaRPr lang="zh-CN" sz="225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5763260" cy="1666875"/>
            <a:chOff x="571500" y="904875"/>
            <a:chExt cx="5763260" cy="1666875"/>
          </a:xfrm>
        </p:grpSpPr>
        <p:sp>
          <p:nvSpPr>
            <p:cNvPr id="10" name="Rectangle 10"/>
            <p:cNvSpPr/>
            <p:nvPr/>
          </p:nvSpPr>
          <p:spPr>
            <a:xfrm>
              <a:off x="571500" y="904875"/>
              <a:ext cx="5334000" cy="1666875"/>
            </a:xfrm>
            <a:prstGeom prst="roundRect">
              <a:avLst>
                <a:gd name="adj" fmla="val 6857"/>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grpSp>
          <p:nvGrpSpPr>
            <p:cNvPr id="14" name="Group 14"/>
            <p:cNvGrpSpPr/>
            <p:nvPr/>
          </p:nvGrpSpPr>
          <p:grpSpPr>
            <a:xfrm>
              <a:off x="866775" y="1171575"/>
              <a:ext cx="247650" cy="247650"/>
              <a:chOff x="866775" y="1171575"/>
              <a:chExt cx="247650" cy="247650"/>
            </a:xfrm>
          </p:grpSpPr>
          <p:sp>
            <p:nvSpPr>
              <p:cNvPr id="12" name="Freeform 12"/>
              <p:cNvSpPr/>
              <p:nvPr/>
            </p:nvSpPr>
            <p:spPr>
              <a:xfrm>
                <a:off x="876300" y="11811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a:srgbClr val="1565C0">
                  <a:alpha val="20000"/>
                </a:srgbClr>
              </a:solidFill>
              <a:ln>
                <a:noFill/>
              </a:ln>
            </p:spPr>
          </p:sp>
          <p:sp>
            <p:nvSpPr>
              <p:cNvPr id="13" name="Freeform 13"/>
              <p:cNvSpPr/>
              <p:nvPr/>
            </p:nvSpPr>
            <p:spPr>
              <a:xfrm>
                <a:off x="866775" y="1171575"/>
                <a:ext cx="247650" cy="247650"/>
              </a:xfrm>
              <a:custGeom>
                <a:avLst/>
                <a:gdLst/>
                <a:ahLst/>
                <a:cxnLst/>
                <a:rect l="l" t="t" r="r" b="b"/>
                <a:pathLst>
                  <a:path w="247650" h="247650">
                    <a:moveTo>
                      <a:pt x="178189" y="88511"/>
                    </a:moveTo>
                    <a:cubicBezTo>
                      <a:pt x="179978" y="90298"/>
                      <a:pt x="180982" y="92722"/>
                      <a:pt x="180982" y="95250"/>
                    </a:cubicBezTo>
                    <a:cubicBezTo>
                      <a:pt x="180982" y="97778"/>
                      <a:pt x="179978" y="100202"/>
                      <a:pt x="178189" y="101989"/>
                    </a:cubicBezTo>
                    <a:lnTo>
                      <a:pt x="111514" y="168664"/>
                    </a:lnTo>
                    <a:cubicBezTo>
                      <a:pt x="109727" y="170453"/>
                      <a:pt x="107303" y="171457"/>
                      <a:pt x="104775" y="171457"/>
                    </a:cubicBezTo>
                    <a:cubicBezTo>
                      <a:pt x="102247" y="171457"/>
                      <a:pt x="99823" y="170453"/>
                      <a:pt x="98036" y="168664"/>
                    </a:cubicBezTo>
                    <a:lnTo>
                      <a:pt x="69461" y="140089"/>
                    </a:lnTo>
                    <a:cubicBezTo>
                      <a:pt x="65739" y="136367"/>
                      <a:pt x="65739" y="130333"/>
                      <a:pt x="69461" y="126611"/>
                    </a:cubicBezTo>
                    <a:cubicBezTo>
                      <a:pt x="73183" y="122889"/>
                      <a:pt x="79217" y="122889"/>
                      <a:pt x="82939" y="126611"/>
                    </a:cubicBezTo>
                    <a:lnTo>
                      <a:pt x="104775" y="148459"/>
                    </a:lnTo>
                    <a:lnTo>
                      <a:pt x="164711" y="88511"/>
                    </a:lnTo>
                    <a:cubicBezTo>
                      <a:pt x="166498" y="86722"/>
                      <a:pt x="168922" y="85718"/>
                      <a:pt x="171450" y="85718"/>
                    </a:cubicBezTo>
                    <a:cubicBezTo>
                      <a:pt x="173978" y="85718"/>
                      <a:pt x="176402" y="86722"/>
                      <a:pt x="178189" y="88511"/>
                    </a:cubicBezTo>
                    <a:close/>
                    <a:moveTo>
                      <a:pt x="247650" y="123825"/>
                    </a:moveTo>
                    <a:cubicBezTo>
                      <a:pt x="247650" y="192212"/>
                      <a:pt x="192212" y="247650"/>
                      <a:pt x="123825" y="247650"/>
                    </a:cubicBezTo>
                    <a:cubicBezTo>
                      <a:pt x="55438" y="247650"/>
                      <a:pt x="0" y="192212"/>
                      <a:pt x="0" y="123825"/>
                    </a:cubicBezTo>
                    <a:cubicBezTo>
                      <a:pt x="0" y="55438"/>
                      <a:pt x="55438" y="0"/>
                      <a:pt x="123825" y="0"/>
                    </a:cubicBezTo>
                    <a:cubicBezTo>
                      <a:pt x="192182" y="72"/>
                      <a:pt x="247578" y="55468"/>
                      <a:pt x="247650" y="123825"/>
                    </a:cubicBezTo>
                    <a:close/>
                    <a:moveTo>
                      <a:pt x="228600" y="123825"/>
                    </a:moveTo>
                    <a:cubicBezTo>
                      <a:pt x="228600" y="65959"/>
                      <a:pt x="181691" y="19050"/>
                      <a:pt x="123825" y="19050"/>
                    </a:cubicBezTo>
                    <a:cubicBezTo>
                      <a:pt x="65959" y="19050"/>
                      <a:pt x="19050" y="65959"/>
                      <a:pt x="19050" y="123825"/>
                    </a:cubicBezTo>
                    <a:cubicBezTo>
                      <a:pt x="19050" y="181691"/>
                      <a:pt x="65959" y="228600"/>
                      <a:pt x="123825" y="228600"/>
                    </a:cubicBezTo>
                    <a:cubicBezTo>
                      <a:pt x="181663" y="228534"/>
                      <a:pt x="228534" y="181663"/>
                      <a:pt x="228600" y="123825"/>
                    </a:cubicBezTo>
                    <a:close/>
                  </a:path>
                </a:pathLst>
              </a:custGeom>
              <a:solidFill>
                <a:srgbClr val="1565C0"/>
              </a:solidFill>
              <a:ln>
                <a:noFill/>
              </a:ln>
            </p:spPr>
          </p:sp>
        </p:grpSp>
        <p:sp>
          <p:nvSpPr>
            <p:cNvPr id="15" name="TextBox 15"/>
            <p:cNvSpPr txBox="1"/>
            <p:nvPr/>
          </p:nvSpPr>
          <p:spPr>
            <a:xfrm>
              <a:off x="1266825" y="1190625"/>
              <a:ext cx="4050030"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验证对象变了：从代码逻辑 → 业务逻辑</a:t>
              </a:r>
              <a:endParaRPr lang="zh-CN"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2960" y="1537335"/>
              <a:ext cx="426212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代码逻辑的正确性由AI保证（语法、类型、空指针等）</a:t>
              </a:r>
              <a:endParaRPr lang="zh-CN" sz="1400"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2960" y="1784985"/>
              <a:ext cx="5511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业务逻辑的正确性由人保证（规则对不对、分支全不全、边界有没有）</a:t>
              </a:r>
              <a:endParaRPr lang="zh-CN" sz="1400"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2960" y="2108835"/>
              <a:ext cx="3058795"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责任上移：从"技术债"到"业务债"</a:t>
              </a:r>
              <a:endParaRPr lang="zh-CN" sz="1600" b="1" dirty="0">
                <a:solidFill>
                  <a:srgbClr val="FF6F00"/>
                </a:solidFill>
                <a:latin typeface="Segoe UI" panose="020B0502040204020203"/>
                <a:ea typeface="微软雅黑"/>
                <a:cs typeface="Segoe UI" panose="020B0502040204020203"/>
              </a:endParaRPr>
            </a:p>
          </p:txBody>
        </p:sp>
      </p:grpSp>
      <p:grpSp>
        <p:nvGrpSpPr>
          <p:cNvPr id="29" name="Group 29"/>
          <p:cNvGrpSpPr/>
          <p:nvPr/>
        </p:nvGrpSpPr>
        <p:grpSpPr>
          <a:xfrm>
            <a:off x="6286500" y="904875"/>
            <a:ext cx="5334000" cy="1666875"/>
            <a:chOff x="6286500" y="904875"/>
            <a:chExt cx="5334000" cy="1666875"/>
          </a:xfrm>
        </p:grpSpPr>
        <p:sp>
          <p:nvSpPr>
            <p:cNvPr id="20" name="Rectangle 20"/>
            <p:cNvSpPr/>
            <p:nvPr/>
          </p:nvSpPr>
          <p:spPr>
            <a:xfrm>
              <a:off x="6286500" y="904875"/>
              <a:ext cx="5334000" cy="1666875"/>
            </a:xfrm>
            <a:prstGeom prst="roundRect">
              <a:avLst>
                <a:gd name="adj" fmla="val 6857"/>
              </a:avLst>
            </a:prstGeom>
            <a:solidFill>
              <a:srgbClr val="FFFFFF"/>
            </a:solidFill>
            <a:ln>
              <a:noFill/>
            </a:ln>
          </p:spPr>
        </p:sp>
        <p:sp>
          <p:nvSpPr>
            <p:cNvPr id="21" name="Rectangle 21"/>
            <p:cNvSpPr/>
            <p:nvPr/>
          </p:nvSpPr>
          <p:spPr>
            <a:xfrm>
              <a:off x="6286500" y="904875"/>
              <a:ext cx="5334000" cy="38100"/>
            </a:xfrm>
            <a:prstGeom prst="roundRect">
              <a:avLst>
                <a:gd name="adj" fmla="val 50000"/>
              </a:avLst>
            </a:prstGeom>
            <a:solidFill>
              <a:srgbClr val="00838F"/>
            </a:solidFill>
            <a:ln>
              <a:noFill/>
            </a:ln>
          </p:spPr>
        </p:sp>
        <p:grpSp>
          <p:nvGrpSpPr>
            <p:cNvPr id="24" name="Group 24"/>
            <p:cNvGrpSpPr/>
            <p:nvPr/>
          </p:nvGrpSpPr>
          <p:grpSpPr>
            <a:xfrm>
              <a:off x="6591297" y="1181100"/>
              <a:ext cx="228603" cy="228600"/>
              <a:chOff x="6591297" y="1181100"/>
              <a:chExt cx="228603" cy="228600"/>
            </a:xfrm>
          </p:grpSpPr>
          <p:sp>
            <p:nvSpPr>
              <p:cNvPr id="22" name="Freeform 22"/>
              <p:cNvSpPr/>
              <p:nvPr/>
            </p:nvSpPr>
            <p:spPr>
              <a:xfrm>
                <a:off x="6600825" y="1200150"/>
                <a:ext cx="209550" cy="190500"/>
              </a:xfrm>
              <a:custGeom>
                <a:avLst/>
                <a:gdLst/>
                <a:ahLst/>
                <a:cxnLst/>
                <a:rect l="l" t="t" r="r" b="b"/>
                <a:pathLst>
                  <a:path w="209550" h="190500">
                    <a:moveTo>
                      <a:pt x="209550" y="0"/>
                    </a:moveTo>
                    <a:lnTo>
                      <a:pt x="209550" y="57150"/>
                    </a:lnTo>
                    <a:lnTo>
                      <a:pt x="152400" y="57150"/>
                    </a:lnTo>
                    <a:close/>
                    <a:moveTo>
                      <a:pt x="0" y="190500"/>
                    </a:moveTo>
                    <a:lnTo>
                      <a:pt x="57150" y="133350"/>
                    </a:lnTo>
                    <a:lnTo>
                      <a:pt x="0" y="133350"/>
                    </a:lnTo>
                    <a:close/>
                  </a:path>
                </a:pathLst>
              </a:custGeom>
              <a:solidFill>
                <a:srgbClr val="00838F">
                  <a:alpha val="20000"/>
                </a:srgbClr>
              </a:solidFill>
              <a:ln>
                <a:noFill/>
              </a:ln>
            </p:spPr>
          </p:sp>
          <p:sp>
            <p:nvSpPr>
              <p:cNvPr id="23" name="Freeform 23"/>
              <p:cNvSpPr/>
              <p:nvPr/>
            </p:nvSpPr>
            <p:spPr>
              <a:xfrm>
                <a:off x="6591297" y="1181100"/>
                <a:ext cx="228603" cy="228600"/>
              </a:xfrm>
              <a:custGeom>
                <a:avLst/>
                <a:gdLst/>
                <a:ahLst/>
                <a:cxnLst/>
                <a:rect l="l" t="t" r="r" b="b"/>
                <a:pathLst>
                  <a:path w="228603" h="228600">
                    <a:moveTo>
                      <a:pt x="222721" y="10251"/>
                    </a:moveTo>
                    <a:cubicBezTo>
                      <a:pt x="219163" y="8775"/>
                      <a:pt x="215065" y="9588"/>
                      <a:pt x="212339" y="12311"/>
                    </a:cubicBezTo>
                    <a:lnTo>
                      <a:pt x="193218" y="31444"/>
                    </a:lnTo>
                    <a:cubicBezTo>
                      <a:pt x="169227" y="10835"/>
                      <a:pt x="142116" y="0"/>
                      <a:pt x="114303" y="0"/>
                    </a:cubicBezTo>
                    <a:cubicBezTo>
                      <a:pt x="63320" y="0"/>
                      <a:pt x="32650" y="30087"/>
                      <a:pt x="31364" y="31361"/>
                    </a:cubicBezTo>
                    <a:cubicBezTo>
                      <a:pt x="27642" y="35083"/>
                      <a:pt x="27642" y="41117"/>
                      <a:pt x="31364" y="44839"/>
                    </a:cubicBezTo>
                    <a:cubicBezTo>
                      <a:pt x="35086" y="48561"/>
                      <a:pt x="41120" y="48561"/>
                      <a:pt x="44842" y="44839"/>
                    </a:cubicBezTo>
                    <a:cubicBezTo>
                      <a:pt x="45092" y="44577"/>
                      <a:pt x="71119" y="19050"/>
                      <a:pt x="114303" y="19050"/>
                    </a:cubicBezTo>
                    <a:cubicBezTo>
                      <a:pt x="141890" y="19050"/>
                      <a:pt x="164214" y="31968"/>
                      <a:pt x="179692" y="44958"/>
                    </a:cubicBezTo>
                    <a:lnTo>
                      <a:pt x="155189" y="69461"/>
                    </a:lnTo>
                    <a:cubicBezTo>
                      <a:pt x="152462" y="72185"/>
                      <a:pt x="151645" y="76285"/>
                      <a:pt x="153121" y="79846"/>
                    </a:cubicBezTo>
                    <a:cubicBezTo>
                      <a:pt x="154597" y="83407"/>
                      <a:pt x="158073" y="85728"/>
                      <a:pt x="161928" y="85725"/>
                    </a:cubicBezTo>
                    <a:lnTo>
                      <a:pt x="219078" y="85725"/>
                    </a:lnTo>
                    <a:cubicBezTo>
                      <a:pt x="224339" y="85725"/>
                      <a:pt x="228603" y="81461"/>
                      <a:pt x="228603" y="76200"/>
                    </a:cubicBezTo>
                    <a:lnTo>
                      <a:pt x="228603" y="19050"/>
                    </a:lnTo>
                    <a:cubicBezTo>
                      <a:pt x="228602" y="15198"/>
                      <a:pt x="226281" y="11725"/>
                      <a:pt x="222721" y="10251"/>
                    </a:cubicBezTo>
                    <a:close/>
                    <a:moveTo>
                      <a:pt x="209553" y="66675"/>
                    </a:moveTo>
                    <a:lnTo>
                      <a:pt x="184919" y="66675"/>
                    </a:lnTo>
                    <a:lnTo>
                      <a:pt x="209553" y="42041"/>
                    </a:lnTo>
                    <a:close/>
                    <a:moveTo>
                      <a:pt x="183764" y="183761"/>
                    </a:moveTo>
                    <a:cubicBezTo>
                      <a:pt x="183514" y="184023"/>
                      <a:pt x="157487" y="209550"/>
                      <a:pt x="114303" y="209550"/>
                    </a:cubicBezTo>
                    <a:cubicBezTo>
                      <a:pt x="86716" y="209550"/>
                      <a:pt x="64392" y="196632"/>
                      <a:pt x="48914" y="183642"/>
                    </a:cubicBezTo>
                    <a:lnTo>
                      <a:pt x="73417" y="159139"/>
                    </a:lnTo>
                    <a:cubicBezTo>
                      <a:pt x="76144" y="156415"/>
                      <a:pt x="76961" y="152315"/>
                      <a:pt x="75485" y="148754"/>
                    </a:cubicBezTo>
                    <a:cubicBezTo>
                      <a:pt x="74009" y="145193"/>
                      <a:pt x="70533" y="142872"/>
                      <a:pt x="66678" y="142875"/>
                    </a:cubicBezTo>
                    <a:lnTo>
                      <a:pt x="9528" y="142875"/>
                    </a:lnTo>
                    <a:cubicBezTo>
                      <a:pt x="4268" y="142875"/>
                      <a:pt x="3" y="147139"/>
                      <a:pt x="3" y="152400"/>
                    </a:cubicBezTo>
                    <a:lnTo>
                      <a:pt x="3" y="209550"/>
                    </a:lnTo>
                    <a:cubicBezTo>
                      <a:pt x="0" y="213405"/>
                      <a:pt x="2321" y="216881"/>
                      <a:pt x="5882" y="218357"/>
                    </a:cubicBezTo>
                    <a:cubicBezTo>
                      <a:pt x="9443" y="219833"/>
                      <a:pt x="13543" y="219016"/>
                      <a:pt x="16267" y="216289"/>
                    </a:cubicBezTo>
                    <a:lnTo>
                      <a:pt x="35388" y="197156"/>
                    </a:lnTo>
                    <a:cubicBezTo>
                      <a:pt x="59380" y="217765"/>
                      <a:pt x="86490" y="228600"/>
                      <a:pt x="114303" y="228600"/>
                    </a:cubicBezTo>
                    <a:cubicBezTo>
                      <a:pt x="165286" y="228600"/>
                      <a:pt x="195956" y="198513"/>
                      <a:pt x="197242" y="197239"/>
                    </a:cubicBezTo>
                    <a:cubicBezTo>
                      <a:pt x="200964" y="193517"/>
                      <a:pt x="200964" y="187483"/>
                      <a:pt x="197242" y="183761"/>
                    </a:cubicBezTo>
                    <a:cubicBezTo>
                      <a:pt x="193520" y="180039"/>
                      <a:pt x="187486" y="180039"/>
                      <a:pt x="183764" y="183761"/>
                    </a:cubicBezTo>
                    <a:close/>
                    <a:moveTo>
                      <a:pt x="19053" y="161925"/>
                    </a:moveTo>
                    <a:lnTo>
                      <a:pt x="43687" y="161925"/>
                    </a:lnTo>
                    <a:lnTo>
                      <a:pt x="19053" y="186559"/>
                    </a:lnTo>
                    <a:close/>
                  </a:path>
                </a:pathLst>
              </a:custGeom>
              <a:solidFill>
                <a:srgbClr val="00838F"/>
              </a:solidFill>
              <a:ln>
                <a:noFill/>
              </a:ln>
            </p:spPr>
          </p:sp>
        </p:grpSp>
        <p:sp>
          <p:nvSpPr>
            <p:cNvPr id="25" name="TextBox 25"/>
            <p:cNvSpPr txBox="1"/>
            <p:nvPr/>
          </p:nvSpPr>
          <p:spPr>
            <a:xfrm>
              <a:off x="6981825" y="1190625"/>
              <a:ext cx="4584700"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完备性左移：以前不愿意做的，现在必须早做</a:t>
              </a:r>
              <a:endParaRPr lang="zh-CN" b="1"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6537960" y="1537335"/>
              <a:ext cx="475361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规则不全→AI瞎猜 | 边界没想→AI瞎填 | 异常没写→AI瞎处理</a:t>
              </a:r>
              <a:endParaRPr lang="zh-CN" sz="1400"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6537960" y="1784985"/>
              <a:ext cx="301752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AI逼你前置思考，走向"规格驱动开发"</a:t>
              </a:r>
              <a:endParaRPr lang="zh-CN" sz="1400"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6537960" y="2108835"/>
              <a:ext cx="3460115"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软件工程的理想状态，AI让它成为现实</a:t>
              </a:r>
              <a:endParaRPr lang="zh-CN" sz="1600" b="1" dirty="0">
                <a:solidFill>
                  <a:srgbClr val="FF6F00"/>
                </a:solidFill>
                <a:latin typeface="Segoe UI" panose="020B0502040204020203"/>
                <a:ea typeface="微软雅黑"/>
                <a:cs typeface="Segoe UI" panose="020B0502040204020203"/>
              </a:endParaRPr>
            </a:p>
          </p:txBody>
        </p:sp>
      </p:grpSp>
      <p:grpSp>
        <p:nvGrpSpPr>
          <p:cNvPr id="39" name="Group 39"/>
          <p:cNvGrpSpPr/>
          <p:nvPr/>
        </p:nvGrpSpPr>
        <p:grpSpPr>
          <a:xfrm>
            <a:off x="571500" y="2809875"/>
            <a:ext cx="5733415" cy="1666875"/>
            <a:chOff x="571500" y="2809875"/>
            <a:chExt cx="5733415" cy="1666875"/>
          </a:xfrm>
        </p:grpSpPr>
        <p:sp>
          <p:nvSpPr>
            <p:cNvPr id="30" name="Rectangle 30"/>
            <p:cNvSpPr/>
            <p:nvPr/>
          </p:nvSpPr>
          <p:spPr>
            <a:xfrm>
              <a:off x="571500" y="2809875"/>
              <a:ext cx="5334000" cy="1666875"/>
            </a:xfrm>
            <a:prstGeom prst="roundRect">
              <a:avLst>
                <a:gd name="adj" fmla="val 6857"/>
              </a:avLst>
            </a:prstGeom>
            <a:solidFill>
              <a:srgbClr val="FFFFFF"/>
            </a:solidFill>
            <a:ln>
              <a:noFill/>
            </a:ln>
          </p:spPr>
        </p:sp>
        <p:sp>
          <p:nvSpPr>
            <p:cNvPr id="31" name="Rectangle 31"/>
            <p:cNvSpPr/>
            <p:nvPr/>
          </p:nvSpPr>
          <p:spPr>
            <a:xfrm>
              <a:off x="571500" y="2809875"/>
              <a:ext cx="5334000" cy="38100"/>
            </a:xfrm>
            <a:prstGeom prst="roundRect">
              <a:avLst>
                <a:gd name="adj" fmla="val 50000"/>
              </a:avLst>
            </a:prstGeom>
            <a:solidFill>
              <a:srgbClr val="2E7D32"/>
            </a:solidFill>
            <a:ln>
              <a:noFill/>
            </a:ln>
          </p:spPr>
        </p:sp>
        <p:grpSp>
          <p:nvGrpSpPr>
            <p:cNvPr id="34" name="Group 34"/>
            <p:cNvGrpSpPr/>
            <p:nvPr/>
          </p:nvGrpSpPr>
          <p:grpSpPr>
            <a:xfrm>
              <a:off x="838763" y="3104994"/>
              <a:ext cx="301611" cy="209710"/>
              <a:chOff x="838763" y="3104994"/>
              <a:chExt cx="301611" cy="209710"/>
            </a:xfrm>
          </p:grpSpPr>
          <p:sp>
            <p:nvSpPr>
              <p:cNvPr id="32" name="Freeform 32"/>
              <p:cNvSpPr/>
              <p:nvPr/>
            </p:nvSpPr>
            <p:spPr>
              <a:xfrm>
                <a:off x="885825" y="3114675"/>
                <a:ext cx="190500" cy="161925"/>
              </a:xfrm>
              <a:custGeom>
                <a:avLst/>
                <a:gdLst/>
                <a:ahLst/>
                <a:cxnLst/>
                <a:rect l="l" t="t" r="r" b="b"/>
                <a:pathLst>
                  <a:path w="190500" h="161925">
                    <a:moveTo>
                      <a:pt x="190500" y="114300"/>
                    </a:moveTo>
                    <a:lnTo>
                      <a:pt x="142875" y="161925"/>
                    </a:lnTo>
                    <a:lnTo>
                      <a:pt x="66675" y="142875"/>
                    </a:lnTo>
                    <a:lnTo>
                      <a:pt x="0" y="95250"/>
                    </a:lnTo>
                    <a:lnTo>
                      <a:pt x="38100" y="19050"/>
                    </a:lnTo>
                    <a:lnTo>
                      <a:pt x="104775" y="0"/>
                    </a:lnTo>
                    <a:lnTo>
                      <a:pt x="171450" y="19050"/>
                    </a:lnTo>
                    <a:lnTo>
                      <a:pt x="123825" y="19050"/>
                    </a:lnTo>
                    <a:lnTo>
                      <a:pt x="69461" y="71783"/>
                    </a:lnTo>
                    <a:cubicBezTo>
                      <a:pt x="67414" y="73829"/>
                      <a:pt x="66408" y="76695"/>
                      <a:pt x="66728" y="79572"/>
                    </a:cubicBezTo>
                    <a:cubicBezTo>
                      <a:pt x="67047" y="82448"/>
                      <a:pt x="68658" y="85024"/>
                      <a:pt x="71104" y="86570"/>
                    </a:cubicBezTo>
                    <a:cubicBezTo>
                      <a:pt x="91952" y="99893"/>
                      <a:pt x="120253" y="98977"/>
                      <a:pt x="142875" y="76200"/>
                    </a:cubicBezTo>
                    <a:close/>
                  </a:path>
                </a:pathLst>
              </a:custGeom>
              <a:solidFill>
                <a:srgbClr val="2E7D32">
                  <a:alpha val="20000"/>
                </a:srgbClr>
              </a:solidFill>
              <a:ln>
                <a:noFill/>
              </a:ln>
            </p:spPr>
          </p:sp>
          <p:sp>
            <p:nvSpPr>
              <p:cNvPr id="33" name="Freeform 33"/>
              <p:cNvSpPr/>
              <p:nvPr/>
            </p:nvSpPr>
            <p:spPr>
              <a:xfrm>
                <a:off x="838763" y="3104994"/>
                <a:ext cx="301611" cy="209710"/>
              </a:xfrm>
              <a:custGeom>
                <a:avLst/>
                <a:gdLst/>
                <a:ahLst/>
                <a:cxnLst/>
                <a:rect l="l" t="t" r="r" b="b"/>
                <a:pathLst>
                  <a:path w="301611" h="209710">
                    <a:moveTo>
                      <a:pt x="142026" y="202491"/>
                    </a:moveTo>
                    <a:cubicBezTo>
                      <a:pt x="140966" y="206731"/>
                      <a:pt x="137157" y="209706"/>
                      <a:pt x="132787" y="209706"/>
                    </a:cubicBezTo>
                    <a:cubicBezTo>
                      <a:pt x="131984" y="209710"/>
                      <a:pt x="131184" y="209614"/>
                      <a:pt x="130406" y="209421"/>
                    </a:cubicBezTo>
                    <a:lnTo>
                      <a:pt x="92306" y="199896"/>
                    </a:lnTo>
                    <a:cubicBezTo>
                      <a:pt x="91245" y="199629"/>
                      <a:pt x="90238" y="199182"/>
                      <a:pt x="89329" y="198574"/>
                    </a:cubicBezTo>
                    <a:lnTo>
                      <a:pt x="60754" y="179524"/>
                    </a:lnTo>
                    <a:cubicBezTo>
                      <a:pt x="56378" y="176604"/>
                      <a:pt x="55197" y="170690"/>
                      <a:pt x="58117" y="166314"/>
                    </a:cubicBezTo>
                    <a:cubicBezTo>
                      <a:pt x="61036" y="161938"/>
                      <a:pt x="66951" y="160757"/>
                      <a:pt x="71327" y="163677"/>
                    </a:cubicBezTo>
                    <a:lnTo>
                      <a:pt x="98521" y="181810"/>
                    </a:lnTo>
                    <a:lnTo>
                      <a:pt x="135025" y="190942"/>
                    </a:lnTo>
                    <a:cubicBezTo>
                      <a:pt x="137489" y="191539"/>
                      <a:pt x="139612" y="193094"/>
                      <a:pt x="140926" y="195261"/>
                    </a:cubicBezTo>
                    <a:cubicBezTo>
                      <a:pt x="142240" y="197429"/>
                      <a:pt x="142636" y="200031"/>
                      <a:pt x="142026" y="202491"/>
                    </a:cubicBezTo>
                    <a:close/>
                    <a:moveTo>
                      <a:pt x="300010" y="87643"/>
                    </a:moveTo>
                    <a:cubicBezTo>
                      <a:pt x="298431" y="92438"/>
                      <a:pt x="295002" y="96403"/>
                      <a:pt x="290485" y="98657"/>
                    </a:cubicBezTo>
                    <a:lnTo>
                      <a:pt x="262291" y="112754"/>
                    </a:lnTo>
                    <a:lnTo>
                      <a:pt x="196711" y="178345"/>
                    </a:lnTo>
                    <a:cubicBezTo>
                      <a:pt x="194344" y="180710"/>
                      <a:pt x="190909" y="181660"/>
                      <a:pt x="187663" y="180846"/>
                    </a:cubicBezTo>
                    <a:lnTo>
                      <a:pt x="111463" y="161796"/>
                    </a:lnTo>
                    <a:cubicBezTo>
                      <a:pt x="110304" y="161505"/>
                      <a:pt x="109210" y="161000"/>
                      <a:pt x="108236" y="160307"/>
                    </a:cubicBezTo>
                    <a:lnTo>
                      <a:pt x="42133" y="113111"/>
                    </a:lnTo>
                    <a:lnTo>
                      <a:pt x="13224" y="98657"/>
                    </a:lnTo>
                    <a:cubicBezTo>
                      <a:pt x="3816" y="93954"/>
                      <a:pt x="0" y="82516"/>
                      <a:pt x="4699" y="73106"/>
                    </a:cubicBezTo>
                    <a:lnTo>
                      <a:pt x="34286" y="13944"/>
                    </a:lnTo>
                    <a:lnTo>
                      <a:pt x="34286" y="13944"/>
                    </a:lnTo>
                    <a:cubicBezTo>
                      <a:pt x="38989" y="4536"/>
                      <a:pt x="50427" y="720"/>
                      <a:pt x="59837" y="5419"/>
                    </a:cubicBezTo>
                    <a:lnTo>
                      <a:pt x="86102" y="18516"/>
                    </a:lnTo>
                    <a:lnTo>
                      <a:pt x="149205" y="490"/>
                    </a:lnTo>
                    <a:cubicBezTo>
                      <a:pt x="150917" y="0"/>
                      <a:pt x="152732" y="0"/>
                      <a:pt x="154444" y="490"/>
                    </a:cubicBezTo>
                    <a:lnTo>
                      <a:pt x="217547" y="18516"/>
                    </a:lnTo>
                    <a:lnTo>
                      <a:pt x="243813" y="5419"/>
                    </a:lnTo>
                    <a:cubicBezTo>
                      <a:pt x="253222" y="720"/>
                      <a:pt x="264660" y="4536"/>
                      <a:pt x="269363" y="13944"/>
                    </a:cubicBezTo>
                    <a:lnTo>
                      <a:pt x="298950" y="73106"/>
                    </a:lnTo>
                    <a:cubicBezTo>
                      <a:pt x="301230" y="77616"/>
                      <a:pt x="301611" y="82850"/>
                      <a:pt x="300010" y="87643"/>
                    </a:cubicBezTo>
                    <a:close/>
                    <a:moveTo>
                      <a:pt x="245027" y="103050"/>
                    </a:moveTo>
                    <a:lnTo>
                      <a:pt x="212630" y="38256"/>
                    </a:lnTo>
                    <a:lnTo>
                      <a:pt x="174744" y="38256"/>
                    </a:lnTo>
                    <a:lnTo>
                      <a:pt x="123262" y="88263"/>
                    </a:lnTo>
                    <a:cubicBezTo>
                      <a:pt x="138335" y="97895"/>
                      <a:pt x="161969" y="100550"/>
                      <a:pt x="183174" y="79178"/>
                    </a:cubicBezTo>
                    <a:cubicBezTo>
                      <a:pt x="186604" y="75721"/>
                      <a:pt x="192089" y="75408"/>
                      <a:pt x="195890" y="78452"/>
                    </a:cubicBezTo>
                    <a:lnTo>
                      <a:pt x="236859" y="111277"/>
                    </a:lnTo>
                    <a:close/>
                    <a:moveTo>
                      <a:pt x="21737" y="81619"/>
                    </a:moveTo>
                    <a:lnTo>
                      <a:pt x="42799" y="92156"/>
                    </a:lnTo>
                    <a:lnTo>
                      <a:pt x="72386" y="32994"/>
                    </a:lnTo>
                    <a:lnTo>
                      <a:pt x="51324" y="22457"/>
                    </a:lnTo>
                    <a:close/>
                    <a:moveTo>
                      <a:pt x="223274" y="124767"/>
                    </a:moveTo>
                    <a:lnTo>
                      <a:pt x="190282" y="98347"/>
                    </a:lnTo>
                    <a:cubicBezTo>
                      <a:pt x="167017" y="117397"/>
                      <a:pt x="137478" y="119909"/>
                      <a:pt x="112999" y="104300"/>
                    </a:cubicBezTo>
                    <a:cubicBezTo>
                      <a:pt x="108121" y="101198"/>
                      <a:pt x="104916" y="96048"/>
                      <a:pt x="104287" y="90302"/>
                    </a:cubicBezTo>
                    <a:cubicBezTo>
                      <a:pt x="103657" y="84556"/>
                      <a:pt x="105670" y="78834"/>
                      <a:pt x="109760" y="74749"/>
                    </a:cubicBezTo>
                    <a:cubicBezTo>
                      <a:pt x="109789" y="74714"/>
                      <a:pt x="109821" y="74682"/>
                      <a:pt x="109855" y="74654"/>
                    </a:cubicBezTo>
                    <a:lnTo>
                      <a:pt x="163267" y="22850"/>
                    </a:lnTo>
                    <a:lnTo>
                      <a:pt x="151837" y="19587"/>
                    </a:lnTo>
                    <a:lnTo>
                      <a:pt x="91805" y="36744"/>
                    </a:lnTo>
                    <a:lnTo>
                      <a:pt x="59218" y="101907"/>
                    </a:lnTo>
                    <a:lnTo>
                      <a:pt x="117797" y="143758"/>
                    </a:lnTo>
                    <a:lnTo>
                      <a:pt x="187020" y="161057"/>
                    </a:lnTo>
                    <a:close/>
                    <a:moveTo>
                      <a:pt x="281901" y="81619"/>
                    </a:moveTo>
                    <a:lnTo>
                      <a:pt x="252349" y="22457"/>
                    </a:lnTo>
                    <a:lnTo>
                      <a:pt x="231287" y="32994"/>
                    </a:lnTo>
                    <a:lnTo>
                      <a:pt x="260874" y="92156"/>
                    </a:lnTo>
                    <a:close/>
                  </a:path>
                </a:pathLst>
              </a:custGeom>
              <a:solidFill>
                <a:srgbClr val="2E7D32"/>
              </a:solidFill>
              <a:ln>
                <a:noFill/>
              </a:ln>
            </p:spPr>
          </p:sp>
        </p:grpSp>
        <p:sp>
          <p:nvSpPr>
            <p:cNvPr id="35" name="TextBox 35"/>
            <p:cNvSpPr txBox="1"/>
            <p:nvPr/>
          </p:nvSpPr>
          <p:spPr>
            <a:xfrm>
              <a:off x="1266825" y="3095625"/>
              <a:ext cx="5038090"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人机关系变了：从"人用工具"到"人指挥AI用工具"</a:t>
              </a:r>
              <a:endParaRPr lang="zh-CN" b="1" dirty="0">
                <a:solidFill>
                  <a:srgbClr val="263238"/>
                </a:solidFill>
                <a:latin typeface="Segoe UI" panose="020B0502040204020203"/>
                <a:ea typeface="微软雅黑"/>
                <a:cs typeface="Segoe UI" panose="020B0502040204020203"/>
              </a:endParaRPr>
            </a:p>
          </p:txBody>
        </p:sp>
        <p:sp>
          <p:nvSpPr>
            <p:cNvPr id="36" name="TextBox 36"/>
            <p:cNvSpPr txBox="1"/>
            <p:nvPr/>
          </p:nvSpPr>
          <p:spPr>
            <a:xfrm>
              <a:off x="822960" y="3442335"/>
              <a:ext cx="2762885" cy="307340"/>
            </a:xfrm>
            <a:prstGeom prst="rect">
              <a:avLst/>
            </a:prstGeom>
            <a:noFill/>
            <a:ln>
              <a:noFill/>
            </a:ln>
          </p:spPr>
          <p:txBody>
            <a:bodyPr wrap="none" lIns="0" tIns="0" rIns="0" bIns="0" anchor="t" anchorCtr="0">
              <a:noAutofit/>
            </a:bodyPr>
            <a:lstStyle/>
            <a:p>
              <a:pPr algn="l"/>
              <a:r>
                <a:rPr lang="zh-CN" sz="1400" dirty="0">
                  <a:solidFill>
                    <a:srgbClr val="546E7A"/>
                  </a:solidFill>
                  <a:latin typeface="Segoe UI" panose="020B0502040204020203"/>
                  <a:ea typeface="微软雅黑"/>
                  <a:cs typeface="Segoe UI" panose="020B0502040204020203"/>
                </a:rPr>
                <a:t>以前：人是操作者，需要懂工具怎么用</a:t>
              </a:r>
              <a:endParaRPr lang="zh-CN" sz="1400"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822960" y="3689985"/>
              <a:ext cx="5038725" cy="307340"/>
            </a:xfrm>
            <a:prstGeom prst="rect">
              <a:avLst/>
            </a:prstGeom>
            <a:noFill/>
            <a:ln>
              <a:noFill/>
            </a:ln>
          </p:spPr>
          <p:txBody>
            <a:bodyPr wrap="none" lIns="0" tIns="0" rIns="0" bIns="0" anchor="t" anchorCtr="0">
              <a:noAutofit/>
            </a:bodyPr>
            <a:lstStyle/>
            <a:p>
              <a:pPr algn="l"/>
              <a:r>
                <a:rPr lang="zh-CN" sz="1400" dirty="0">
                  <a:solidFill>
                    <a:srgbClr val="546E7A"/>
                  </a:solidFill>
                  <a:latin typeface="Segoe UI" panose="020B0502040204020203"/>
                  <a:ea typeface="微软雅黑"/>
                  <a:cs typeface="Segoe UI" panose="020B0502040204020203"/>
                </a:rPr>
                <a:t>现在：人是指挥官，需要懂任务怎么拆解、什么结果算好、什么算异常</a:t>
              </a:r>
              <a:endParaRPr lang="zh-CN" sz="1400"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822960" y="4013835"/>
              <a:ext cx="3262630"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从"操作技能"转向"判断力和指挥力"</a:t>
              </a:r>
              <a:endParaRPr lang="zh-CN" sz="1600" b="1" dirty="0">
                <a:solidFill>
                  <a:srgbClr val="FF6F00"/>
                </a:solidFill>
                <a:latin typeface="Segoe UI" panose="020B0502040204020203"/>
                <a:ea typeface="微软雅黑"/>
                <a:cs typeface="Segoe UI" panose="020B0502040204020203"/>
              </a:endParaRPr>
            </a:p>
          </p:txBody>
        </p:sp>
      </p:grpSp>
      <p:grpSp>
        <p:nvGrpSpPr>
          <p:cNvPr id="49" name="Group 49"/>
          <p:cNvGrpSpPr/>
          <p:nvPr/>
        </p:nvGrpSpPr>
        <p:grpSpPr>
          <a:xfrm>
            <a:off x="6286500" y="2809875"/>
            <a:ext cx="5334000" cy="1666875"/>
            <a:chOff x="6286500" y="2809875"/>
            <a:chExt cx="5334000" cy="1666875"/>
          </a:xfrm>
        </p:grpSpPr>
        <p:sp>
          <p:nvSpPr>
            <p:cNvPr id="40" name="Rectangle 40"/>
            <p:cNvSpPr/>
            <p:nvPr/>
          </p:nvSpPr>
          <p:spPr>
            <a:xfrm>
              <a:off x="6286500" y="2809875"/>
              <a:ext cx="5334000" cy="1666875"/>
            </a:xfrm>
            <a:prstGeom prst="roundRect">
              <a:avLst>
                <a:gd name="adj" fmla="val 6857"/>
              </a:avLst>
            </a:prstGeom>
            <a:solidFill>
              <a:srgbClr val="FFFFFF"/>
            </a:solidFill>
            <a:ln>
              <a:noFill/>
            </a:ln>
          </p:spPr>
        </p:sp>
        <p:sp>
          <p:nvSpPr>
            <p:cNvPr id="41" name="Rectangle 41"/>
            <p:cNvSpPr/>
            <p:nvPr/>
          </p:nvSpPr>
          <p:spPr>
            <a:xfrm>
              <a:off x="6286500" y="2809875"/>
              <a:ext cx="5334000" cy="38100"/>
            </a:xfrm>
            <a:prstGeom prst="roundRect">
              <a:avLst>
                <a:gd name="adj" fmla="val 50000"/>
              </a:avLst>
            </a:prstGeom>
            <a:solidFill>
              <a:srgbClr val="C62828"/>
            </a:solidFill>
            <a:ln>
              <a:noFill/>
            </a:ln>
          </p:spPr>
        </p:sp>
        <p:grpSp>
          <p:nvGrpSpPr>
            <p:cNvPr id="44" name="Group 44"/>
            <p:cNvGrpSpPr/>
            <p:nvPr/>
          </p:nvGrpSpPr>
          <p:grpSpPr>
            <a:xfrm>
              <a:off x="6570963" y="3076574"/>
              <a:ext cx="269267" cy="238235"/>
              <a:chOff x="6570963" y="3076574"/>
              <a:chExt cx="269267" cy="238235"/>
            </a:xfrm>
          </p:grpSpPr>
          <p:sp>
            <p:nvSpPr>
              <p:cNvPr id="42" name="Freeform 42"/>
              <p:cNvSpPr/>
              <p:nvPr/>
            </p:nvSpPr>
            <p:spPr>
              <a:xfrm>
                <a:off x="6577012" y="3082790"/>
                <a:ext cx="257175" cy="222385"/>
              </a:xfrm>
              <a:custGeom>
                <a:avLst/>
                <a:gdLst/>
                <a:ahLst/>
                <a:cxnLst/>
                <a:rect l="l" t="t" r="r" b="b"/>
                <a:pathLst>
                  <a:path w="257175" h="222385">
                    <a:moveTo>
                      <a:pt x="232720" y="222385"/>
                    </a:moveTo>
                    <a:lnTo>
                      <a:pt x="24455" y="222385"/>
                    </a:lnTo>
                    <a:cubicBezTo>
                      <a:pt x="9430" y="222385"/>
                      <a:pt x="0" y="206657"/>
                      <a:pt x="7299" y="193917"/>
                    </a:cubicBezTo>
                    <a:lnTo>
                      <a:pt x="111431" y="13097"/>
                    </a:lnTo>
                    <a:cubicBezTo>
                      <a:pt x="118932" y="0"/>
                      <a:pt x="138243" y="0"/>
                      <a:pt x="145744" y="13097"/>
                    </a:cubicBezTo>
                    <a:lnTo>
                      <a:pt x="249876" y="193917"/>
                    </a:lnTo>
                    <a:cubicBezTo>
                      <a:pt x="257175" y="206657"/>
                      <a:pt x="247745" y="222385"/>
                      <a:pt x="232720" y="222385"/>
                    </a:cubicBezTo>
                    <a:close/>
                  </a:path>
                </a:pathLst>
              </a:custGeom>
              <a:solidFill>
                <a:srgbClr val="C62828">
                  <a:alpha val="20000"/>
                </a:srgbClr>
              </a:solidFill>
              <a:ln>
                <a:noFill/>
              </a:ln>
            </p:spPr>
          </p:sp>
          <p:sp>
            <p:nvSpPr>
              <p:cNvPr id="43" name="Freeform 43"/>
              <p:cNvSpPr/>
              <p:nvPr/>
            </p:nvSpPr>
            <p:spPr>
              <a:xfrm>
                <a:off x="6570963" y="3076574"/>
                <a:ext cx="269267" cy="238235"/>
              </a:xfrm>
              <a:custGeom>
                <a:avLst/>
                <a:gdLst/>
                <a:ahLst/>
                <a:cxnLst/>
                <a:rect l="l" t="t" r="r" b="b"/>
                <a:pathLst>
                  <a:path w="269267" h="238235">
                    <a:moveTo>
                      <a:pt x="264177" y="195370"/>
                    </a:moveTo>
                    <a:lnTo>
                      <a:pt x="160057" y="14550"/>
                    </a:lnTo>
                    <a:lnTo>
                      <a:pt x="160057" y="14550"/>
                    </a:lnTo>
                    <a:cubicBezTo>
                      <a:pt x="154763" y="5536"/>
                      <a:pt x="145091" y="0"/>
                      <a:pt x="134637" y="0"/>
                    </a:cubicBezTo>
                    <a:cubicBezTo>
                      <a:pt x="124183" y="0"/>
                      <a:pt x="114511" y="5536"/>
                      <a:pt x="109217" y="14550"/>
                    </a:cubicBezTo>
                    <a:lnTo>
                      <a:pt x="5097" y="195370"/>
                    </a:lnTo>
                    <a:cubicBezTo>
                      <a:pt x="0" y="204094"/>
                      <a:pt x="0" y="214888"/>
                      <a:pt x="5097" y="223612"/>
                    </a:cubicBezTo>
                    <a:cubicBezTo>
                      <a:pt x="10327" y="232686"/>
                      <a:pt x="20044" y="238235"/>
                      <a:pt x="30517" y="238126"/>
                    </a:cubicBezTo>
                    <a:lnTo>
                      <a:pt x="238757" y="238126"/>
                    </a:lnTo>
                    <a:cubicBezTo>
                      <a:pt x="249222" y="238226"/>
                      <a:pt x="258928" y="232679"/>
                      <a:pt x="264153" y="223612"/>
                    </a:cubicBezTo>
                    <a:cubicBezTo>
                      <a:pt x="269258" y="214892"/>
                      <a:pt x="269267" y="204099"/>
                      <a:pt x="264177" y="195370"/>
                    </a:cubicBezTo>
                    <a:close/>
                    <a:moveTo>
                      <a:pt x="247663" y="214075"/>
                    </a:moveTo>
                    <a:cubicBezTo>
                      <a:pt x="245815" y="217228"/>
                      <a:pt x="242411" y="219139"/>
                      <a:pt x="238757" y="219076"/>
                    </a:cubicBezTo>
                    <a:lnTo>
                      <a:pt x="30517" y="219076"/>
                    </a:lnTo>
                    <a:cubicBezTo>
                      <a:pt x="26863" y="219139"/>
                      <a:pt x="23459" y="217228"/>
                      <a:pt x="21611" y="214075"/>
                    </a:cubicBezTo>
                    <a:cubicBezTo>
                      <a:pt x="19936" y="211240"/>
                      <a:pt x="19936" y="207719"/>
                      <a:pt x="21611" y="204884"/>
                    </a:cubicBezTo>
                    <a:lnTo>
                      <a:pt x="125731" y="24063"/>
                    </a:lnTo>
                    <a:cubicBezTo>
                      <a:pt x="127615" y="20929"/>
                      <a:pt x="131004" y="19011"/>
                      <a:pt x="134661" y="19011"/>
                    </a:cubicBezTo>
                    <a:cubicBezTo>
                      <a:pt x="138318" y="19011"/>
                      <a:pt x="141707" y="20929"/>
                      <a:pt x="143591" y="24063"/>
                    </a:cubicBezTo>
                    <a:lnTo>
                      <a:pt x="247711" y="204884"/>
                    </a:lnTo>
                    <a:cubicBezTo>
                      <a:pt x="249371" y="207727"/>
                      <a:pt x="249352" y="211249"/>
                      <a:pt x="247663" y="214075"/>
                    </a:cubicBezTo>
                    <a:close/>
                    <a:moveTo>
                      <a:pt x="125112" y="142876"/>
                    </a:moveTo>
                    <a:lnTo>
                      <a:pt x="125112" y="95251"/>
                    </a:lnTo>
                    <a:cubicBezTo>
                      <a:pt x="125112" y="89990"/>
                      <a:pt x="129377" y="85726"/>
                      <a:pt x="134637" y="85726"/>
                    </a:cubicBezTo>
                    <a:cubicBezTo>
                      <a:pt x="139898" y="85726"/>
                      <a:pt x="144162" y="89990"/>
                      <a:pt x="144162" y="95251"/>
                    </a:cubicBezTo>
                    <a:lnTo>
                      <a:pt x="144162" y="142876"/>
                    </a:lnTo>
                    <a:cubicBezTo>
                      <a:pt x="144162" y="148136"/>
                      <a:pt x="139898" y="152401"/>
                      <a:pt x="134637" y="152401"/>
                    </a:cubicBezTo>
                    <a:cubicBezTo>
                      <a:pt x="129377" y="152401"/>
                      <a:pt x="125112" y="148136"/>
                      <a:pt x="125112" y="142876"/>
                    </a:cubicBezTo>
                    <a:close/>
                    <a:moveTo>
                      <a:pt x="148925" y="185738"/>
                    </a:moveTo>
                    <a:cubicBezTo>
                      <a:pt x="148925" y="193629"/>
                      <a:pt x="142528" y="200026"/>
                      <a:pt x="134637" y="200026"/>
                    </a:cubicBezTo>
                    <a:cubicBezTo>
                      <a:pt x="126746" y="200026"/>
                      <a:pt x="120350" y="193629"/>
                      <a:pt x="120350" y="185738"/>
                    </a:cubicBezTo>
                    <a:cubicBezTo>
                      <a:pt x="120350" y="177848"/>
                      <a:pt x="126746" y="171451"/>
                      <a:pt x="134637" y="171451"/>
                    </a:cubicBezTo>
                    <a:cubicBezTo>
                      <a:pt x="142528" y="171451"/>
                      <a:pt x="148925" y="177848"/>
                      <a:pt x="148925" y="185738"/>
                    </a:cubicBezTo>
                    <a:close/>
                  </a:path>
                </a:pathLst>
              </a:custGeom>
              <a:solidFill>
                <a:srgbClr val="C62828"/>
              </a:solidFill>
              <a:ln>
                <a:noFill/>
              </a:ln>
            </p:spPr>
          </p:sp>
        </p:grpSp>
        <p:sp>
          <p:nvSpPr>
            <p:cNvPr id="45" name="TextBox 45"/>
            <p:cNvSpPr txBox="1"/>
            <p:nvPr/>
          </p:nvSpPr>
          <p:spPr>
            <a:xfrm>
              <a:off x="6981825" y="3095625"/>
              <a:ext cx="4632325"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错误类型变了：从语法/逻辑错误 → 意图偏差</a:t>
              </a:r>
              <a:endParaRPr lang="zh-CN" b="1" dirty="0">
                <a:solidFill>
                  <a:srgbClr val="263238"/>
                </a:solidFill>
                <a:latin typeface="Segoe UI" panose="020B0502040204020203"/>
                <a:ea typeface="微软雅黑"/>
                <a:cs typeface="Segoe UI" panose="020B0502040204020203"/>
              </a:endParaRPr>
            </a:p>
          </p:txBody>
        </p:sp>
        <p:sp>
          <p:nvSpPr>
            <p:cNvPr id="46" name="TextBox 46"/>
            <p:cNvSpPr txBox="1"/>
            <p:nvPr/>
          </p:nvSpPr>
          <p:spPr>
            <a:xfrm>
              <a:off x="6537960" y="3442335"/>
              <a:ext cx="420243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传统：空指针、死循环、数组越界 → AI时代几乎消失</a:t>
              </a:r>
              <a:endParaRPr lang="zh-CN" sz="1400" dirty="0">
                <a:solidFill>
                  <a:srgbClr val="546E7A"/>
                </a:solidFill>
                <a:latin typeface="Segoe UI" panose="020B0502040204020203"/>
                <a:ea typeface="微软雅黑"/>
                <a:cs typeface="Segoe UI" panose="020B0502040204020203"/>
              </a:endParaRPr>
            </a:p>
          </p:txBody>
        </p:sp>
        <p:sp>
          <p:nvSpPr>
            <p:cNvPr id="47" name="TextBox 47"/>
            <p:cNvSpPr txBox="1"/>
            <p:nvPr/>
          </p:nvSpPr>
          <p:spPr>
            <a:xfrm>
              <a:off x="6537960" y="3689985"/>
              <a:ext cx="4445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新错误：语法正确、逻辑自洽，但完全不是你想要的业务</a:t>
              </a:r>
              <a:endParaRPr lang="zh-CN" sz="1400"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6537960" y="4013835"/>
              <a:ext cx="3873500"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"意图偏差"比语法错误更难发现、更难调试</a:t>
              </a:r>
              <a:endParaRPr lang="zh-CN" sz="1600" b="1" dirty="0">
                <a:solidFill>
                  <a:srgbClr val="FF6F00"/>
                </a:solidFill>
                <a:latin typeface="Segoe UI" panose="020B0502040204020203"/>
                <a:ea typeface="微软雅黑"/>
                <a:cs typeface="Segoe UI" panose="020B0502040204020203"/>
              </a:endParaRPr>
            </a:p>
          </p:txBody>
        </p:sp>
      </p:grpSp>
      <p:grpSp>
        <p:nvGrpSpPr>
          <p:cNvPr id="58" name="Group 58"/>
          <p:cNvGrpSpPr/>
          <p:nvPr/>
        </p:nvGrpSpPr>
        <p:grpSpPr>
          <a:xfrm>
            <a:off x="571500" y="4762500"/>
            <a:ext cx="11049000" cy="1047750"/>
            <a:chOff x="571500" y="4762500"/>
            <a:chExt cx="11049000" cy="1047750"/>
          </a:xfrm>
        </p:grpSpPr>
        <p:sp>
          <p:nvSpPr>
            <p:cNvPr id="50" name="Rectangle 50"/>
            <p:cNvSpPr/>
            <p:nvPr/>
          </p:nvSpPr>
          <p:spPr>
            <a:xfrm>
              <a:off x="571500" y="4762500"/>
              <a:ext cx="11049000" cy="1047750"/>
            </a:xfrm>
            <a:prstGeom prst="roundRect">
              <a:avLst>
                <a:gd name="adj" fmla="val 10909"/>
              </a:avLst>
            </a:prstGeom>
            <a:solidFill>
              <a:srgbClr val="FFFFFF"/>
            </a:solidFill>
            <a:ln>
              <a:noFill/>
            </a:ln>
          </p:spPr>
        </p:sp>
        <p:sp>
          <p:nvSpPr>
            <p:cNvPr id="51" name="TextBox 51"/>
            <p:cNvSpPr txBox="1"/>
            <p:nvPr/>
          </p:nvSpPr>
          <p:spPr>
            <a:xfrm>
              <a:off x="1125855" y="4921568"/>
              <a:ext cx="815340" cy="245745"/>
            </a:xfrm>
            <a:prstGeom prst="rect">
              <a:avLst/>
            </a:prstGeom>
            <a:noFill/>
            <a:ln>
              <a:noFill/>
            </a:ln>
          </p:spPr>
          <p:txBody>
            <a:bodyPr wrap="none" lIns="0" tIns="0" rIns="0" bIns="0" anchor="t" anchorCtr="0">
              <a:spAutoFit/>
            </a:bodyPr>
            <a:lstStyle/>
            <a:p>
              <a:pPr algn="l"/>
              <a:r>
                <a:rPr lang="zh-CN" sz="1600" b="1" dirty="0">
                  <a:solidFill>
                    <a:srgbClr val="263238"/>
                  </a:solidFill>
                  <a:latin typeface="Segoe UI" panose="020B0502040204020203"/>
                  <a:ea typeface="微软雅黑"/>
                  <a:cs typeface="Segoe UI" panose="020B0502040204020203"/>
                </a:rPr>
                <a:t>传统模式</a:t>
              </a:r>
              <a:endParaRPr lang="zh-CN" sz="1600" b="1" dirty="0">
                <a:solidFill>
                  <a:srgbClr val="263238"/>
                </a:solidFill>
                <a:latin typeface="Segoe UI" panose="020B0502040204020203"/>
                <a:ea typeface="微软雅黑"/>
                <a:cs typeface="Segoe UI" panose="020B0502040204020203"/>
              </a:endParaRPr>
            </a:p>
          </p:txBody>
        </p:sp>
        <p:sp>
          <p:nvSpPr>
            <p:cNvPr id="52" name="TextBox 52"/>
            <p:cNvSpPr txBox="1"/>
            <p:nvPr/>
          </p:nvSpPr>
          <p:spPr>
            <a:xfrm>
              <a:off x="5926774" y="4889182"/>
              <a:ext cx="338455" cy="307340"/>
            </a:xfrm>
            <a:prstGeom prst="rect">
              <a:avLst/>
            </a:prstGeom>
            <a:noFill/>
            <a:ln>
              <a:noFill/>
            </a:ln>
          </p:spPr>
          <p:txBody>
            <a:bodyPr wrap="none" lIns="0" tIns="0" rIns="0" bIns="0" anchor="t" anchorCtr="0">
              <a:spAutoFit/>
            </a:bodyPr>
            <a:lstStyle/>
            <a:p>
              <a:pPr algn="ctr"/>
              <a:r>
                <a:rPr lang="zh-CN" sz="2000" dirty="0">
                  <a:solidFill>
                    <a:srgbClr val="90A4AE"/>
                  </a:solidFill>
                  <a:latin typeface="Segoe UI" panose="020B0502040204020203"/>
                  <a:ea typeface="微软雅黑"/>
                  <a:cs typeface="Segoe UI" panose="020B0502040204020203"/>
                </a:rPr>
                <a:t>VS</a:t>
              </a:r>
              <a:endParaRPr lang="zh-CN" sz="2000" dirty="0">
                <a:solidFill>
                  <a:srgbClr val="90A4AE"/>
                </a:solidFill>
                <a:latin typeface="Segoe UI" panose="020B0502040204020203"/>
                <a:ea typeface="微软雅黑"/>
                <a:cs typeface="Segoe UI" panose="020B0502040204020203"/>
              </a:endParaRPr>
            </a:p>
          </p:txBody>
        </p:sp>
        <p:sp>
          <p:nvSpPr>
            <p:cNvPr id="53" name="TextBox 53"/>
            <p:cNvSpPr txBox="1"/>
            <p:nvPr/>
          </p:nvSpPr>
          <p:spPr>
            <a:xfrm>
              <a:off x="9507220" y="4921568"/>
              <a:ext cx="606425" cy="245745"/>
            </a:xfrm>
            <a:prstGeom prst="rect">
              <a:avLst/>
            </a:prstGeom>
            <a:noFill/>
            <a:ln>
              <a:noFill/>
            </a:ln>
          </p:spPr>
          <p:txBody>
            <a:bodyPr wrap="none" lIns="0" tIns="0" rIns="0" bIns="0" anchor="t" anchorCtr="0">
              <a:spAutoFit/>
            </a:bodyPr>
            <a:lstStyle/>
            <a:p>
              <a:pPr algn="r"/>
              <a:r>
                <a:rPr lang="zh-CN" sz="1600" b="1" dirty="0">
                  <a:solidFill>
                    <a:srgbClr val="1565C0"/>
                  </a:solidFill>
                  <a:latin typeface="Segoe UI" panose="020B0502040204020203"/>
                  <a:ea typeface="微软雅黑"/>
                  <a:cs typeface="Segoe UI" panose="020B0502040204020203"/>
                </a:rPr>
                <a:t>AI模式</a:t>
              </a:r>
              <a:endParaRPr lang="zh-CN" sz="1600" b="1" dirty="0">
                <a:solidFill>
                  <a:srgbClr val="1565C0"/>
                </a:solidFill>
                <a:latin typeface="Segoe UI" panose="020B0502040204020203"/>
                <a:ea typeface="微软雅黑"/>
                <a:cs typeface="Segoe UI" panose="020B0502040204020203"/>
              </a:endParaRPr>
            </a:p>
          </p:txBody>
        </p:sp>
        <p:sp>
          <p:nvSpPr>
            <p:cNvPr id="54" name="TextBox 54"/>
            <p:cNvSpPr txBox="1"/>
            <p:nvPr/>
          </p:nvSpPr>
          <p:spPr>
            <a:xfrm>
              <a:off x="1127760" y="5252085"/>
              <a:ext cx="18288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先写代码，后补文档</a:t>
              </a:r>
              <a:endParaRPr lang="zh-CN" sz="1600" dirty="0">
                <a:solidFill>
                  <a:srgbClr val="546E7A"/>
                </a:solidFill>
                <a:latin typeface="Segoe UI" panose="020B0502040204020203"/>
                <a:ea typeface="微软雅黑"/>
                <a:cs typeface="Segoe UI" panose="020B0502040204020203"/>
              </a:endParaRPr>
            </a:p>
          </p:txBody>
        </p:sp>
        <p:sp>
          <p:nvSpPr>
            <p:cNvPr id="55" name="TextBox 55"/>
            <p:cNvSpPr txBox="1"/>
            <p:nvPr/>
          </p:nvSpPr>
          <p:spPr>
            <a:xfrm>
              <a:off x="7272655" y="5252085"/>
              <a:ext cx="2839085" cy="245745"/>
            </a:xfrm>
            <a:prstGeom prst="rect">
              <a:avLst/>
            </a:prstGeom>
            <a:noFill/>
            <a:ln>
              <a:noFill/>
            </a:ln>
          </p:spPr>
          <p:txBody>
            <a:bodyPr wrap="none" lIns="0" tIns="0" rIns="0" bIns="0" anchor="t" anchorCtr="0">
              <a:spAutoFit/>
            </a:bodyPr>
            <a:lstStyle/>
            <a:p>
              <a:pPr algn="r"/>
              <a:r>
                <a:rPr lang="zh-CN" sz="1600" dirty="0">
                  <a:solidFill>
                    <a:srgbClr val="1565C0"/>
                  </a:solidFill>
                  <a:latin typeface="Segoe UI" panose="020B0502040204020203"/>
                  <a:ea typeface="微软雅黑"/>
                  <a:cs typeface="Segoe UI" panose="020B0502040204020203"/>
                </a:rPr>
                <a:t>规格先行，代码由AI从规格生成</a:t>
              </a:r>
              <a:endParaRPr lang="zh-CN" sz="1600" dirty="0">
                <a:solidFill>
                  <a:srgbClr val="1565C0"/>
                </a:solidFill>
                <a:latin typeface="Segoe UI" panose="020B0502040204020203"/>
                <a:ea typeface="微软雅黑"/>
                <a:cs typeface="Segoe UI" panose="020B0502040204020203"/>
              </a:endParaRPr>
            </a:p>
          </p:txBody>
        </p:sp>
        <p:sp>
          <p:nvSpPr>
            <p:cNvPr id="56" name="TextBox 56"/>
            <p:cNvSpPr txBox="1"/>
            <p:nvPr/>
          </p:nvSpPr>
          <p:spPr>
            <a:xfrm>
              <a:off x="1127760" y="5537835"/>
              <a:ext cx="20320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先上线，后补异常处理</a:t>
              </a:r>
              <a:endParaRPr lang="zh-CN" sz="1600" dirty="0">
                <a:solidFill>
                  <a:srgbClr val="546E7A"/>
                </a:solidFill>
                <a:latin typeface="Segoe UI" panose="020B0502040204020203"/>
                <a:ea typeface="微软雅黑"/>
                <a:cs typeface="Segoe UI" panose="020B0502040204020203"/>
              </a:endParaRPr>
            </a:p>
          </p:txBody>
        </p:sp>
        <p:sp>
          <p:nvSpPr>
            <p:cNvPr id="57" name="TextBox 57"/>
            <p:cNvSpPr txBox="1"/>
            <p:nvPr/>
          </p:nvSpPr>
          <p:spPr>
            <a:xfrm>
              <a:off x="7876540" y="5537835"/>
              <a:ext cx="2235200" cy="245745"/>
            </a:xfrm>
            <a:prstGeom prst="rect">
              <a:avLst/>
            </a:prstGeom>
            <a:noFill/>
            <a:ln>
              <a:noFill/>
            </a:ln>
          </p:spPr>
          <p:txBody>
            <a:bodyPr wrap="none" lIns="0" tIns="0" rIns="0" bIns="0" anchor="t" anchorCtr="0">
              <a:spAutoFit/>
            </a:bodyPr>
            <a:lstStyle/>
            <a:p>
              <a:pPr algn="r"/>
              <a:r>
                <a:rPr lang="zh-CN" sz="1600" dirty="0">
                  <a:solidFill>
                    <a:srgbClr val="1565C0"/>
                  </a:solidFill>
                  <a:latin typeface="Segoe UI" panose="020B0502040204020203"/>
                  <a:ea typeface="微软雅黑"/>
                  <a:cs typeface="Segoe UI" panose="020B0502040204020203"/>
                </a:rPr>
                <a:t>异常和边界必须前置定义</a:t>
              </a:r>
              <a:endParaRPr lang="zh-CN" sz="1600" dirty="0">
                <a:solidFill>
                  <a:srgbClr val="1565C0"/>
                </a:solidFill>
                <a:latin typeface="Segoe UI" panose="020B0502040204020203"/>
                <a:ea typeface="微软雅黑"/>
                <a:cs typeface="Segoe UI" panose="020B0502040204020203"/>
              </a:endParaRPr>
            </a:p>
          </p:txBody>
        </p:sp>
      </p:grpSp>
      <p:sp>
        <p:nvSpPr>
          <p:cNvPr id="59" name="TextBox 59"/>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03</a:t>
            </a:r>
            <a:endParaRPr lang="zh-CN" sz="1125" dirty="0">
              <a:solidFill>
                <a:srgbClr val="90A4AE"/>
              </a:solidFill>
              <a:latin typeface="Segoe UI" panose="020B0502040204020203"/>
              <a:ea typeface="微软雅黑"/>
              <a:cs typeface="Segoe UI" panose="020B0502040204020203"/>
            </a:endParaRPr>
          </a:p>
        </p:txBody>
      </p:sp>
      <p:pic>
        <p:nvPicPr>
          <p:cNvPr id="60" name="图片 59"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slide(fromBottom)">
                                      <p:cBhvr>
                                        <p:cTn id="11" dur="400"/>
                                        <p:tgtEl>
                                          <p:spTgt spid="2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Bottom)">
                                      <p:cBhvr>
                                        <p:cTn id="15" dur="400"/>
                                        <p:tgtEl>
                                          <p:spTgt spid="39"/>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slide(fromBottom)">
                                      <p:cBhvr>
                                        <p:cTn id="19" dur="400"/>
                                        <p:tgtEl>
                                          <p:spTgt spid="49"/>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image">
                                      <p:cBhvr>
                                        <p:cTn id="23"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9" grpId="0"/>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252412"/>
            <a:ext cx="11049000" cy="457200"/>
            <a:chOff x="571500" y="252412"/>
            <a:chExt cx="11049000" cy="457200"/>
          </a:xfrm>
        </p:grpSpPr>
        <p:sp>
          <p:nvSpPr>
            <p:cNvPr id="7" name="TextBox 7"/>
            <p:cNvSpPr txBox="1"/>
            <p:nvPr/>
          </p:nvSpPr>
          <p:spPr>
            <a:xfrm>
              <a:off x="571500" y="252412"/>
              <a:ext cx="509778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a:cs typeface="Segoe UI" panose="020B0502040204020203"/>
                </a:rPr>
                <a:t>能力进化：测试、文档与人的新定位</a:t>
              </a:r>
              <a:endParaRPr lang="zh-CN" sz="225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2" name="Group 22"/>
          <p:cNvGrpSpPr/>
          <p:nvPr/>
        </p:nvGrpSpPr>
        <p:grpSpPr>
          <a:xfrm>
            <a:off x="571500" y="904875"/>
            <a:ext cx="3524250" cy="2398083"/>
            <a:chOff x="571500" y="904875"/>
            <a:chExt cx="3524250" cy="2158588"/>
          </a:xfrm>
        </p:grpSpPr>
        <p:sp>
          <p:nvSpPr>
            <p:cNvPr id="10" name="Rectangle 10"/>
            <p:cNvSpPr/>
            <p:nvPr/>
          </p:nvSpPr>
          <p:spPr>
            <a:xfrm>
              <a:off x="571500" y="904875"/>
              <a:ext cx="3524250" cy="2095500"/>
            </a:xfrm>
            <a:prstGeom prst="roundRect">
              <a:avLst>
                <a:gd name="adj" fmla="val 5455"/>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grpSp>
          <p:nvGrpSpPr>
            <p:cNvPr id="14" name="Group 14"/>
            <p:cNvGrpSpPr/>
            <p:nvPr/>
          </p:nvGrpSpPr>
          <p:grpSpPr>
            <a:xfrm>
              <a:off x="875429" y="1171575"/>
              <a:ext cx="230379" cy="238125"/>
              <a:chOff x="875429" y="1171575"/>
              <a:chExt cx="230379" cy="238125"/>
            </a:xfrm>
          </p:grpSpPr>
          <p:sp>
            <p:nvSpPr>
              <p:cNvPr id="12" name="Freeform 12"/>
              <p:cNvSpPr/>
              <p:nvPr/>
            </p:nvSpPr>
            <p:spPr>
              <a:xfrm>
                <a:off x="885367" y="1322308"/>
                <a:ext cx="210431" cy="77868"/>
              </a:xfrm>
              <a:custGeom>
                <a:avLst/>
                <a:gdLst/>
                <a:ahLst/>
                <a:cxnLst/>
                <a:rect l="l" t="t" r="r" b="b"/>
                <a:pathLst>
                  <a:path w="210431" h="77868">
                    <a:moveTo>
                      <a:pt x="200483" y="77867"/>
                    </a:moveTo>
                    <a:lnTo>
                      <a:pt x="9983" y="77867"/>
                    </a:lnTo>
                    <a:cubicBezTo>
                      <a:pt x="6550" y="77868"/>
                      <a:pt x="3382" y="76021"/>
                      <a:pt x="1691" y="73034"/>
                    </a:cubicBezTo>
                    <a:cubicBezTo>
                      <a:pt x="0" y="70046"/>
                      <a:pt x="48" y="66379"/>
                      <a:pt x="1816" y="63437"/>
                    </a:cubicBezTo>
                    <a:lnTo>
                      <a:pt x="38106" y="2953"/>
                    </a:lnTo>
                    <a:lnTo>
                      <a:pt x="38106" y="2953"/>
                    </a:lnTo>
                    <a:cubicBezTo>
                      <a:pt x="53858" y="0"/>
                      <a:pt x="76206" y="1274"/>
                      <a:pt x="105221" y="15954"/>
                    </a:cubicBezTo>
                    <a:cubicBezTo>
                      <a:pt x="143619" y="35397"/>
                      <a:pt x="170408" y="31325"/>
                      <a:pt x="185589" y="25063"/>
                    </a:cubicBezTo>
                    <a:lnTo>
                      <a:pt x="185589" y="25063"/>
                    </a:lnTo>
                    <a:lnTo>
                      <a:pt x="208615" y="63436"/>
                    </a:lnTo>
                    <a:cubicBezTo>
                      <a:pt x="210380" y="66374"/>
                      <a:pt x="210431" y="70033"/>
                      <a:pt x="208749" y="73018"/>
                    </a:cubicBezTo>
                    <a:cubicBezTo>
                      <a:pt x="207066" y="76004"/>
                      <a:pt x="203910" y="77855"/>
                      <a:pt x="200483" y="77867"/>
                    </a:cubicBezTo>
                    <a:close/>
                  </a:path>
                </a:pathLst>
              </a:custGeom>
              <a:solidFill>
                <a:srgbClr val="1565C0">
                  <a:alpha val="20000"/>
                </a:srgbClr>
              </a:solidFill>
              <a:ln>
                <a:noFill/>
              </a:ln>
            </p:spPr>
          </p:sp>
          <p:sp>
            <p:nvSpPr>
              <p:cNvPr id="13" name="Freeform 13"/>
              <p:cNvSpPr/>
              <p:nvPr/>
            </p:nvSpPr>
            <p:spPr>
              <a:xfrm>
                <a:off x="875429" y="1171575"/>
                <a:ext cx="230379" cy="238125"/>
              </a:xfrm>
              <a:custGeom>
                <a:avLst/>
                <a:gdLst/>
                <a:ahLst/>
                <a:cxnLst/>
                <a:rect l="l" t="t" r="r" b="b"/>
                <a:pathLst>
                  <a:path w="230379" h="238125">
                    <a:moveTo>
                      <a:pt x="226721" y="209276"/>
                    </a:moveTo>
                    <a:lnTo>
                      <a:pt x="153271" y="86820"/>
                    </a:lnTo>
                    <a:lnTo>
                      <a:pt x="153271" y="19050"/>
                    </a:lnTo>
                    <a:lnTo>
                      <a:pt x="162796" y="19050"/>
                    </a:lnTo>
                    <a:cubicBezTo>
                      <a:pt x="168057" y="19050"/>
                      <a:pt x="172321" y="14786"/>
                      <a:pt x="172321" y="9525"/>
                    </a:cubicBezTo>
                    <a:cubicBezTo>
                      <a:pt x="172321" y="4264"/>
                      <a:pt x="168057" y="0"/>
                      <a:pt x="162796" y="0"/>
                    </a:cubicBezTo>
                    <a:lnTo>
                      <a:pt x="67546" y="0"/>
                    </a:lnTo>
                    <a:cubicBezTo>
                      <a:pt x="62286" y="0"/>
                      <a:pt x="58021" y="4264"/>
                      <a:pt x="58021" y="9525"/>
                    </a:cubicBezTo>
                    <a:cubicBezTo>
                      <a:pt x="58021" y="14786"/>
                      <a:pt x="62286" y="19050"/>
                      <a:pt x="67546" y="19050"/>
                    </a:cubicBezTo>
                    <a:lnTo>
                      <a:pt x="77071" y="19050"/>
                    </a:lnTo>
                    <a:lnTo>
                      <a:pt x="77071" y="86820"/>
                    </a:lnTo>
                    <a:lnTo>
                      <a:pt x="3622" y="209276"/>
                    </a:lnTo>
                    <a:cubicBezTo>
                      <a:pt x="95" y="215156"/>
                      <a:pt x="0" y="222477"/>
                      <a:pt x="3373" y="228446"/>
                    </a:cubicBezTo>
                    <a:cubicBezTo>
                      <a:pt x="6745" y="234415"/>
                      <a:pt x="13065" y="238112"/>
                      <a:pt x="19921" y="238125"/>
                    </a:cubicBezTo>
                    <a:lnTo>
                      <a:pt x="210421" y="238125"/>
                    </a:lnTo>
                    <a:cubicBezTo>
                      <a:pt x="217284" y="238125"/>
                      <a:pt x="223616" y="234433"/>
                      <a:pt x="226997" y="228462"/>
                    </a:cubicBezTo>
                    <a:cubicBezTo>
                      <a:pt x="230379" y="222490"/>
                      <a:pt x="230287" y="215161"/>
                      <a:pt x="226757" y="209276"/>
                    </a:cubicBezTo>
                    <a:close/>
                    <a:moveTo>
                      <a:pt x="94764" y="94357"/>
                    </a:moveTo>
                    <a:cubicBezTo>
                      <a:pt x="95655" y="92880"/>
                      <a:pt x="96124" y="91188"/>
                      <a:pt x="96121" y="89464"/>
                    </a:cubicBezTo>
                    <a:lnTo>
                      <a:pt x="96121" y="19050"/>
                    </a:lnTo>
                    <a:lnTo>
                      <a:pt x="134221" y="19050"/>
                    </a:lnTo>
                    <a:lnTo>
                      <a:pt x="134221" y="89464"/>
                    </a:lnTo>
                    <a:cubicBezTo>
                      <a:pt x="134218" y="91188"/>
                      <a:pt x="134688" y="92880"/>
                      <a:pt x="135579" y="94357"/>
                    </a:cubicBezTo>
                    <a:lnTo>
                      <a:pt x="181084" y="170259"/>
                    </a:lnTo>
                    <a:cubicBezTo>
                      <a:pt x="166797" y="173081"/>
                      <a:pt x="146473" y="171891"/>
                      <a:pt x="119470" y="158222"/>
                    </a:cubicBezTo>
                    <a:cubicBezTo>
                      <a:pt x="100527" y="148638"/>
                      <a:pt x="82501" y="143554"/>
                      <a:pt x="65630" y="142970"/>
                    </a:cubicBezTo>
                    <a:close/>
                    <a:moveTo>
                      <a:pt x="19921" y="219075"/>
                    </a:moveTo>
                    <a:lnTo>
                      <a:pt x="53902" y="162425"/>
                    </a:lnTo>
                    <a:cubicBezTo>
                      <a:pt x="70868" y="160365"/>
                      <a:pt x="89990" y="164628"/>
                      <a:pt x="110838" y="175189"/>
                    </a:cubicBezTo>
                    <a:cubicBezTo>
                      <a:pt x="133459" y="186630"/>
                      <a:pt x="152509" y="190524"/>
                      <a:pt x="167988" y="190524"/>
                    </a:cubicBezTo>
                    <a:cubicBezTo>
                      <a:pt x="175859" y="190559"/>
                      <a:pt x="183696" y="189476"/>
                      <a:pt x="191264" y="187309"/>
                    </a:cubicBezTo>
                    <a:lnTo>
                      <a:pt x="210421" y="219075"/>
                    </a:lnTo>
                    <a:close/>
                  </a:path>
                </a:pathLst>
              </a:custGeom>
              <a:solidFill>
                <a:srgbClr val="1565C0"/>
              </a:solidFill>
              <a:ln>
                <a:noFill/>
              </a:ln>
            </p:spPr>
          </p:sp>
        </p:grpSp>
        <p:sp>
          <p:nvSpPr>
            <p:cNvPr id="15" name="TextBox 15"/>
            <p:cNvSpPr txBox="1"/>
            <p:nvPr/>
          </p:nvSpPr>
          <p:spPr>
            <a:xfrm>
              <a:off x="1266825" y="1190625"/>
              <a:ext cx="1375410" cy="249210"/>
            </a:xfrm>
            <a:prstGeom prst="rect">
              <a:avLst/>
            </a:prstGeom>
            <a:noFill/>
            <a:ln>
              <a:noFill/>
            </a:ln>
          </p:spPr>
          <p:txBody>
            <a:bodyPr wrap="squar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测试定位变了</a:t>
              </a:r>
              <a:endParaRPr lang="zh-CN"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2960" y="1537335"/>
              <a:ext cx="22352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从"验证代码有没有写对"</a:t>
              </a:r>
              <a:endParaRPr lang="zh-CN" sz="1600"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2960" y="1784985"/>
              <a:ext cx="28448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→"验证规格有没有被正确实现"</a:t>
              </a:r>
              <a:endParaRPr lang="zh-CN" sz="1600"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2960" y="2032635"/>
              <a:ext cx="2234565"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"规格本身有没有遗漏"</a:t>
              </a:r>
              <a:endParaRPr lang="zh-CN" sz="1600"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2960" y="2346960"/>
              <a:ext cx="22352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测试用例从规格自动生成</a:t>
              </a:r>
              <a:endParaRPr lang="zh-CN" sz="1600"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2960" y="2594610"/>
              <a:ext cx="22352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人的工作→审核测试覆盖</a:t>
              </a:r>
              <a:endParaRPr lang="zh-CN" sz="1600" dirty="0">
                <a:solidFill>
                  <a:srgbClr val="546E7A"/>
                </a:solidFill>
                <a:latin typeface="Segoe UI" panose="020B0502040204020203"/>
                <a:ea typeface="微软雅黑"/>
                <a:cs typeface="Segoe UI" panose="020B0502040204020203"/>
              </a:endParaRPr>
            </a:p>
          </p:txBody>
        </p:sp>
        <p:sp>
          <p:nvSpPr>
            <p:cNvPr id="21" name="TextBox 21"/>
            <p:cNvSpPr txBox="1"/>
            <p:nvPr/>
          </p:nvSpPr>
          <p:spPr>
            <a:xfrm>
              <a:off x="822960" y="2842260"/>
              <a:ext cx="2038350" cy="221203"/>
            </a:xfrm>
            <a:prstGeom prst="rect">
              <a:avLst/>
            </a:prstGeom>
            <a:noFill/>
            <a:ln>
              <a:noFill/>
            </a:ln>
          </p:spPr>
          <p:txBody>
            <a:bodyPr wrap="squar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从手写测试到审核覆盖</a:t>
              </a:r>
              <a:endParaRPr lang="zh-CN" sz="1600" b="1" dirty="0">
                <a:solidFill>
                  <a:srgbClr val="FF6F00"/>
                </a:solidFill>
                <a:latin typeface="Segoe UI" panose="020B0502040204020203"/>
                <a:ea typeface="微软雅黑"/>
                <a:cs typeface="Segoe UI" panose="020B0502040204020203"/>
              </a:endParaRPr>
            </a:p>
          </p:txBody>
        </p:sp>
      </p:grpSp>
      <p:grpSp>
        <p:nvGrpSpPr>
          <p:cNvPr id="35" name="Group 35"/>
          <p:cNvGrpSpPr/>
          <p:nvPr/>
        </p:nvGrpSpPr>
        <p:grpSpPr>
          <a:xfrm>
            <a:off x="4333875" y="904875"/>
            <a:ext cx="3524250" cy="2398083"/>
            <a:chOff x="4333875" y="904875"/>
            <a:chExt cx="3524250" cy="2158588"/>
          </a:xfrm>
        </p:grpSpPr>
        <p:sp>
          <p:nvSpPr>
            <p:cNvPr id="23" name="Rectangle 23"/>
            <p:cNvSpPr/>
            <p:nvPr/>
          </p:nvSpPr>
          <p:spPr>
            <a:xfrm>
              <a:off x="4333875" y="904875"/>
              <a:ext cx="3524250" cy="2095500"/>
            </a:xfrm>
            <a:prstGeom prst="roundRect">
              <a:avLst>
                <a:gd name="adj" fmla="val 5455"/>
              </a:avLst>
            </a:prstGeom>
            <a:solidFill>
              <a:srgbClr val="FFFFFF"/>
            </a:solidFill>
            <a:ln>
              <a:noFill/>
            </a:ln>
          </p:spPr>
        </p:sp>
        <p:sp>
          <p:nvSpPr>
            <p:cNvPr id="24" name="Rectangle 24"/>
            <p:cNvSpPr/>
            <p:nvPr/>
          </p:nvSpPr>
          <p:spPr>
            <a:xfrm>
              <a:off x="4333875" y="904875"/>
              <a:ext cx="3524250" cy="38100"/>
            </a:xfrm>
            <a:prstGeom prst="roundRect">
              <a:avLst>
                <a:gd name="adj" fmla="val 50000"/>
              </a:avLst>
            </a:prstGeom>
            <a:solidFill>
              <a:srgbClr val="00838F"/>
            </a:solidFill>
            <a:ln>
              <a:noFill/>
            </a:ln>
          </p:spPr>
        </p:sp>
        <p:grpSp>
          <p:nvGrpSpPr>
            <p:cNvPr id="27" name="Group 27"/>
            <p:cNvGrpSpPr/>
            <p:nvPr/>
          </p:nvGrpSpPr>
          <p:grpSpPr>
            <a:xfrm>
              <a:off x="4648200" y="1171573"/>
              <a:ext cx="209552" cy="247652"/>
              <a:chOff x="4648200" y="1171573"/>
              <a:chExt cx="209552" cy="247652"/>
            </a:xfrm>
          </p:grpSpPr>
          <p:sp>
            <p:nvSpPr>
              <p:cNvPr id="25" name="Freeform 25"/>
              <p:cNvSpPr/>
              <p:nvPr/>
            </p:nvSpPr>
            <p:spPr>
              <a:xfrm>
                <a:off x="4781550" y="1181100"/>
                <a:ext cx="66675" cy="66675"/>
              </a:xfrm>
              <a:custGeom>
                <a:avLst/>
                <a:gdLst/>
                <a:ahLst/>
                <a:cxnLst/>
                <a:rect l="l" t="t" r="r" b="b"/>
                <a:pathLst>
                  <a:path w="66675" h="66675">
                    <a:moveTo>
                      <a:pt x="66675" y="66675"/>
                    </a:moveTo>
                    <a:lnTo>
                      <a:pt x="0" y="66675"/>
                    </a:lnTo>
                    <a:lnTo>
                      <a:pt x="0" y="0"/>
                    </a:lnTo>
                    <a:close/>
                  </a:path>
                </a:pathLst>
              </a:custGeom>
              <a:solidFill>
                <a:srgbClr val="00838F">
                  <a:alpha val="20000"/>
                </a:srgbClr>
              </a:solidFill>
              <a:ln>
                <a:noFill/>
              </a:ln>
            </p:spPr>
          </p:sp>
          <p:sp>
            <p:nvSpPr>
              <p:cNvPr id="26" name="Freeform 26"/>
              <p:cNvSpPr/>
              <p:nvPr/>
            </p:nvSpPr>
            <p:spPr>
              <a:xfrm>
                <a:off x="4648200" y="1171573"/>
                <a:ext cx="209552" cy="247652"/>
              </a:xfrm>
              <a:custGeom>
                <a:avLst/>
                <a:gdLst/>
                <a:ahLst/>
                <a:cxnLst/>
                <a:rect l="l" t="t" r="r" b="b"/>
                <a:pathLst>
                  <a:path w="209552" h="247652">
                    <a:moveTo>
                      <a:pt x="206764" y="69463"/>
                    </a:moveTo>
                    <a:lnTo>
                      <a:pt x="140089" y="2788"/>
                    </a:lnTo>
                    <a:cubicBezTo>
                      <a:pt x="138301" y="1002"/>
                      <a:pt x="135877" y="0"/>
                      <a:pt x="133350" y="2"/>
                    </a:cubicBezTo>
                    <a:lnTo>
                      <a:pt x="19050" y="2"/>
                    </a:lnTo>
                    <a:cubicBezTo>
                      <a:pt x="8529" y="2"/>
                      <a:pt x="0" y="8531"/>
                      <a:pt x="0" y="19052"/>
                    </a:cubicBezTo>
                    <a:lnTo>
                      <a:pt x="0" y="228602"/>
                    </a:lnTo>
                    <a:cubicBezTo>
                      <a:pt x="0" y="239123"/>
                      <a:pt x="8529" y="247652"/>
                      <a:pt x="19050" y="247652"/>
                    </a:cubicBezTo>
                    <a:lnTo>
                      <a:pt x="190500" y="247652"/>
                    </a:lnTo>
                    <a:cubicBezTo>
                      <a:pt x="201021" y="247652"/>
                      <a:pt x="209550" y="239123"/>
                      <a:pt x="209550" y="228602"/>
                    </a:cubicBezTo>
                    <a:lnTo>
                      <a:pt x="209550" y="76202"/>
                    </a:lnTo>
                    <a:cubicBezTo>
                      <a:pt x="209552" y="73675"/>
                      <a:pt x="208550" y="71251"/>
                      <a:pt x="206764" y="69463"/>
                    </a:cubicBezTo>
                    <a:close/>
                    <a:moveTo>
                      <a:pt x="142875" y="32518"/>
                    </a:moveTo>
                    <a:lnTo>
                      <a:pt x="177034" y="66677"/>
                    </a:lnTo>
                    <a:lnTo>
                      <a:pt x="142875" y="66677"/>
                    </a:lnTo>
                    <a:close/>
                    <a:moveTo>
                      <a:pt x="190500" y="228602"/>
                    </a:moveTo>
                    <a:lnTo>
                      <a:pt x="19050" y="228602"/>
                    </a:lnTo>
                    <a:lnTo>
                      <a:pt x="19050" y="19052"/>
                    </a:lnTo>
                    <a:lnTo>
                      <a:pt x="123825" y="19052"/>
                    </a:lnTo>
                    <a:lnTo>
                      <a:pt x="123825" y="76202"/>
                    </a:lnTo>
                    <a:cubicBezTo>
                      <a:pt x="123825" y="81462"/>
                      <a:pt x="128089" y="85727"/>
                      <a:pt x="133350" y="85727"/>
                    </a:cubicBezTo>
                    <a:lnTo>
                      <a:pt x="190500" y="85727"/>
                    </a:lnTo>
                    <a:lnTo>
                      <a:pt x="190500" y="228602"/>
                    </a:lnTo>
                    <a:close/>
                    <a:moveTo>
                      <a:pt x="152400" y="133352"/>
                    </a:moveTo>
                    <a:cubicBezTo>
                      <a:pt x="152400" y="138612"/>
                      <a:pt x="148136" y="142877"/>
                      <a:pt x="142875" y="142877"/>
                    </a:cubicBezTo>
                    <a:lnTo>
                      <a:pt x="66675" y="142877"/>
                    </a:lnTo>
                    <a:cubicBezTo>
                      <a:pt x="61414" y="142877"/>
                      <a:pt x="57150" y="138612"/>
                      <a:pt x="57150" y="133352"/>
                    </a:cubicBezTo>
                    <a:cubicBezTo>
                      <a:pt x="57150" y="128091"/>
                      <a:pt x="61414" y="123827"/>
                      <a:pt x="66675" y="123827"/>
                    </a:cubicBezTo>
                    <a:lnTo>
                      <a:pt x="142875" y="123827"/>
                    </a:lnTo>
                    <a:cubicBezTo>
                      <a:pt x="148136" y="123827"/>
                      <a:pt x="152400" y="128091"/>
                      <a:pt x="152400" y="133352"/>
                    </a:cubicBezTo>
                    <a:close/>
                    <a:moveTo>
                      <a:pt x="152400" y="171452"/>
                    </a:moveTo>
                    <a:cubicBezTo>
                      <a:pt x="152400" y="176712"/>
                      <a:pt x="148136" y="180977"/>
                      <a:pt x="142875" y="180977"/>
                    </a:cubicBezTo>
                    <a:lnTo>
                      <a:pt x="66675" y="180977"/>
                    </a:lnTo>
                    <a:cubicBezTo>
                      <a:pt x="61414" y="180977"/>
                      <a:pt x="57150" y="176712"/>
                      <a:pt x="57150" y="171452"/>
                    </a:cubicBezTo>
                    <a:cubicBezTo>
                      <a:pt x="57150" y="166191"/>
                      <a:pt x="61414" y="161927"/>
                      <a:pt x="66675" y="161927"/>
                    </a:cubicBezTo>
                    <a:lnTo>
                      <a:pt x="142875" y="161927"/>
                    </a:lnTo>
                    <a:cubicBezTo>
                      <a:pt x="148136" y="161927"/>
                      <a:pt x="152400" y="166191"/>
                      <a:pt x="152400" y="171452"/>
                    </a:cubicBezTo>
                    <a:close/>
                  </a:path>
                </a:pathLst>
              </a:custGeom>
              <a:solidFill>
                <a:srgbClr val="00838F"/>
              </a:solidFill>
              <a:ln>
                <a:noFill/>
              </a:ln>
            </p:spPr>
          </p:sp>
        </p:grpSp>
        <p:sp>
          <p:nvSpPr>
            <p:cNvPr id="28" name="TextBox 28"/>
            <p:cNvSpPr txBox="1"/>
            <p:nvPr/>
          </p:nvSpPr>
          <p:spPr>
            <a:xfrm>
              <a:off x="5029200" y="1190625"/>
              <a:ext cx="1375410" cy="249210"/>
            </a:xfrm>
            <a:prstGeom prst="rect">
              <a:avLst/>
            </a:prstGeom>
            <a:noFill/>
            <a:ln>
              <a:noFill/>
            </a:ln>
          </p:spPr>
          <p:txBody>
            <a:bodyPr wrap="squar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文档价值变了</a:t>
              </a:r>
              <a:endParaRPr lang="zh-CN" b="1" dirty="0">
                <a:solidFill>
                  <a:srgbClr val="263238"/>
                </a:solidFill>
                <a:latin typeface="Segoe UI" panose="020B0502040204020203"/>
                <a:ea typeface="微软雅黑"/>
                <a:cs typeface="Segoe UI" panose="020B0502040204020203"/>
              </a:endParaRPr>
            </a:p>
          </p:txBody>
        </p:sp>
        <p:sp>
          <p:nvSpPr>
            <p:cNvPr id="29" name="TextBox 29"/>
            <p:cNvSpPr txBox="1"/>
            <p:nvPr/>
          </p:nvSpPr>
          <p:spPr>
            <a:xfrm>
              <a:off x="4585335" y="1537617"/>
              <a:ext cx="2966085" cy="237207"/>
            </a:xfrm>
            <a:prstGeom prst="rect">
              <a:avLst/>
            </a:prstGeom>
            <a:noFill/>
            <a:ln>
              <a:noFill/>
            </a:ln>
          </p:spPr>
          <p:txBody>
            <a:bodyPr wrap="square" lIns="0" tIns="0" rIns="0" bIns="0" anchor="t" anchorCtr="0">
              <a:noAutofit/>
            </a:bodyPr>
            <a:lstStyle/>
            <a:p>
              <a:pPr algn="l"/>
              <a:r>
                <a:rPr lang="zh-CN" sz="1600" dirty="0">
                  <a:solidFill>
                    <a:srgbClr val="546E7A"/>
                  </a:solidFill>
                  <a:latin typeface="Segoe UI" panose="020B0502040204020203"/>
                  <a:ea typeface="微软雅黑"/>
                  <a:cs typeface="Segoe UI" panose="020B0502040204020203"/>
                </a:rPr>
                <a:t>以前："写给以后的人看"</a:t>
              </a:r>
              <a:r>
                <a:rPr lang="zh-CN" sz="1600" dirty="0">
                  <a:solidFill>
                    <a:srgbClr val="546E7A"/>
                  </a:solidFill>
                  <a:latin typeface="Segoe UI" panose="020B0502040204020203"/>
                  <a:ea typeface="微软雅黑"/>
                  <a:cs typeface="Segoe UI" panose="020B0502040204020203"/>
                  <a:sym typeface="+mn-ea"/>
                </a:rPr>
                <a:t>→ 常常被忽略</a:t>
              </a:r>
              <a:endParaRPr lang="zh-CN" sz="1600" dirty="0">
                <a:solidFill>
                  <a:srgbClr val="546E7A"/>
                </a:solidFill>
                <a:latin typeface="Segoe UI" panose="020B0502040204020203"/>
                <a:ea typeface="微软雅黑"/>
                <a:cs typeface="Segoe UI" panose="020B0502040204020203"/>
              </a:endParaRPr>
            </a:p>
            <a:p>
              <a:pPr algn="l"/>
              <a:endParaRPr lang="zh-CN" sz="1600"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5335" y="1785113"/>
              <a:ext cx="2966085" cy="249210"/>
            </a:xfrm>
            <a:prstGeom prst="rect">
              <a:avLst/>
            </a:prstGeom>
            <a:noFill/>
            <a:ln>
              <a:noFill/>
            </a:ln>
          </p:spPr>
          <p:txBody>
            <a:bodyPr wrap="square" lIns="0" tIns="0" rIns="0" bIns="0" anchor="t" anchorCtr="0">
              <a:noAutofit/>
            </a:bodyPr>
            <a:lstStyle/>
            <a:p>
              <a:pPr algn="l"/>
              <a:endParaRPr lang="zh-CN" sz="1600"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5335" y="2003457"/>
              <a:ext cx="2966720" cy="66475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现在："给AI吃的"</a:t>
              </a:r>
              <a:r>
                <a:rPr lang="zh-CN" sz="1600" dirty="0">
                  <a:solidFill>
                    <a:srgbClr val="546E7A"/>
                  </a:solidFill>
                  <a:latin typeface="Segoe UI" panose="020B0502040204020203"/>
                  <a:ea typeface="微软雅黑"/>
                  <a:cs typeface="Segoe UI" panose="020B0502040204020203"/>
                  <a:sym typeface="+mn-ea"/>
                </a:rPr>
                <a:t>→ 代码的唯一来源</a:t>
              </a:r>
              <a:endParaRPr lang="zh-CN" sz="1600" dirty="0">
                <a:solidFill>
                  <a:srgbClr val="546E7A"/>
                </a:solidFill>
                <a:latin typeface="Segoe UI" panose="020B0502040204020203"/>
                <a:ea typeface="微软雅黑"/>
                <a:cs typeface="Segoe UI" panose="020B0502040204020203"/>
              </a:endParaRPr>
            </a:p>
            <a:p>
              <a:pPr algn="l"/>
              <a:endParaRPr lang="zh-CN" sz="1600"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5335" y="2346979"/>
              <a:ext cx="2966085" cy="237779"/>
            </a:xfrm>
            <a:prstGeom prst="rect">
              <a:avLst/>
            </a:prstGeom>
            <a:noFill/>
            <a:ln>
              <a:noFill/>
            </a:ln>
          </p:spPr>
          <p:txBody>
            <a:bodyPr wrap="square" lIns="0" tIns="0" rIns="0" bIns="0" anchor="t" anchorCtr="0">
              <a:noAutofit/>
            </a:bodyPr>
            <a:lstStyle/>
            <a:p>
              <a:pPr algn="l"/>
              <a:endParaRPr lang="zh-CN" sz="1600" dirty="0">
                <a:solidFill>
                  <a:srgbClr val="546E7A"/>
                </a:solidFill>
                <a:latin typeface="Segoe UI" panose="020B0502040204020203"/>
                <a:ea typeface="微软雅黑"/>
                <a:cs typeface="Segoe UI" panose="020B0502040204020203"/>
              </a:endParaRPr>
            </a:p>
          </p:txBody>
        </p:sp>
        <p:sp>
          <p:nvSpPr>
            <p:cNvPr id="33" name="TextBox 33"/>
            <p:cNvSpPr txBox="1"/>
            <p:nvPr/>
          </p:nvSpPr>
          <p:spPr>
            <a:xfrm>
              <a:off x="4585335" y="2482951"/>
              <a:ext cx="26416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没有规格→无法生成正确代码</a:t>
              </a:r>
              <a:endParaRPr lang="zh-CN" sz="1600" dirty="0">
                <a:solidFill>
                  <a:srgbClr val="546E7A"/>
                </a:solidFill>
                <a:latin typeface="Segoe UI" panose="020B0502040204020203"/>
                <a:ea typeface="微软雅黑"/>
                <a:cs typeface="Segoe UI" panose="020B0502040204020203"/>
              </a:endParaRPr>
            </a:p>
          </p:txBody>
        </p:sp>
        <p:sp>
          <p:nvSpPr>
            <p:cNvPr id="34" name="TextBox 34"/>
            <p:cNvSpPr txBox="1"/>
            <p:nvPr/>
          </p:nvSpPr>
          <p:spPr>
            <a:xfrm>
              <a:off x="4585335" y="2842260"/>
              <a:ext cx="2243455" cy="221203"/>
            </a:xfrm>
            <a:prstGeom prst="rect">
              <a:avLst/>
            </a:prstGeom>
            <a:noFill/>
            <a:ln>
              <a:noFill/>
            </a:ln>
          </p:spPr>
          <p:txBody>
            <a:bodyPr wrap="squar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从"副产品"到"一等公民"</a:t>
              </a:r>
              <a:endParaRPr lang="zh-CN" sz="1600" b="1" dirty="0">
                <a:solidFill>
                  <a:srgbClr val="FF6F00"/>
                </a:solidFill>
                <a:latin typeface="Segoe UI" panose="020B0502040204020203"/>
                <a:ea typeface="微软雅黑"/>
                <a:cs typeface="Segoe UI" panose="020B0502040204020203"/>
              </a:endParaRPr>
            </a:p>
          </p:txBody>
        </p:sp>
      </p:grpSp>
      <p:grpSp>
        <p:nvGrpSpPr>
          <p:cNvPr id="47" name="Group 47"/>
          <p:cNvGrpSpPr/>
          <p:nvPr/>
        </p:nvGrpSpPr>
        <p:grpSpPr>
          <a:xfrm>
            <a:off x="8096250" y="904875"/>
            <a:ext cx="3524250" cy="2327910"/>
            <a:chOff x="8096250" y="904875"/>
            <a:chExt cx="3524250" cy="2095500"/>
          </a:xfrm>
        </p:grpSpPr>
        <p:sp>
          <p:nvSpPr>
            <p:cNvPr id="36" name="Rectangle 36"/>
            <p:cNvSpPr/>
            <p:nvPr/>
          </p:nvSpPr>
          <p:spPr>
            <a:xfrm>
              <a:off x="8096250" y="904875"/>
              <a:ext cx="3524250" cy="2095500"/>
            </a:xfrm>
            <a:prstGeom prst="roundRect">
              <a:avLst>
                <a:gd name="adj" fmla="val 5455"/>
              </a:avLst>
            </a:prstGeom>
            <a:solidFill>
              <a:srgbClr val="FFFFFF"/>
            </a:solidFill>
            <a:ln>
              <a:noFill/>
            </a:ln>
          </p:spPr>
        </p:sp>
        <p:sp>
          <p:nvSpPr>
            <p:cNvPr id="37" name="Rectangle 37"/>
            <p:cNvSpPr/>
            <p:nvPr/>
          </p:nvSpPr>
          <p:spPr>
            <a:xfrm>
              <a:off x="8096250" y="904875"/>
              <a:ext cx="3524250" cy="38100"/>
            </a:xfrm>
            <a:prstGeom prst="roundRect">
              <a:avLst>
                <a:gd name="adj" fmla="val 50000"/>
              </a:avLst>
            </a:prstGeom>
            <a:solidFill>
              <a:srgbClr val="2E7D32"/>
            </a:solidFill>
            <a:ln>
              <a:noFill/>
            </a:ln>
          </p:spPr>
        </p:sp>
        <p:grpSp>
          <p:nvGrpSpPr>
            <p:cNvPr id="40" name="Group 40"/>
            <p:cNvGrpSpPr/>
            <p:nvPr/>
          </p:nvGrpSpPr>
          <p:grpSpPr>
            <a:xfrm>
              <a:off x="8362953" y="1171204"/>
              <a:ext cx="304794" cy="267071"/>
              <a:chOff x="8362953" y="1171204"/>
              <a:chExt cx="304794" cy="267071"/>
            </a:xfrm>
          </p:grpSpPr>
          <p:sp>
            <p:nvSpPr>
              <p:cNvPr id="38" name="Freeform 38"/>
              <p:cNvSpPr/>
              <p:nvPr/>
            </p:nvSpPr>
            <p:spPr>
              <a:xfrm>
                <a:off x="8410570" y="1277624"/>
                <a:ext cx="209561" cy="113026"/>
              </a:xfrm>
              <a:custGeom>
                <a:avLst/>
                <a:gdLst/>
                <a:ahLst/>
                <a:cxnLst/>
                <a:rect l="l" t="t" r="r" b="b"/>
                <a:pathLst>
                  <a:path w="209561" h="113026">
                    <a:moveTo>
                      <a:pt x="209555" y="0"/>
                    </a:moveTo>
                    <a:lnTo>
                      <a:pt x="209555" y="63365"/>
                    </a:lnTo>
                    <a:cubicBezTo>
                      <a:pt x="209561" y="65693"/>
                      <a:pt x="208714" y="67942"/>
                      <a:pt x="207174" y="69687"/>
                    </a:cubicBezTo>
                    <a:cubicBezTo>
                      <a:pt x="193720" y="84677"/>
                      <a:pt x="160859" y="113026"/>
                      <a:pt x="104780" y="113026"/>
                    </a:cubicBezTo>
                    <a:cubicBezTo>
                      <a:pt x="48702" y="113026"/>
                      <a:pt x="15864" y="84677"/>
                      <a:pt x="2387" y="69687"/>
                    </a:cubicBezTo>
                    <a:cubicBezTo>
                      <a:pt x="847" y="67942"/>
                      <a:pt x="0" y="65693"/>
                      <a:pt x="5" y="63365"/>
                    </a:cubicBezTo>
                    <a:lnTo>
                      <a:pt x="5" y="0"/>
                    </a:lnTo>
                    <a:lnTo>
                      <a:pt x="104780" y="55876"/>
                    </a:lnTo>
                    <a:close/>
                  </a:path>
                </a:pathLst>
              </a:custGeom>
              <a:solidFill>
                <a:srgbClr val="2E7D32">
                  <a:alpha val="20000"/>
                </a:srgbClr>
              </a:solidFill>
              <a:ln>
                <a:noFill/>
              </a:ln>
            </p:spPr>
          </p:sp>
          <p:sp>
            <p:nvSpPr>
              <p:cNvPr id="39" name="Freeform 39"/>
              <p:cNvSpPr/>
              <p:nvPr/>
            </p:nvSpPr>
            <p:spPr>
              <a:xfrm>
                <a:off x="8362953" y="1171204"/>
                <a:ext cx="304794" cy="267071"/>
              </a:xfrm>
              <a:custGeom>
                <a:avLst/>
                <a:gdLst/>
                <a:ahLst/>
                <a:cxnLst/>
                <a:rect l="l" t="t" r="r" b="b"/>
                <a:pathLst>
                  <a:path w="304794" h="267071">
                    <a:moveTo>
                      <a:pt x="299749" y="77690"/>
                    </a:moveTo>
                    <a:lnTo>
                      <a:pt x="156874" y="1490"/>
                    </a:lnTo>
                    <a:cubicBezTo>
                      <a:pt x="154075" y="0"/>
                      <a:pt x="150719" y="0"/>
                      <a:pt x="147920" y="1490"/>
                    </a:cubicBezTo>
                    <a:lnTo>
                      <a:pt x="5045" y="77690"/>
                    </a:lnTo>
                    <a:cubicBezTo>
                      <a:pt x="1940" y="79345"/>
                      <a:pt x="0" y="82577"/>
                      <a:pt x="0" y="86096"/>
                    </a:cubicBezTo>
                    <a:cubicBezTo>
                      <a:pt x="0" y="89615"/>
                      <a:pt x="1940" y="92847"/>
                      <a:pt x="5045" y="94502"/>
                    </a:cubicBezTo>
                    <a:lnTo>
                      <a:pt x="38097" y="112135"/>
                    </a:lnTo>
                    <a:lnTo>
                      <a:pt x="38097" y="169785"/>
                    </a:lnTo>
                    <a:cubicBezTo>
                      <a:pt x="38087" y="174464"/>
                      <a:pt x="39809" y="178980"/>
                      <a:pt x="42931" y="182465"/>
                    </a:cubicBezTo>
                    <a:cubicBezTo>
                      <a:pt x="58528" y="199836"/>
                      <a:pt x="93473" y="228971"/>
                      <a:pt x="152397" y="228971"/>
                    </a:cubicBezTo>
                    <a:cubicBezTo>
                      <a:pt x="171935" y="229133"/>
                      <a:pt x="191326" y="225594"/>
                      <a:pt x="209547" y="218541"/>
                    </a:cubicBezTo>
                    <a:lnTo>
                      <a:pt x="209547" y="257546"/>
                    </a:lnTo>
                    <a:cubicBezTo>
                      <a:pt x="209547" y="262806"/>
                      <a:pt x="213812" y="267071"/>
                      <a:pt x="219072" y="267071"/>
                    </a:cubicBezTo>
                    <a:cubicBezTo>
                      <a:pt x="224333" y="267071"/>
                      <a:pt x="228597" y="262806"/>
                      <a:pt x="228597" y="257546"/>
                    </a:cubicBezTo>
                    <a:lnTo>
                      <a:pt x="228597" y="209338"/>
                    </a:lnTo>
                    <a:cubicBezTo>
                      <a:pt x="241018" y="202167"/>
                      <a:pt x="252242" y="193101"/>
                      <a:pt x="261863" y="182465"/>
                    </a:cubicBezTo>
                    <a:cubicBezTo>
                      <a:pt x="264985" y="178980"/>
                      <a:pt x="266707" y="174464"/>
                      <a:pt x="266697" y="169785"/>
                    </a:cubicBezTo>
                    <a:lnTo>
                      <a:pt x="266697" y="112135"/>
                    </a:lnTo>
                    <a:lnTo>
                      <a:pt x="299749" y="94502"/>
                    </a:lnTo>
                    <a:cubicBezTo>
                      <a:pt x="302854" y="92847"/>
                      <a:pt x="304794" y="89615"/>
                      <a:pt x="304794" y="86096"/>
                    </a:cubicBezTo>
                    <a:cubicBezTo>
                      <a:pt x="304794" y="82577"/>
                      <a:pt x="302854" y="79345"/>
                      <a:pt x="299749" y="77690"/>
                    </a:cubicBezTo>
                    <a:close/>
                    <a:moveTo>
                      <a:pt x="152397" y="209921"/>
                    </a:moveTo>
                    <a:cubicBezTo>
                      <a:pt x="100879" y="209921"/>
                      <a:pt x="70577" y="184751"/>
                      <a:pt x="57147" y="169785"/>
                    </a:cubicBezTo>
                    <a:lnTo>
                      <a:pt x="57147" y="122291"/>
                    </a:lnTo>
                    <a:lnTo>
                      <a:pt x="147920" y="170702"/>
                    </a:lnTo>
                    <a:cubicBezTo>
                      <a:pt x="150719" y="172192"/>
                      <a:pt x="154075" y="172192"/>
                      <a:pt x="156874" y="170702"/>
                    </a:cubicBezTo>
                    <a:lnTo>
                      <a:pt x="209547" y="142615"/>
                    </a:lnTo>
                    <a:lnTo>
                      <a:pt x="209547" y="197788"/>
                    </a:lnTo>
                    <a:cubicBezTo>
                      <a:pt x="194545" y="204789"/>
                      <a:pt x="175638" y="209921"/>
                      <a:pt x="152397" y="209921"/>
                    </a:cubicBezTo>
                    <a:close/>
                    <a:moveTo>
                      <a:pt x="247647" y="169737"/>
                    </a:moveTo>
                    <a:cubicBezTo>
                      <a:pt x="241937" y="176073"/>
                      <a:pt x="235549" y="181763"/>
                      <a:pt x="228597" y="186704"/>
                    </a:cubicBezTo>
                    <a:lnTo>
                      <a:pt x="228597" y="132447"/>
                    </a:lnTo>
                    <a:lnTo>
                      <a:pt x="247647" y="122291"/>
                    </a:lnTo>
                    <a:close/>
                    <a:moveTo>
                      <a:pt x="223835" y="113409"/>
                    </a:moveTo>
                    <a:lnTo>
                      <a:pt x="223573" y="113254"/>
                    </a:lnTo>
                    <a:lnTo>
                      <a:pt x="156898" y="77690"/>
                    </a:lnTo>
                    <a:cubicBezTo>
                      <a:pt x="152269" y="75326"/>
                      <a:pt x="146601" y="77108"/>
                      <a:pt x="144158" y="81695"/>
                    </a:cubicBezTo>
                    <a:cubicBezTo>
                      <a:pt x="141715" y="86282"/>
                      <a:pt x="143400" y="91981"/>
                      <a:pt x="147944" y="94502"/>
                    </a:cubicBezTo>
                    <a:lnTo>
                      <a:pt x="203594" y="124196"/>
                    </a:lnTo>
                    <a:lnTo>
                      <a:pt x="152397" y="151497"/>
                    </a:lnTo>
                    <a:lnTo>
                      <a:pt x="29763" y="86096"/>
                    </a:lnTo>
                    <a:lnTo>
                      <a:pt x="152397" y="20695"/>
                    </a:lnTo>
                    <a:lnTo>
                      <a:pt x="275031" y="86096"/>
                    </a:lnTo>
                    <a:close/>
                  </a:path>
                </a:pathLst>
              </a:custGeom>
              <a:solidFill>
                <a:srgbClr val="2E7D32"/>
              </a:solidFill>
              <a:ln>
                <a:noFill/>
              </a:ln>
            </p:spPr>
          </p:sp>
        </p:grpSp>
        <p:sp>
          <p:nvSpPr>
            <p:cNvPr id="41" name="TextBox 41"/>
            <p:cNvSpPr txBox="1"/>
            <p:nvPr/>
          </p:nvSpPr>
          <p:spPr>
            <a:xfrm>
              <a:off x="8791575" y="1190625"/>
              <a:ext cx="1375410" cy="249219"/>
            </a:xfrm>
            <a:prstGeom prst="rect">
              <a:avLst/>
            </a:prstGeom>
            <a:noFill/>
            <a:ln>
              <a:noFill/>
            </a:ln>
          </p:spPr>
          <p:txBody>
            <a:bodyPr wrap="squar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能力模型变了</a:t>
              </a:r>
              <a:endParaRPr lang="zh-CN" b="1" dirty="0">
                <a:solidFill>
                  <a:srgbClr val="263238"/>
                </a:solidFill>
                <a:latin typeface="Segoe UI" panose="020B0502040204020203"/>
                <a:ea typeface="微软雅黑"/>
                <a:cs typeface="Segoe UI" panose="020B0502040204020203"/>
              </a:endParaRPr>
            </a:p>
          </p:txBody>
        </p:sp>
        <p:sp>
          <p:nvSpPr>
            <p:cNvPr id="42" name="TextBox 42"/>
            <p:cNvSpPr txBox="1"/>
            <p:nvPr/>
          </p:nvSpPr>
          <p:spPr>
            <a:xfrm>
              <a:off x="8347710" y="1537335"/>
              <a:ext cx="2641600"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以前：精通语言、框架、算法</a:t>
              </a:r>
              <a:endParaRPr lang="zh-CN" sz="1600"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7710" y="1784985"/>
              <a:ext cx="2641600"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现在：把模糊需求→精确规格</a:t>
              </a:r>
              <a:endParaRPr lang="zh-CN" sz="1600"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7710" y="2032635"/>
              <a:ext cx="1828800"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识别业务分支和边界</a:t>
              </a:r>
              <a:endParaRPr lang="zh-CN" sz="1600" dirty="0">
                <a:solidFill>
                  <a:srgbClr val="546E7A"/>
                </a:solidFill>
                <a:latin typeface="Segoe UI" panose="020B0502040204020203"/>
                <a:ea typeface="微软雅黑"/>
                <a:cs typeface="Segoe UI" panose="020B0502040204020203"/>
              </a:endParaRPr>
            </a:p>
          </p:txBody>
        </p:sp>
        <p:sp>
          <p:nvSpPr>
            <p:cNvPr id="45" name="TextBox 45"/>
            <p:cNvSpPr txBox="1"/>
            <p:nvPr/>
          </p:nvSpPr>
          <p:spPr>
            <a:xfrm>
              <a:off x="8347710" y="2280285"/>
              <a:ext cx="2229485"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判断AI输出是否符合意图</a:t>
              </a:r>
              <a:endParaRPr lang="zh-CN" sz="1600" dirty="0">
                <a:solidFill>
                  <a:srgbClr val="546E7A"/>
                </a:solidFill>
                <a:latin typeface="Segoe UI" panose="020B0502040204020203"/>
                <a:ea typeface="微软雅黑"/>
                <a:cs typeface="Segoe UI" panose="020B0502040204020203"/>
              </a:endParaRPr>
            </a:p>
          </p:txBody>
        </p:sp>
        <p:sp>
          <p:nvSpPr>
            <p:cNvPr id="46" name="TextBox 46"/>
            <p:cNvSpPr txBox="1"/>
            <p:nvPr/>
          </p:nvSpPr>
          <p:spPr>
            <a:xfrm>
              <a:off x="8347710" y="2594610"/>
              <a:ext cx="2310130" cy="221211"/>
            </a:xfrm>
            <a:prstGeom prst="rect">
              <a:avLst/>
            </a:prstGeom>
            <a:noFill/>
            <a:ln>
              <a:noFill/>
            </a:ln>
          </p:spPr>
          <p:txBody>
            <a:bodyPr wrap="squar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逻辑严谨性 &gt; 技术熟练度</a:t>
              </a:r>
              <a:endParaRPr lang="zh-CN" sz="1600" b="1" dirty="0">
                <a:solidFill>
                  <a:srgbClr val="FF6F00"/>
                </a:solidFill>
                <a:latin typeface="Segoe UI" panose="020B0502040204020203"/>
                <a:ea typeface="微软雅黑"/>
                <a:cs typeface="Segoe UI" panose="020B0502040204020203"/>
              </a:endParaRPr>
            </a:p>
          </p:txBody>
        </p:sp>
      </p:grpSp>
      <p:grpSp>
        <p:nvGrpSpPr>
          <p:cNvPr id="61" name="Group 61"/>
          <p:cNvGrpSpPr/>
          <p:nvPr/>
        </p:nvGrpSpPr>
        <p:grpSpPr>
          <a:xfrm>
            <a:off x="571500" y="3619500"/>
            <a:ext cx="11049000" cy="1714500"/>
            <a:chOff x="571500" y="3238500"/>
            <a:chExt cx="11049000" cy="1714500"/>
          </a:xfrm>
        </p:grpSpPr>
        <p:sp>
          <p:nvSpPr>
            <p:cNvPr id="48" name="Rectangle 48"/>
            <p:cNvSpPr/>
            <p:nvPr/>
          </p:nvSpPr>
          <p:spPr>
            <a:xfrm>
              <a:off x="571500" y="3238500"/>
              <a:ext cx="11049000" cy="1714500"/>
            </a:xfrm>
            <a:prstGeom prst="roundRect">
              <a:avLst>
                <a:gd name="adj" fmla="val 6667"/>
              </a:avLst>
            </a:prstGeom>
            <a:solidFill>
              <a:srgbClr val="FFFFFF"/>
            </a:solidFill>
            <a:ln>
              <a:noFill/>
            </a:ln>
          </p:spPr>
        </p:sp>
        <p:sp>
          <p:nvSpPr>
            <p:cNvPr id="49" name="Rectangle 49"/>
            <p:cNvSpPr/>
            <p:nvPr/>
          </p:nvSpPr>
          <p:spPr>
            <a:xfrm>
              <a:off x="571500" y="3238500"/>
              <a:ext cx="11049000" cy="38100"/>
            </a:xfrm>
            <a:prstGeom prst="roundRect">
              <a:avLst>
                <a:gd name="adj" fmla="val 50000"/>
              </a:avLst>
            </a:prstGeom>
            <a:solidFill>
              <a:srgbClr val="FF6F00"/>
            </a:solidFill>
            <a:ln>
              <a:noFill/>
            </a:ln>
          </p:spPr>
        </p:sp>
        <p:sp>
          <p:nvSpPr>
            <p:cNvPr id="50" name="TextBox 50"/>
            <p:cNvSpPr txBox="1"/>
            <p:nvPr/>
          </p:nvSpPr>
          <p:spPr>
            <a:xfrm>
              <a:off x="4058921" y="3441382"/>
              <a:ext cx="4074160" cy="307340"/>
            </a:xfrm>
            <a:prstGeom prst="rect">
              <a:avLst/>
            </a:prstGeom>
            <a:noFill/>
            <a:ln>
              <a:noFill/>
            </a:ln>
          </p:spPr>
          <p:txBody>
            <a:bodyPr wrap="none" lIns="0" tIns="0" rIns="0" bIns="0" anchor="t" anchorCtr="0">
              <a:spAutoFit/>
            </a:bodyPr>
            <a:lstStyle/>
            <a:p>
              <a:pPr algn="ctr"/>
              <a:r>
                <a:rPr lang="zh-CN" sz="2000" b="1" dirty="0">
                  <a:solidFill>
                    <a:srgbClr val="1565C0"/>
                  </a:solidFill>
                  <a:latin typeface="Segoe UI" panose="020B0502040204020203"/>
                  <a:ea typeface="微软雅黑"/>
                  <a:cs typeface="Segoe UI" panose="020B0502040204020203"/>
                </a:rPr>
                <a:t>感悟全景：从操作者到指挥官的跃迁</a:t>
              </a:r>
              <a:endParaRPr lang="zh-CN" sz="2000" b="1" dirty="0">
                <a:solidFill>
                  <a:srgbClr val="1565C0"/>
                </a:solidFill>
                <a:latin typeface="Segoe UI" panose="020B0502040204020203"/>
                <a:ea typeface="微软雅黑"/>
                <a:cs typeface="Segoe UI" panose="020B0502040204020203"/>
              </a:endParaRPr>
            </a:p>
          </p:txBody>
        </p:sp>
        <p:sp>
          <p:nvSpPr>
            <p:cNvPr id="51" name="Rectangle 51"/>
            <p:cNvSpPr/>
            <p:nvPr/>
          </p:nvSpPr>
          <p:spPr>
            <a:xfrm>
              <a:off x="952500" y="3857625"/>
              <a:ext cx="2667000" cy="400050"/>
            </a:xfrm>
            <a:prstGeom prst="roundRect">
              <a:avLst>
                <a:gd name="adj" fmla="val 19048"/>
              </a:avLst>
            </a:prstGeom>
            <a:solidFill>
              <a:srgbClr val="1565C0">
                <a:alpha val="8000"/>
              </a:srgbClr>
            </a:solidFill>
            <a:ln>
              <a:noFill/>
            </a:ln>
          </p:spPr>
        </p:sp>
        <p:sp>
          <p:nvSpPr>
            <p:cNvPr id="52" name="TextBox 52"/>
            <p:cNvSpPr txBox="1"/>
            <p:nvPr/>
          </p:nvSpPr>
          <p:spPr>
            <a:xfrm>
              <a:off x="1878332" y="3985260"/>
              <a:ext cx="815340" cy="245745"/>
            </a:xfrm>
            <a:prstGeom prst="rect">
              <a:avLst/>
            </a:prstGeom>
            <a:noFill/>
            <a:ln>
              <a:noFill/>
            </a:ln>
          </p:spPr>
          <p:txBody>
            <a:bodyPr wrap="none" lIns="0" tIns="0" rIns="0" bIns="0" anchor="t" anchorCtr="0">
              <a:spAutoFit/>
            </a:bodyPr>
            <a:lstStyle/>
            <a:p>
              <a:pPr algn="ctr"/>
              <a:r>
                <a:rPr lang="zh-CN" sz="1600" b="1" dirty="0">
                  <a:solidFill>
                    <a:srgbClr val="1565C0"/>
                  </a:solidFill>
                  <a:latin typeface="Segoe UI" panose="020B0502040204020203"/>
                  <a:ea typeface="微软雅黑"/>
                  <a:cs typeface="Segoe UI" panose="020B0502040204020203"/>
                </a:rPr>
                <a:t>认知重塑</a:t>
              </a:r>
              <a:endParaRPr lang="zh-CN" sz="1600" b="1" dirty="0">
                <a:solidFill>
                  <a:srgbClr val="1565C0"/>
                </a:solidFill>
                <a:latin typeface="Segoe UI" panose="020B0502040204020203"/>
                <a:ea typeface="微软雅黑"/>
                <a:cs typeface="Segoe UI" panose="020B0502040204020203"/>
              </a:endParaRPr>
            </a:p>
          </p:txBody>
        </p:sp>
        <p:sp>
          <p:nvSpPr>
            <p:cNvPr id="53" name="TextBox 53"/>
            <p:cNvSpPr txBox="1"/>
            <p:nvPr/>
          </p:nvSpPr>
          <p:spPr>
            <a:xfrm>
              <a:off x="3983355" y="3969068"/>
              <a:ext cx="203200" cy="245745"/>
            </a:xfrm>
            <a:prstGeom prst="rect">
              <a:avLst/>
            </a:prstGeom>
            <a:noFill/>
            <a:ln>
              <a:noFill/>
            </a:ln>
          </p:spPr>
          <p:txBody>
            <a:bodyPr wrap="none" lIns="0" tIns="0" rIns="0" bIns="0" anchor="t" anchorCtr="0">
              <a:spAutoFit/>
            </a:bodyPr>
            <a:lstStyle/>
            <a:p>
              <a:pPr algn="l"/>
              <a:r>
                <a:rPr lang="zh-CN" sz="1600" dirty="0">
                  <a:solidFill>
                    <a:srgbClr val="90A4AE"/>
                  </a:solidFill>
                  <a:latin typeface="Segoe UI" panose="020B0502040204020203"/>
                  <a:ea typeface="微软雅黑"/>
                  <a:cs typeface="Segoe UI" panose="020B0502040204020203"/>
                </a:rPr>
                <a:t>→</a:t>
              </a:r>
              <a:endParaRPr lang="zh-CN" sz="1600" dirty="0">
                <a:solidFill>
                  <a:srgbClr val="90A4AE"/>
                </a:solidFill>
                <a:latin typeface="Segoe UI" panose="020B0502040204020203"/>
                <a:ea typeface="微软雅黑"/>
                <a:cs typeface="Segoe UI" panose="020B0502040204020203"/>
              </a:endParaRPr>
            </a:p>
          </p:txBody>
        </p:sp>
        <p:sp>
          <p:nvSpPr>
            <p:cNvPr id="54" name="Rectangle 54"/>
            <p:cNvSpPr/>
            <p:nvPr/>
          </p:nvSpPr>
          <p:spPr>
            <a:xfrm>
              <a:off x="4191000" y="3857625"/>
              <a:ext cx="2667000" cy="400050"/>
            </a:xfrm>
            <a:prstGeom prst="roundRect">
              <a:avLst>
                <a:gd name="adj" fmla="val 19048"/>
              </a:avLst>
            </a:prstGeom>
            <a:solidFill>
              <a:srgbClr val="00838F">
                <a:alpha val="8000"/>
              </a:srgbClr>
            </a:solidFill>
            <a:ln>
              <a:noFill/>
            </a:ln>
          </p:spPr>
        </p:sp>
        <p:sp>
          <p:nvSpPr>
            <p:cNvPr id="55" name="TextBox 55"/>
            <p:cNvSpPr txBox="1"/>
            <p:nvPr/>
          </p:nvSpPr>
          <p:spPr>
            <a:xfrm>
              <a:off x="5116832" y="3985260"/>
              <a:ext cx="815340" cy="245745"/>
            </a:xfrm>
            <a:prstGeom prst="rect">
              <a:avLst/>
            </a:prstGeom>
            <a:noFill/>
            <a:ln>
              <a:noFill/>
            </a:ln>
          </p:spPr>
          <p:txBody>
            <a:bodyPr wrap="none" lIns="0" tIns="0" rIns="0" bIns="0" anchor="t" anchorCtr="0">
              <a:spAutoFit/>
            </a:bodyPr>
            <a:lstStyle/>
            <a:p>
              <a:pPr algn="ctr"/>
              <a:r>
                <a:rPr lang="zh-CN" sz="1600" b="1" dirty="0">
                  <a:solidFill>
                    <a:srgbClr val="00838F"/>
                  </a:solidFill>
                  <a:latin typeface="Segoe UI" panose="020B0502040204020203"/>
                  <a:ea typeface="微软雅黑"/>
                  <a:cs typeface="Segoe UI" panose="020B0502040204020203"/>
                </a:rPr>
                <a:t>质量前移</a:t>
              </a:r>
              <a:endParaRPr lang="zh-CN" sz="1600" b="1" dirty="0">
                <a:solidFill>
                  <a:srgbClr val="00838F"/>
                </a:solidFill>
                <a:latin typeface="Segoe UI" panose="020B0502040204020203"/>
                <a:ea typeface="微软雅黑"/>
                <a:cs typeface="Segoe UI" panose="020B0502040204020203"/>
              </a:endParaRPr>
            </a:p>
          </p:txBody>
        </p:sp>
        <p:sp>
          <p:nvSpPr>
            <p:cNvPr id="56" name="TextBox 56"/>
            <p:cNvSpPr txBox="1"/>
            <p:nvPr/>
          </p:nvSpPr>
          <p:spPr>
            <a:xfrm>
              <a:off x="7221855" y="3969068"/>
              <a:ext cx="203200" cy="245745"/>
            </a:xfrm>
            <a:prstGeom prst="rect">
              <a:avLst/>
            </a:prstGeom>
            <a:noFill/>
            <a:ln>
              <a:noFill/>
            </a:ln>
          </p:spPr>
          <p:txBody>
            <a:bodyPr wrap="none" lIns="0" tIns="0" rIns="0" bIns="0" anchor="t" anchorCtr="0">
              <a:spAutoFit/>
            </a:bodyPr>
            <a:lstStyle/>
            <a:p>
              <a:pPr algn="l"/>
              <a:r>
                <a:rPr lang="zh-CN" sz="1600" dirty="0">
                  <a:solidFill>
                    <a:srgbClr val="90A4AE"/>
                  </a:solidFill>
                  <a:latin typeface="Segoe UI" panose="020B0502040204020203"/>
                  <a:ea typeface="微软雅黑"/>
                  <a:cs typeface="Segoe UI" panose="020B0502040204020203"/>
                </a:rPr>
                <a:t>→</a:t>
              </a:r>
              <a:endParaRPr lang="zh-CN" sz="1600" dirty="0">
                <a:solidFill>
                  <a:srgbClr val="90A4AE"/>
                </a:solidFill>
                <a:latin typeface="Segoe UI" panose="020B0502040204020203"/>
                <a:ea typeface="微软雅黑"/>
                <a:cs typeface="Segoe UI" panose="020B0502040204020203"/>
              </a:endParaRPr>
            </a:p>
          </p:txBody>
        </p:sp>
        <p:sp>
          <p:nvSpPr>
            <p:cNvPr id="57" name="Rectangle 57"/>
            <p:cNvSpPr/>
            <p:nvPr/>
          </p:nvSpPr>
          <p:spPr>
            <a:xfrm>
              <a:off x="7429500" y="3857625"/>
              <a:ext cx="2667000" cy="400050"/>
            </a:xfrm>
            <a:prstGeom prst="roundRect">
              <a:avLst>
                <a:gd name="adj" fmla="val 19048"/>
              </a:avLst>
            </a:prstGeom>
            <a:solidFill>
              <a:srgbClr val="2E7D32">
                <a:alpha val="8000"/>
              </a:srgbClr>
            </a:solidFill>
            <a:ln>
              <a:noFill/>
            </a:ln>
          </p:spPr>
        </p:sp>
        <p:sp>
          <p:nvSpPr>
            <p:cNvPr id="58" name="TextBox 58"/>
            <p:cNvSpPr txBox="1"/>
            <p:nvPr/>
          </p:nvSpPr>
          <p:spPr>
            <a:xfrm>
              <a:off x="8355332" y="3985260"/>
              <a:ext cx="815340" cy="245745"/>
            </a:xfrm>
            <a:prstGeom prst="rect">
              <a:avLst/>
            </a:prstGeom>
            <a:noFill/>
            <a:ln>
              <a:noFill/>
            </a:ln>
          </p:spPr>
          <p:txBody>
            <a:bodyPr wrap="none" lIns="0" tIns="0" rIns="0" bIns="0" anchor="t" anchorCtr="0">
              <a:spAutoFit/>
            </a:bodyPr>
            <a:lstStyle/>
            <a:p>
              <a:pPr algn="ctr"/>
              <a:r>
                <a:rPr lang="zh-CN" sz="1600" b="1" dirty="0">
                  <a:solidFill>
                    <a:srgbClr val="2E7D32"/>
                  </a:solidFill>
                  <a:latin typeface="Segoe UI" panose="020B0502040204020203"/>
                  <a:ea typeface="微软雅黑"/>
                  <a:cs typeface="Segoe UI" panose="020B0502040204020203"/>
                </a:rPr>
                <a:t>能力进化</a:t>
              </a:r>
              <a:endParaRPr lang="zh-CN" sz="1600" b="1" dirty="0">
                <a:solidFill>
                  <a:srgbClr val="2E7D32"/>
                </a:solidFill>
                <a:latin typeface="Segoe UI" panose="020B0502040204020203"/>
                <a:ea typeface="微软雅黑"/>
                <a:cs typeface="Segoe UI" panose="020B0502040204020203"/>
              </a:endParaRPr>
            </a:p>
          </p:txBody>
        </p:sp>
        <p:sp>
          <p:nvSpPr>
            <p:cNvPr id="59" name="TextBox 59"/>
            <p:cNvSpPr txBox="1"/>
            <p:nvPr/>
          </p:nvSpPr>
          <p:spPr>
            <a:xfrm>
              <a:off x="3894772" y="4442460"/>
              <a:ext cx="4402455" cy="245745"/>
            </a:xfrm>
            <a:prstGeom prst="rect">
              <a:avLst/>
            </a:prstGeom>
            <a:noFill/>
            <a:ln>
              <a:noFill/>
            </a:ln>
          </p:spPr>
          <p:txBody>
            <a:bodyPr wrap="none" lIns="0" tIns="0" rIns="0" bIns="0" anchor="t" anchorCtr="0">
              <a:spAutoFit/>
            </a:bodyPr>
            <a:lstStyle/>
            <a:p>
              <a:pPr algn="ctr"/>
              <a:r>
                <a:rPr lang="zh-CN" sz="1600" dirty="0">
                  <a:solidFill>
                    <a:srgbClr val="546E7A"/>
                  </a:solidFill>
                  <a:latin typeface="Segoe UI" panose="020B0502040204020203"/>
                  <a:ea typeface="微软雅黑"/>
                  <a:cs typeface="Segoe UI" panose="020B0502040204020203"/>
                </a:rPr>
                <a:t>人的价值从"操作能力"转向"定义能力+判断能力"</a:t>
              </a:r>
              <a:endParaRPr lang="zh-CN" sz="1600" dirty="0">
                <a:solidFill>
                  <a:srgbClr val="546E7A"/>
                </a:solidFill>
                <a:latin typeface="Segoe UI" panose="020B0502040204020203"/>
                <a:ea typeface="微软雅黑"/>
                <a:cs typeface="Segoe UI" panose="020B0502040204020203"/>
              </a:endParaRPr>
            </a:p>
          </p:txBody>
        </p:sp>
        <p:sp>
          <p:nvSpPr>
            <p:cNvPr id="60" name="TextBox 60"/>
            <p:cNvSpPr txBox="1"/>
            <p:nvPr/>
          </p:nvSpPr>
          <p:spPr>
            <a:xfrm>
              <a:off x="3863658" y="4690110"/>
              <a:ext cx="4464685" cy="245745"/>
            </a:xfrm>
            <a:prstGeom prst="rect">
              <a:avLst/>
            </a:prstGeom>
            <a:noFill/>
            <a:ln>
              <a:noFill/>
            </a:ln>
          </p:spPr>
          <p:txBody>
            <a:bodyPr wrap="none" lIns="0" tIns="0" rIns="0" bIns="0" anchor="t" anchorCtr="0">
              <a:spAutoFit/>
            </a:bodyPr>
            <a:lstStyle/>
            <a:p>
              <a:pPr algn="ctr"/>
              <a:r>
                <a:rPr lang="zh-CN" sz="1600" dirty="0">
                  <a:solidFill>
                    <a:srgbClr val="546E7A"/>
                  </a:solidFill>
                  <a:latin typeface="Segoe UI" panose="020B0502040204020203"/>
                  <a:ea typeface="微软雅黑"/>
                  <a:cs typeface="Segoe UI" panose="020B0502040204020203"/>
                </a:rPr>
                <a:t>AI的"傻子"特性，恰恰强迫人成为更严谨的思考者</a:t>
              </a:r>
              <a:endParaRPr lang="zh-CN" sz="1600" dirty="0">
                <a:solidFill>
                  <a:srgbClr val="546E7A"/>
                </a:solidFill>
                <a:latin typeface="Segoe UI" panose="020B0502040204020203"/>
                <a:ea typeface="微软雅黑"/>
                <a:cs typeface="Segoe UI" panose="020B0502040204020203"/>
              </a:endParaRPr>
            </a:p>
          </p:txBody>
        </p:sp>
      </p:grpSp>
      <p:grpSp>
        <p:nvGrpSpPr>
          <p:cNvPr id="67" name="Group 67"/>
          <p:cNvGrpSpPr/>
          <p:nvPr/>
        </p:nvGrpSpPr>
        <p:grpSpPr>
          <a:xfrm>
            <a:off x="571500" y="5572125"/>
            <a:ext cx="11049000" cy="523875"/>
            <a:chOff x="571500" y="5191125"/>
            <a:chExt cx="11049000" cy="523875"/>
          </a:xfrm>
        </p:grpSpPr>
        <p:sp>
          <p:nvSpPr>
            <p:cNvPr id="62" name="Rectangle 62"/>
            <p:cNvSpPr/>
            <p:nvPr/>
          </p:nvSpPr>
          <p:spPr>
            <a:xfrm>
              <a:off x="571500" y="5191125"/>
              <a:ext cx="11049000" cy="523875"/>
            </a:xfrm>
            <a:prstGeom prst="roundRect">
              <a:avLst>
                <a:gd name="adj" fmla="val 14545"/>
              </a:avLst>
            </a:prstGeom>
            <a:solidFill>
              <a:srgbClr val="1565C0">
                <a:alpha val="6000"/>
              </a:srgbClr>
            </a:solidFill>
            <a:ln>
              <a:noFill/>
            </a:ln>
          </p:spPr>
        </p:sp>
        <p:sp>
          <p:nvSpPr>
            <p:cNvPr id="66" name="TextBox 66"/>
            <p:cNvSpPr txBox="1"/>
            <p:nvPr/>
          </p:nvSpPr>
          <p:spPr>
            <a:xfrm>
              <a:off x="3247390" y="5378768"/>
              <a:ext cx="5697220" cy="245745"/>
            </a:xfrm>
            <a:prstGeom prst="rect">
              <a:avLst/>
            </a:prstGeom>
            <a:noFill/>
            <a:ln>
              <a:noFill/>
            </a:ln>
          </p:spPr>
          <p:txBody>
            <a:bodyPr wrap="none" lIns="0" tIns="0" rIns="0" bIns="0" anchor="t" anchorCtr="0">
              <a:spAutoFit/>
            </a:bodyPr>
            <a:lstStyle/>
            <a:p>
              <a:pPr algn="ctr"/>
              <a:r>
                <a:rPr lang="zh-CN" sz="1600" b="1" dirty="0">
                  <a:solidFill>
                    <a:srgbClr val="1565C0"/>
                  </a:solidFill>
                  <a:latin typeface="Segoe UI" panose="020B0502040204020203"/>
                  <a:ea typeface="微软雅黑"/>
                  <a:cs typeface="Segoe UI" panose="020B0502040204020203"/>
                </a:rPr>
                <a:t>我们不是因为AI而放弃思考，而是因为AI而必须更深刻地思考。</a:t>
              </a:r>
              <a:endParaRPr lang="zh-CN" sz="1600" b="1" dirty="0">
                <a:solidFill>
                  <a:srgbClr val="1565C0"/>
                </a:solidFill>
                <a:latin typeface="Segoe UI" panose="020B0502040204020203"/>
                <a:ea typeface="微软雅黑"/>
                <a:cs typeface="Segoe UI" panose="020B0502040204020203"/>
              </a:endParaRPr>
            </a:p>
          </p:txBody>
        </p:sp>
      </p:grpSp>
      <p:sp>
        <p:nvSpPr>
          <p:cNvPr id="68" name="TextBox 68"/>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04</a:t>
            </a:r>
            <a:endParaRPr lang="zh-CN" sz="1125" dirty="0">
              <a:solidFill>
                <a:srgbClr val="90A4AE"/>
              </a:solidFill>
              <a:latin typeface="Segoe UI" panose="020B0502040204020203"/>
              <a:ea typeface="微软雅黑"/>
              <a:cs typeface="Segoe UI" panose="020B0502040204020203"/>
            </a:endParaRPr>
          </a:p>
        </p:txBody>
      </p:sp>
      <p:pic>
        <p:nvPicPr>
          <p:cNvPr id="69" name="图片 68"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slide(fromBottom)">
                                      <p:cBhvr>
                                        <p:cTn id="11" dur="400"/>
                                        <p:tgtEl>
                                          <p:spTgt spid="35"/>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Bottom)">
                                      <p:cBhvr>
                                        <p:cTn id="15" dur="400"/>
                                        <p:tgtEl>
                                          <p:spTgt spid="47"/>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image">
                                      <p:cBhvr>
                                        <p:cTn id="19" dur="400"/>
                                        <p:tgtEl>
                                          <p:spTgt spid="6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5" grpId="0"/>
      <p:bldP spid="47" grpId="0"/>
      <p:bldP spid="61" grpId="0"/>
      <p:bldP spid="6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58" name="Group 58"/>
          <p:cNvGrpSpPr/>
          <p:nvPr/>
        </p:nvGrpSpPr>
        <p:grpSpPr>
          <a:xfrm>
            <a:off x="571500" y="904875"/>
            <a:ext cx="11049000" cy="5000625"/>
            <a:chOff x="571500" y="904875"/>
            <a:chExt cx="11049000" cy="5000625"/>
          </a:xfrm>
        </p:grpSpPr>
        <p:sp>
          <p:nvSpPr>
            <p:cNvPr id="10" name="Rectangle 10"/>
            <p:cNvSpPr/>
            <p:nvPr/>
          </p:nvSpPr>
          <p:spPr>
            <a:xfrm>
              <a:off x="571500" y="904875"/>
              <a:ext cx="5334000" cy="2381250"/>
            </a:xfrm>
            <a:prstGeom prst="roundRect">
              <a:avLst>
                <a:gd name="adj" fmla="val 4800"/>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Rectangle 12"/>
            <p:cNvSpPr/>
            <p:nvPr/>
          </p:nvSpPr>
          <p:spPr>
            <a:xfrm>
              <a:off x="857250" y="1143000"/>
              <a:ext cx="457200" cy="457200"/>
            </a:xfrm>
            <a:prstGeom prst="roundRect">
              <a:avLst>
                <a:gd name="adj" fmla="val 20833"/>
              </a:avLst>
            </a:prstGeom>
            <a:solidFill>
              <a:srgbClr val="1565C0">
                <a:alpha val="10000"/>
              </a:srgbClr>
            </a:solidFill>
            <a:ln>
              <a:noFill/>
            </a:ln>
          </p:spPr>
        </p:sp>
        <p:sp>
          <p:nvSpPr>
            <p:cNvPr id="13" name="TextBox 13"/>
            <p:cNvSpPr txBox="1"/>
            <p:nvPr/>
          </p:nvSpPr>
          <p:spPr>
            <a:xfrm>
              <a:off x="921877" y="1269682"/>
              <a:ext cx="327946" cy="335280"/>
            </a:xfrm>
            <a:prstGeom prst="rect">
              <a:avLst/>
            </a:prstGeom>
            <a:noFill/>
            <a:ln>
              <a:noFill/>
            </a:ln>
          </p:spPr>
          <p:txBody>
            <a:bodyPr wrap="none" lIns="0" tIns="0" rIns="0" bIns="0" anchor="t" anchorCtr="0">
              <a:spAutoFit/>
            </a:bodyPr>
            <a:lstStyle/>
            <a:p>
              <a:pPr algn="ctr"/>
              <a:r>
                <a:rPr lang="zh-CN" sz="1650" dirty="0">
                  <a:solidFill>
                    <a:srgbClr val="1565C0"/>
                  </a:solidFill>
                  <a:latin typeface="Segoe UI" panose="020B0502040204020203"/>
                  <a:ea typeface="微软雅黑" panose="020B0503020204020204" charset="-122"/>
                  <a:cs typeface="Segoe UI" panose="020B0502040204020203"/>
                </a:rPr>
                <a:t>Q1</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455420" y="129825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角色转变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857250" y="1714500"/>
              <a:ext cx="4762500" cy="9525"/>
            </a:xfrm>
            <a:prstGeom prst="rect">
              <a:avLst/>
            </a:prstGeom>
            <a:solidFill>
              <a:srgbClr val="CFD8DC">
                <a:alpha val="50000"/>
              </a:srgbClr>
            </a:solidFill>
            <a:ln>
              <a:noFill/>
            </a:ln>
          </p:spPr>
        </p:sp>
        <p:sp>
          <p:nvSpPr>
            <p:cNvPr id="16" name="TextBox 16"/>
            <p:cNvSpPr txBox="1"/>
            <p:nvPr/>
          </p:nvSpPr>
          <p:spPr>
            <a:xfrm>
              <a:off x="842010" y="191833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175385" y="1918335"/>
              <a:ext cx="6858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"程序员"</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842010" y="220408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1175385" y="2204085"/>
              <a:ext cx="844550"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"AI编排师"</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42010" y="2632710"/>
              <a:ext cx="480060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不再亲自执行每个技术步骤，而是定义目标、约束与验收标准</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42010" y="2870835"/>
              <a:ext cx="211455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将AI编排为可复用的工作流</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6286500" y="904875"/>
              <a:ext cx="5334000" cy="2381250"/>
            </a:xfrm>
            <a:prstGeom prst="roundRect">
              <a:avLst>
                <a:gd name="adj" fmla="val 4800"/>
              </a:avLst>
            </a:prstGeom>
            <a:solidFill>
              <a:srgbClr val="FFFFFF"/>
            </a:solidFill>
            <a:ln>
              <a:noFill/>
            </a:ln>
          </p:spPr>
        </p:sp>
        <p:sp>
          <p:nvSpPr>
            <p:cNvPr id="23" name="Rectangle 23"/>
            <p:cNvSpPr/>
            <p:nvPr/>
          </p:nvSpPr>
          <p:spPr>
            <a:xfrm>
              <a:off x="6286500" y="904875"/>
              <a:ext cx="5334000" cy="38100"/>
            </a:xfrm>
            <a:prstGeom prst="roundRect">
              <a:avLst>
                <a:gd name="adj" fmla="val 50000"/>
              </a:avLst>
            </a:prstGeom>
            <a:solidFill>
              <a:srgbClr val="FF6F00"/>
            </a:solidFill>
            <a:ln>
              <a:noFill/>
            </a:ln>
          </p:spPr>
        </p:sp>
        <p:sp>
          <p:nvSpPr>
            <p:cNvPr id="24" name="Rectangle 24"/>
            <p:cNvSpPr/>
            <p:nvPr/>
          </p:nvSpPr>
          <p:spPr>
            <a:xfrm>
              <a:off x="6572250" y="1143000"/>
              <a:ext cx="457200" cy="457200"/>
            </a:xfrm>
            <a:prstGeom prst="roundRect">
              <a:avLst>
                <a:gd name="adj" fmla="val 20833"/>
              </a:avLst>
            </a:prstGeom>
            <a:solidFill>
              <a:srgbClr val="FF6F00">
                <a:alpha val="10000"/>
              </a:srgbClr>
            </a:solidFill>
            <a:ln>
              <a:noFill/>
            </a:ln>
          </p:spPr>
        </p:sp>
        <p:sp>
          <p:nvSpPr>
            <p:cNvPr id="25" name="TextBox 25"/>
            <p:cNvSpPr txBox="1"/>
            <p:nvPr/>
          </p:nvSpPr>
          <p:spPr>
            <a:xfrm>
              <a:off x="6636877" y="1269682"/>
              <a:ext cx="327946" cy="335280"/>
            </a:xfrm>
            <a:prstGeom prst="rect">
              <a:avLst/>
            </a:prstGeom>
            <a:noFill/>
            <a:ln>
              <a:noFill/>
            </a:ln>
          </p:spPr>
          <p:txBody>
            <a:bodyPr wrap="none" lIns="0" tIns="0" rIns="0" bIns="0" anchor="t" anchorCtr="0">
              <a:spAutoFit/>
            </a:bodyPr>
            <a:lstStyle/>
            <a:p>
              <a:pPr algn="ctr"/>
              <a:r>
                <a:rPr lang="zh-CN" sz="1650" dirty="0">
                  <a:solidFill>
                    <a:srgbClr val="FF6F00"/>
                  </a:solidFill>
                  <a:latin typeface="Segoe UI" panose="020B0502040204020203"/>
                  <a:ea typeface="微软雅黑" panose="020B0503020204020204" charset="-122"/>
                  <a:cs typeface="Segoe UI" panose="020B0502040204020203"/>
                </a:rPr>
                <a:t>Q2</a:t>
              </a:r>
              <a:endParaRPr lang="zh-CN" sz="1650" dirty="0">
                <a:solidFill>
                  <a:srgbClr val="FF6F00"/>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170420" y="129825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能力转变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6572250" y="1714500"/>
              <a:ext cx="4762500" cy="9525"/>
            </a:xfrm>
            <a:prstGeom prst="rect">
              <a:avLst/>
            </a:prstGeom>
            <a:solidFill>
              <a:srgbClr val="CFD8DC">
                <a:alpha val="50000"/>
              </a:srgbClr>
            </a:solidFill>
            <a:ln>
              <a:noFill/>
            </a:ln>
          </p:spPr>
        </p:sp>
        <p:sp>
          <p:nvSpPr>
            <p:cNvPr id="28" name="TextBox 28"/>
            <p:cNvSpPr txBox="1"/>
            <p:nvPr/>
          </p:nvSpPr>
          <p:spPr>
            <a:xfrm>
              <a:off x="6557010" y="191833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6890385" y="1918335"/>
              <a:ext cx="8636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"技术深度"</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557010" y="220408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890385" y="2204085"/>
              <a:ext cx="1682115"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"业务抽象+逻辑严谨"</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6557010" y="2632710"/>
              <a:ext cx="493395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AI倒逼人必须想清楚"做什么"，模糊的输入只会得到模糊的输出</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557010" y="2870835"/>
              <a:ext cx="266700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业务抽象能力取代了语法记忆能力</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3524250"/>
              <a:ext cx="5334000" cy="2381250"/>
            </a:xfrm>
            <a:prstGeom prst="roundRect">
              <a:avLst>
                <a:gd name="adj" fmla="val 4800"/>
              </a:avLst>
            </a:prstGeom>
            <a:solidFill>
              <a:srgbClr val="FFFFFF"/>
            </a:solidFill>
            <a:ln>
              <a:noFill/>
            </a:ln>
          </p:spPr>
        </p:sp>
        <p:sp>
          <p:nvSpPr>
            <p:cNvPr id="35" name="Rectangle 35"/>
            <p:cNvSpPr/>
            <p:nvPr/>
          </p:nvSpPr>
          <p:spPr>
            <a:xfrm>
              <a:off x="571500" y="3524250"/>
              <a:ext cx="5334000" cy="38100"/>
            </a:xfrm>
            <a:prstGeom prst="roundRect">
              <a:avLst>
                <a:gd name="adj" fmla="val 50000"/>
              </a:avLst>
            </a:prstGeom>
            <a:solidFill>
              <a:srgbClr val="00838F"/>
            </a:solidFill>
            <a:ln>
              <a:noFill/>
            </a:ln>
          </p:spPr>
        </p:sp>
        <p:sp>
          <p:nvSpPr>
            <p:cNvPr id="36" name="Rectangle 36"/>
            <p:cNvSpPr/>
            <p:nvPr/>
          </p:nvSpPr>
          <p:spPr>
            <a:xfrm>
              <a:off x="857250" y="3762375"/>
              <a:ext cx="457200" cy="457200"/>
            </a:xfrm>
            <a:prstGeom prst="roundRect">
              <a:avLst>
                <a:gd name="adj" fmla="val 20833"/>
              </a:avLst>
            </a:prstGeom>
            <a:solidFill>
              <a:srgbClr val="00838F">
                <a:alpha val="10000"/>
              </a:srgbClr>
            </a:solidFill>
            <a:ln>
              <a:noFill/>
            </a:ln>
          </p:spPr>
        </p:sp>
        <p:sp>
          <p:nvSpPr>
            <p:cNvPr id="37" name="TextBox 37"/>
            <p:cNvSpPr txBox="1"/>
            <p:nvPr/>
          </p:nvSpPr>
          <p:spPr>
            <a:xfrm>
              <a:off x="921877" y="3889058"/>
              <a:ext cx="327946" cy="335280"/>
            </a:xfrm>
            <a:prstGeom prst="rect">
              <a:avLst/>
            </a:prstGeom>
            <a:noFill/>
            <a:ln>
              <a:noFill/>
            </a:ln>
          </p:spPr>
          <p:txBody>
            <a:bodyPr wrap="none" lIns="0" tIns="0" rIns="0" bIns="0" anchor="t" anchorCtr="0">
              <a:spAutoFit/>
            </a:bodyPr>
            <a:lstStyle/>
            <a:p>
              <a:pPr algn="ctr"/>
              <a:r>
                <a:rPr lang="zh-CN" sz="1650" dirty="0">
                  <a:solidFill>
                    <a:srgbClr val="00838F"/>
                  </a:solidFill>
                  <a:latin typeface="Segoe UI" panose="020B0502040204020203"/>
                  <a:ea typeface="微软雅黑" panose="020B0503020204020204" charset="-122"/>
                  <a:cs typeface="Segoe UI" panose="020B0502040204020203"/>
                </a:rPr>
                <a:t>Q3</a:t>
              </a:r>
              <a:endParaRPr lang="zh-CN" sz="1650" dirty="0">
                <a:solidFill>
                  <a:srgbClr val="00838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455420" y="3917632"/>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流程转变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857250" y="4333875"/>
              <a:ext cx="4762500" cy="9525"/>
            </a:xfrm>
            <a:prstGeom prst="rect">
              <a:avLst/>
            </a:prstGeom>
            <a:solidFill>
              <a:srgbClr val="CFD8DC">
                <a:alpha val="50000"/>
              </a:srgbClr>
            </a:solidFill>
            <a:ln>
              <a:noFill/>
            </a:ln>
          </p:spPr>
        </p:sp>
        <p:sp>
          <p:nvSpPr>
            <p:cNvPr id="40" name="TextBox 40"/>
            <p:cNvSpPr txBox="1"/>
            <p:nvPr/>
          </p:nvSpPr>
          <p:spPr>
            <a:xfrm>
              <a:off x="842010" y="453771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1175385" y="4537710"/>
              <a:ext cx="8636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"先写后改"</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842010" y="482346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175385" y="4823460"/>
              <a:ext cx="1397000"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"先想清楚再动手"</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842010" y="5252085"/>
              <a:ext cx="3790315"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Spec先行、设计先行——想清楚了就不用做两遍</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42010" y="5490210"/>
              <a:ext cx="231140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减少无效迭代，追求一次做对</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6286500" y="3524250"/>
              <a:ext cx="5334000" cy="2381250"/>
            </a:xfrm>
            <a:prstGeom prst="roundRect">
              <a:avLst>
                <a:gd name="adj" fmla="val 4800"/>
              </a:avLst>
            </a:prstGeom>
            <a:solidFill>
              <a:srgbClr val="FFFFFF"/>
            </a:solidFill>
            <a:ln>
              <a:noFill/>
            </a:ln>
          </p:spPr>
        </p:sp>
        <p:sp>
          <p:nvSpPr>
            <p:cNvPr id="47" name="Rectangle 47"/>
            <p:cNvSpPr/>
            <p:nvPr/>
          </p:nvSpPr>
          <p:spPr>
            <a:xfrm>
              <a:off x="6286500" y="3524250"/>
              <a:ext cx="5334000" cy="38100"/>
            </a:xfrm>
            <a:prstGeom prst="roundRect">
              <a:avLst>
                <a:gd name="adj" fmla="val 50000"/>
              </a:avLst>
            </a:prstGeom>
            <a:solidFill>
              <a:srgbClr val="2E7D32"/>
            </a:solidFill>
            <a:ln>
              <a:noFill/>
            </a:ln>
          </p:spPr>
        </p:sp>
        <p:sp>
          <p:nvSpPr>
            <p:cNvPr id="48" name="Rectangle 48"/>
            <p:cNvSpPr/>
            <p:nvPr/>
          </p:nvSpPr>
          <p:spPr>
            <a:xfrm>
              <a:off x="6572250" y="3762375"/>
              <a:ext cx="457200" cy="457200"/>
            </a:xfrm>
            <a:prstGeom prst="roundRect">
              <a:avLst>
                <a:gd name="adj" fmla="val 20833"/>
              </a:avLst>
            </a:prstGeom>
            <a:solidFill>
              <a:srgbClr val="2E7D32">
                <a:alpha val="10000"/>
              </a:srgbClr>
            </a:solidFill>
            <a:ln>
              <a:noFill/>
            </a:ln>
          </p:spPr>
        </p:sp>
        <p:sp>
          <p:nvSpPr>
            <p:cNvPr id="49" name="TextBox 49"/>
            <p:cNvSpPr txBox="1"/>
            <p:nvPr/>
          </p:nvSpPr>
          <p:spPr>
            <a:xfrm>
              <a:off x="6636877" y="3889058"/>
              <a:ext cx="327946" cy="335280"/>
            </a:xfrm>
            <a:prstGeom prst="rect">
              <a:avLst/>
            </a:prstGeom>
            <a:noFill/>
            <a:ln>
              <a:noFill/>
            </a:ln>
          </p:spPr>
          <p:txBody>
            <a:bodyPr wrap="none" lIns="0" tIns="0" rIns="0" bIns="0" anchor="t" anchorCtr="0">
              <a:spAutoFit/>
            </a:bodyPr>
            <a:lstStyle/>
            <a:p>
              <a:pPr algn="ctr"/>
              <a:r>
                <a:rPr lang="zh-CN" sz="1650" dirty="0">
                  <a:solidFill>
                    <a:srgbClr val="2E7D32"/>
                  </a:solidFill>
                  <a:latin typeface="Segoe UI" panose="020B0502040204020203"/>
                  <a:ea typeface="微软雅黑" panose="020B0503020204020204" charset="-122"/>
                  <a:cs typeface="Segoe UI" panose="020B0502040204020203"/>
                </a:rPr>
                <a:t>Q4</a:t>
              </a:r>
              <a:endParaRPr lang="zh-CN" sz="1650" dirty="0">
                <a:solidFill>
                  <a:srgbClr val="2E7D32"/>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7170420" y="3917632"/>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标准转变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6572250" y="4333875"/>
              <a:ext cx="4762500" cy="9525"/>
            </a:xfrm>
            <a:prstGeom prst="rect">
              <a:avLst/>
            </a:prstGeom>
            <a:solidFill>
              <a:srgbClr val="CFD8DC">
                <a:alpha val="50000"/>
              </a:srgbClr>
            </a:solidFill>
            <a:ln>
              <a:noFill/>
            </a:ln>
          </p:spPr>
        </p:sp>
        <p:sp>
          <p:nvSpPr>
            <p:cNvPr id="52" name="TextBox 52"/>
            <p:cNvSpPr txBox="1"/>
            <p:nvPr/>
          </p:nvSpPr>
          <p:spPr>
            <a:xfrm>
              <a:off x="6557010" y="453771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6890385" y="4537710"/>
              <a:ext cx="8636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"代码行数"</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54" name="TextBox 54"/>
            <p:cNvSpPr txBox="1"/>
            <p:nvPr/>
          </p:nvSpPr>
          <p:spPr>
            <a:xfrm>
              <a:off x="6557010" y="482346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6890385" y="4823460"/>
              <a:ext cx="1504315"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"功能点+质量指标"</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6557010" y="5252085"/>
              <a:ext cx="460375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AI让代码行数彻底失效——有价值的功能交付才是唯一尺度</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6557010" y="5490210"/>
              <a:ext cx="377063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测试覆盖率+缺陷密度+坏味道密度衡量真实质量</a:t>
              </a:r>
              <a:endParaRPr lang="zh-CN" sz="1400" dirty="0">
                <a:solidFill>
                  <a:srgbClr val="90A4AE"/>
                </a:solidFill>
                <a:latin typeface="Segoe UI" panose="020B0502040204020203"/>
                <a:ea typeface="微软雅黑" panose="020B0503020204020204" charset="-122"/>
                <a:cs typeface="Segoe UI" panose="020B0502040204020203"/>
              </a:endParaRPr>
            </a:p>
          </p:txBody>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352258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认知重塑的关键转变总结</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sp>
        <p:nvSpPr>
          <p:cNvPr id="59" name="TextBox 5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0" name="图片 5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475327"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银弹论与AI时代的新思考</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5" name="Group 15"/>
          <p:cNvGrpSpPr/>
          <p:nvPr/>
        </p:nvGrpSpPr>
        <p:grpSpPr>
          <a:xfrm>
            <a:off x="571500" y="904875"/>
            <a:ext cx="11049000" cy="1238250"/>
            <a:chOff x="571500" y="904875"/>
            <a:chExt cx="11049000" cy="1238250"/>
          </a:xfrm>
        </p:grpSpPr>
        <p:sp>
          <p:nvSpPr>
            <p:cNvPr id="10" name="Rectangle 10"/>
            <p:cNvSpPr/>
            <p:nvPr/>
          </p:nvSpPr>
          <p:spPr>
            <a:xfrm>
              <a:off x="571500" y="904875"/>
              <a:ext cx="11049000" cy="1238250"/>
            </a:xfrm>
            <a:prstGeom prst="roundRect">
              <a:avLst>
                <a:gd name="adj" fmla="val 9231"/>
              </a:avLst>
            </a:prstGeom>
            <a:solidFill>
              <a:srgbClr val="FFFFFF"/>
            </a:solidFill>
            <a:ln>
              <a:noFill/>
            </a:ln>
          </p:spPr>
        </p:sp>
        <p:sp>
          <p:nvSpPr>
            <p:cNvPr id="11" name="Rectangle 11"/>
            <p:cNvSpPr/>
            <p:nvPr/>
          </p:nvSpPr>
          <p:spPr>
            <a:xfrm>
              <a:off x="571500" y="904875"/>
              <a:ext cx="76200" cy="1238250"/>
            </a:xfrm>
            <a:prstGeom prst="roundRect">
              <a:avLst>
                <a:gd name="adj" fmla="val 50000"/>
              </a:avLst>
            </a:prstGeom>
            <a:solidFill>
              <a:srgbClr val="1565C0"/>
            </a:solidFill>
            <a:ln>
              <a:noFill/>
            </a:ln>
          </p:spPr>
        </p:sp>
        <p:sp>
          <p:nvSpPr>
            <p:cNvPr id="12" name="TextBox 12"/>
            <p:cNvSpPr txBox="1"/>
            <p:nvPr/>
          </p:nvSpPr>
          <p:spPr>
            <a:xfrm>
              <a:off x="937260" y="1156335"/>
              <a:ext cx="2134743" cy="243840"/>
            </a:xfrm>
            <a:prstGeom prst="rect">
              <a:avLst/>
            </a:prstGeom>
            <a:noFill/>
            <a:ln>
              <a:noFill/>
            </a:ln>
          </p:spPr>
          <p:txBody>
            <a:bodyPr wrap="none" lIns="0" tIns="0" rIns="0" bIns="0" anchor="t" anchorCtr="0">
              <a:spAutoFit/>
            </a:bodyPr>
            <a:lstStyle/>
            <a:p>
              <a:pPr algn="l"/>
              <a:r>
                <a:rPr lang="zh-CN" sz="1200" i="1" dirty="0">
                  <a:solidFill>
                    <a:srgbClr val="546E7A"/>
                  </a:solidFill>
                  <a:latin typeface="Segoe UI" panose="020B0502040204020203"/>
                  <a:ea typeface="微软雅黑" panose="020B0503020204020204" charset="-122"/>
                  <a:cs typeface="Segoe UI" panose="020B0502040204020203"/>
                </a:rPr>
                <a:t>Brooks, 1986 —— "没有银弹"</a:t>
              </a:r>
              <a:endParaRPr lang="zh-CN" sz="1200" i="1" dirty="0">
                <a:solidFill>
                  <a:srgbClr val="546E7A"/>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6308" y="1433989"/>
              <a:ext cx="3959876" cy="259080"/>
            </a:xfrm>
            <a:prstGeom prst="rect">
              <a:avLst/>
            </a:prstGeom>
            <a:noFill/>
            <a:ln>
              <a:noFill/>
            </a:ln>
          </p:spPr>
          <p:txBody>
            <a:bodyPr wrap="none" lIns="0" tIns="0" rIns="0" bIns="0" anchor="t" anchorCtr="0">
              <a:spAutoFit/>
            </a:bodyPr>
            <a:lstStyle/>
            <a:p>
              <a:pPr algn="l"/>
              <a:r>
                <a:rPr lang="zh-CN" sz="1275" dirty="0">
                  <a:solidFill>
                    <a:srgbClr val="263238"/>
                  </a:solidFill>
                  <a:latin typeface="Segoe UI" panose="020B0502040204020203"/>
                  <a:ea typeface="微软雅黑" panose="020B0503020204020204" charset="-122"/>
                  <a:cs typeface="Segoe UI" panose="020B0502040204020203"/>
                </a:rPr>
                <a:t>没有一种技术或管理上的进步能够独立承诺在10年内</a:t>
              </a:r>
              <a:endParaRPr lang="zh-CN" sz="1275" dirty="0">
                <a:solidFill>
                  <a:srgbClr val="26323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936308" y="1672114"/>
              <a:ext cx="3772852" cy="259080"/>
            </a:xfrm>
            <a:prstGeom prst="rect">
              <a:avLst/>
            </a:prstGeom>
            <a:noFill/>
            <a:ln>
              <a:noFill/>
            </a:ln>
          </p:spPr>
          <p:txBody>
            <a:bodyPr wrap="none" lIns="0" tIns="0" rIns="0" bIns="0" anchor="t" anchorCtr="0">
              <a:spAutoFit/>
            </a:bodyPr>
            <a:lstStyle/>
            <a:p>
              <a:pPr algn="l"/>
              <a:r>
                <a:rPr lang="zh-CN" sz="1275" dirty="0">
                  <a:solidFill>
                    <a:srgbClr val="263238"/>
                  </a:solidFill>
                  <a:latin typeface="Segoe UI" panose="020B0502040204020203"/>
                  <a:ea typeface="微软雅黑" panose="020B0503020204020204" charset="-122"/>
                  <a:cs typeface="Segoe UI" panose="020B0502040204020203"/>
                </a:rPr>
                <a:t>将软件生产率、可靠性或简洁性提高一个数量级。</a:t>
              </a:r>
              <a:endParaRPr lang="zh-CN" sz="1275" dirty="0">
                <a:solidFill>
                  <a:srgbClr val="263238"/>
                </a:solidFill>
                <a:latin typeface="Segoe UI" panose="020B0502040204020203"/>
                <a:ea typeface="微软雅黑" panose="020B0503020204020204" charset="-122"/>
                <a:cs typeface="Segoe UI" panose="020B0502040204020203"/>
              </a:endParaRPr>
            </a:p>
          </p:txBody>
        </p:sp>
      </p:grpSp>
      <p:grpSp>
        <p:nvGrpSpPr>
          <p:cNvPr id="23" name="Group 23"/>
          <p:cNvGrpSpPr/>
          <p:nvPr/>
        </p:nvGrpSpPr>
        <p:grpSpPr>
          <a:xfrm>
            <a:off x="571500" y="2381250"/>
            <a:ext cx="11049000" cy="1714500"/>
            <a:chOff x="571500" y="2381250"/>
            <a:chExt cx="11049000" cy="1714500"/>
          </a:xfrm>
        </p:grpSpPr>
        <p:sp>
          <p:nvSpPr>
            <p:cNvPr id="16" name="Rectangle 16"/>
            <p:cNvSpPr/>
            <p:nvPr/>
          </p:nvSpPr>
          <p:spPr>
            <a:xfrm>
              <a:off x="571500" y="2381250"/>
              <a:ext cx="11049000" cy="1714500"/>
            </a:xfrm>
            <a:prstGeom prst="roundRect">
              <a:avLst>
                <a:gd name="adj" fmla="val 6667"/>
              </a:avLst>
            </a:prstGeom>
            <a:solidFill>
              <a:srgbClr val="FFFFFF"/>
            </a:solidFill>
            <a:ln>
              <a:noFill/>
            </a:ln>
          </p:spPr>
        </p:sp>
        <p:sp>
          <p:nvSpPr>
            <p:cNvPr id="17" name="Rectangle 17"/>
            <p:cNvSpPr/>
            <p:nvPr/>
          </p:nvSpPr>
          <p:spPr>
            <a:xfrm>
              <a:off x="571500" y="2381250"/>
              <a:ext cx="11049000" cy="38100"/>
            </a:xfrm>
            <a:prstGeom prst="roundRect">
              <a:avLst>
                <a:gd name="adj" fmla="val 50000"/>
              </a:avLst>
            </a:prstGeom>
            <a:solidFill>
              <a:srgbClr val="FF6F00"/>
            </a:solidFill>
            <a:ln>
              <a:noFill/>
            </a:ln>
          </p:spPr>
        </p:sp>
        <p:sp>
          <p:nvSpPr>
            <p:cNvPr id="18" name="TextBox 18"/>
            <p:cNvSpPr txBox="1"/>
            <p:nvPr/>
          </p:nvSpPr>
          <p:spPr>
            <a:xfrm>
              <a:off x="5283771" y="2584132"/>
              <a:ext cx="1624458" cy="335280"/>
            </a:xfrm>
            <a:prstGeom prst="rect">
              <a:avLst/>
            </a:prstGeom>
            <a:noFill/>
            <a:ln>
              <a:noFill/>
            </a:ln>
          </p:spPr>
          <p:txBody>
            <a:bodyPr wrap="none" lIns="0" tIns="0" rIns="0" bIns="0" anchor="t" anchorCtr="0">
              <a:spAutoFit/>
            </a:bodyPr>
            <a:lstStyle/>
            <a:p>
              <a:pPr algn="ctr"/>
              <a:r>
                <a:rPr lang="zh-CN" sz="1650" b="1" dirty="0">
                  <a:solidFill>
                    <a:srgbClr val="FF6F00"/>
                  </a:solidFill>
                  <a:latin typeface="Segoe UI" panose="020B0502040204020203"/>
                  <a:ea typeface="微软雅黑" panose="020B0503020204020204" charset="-122"/>
                  <a:cs typeface="Segoe UI" panose="020B0502040204020203"/>
                </a:rPr>
                <a:t>AI时代重新审视</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952500" y="2952750"/>
              <a:ext cx="10287000" cy="9525"/>
            </a:xfrm>
            <a:prstGeom prst="rect">
              <a:avLst/>
            </a:prstGeom>
            <a:solidFill>
              <a:srgbClr val="CFD8DC">
                <a:alpha val="50000"/>
              </a:srgbClr>
            </a:solidFill>
            <a:ln>
              <a:noFill/>
            </a:ln>
          </p:spPr>
        </p:sp>
        <p:sp>
          <p:nvSpPr>
            <p:cNvPr id="20" name="TextBox 20"/>
            <p:cNvSpPr txBox="1"/>
            <p:nvPr/>
          </p:nvSpPr>
          <p:spPr>
            <a:xfrm>
              <a:off x="938212" y="3117056"/>
              <a:ext cx="603682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AI没有改变"本质复杂度不可消除"的结论，但将"偶然复杂度"的消灭推到了前所未有的程度</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450431"/>
              <a:ext cx="648688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曾经被认为是"本质"的复杂度（如需求理解、设计沟通），在特定场景下正被AI逐步转化为"偶然"</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938212" y="3783806"/>
              <a:ext cx="716196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核心启示：银弹论的边界在移动 —— 拥抱AI消灭偶然复杂度，将人的精力集中到真正不可替代的本质复杂度上</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571500" y="4333875"/>
            <a:ext cx="11049000" cy="1905000"/>
            <a:chOff x="571500" y="4333875"/>
            <a:chExt cx="11049000" cy="1905000"/>
          </a:xfrm>
        </p:grpSpPr>
        <p:sp>
          <p:nvSpPr>
            <p:cNvPr id="24" name="Rectangle 24"/>
            <p:cNvSpPr/>
            <p:nvPr/>
          </p:nvSpPr>
          <p:spPr>
            <a:xfrm>
              <a:off x="571500" y="4333875"/>
              <a:ext cx="11049000" cy="1905000"/>
            </a:xfrm>
            <a:prstGeom prst="roundRect">
              <a:avLst>
                <a:gd name="adj" fmla="val 6000"/>
              </a:avLst>
            </a:prstGeom>
            <a:solidFill>
              <a:srgbClr val="FFFFFF"/>
            </a:solidFill>
            <a:ln>
              <a:noFill/>
            </a:ln>
          </p:spPr>
        </p:sp>
        <p:sp>
          <p:nvSpPr>
            <p:cNvPr id="25" name="TextBox 25"/>
            <p:cNvSpPr txBox="1"/>
            <p:nvPr/>
          </p:nvSpPr>
          <p:spPr>
            <a:xfrm>
              <a:off x="5131832" y="4552950"/>
              <a:ext cx="1928336" cy="304800"/>
            </a:xfrm>
            <a:prstGeom prst="rect">
              <a:avLst/>
            </a:prstGeom>
            <a:noFill/>
            <a:ln>
              <a:noFill/>
            </a:ln>
          </p:spPr>
          <p:txBody>
            <a:bodyPr wrap="none" lIns="0" tIns="0" rIns="0" bIns="0" anchor="t" anchorCtr="0">
              <a:spAutoFit/>
            </a:bodyPr>
            <a:lstStyle/>
            <a:p>
              <a:pPr algn="ctr"/>
              <a:r>
                <a:rPr lang="zh-CN" sz="1500" b="1" dirty="0">
                  <a:solidFill>
                    <a:srgbClr val="263238"/>
                  </a:solidFill>
                  <a:latin typeface="Segoe UI" panose="020B0502040204020203"/>
                  <a:ea typeface="微软雅黑" panose="020B0503020204020204" charset="-122"/>
                  <a:cs typeface="Segoe UI" panose="020B0502040204020203"/>
                </a:rPr>
                <a:t>银弹论的边界在移动</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952500" y="4905375"/>
              <a:ext cx="10287000" cy="9525"/>
            </a:xfrm>
            <a:prstGeom prst="rect">
              <a:avLst/>
            </a:prstGeom>
            <a:solidFill>
              <a:srgbClr val="CFD8DC">
                <a:alpha val="50000"/>
              </a:srgbClr>
            </a:solidFill>
            <a:ln>
              <a:noFill/>
            </a:ln>
          </p:spPr>
        </p:sp>
        <p:sp>
          <p:nvSpPr>
            <p:cNvPr id="27" name="TextBox 27"/>
            <p:cNvSpPr txBox="1"/>
            <p:nvPr/>
          </p:nvSpPr>
          <p:spPr>
            <a:xfrm>
              <a:off x="937260" y="5156835"/>
              <a:ext cx="38252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1986</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1524000" y="5172075"/>
              <a:ext cx="9334500" cy="228600"/>
            </a:xfrm>
            <a:prstGeom prst="roundRect">
              <a:avLst>
                <a:gd name="adj" fmla="val 50000"/>
              </a:avLst>
            </a:prstGeom>
            <a:solidFill>
              <a:srgbClr val="CFD8DC"/>
            </a:solidFill>
            <a:ln>
              <a:noFill/>
            </a:ln>
          </p:spPr>
        </p:sp>
        <p:sp>
          <p:nvSpPr>
            <p:cNvPr id="29" name="Rectangle 29"/>
            <p:cNvSpPr/>
            <p:nvPr/>
          </p:nvSpPr>
          <p:spPr>
            <a:xfrm>
              <a:off x="1524000" y="5172075"/>
              <a:ext cx="1143000" cy="228600"/>
            </a:xfrm>
            <a:prstGeom prst="roundRect">
              <a:avLst>
                <a:gd name="adj" fmla="val 50000"/>
              </a:avLst>
            </a:prstGeom>
            <a:solidFill>
              <a:srgbClr val="1565C0"/>
            </a:solidFill>
            <a:ln>
              <a:noFill/>
            </a:ln>
          </p:spPr>
        </p:sp>
        <p:sp>
          <p:nvSpPr>
            <p:cNvPr id="30" name="TextBox 30"/>
            <p:cNvSpPr txBox="1"/>
            <p:nvPr/>
          </p:nvSpPr>
          <p:spPr>
            <a:xfrm>
              <a:off x="5117842" y="5212556"/>
              <a:ext cx="1956316" cy="228600"/>
            </a:xfrm>
            <a:prstGeom prst="rect">
              <a:avLst/>
            </a:prstGeom>
            <a:noFill/>
            <a:ln>
              <a:noFill/>
            </a:ln>
          </p:spPr>
          <p:txBody>
            <a:bodyPr wrap="none" lIns="0" tIns="0" rIns="0" bIns="0" anchor="t" anchorCtr="0">
              <a:spAutoFit/>
            </a:bodyPr>
            <a:lstStyle/>
            <a:p>
              <a:pPr algn="ctr"/>
              <a:r>
                <a:rPr lang="zh-CN" sz="1125" dirty="0">
                  <a:solidFill>
                    <a:srgbClr val="263238"/>
                  </a:solidFill>
                  <a:latin typeface="Segoe UI" panose="020B0502040204020203"/>
                  <a:ea typeface="微软雅黑" panose="020B0503020204020204" charset="-122"/>
                  <a:cs typeface="Segoe UI" panose="020B0502040204020203"/>
                </a:rPr>
                <a:t>偶然复杂度消灭程度：约10%</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937260" y="5585460"/>
              <a:ext cx="38252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2026</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1524000" y="5600700"/>
              <a:ext cx="9334500" cy="228600"/>
            </a:xfrm>
            <a:prstGeom prst="roundRect">
              <a:avLst>
                <a:gd name="adj" fmla="val 50000"/>
              </a:avLst>
            </a:prstGeom>
            <a:solidFill>
              <a:srgbClr val="CFD8DC"/>
            </a:solidFill>
            <a:ln>
              <a:noFill/>
            </a:ln>
          </p:spPr>
        </p:sp>
        <p:sp>
          <p:nvSpPr>
            <p:cNvPr id="33" name="Rectangle 33"/>
            <p:cNvSpPr/>
            <p:nvPr/>
          </p:nvSpPr>
          <p:spPr>
            <a:xfrm>
              <a:off x="1524000" y="5600700"/>
              <a:ext cx="8382000" cy="228600"/>
            </a:xfrm>
            <a:prstGeom prst="roundRect">
              <a:avLst>
                <a:gd name="adj" fmla="val 50000"/>
              </a:avLst>
            </a:prstGeom>
            <a:solidFill>
              <a:srgbClr val="00838F"/>
            </a:solidFill>
            <a:ln>
              <a:noFill/>
            </a:ln>
          </p:spPr>
        </p:sp>
        <p:sp>
          <p:nvSpPr>
            <p:cNvPr id="34" name="TextBox 34"/>
            <p:cNvSpPr txBox="1"/>
            <p:nvPr/>
          </p:nvSpPr>
          <p:spPr>
            <a:xfrm>
              <a:off x="5117842" y="5641181"/>
              <a:ext cx="1956316" cy="228600"/>
            </a:xfrm>
            <a:prstGeom prst="rect">
              <a:avLst/>
            </a:prstGeom>
            <a:noFill/>
            <a:ln>
              <a:noFill/>
            </a:ln>
          </p:spPr>
          <p:txBody>
            <a:bodyPr wrap="none" lIns="0" tIns="0" rIns="0" bIns="0" anchor="t" anchorCtr="0">
              <a:spAutoFit/>
            </a:bodyPr>
            <a:lstStyle/>
            <a:p>
              <a:pPr algn="ctr"/>
              <a:r>
                <a:rPr lang="zh-CN" sz="1125" dirty="0">
                  <a:solidFill>
                    <a:srgbClr val="263238"/>
                  </a:solidFill>
                  <a:latin typeface="Segoe UI" panose="020B0502040204020203"/>
                  <a:ea typeface="微软雅黑" panose="020B0503020204020204" charset="-122"/>
                  <a:cs typeface="Segoe UI" panose="020B0502040204020203"/>
                </a:rPr>
                <a:t>偶然复杂度消灭程度：约85%</a:t>
              </a:r>
              <a:endParaRPr lang="zh-CN" sz="1125" dirty="0">
                <a:solidFill>
                  <a:srgbClr val="263238"/>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7" name="图片 3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1602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AI不是软件工程的银弹</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0" name="Group 30"/>
          <p:cNvGrpSpPr/>
          <p:nvPr/>
        </p:nvGrpSpPr>
        <p:grpSpPr>
          <a:xfrm>
            <a:off x="571500" y="904875"/>
            <a:ext cx="4381500" cy="4953000"/>
            <a:chOff x="571500" y="904875"/>
            <a:chExt cx="4381500" cy="4953000"/>
          </a:xfrm>
        </p:grpSpPr>
        <p:sp>
          <p:nvSpPr>
            <p:cNvPr id="10" name="Rectangle 10"/>
            <p:cNvSpPr/>
            <p:nvPr/>
          </p:nvSpPr>
          <p:spPr>
            <a:xfrm>
              <a:off x="571500" y="904875"/>
              <a:ext cx="4381500" cy="4953000"/>
            </a:xfrm>
            <a:prstGeom prst="roundRect">
              <a:avLst>
                <a:gd name="adj" fmla="val 2609"/>
              </a:avLst>
            </a:prstGeom>
            <a:solidFill>
              <a:srgbClr val="FFFFFF"/>
            </a:solidFill>
            <a:ln>
              <a:noFill/>
            </a:ln>
          </p:spPr>
        </p:sp>
        <p:sp>
          <p:nvSpPr>
            <p:cNvPr id="11" name="Rectangle 11"/>
            <p:cNvSpPr/>
            <p:nvPr/>
          </p:nvSpPr>
          <p:spPr>
            <a:xfrm>
              <a:off x="571500" y="904875"/>
              <a:ext cx="4381500" cy="38100"/>
            </a:xfrm>
            <a:prstGeom prst="roundRect">
              <a:avLst>
                <a:gd name="adj" fmla="val 50000"/>
              </a:avLst>
            </a:prstGeom>
            <a:solidFill>
              <a:srgbClr val="2E7D32"/>
            </a:solidFill>
            <a:ln>
              <a:noFill/>
            </a:ln>
          </p:spPr>
        </p:sp>
        <p:sp>
          <p:nvSpPr>
            <p:cNvPr id="12" name="Rectangle 12"/>
            <p:cNvSpPr/>
            <p:nvPr/>
          </p:nvSpPr>
          <p:spPr>
            <a:xfrm>
              <a:off x="857250" y="1143000"/>
              <a:ext cx="381000" cy="381000"/>
            </a:xfrm>
            <a:prstGeom prst="roundRect">
              <a:avLst>
                <a:gd name="adj" fmla="val 25000"/>
              </a:avLst>
            </a:prstGeom>
            <a:solidFill>
              <a:srgbClr val="2E7D32">
                <a:alpha val="10000"/>
              </a:srgbClr>
            </a:solidFill>
            <a:ln>
              <a:noFill/>
            </a:ln>
          </p:spPr>
        </p:sp>
        <p:sp>
          <p:nvSpPr>
            <p:cNvPr id="13" name="TextBox 13"/>
            <p:cNvSpPr txBox="1"/>
            <p:nvPr/>
          </p:nvSpPr>
          <p:spPr>
            <a:xfrm>
              <a:off x="1409700" y="1238250"/>
              <a:ext cx="1959840" cy="304800"/>
            </a:xfrm>
            <a:prstGeom prst="rect">
              <a:avLst/>
            </a:prstGeom>
            <a:noFill/>
            <a:ln>
              <a:noFill/>
            </a:ln>
          </p:spPr>
          <p:txBody>
            <a:bodyPr wrap="none" lIns="0" tIns="0" rIns="0" bIns="0" anchor="t" anchorCtr="0">
              <a:spAutoFit/>
            </a:bodyPr>
            <a:lstStyle/>
            <a:p>
              <a:pPr algn="l"/>
              <a:r>
                <a:rPr lang="zh-CN" sz="1500" b="1" dirty="0">
                  <a:solidFill>
                    <a:srgbClr val="2E7D32"/>
                  </a:solidFill>
                  <a:latin typeface="Segoe UI" panose="020B0502040204020203"/>
                  <a:ea typeface="微软雅黑" panose="020B0503020204020204" charset="-122"/>
                  <a:cs typeface="Segoe UI" panose="020B0502040204020203"/>
                </a:rPr>
                <a:t>偶然复杂度 AI可消灭</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857250" y="1619250"/>
              <a:ext cx="3810000" cy="9525"/>
            </a:xfrm>
            <a:prstGeom prst="rect">
              <a:avLst/>
            </a:prstGeom>
            <a:solidFill>
              <a:srgbClr val="CFD8DC">
                <a:alpha val="50000"/>
              </a:srgbClr>
            </a:solidFill>
            <a:ln>
              <a:noFill/>
            </a:ln>
          </p:spPr>
        </p:sp>
        <p:sp>
          <p:nvSpPr>
            <p:cNvPr id="15" name="Rectangle 15"/>
            <p:cNvSpPr/>
            <p:nvPr/>
          </p:nvSpPr>
          <p:spPr>
            <a:xfrm>
              <a:off x="857250" y="1762125"/>
              <a:ext cx="3810000" cy="428625"/>
            </a:xfrm>
            <a:prstGeom prst="roundRect">
              <a:avLst>
                <a:gd name="adj" fmla="val 17778"/>
              </a:avLst>
            </a:prstGeom>
            <a:solidFill>
              <a:srgbClr val="2E7D32">
                <a:alpha val="5000"/>
              </a:srgbClr>
            </a:solidFill>
            <a:ln>
              <a:noFill/>
            </a:ln>
          </p:spPr>
        </p:sp>
        <p:sp>
          <p:nvSpPr>
            <p:cNvPr id="16" name="TextBox 16"/>
            <p:cNvSpPr txBox="1"/>
            <p:nvPr/>
          </p:nvSpPr>
          <p:spPr>
            <a:xfrm>
              <a:off x="1032510" y="1918335"/>
              <a:ext cx="270281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代码生成 —— 从自然语言到可运行代码</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857250" y="2286000"/>
              <a:ext cx="3810000" cy="428625"/>
            </a:xfrm>
            <a:prstGeom prst="roundRect">
              <a:avLst>
                <a:gd name="adj" fmla="val 17778"/>
              </a:avLst>
            </a:prstGeom>
            <a:solidFill>
              <a:srgbClr val="2E7D32">
                <a:alpha val="5000"/>
              </a:srgbClr>
            </a:solidFill>
            <a:ln>
              <a:noFill/>
            </a:ln>
          </p:spPr>
        </p:sp>
        <p:sp>
          <p:nvSpPr>
            <p:cNvPr id="18" name="TextBox 18"/>
            <p:cNvSpPr txBox="1"/>
            <p:nvPr/>
          </p:nvSpPr>
          <p:spPr>
            <a:xfrm>
              <a:off x="1032510" y="2442210"/>
              <a:ext cx="254279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测试编写 —— 自动生成全面测试用例</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57250" y="2809875"/>
              <a:ext cx="3810000" cy="428625"/>
            </a:xfrm>
            <a:prstGeom prst="roundRect">
              <a:avLst>
                <a:gd name="adj" fmla="val 17778"/>
              </a:avLst>
            </a:prstGeom>
            <a:solidFill>
              <a:srgbClr val="2E7D32">
                <a:alpha val="5000"/>
              </a:srgbClr>
            </a:solidFill>
            <a:ln>
              <a:noFill/>
            </a:ln>
          </p:spPr>
        </p:sp>
        <p:sp>
          <p:nvSpPr>
            <p:cNvPr id="20" name="TextBox 20"/>
            <p:cNvSpPr txBox="1"/>
            <p:nvPr/>
          </p:nvSpPr>
          <p:spPr>
            <a:xfrm>
              <a:off x="1032510" y="2966085"/>
              <a:ext cx="238277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文档同步 —— 代码变更即文档更新</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857250" y="3333750"/>
              <a:ext cx="3810000" cy="428625"/>
            </a:xfrm>
            <a:prstGeom prst="roundRect">
              <a:avLst>
                <a:gd name="adj" fmla="val 17778"/>
              </a:avLst>
            </a:prstGeom>
            <a:solidFill>
              <a:srgbClr val="2E7D32">
                <a:alpha val="5000"/>
              </a:srgbClr>
            </a:solidFill>
            <a:ln>
              <a:noFill/>
            </a:ln>
          </p:spPr>
        </p:sp>
        <p:sp>
          <p:nvSpPr>
            <p:cNvPr id="22" name="TextBox 22"/>
            <p:cNvSpPr txBox="1"/>
            <p:nvPr/>
          </p:nvSpPr>
          <p:spPr>
            <a:xfrm>
              <a:off x="1032510" y="3489960"/>
              <a:ext cx="222275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格式转换 —— 任意数据格式互转</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857250" y="3857625"/>
              <a:ext cx="3810000" cy="428625"/>
            </a:xfrm>
            <a:prstGeom prst="roundRect">
              <a:avLst>
                <a:gd name="adj" fmla="val 17778"/>
              </a:avLst>
            </a:prstGeom>
            <a:solidFill>
              <a:srgbClr val="2E7D32">
                <a:alpha val="5000"/>
              </a:srgbClr>
            </a:solidFill>
            <a:ln>
              <a:noFill/>
            </a:ln>
          </p:spPr>
        </p:sp>
        <p:sp>
          <p:nvSpPr>
            <p:cNvPr id="24" name="TextBox 24"/>
            <p:cNvSpPr txBox="1"/>
            <p:nvPr/>
          </p:nvSpPr>
          <p:spPr>
            <a:xfrm>
              <a:off x="1032510" y="4013835"/>
              <a:ext cx="206273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代码翻译 —— 跨语言代码转写</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57250" y="4381500"/>
              <a:ext cx="3810000" cy="428625"/>
            </a:xfrm>
            <a:prstGeom prst="roundRect">
              <a:avLst>
                <a:gd name="adj" fmla="val 17778"/>
              </a:avLst>
            </a:prstGeom>
            <a:solidFill>
              <a:srgbClr val="2E7D32">
                <a:alpha val="5000"/>
              </a:srgbClr>
            </a:solidFill>
            <a:ln>
              <a:noFill/>
            </a:ln>
          </p:spPr>
        </p:sp>
        <p:sp>
          <p:nvSpPr>
            <p:cNvPr id="26" name="TextBox 26"/>
            <p:cNvSpPr txBox="1"/>
            <p:nvPr/>
          </p:nvSpPr>
          <p:spPr>
            <a:xfrm>
              <a:off x="1032510" y="4537710"/>
              <a:ext cx="206273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配置管理 —— 自动化环境配置</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857250" y="4953000"/>
              <a:ext cx="3810000" cy="523875"/>
            </a:xfrm>
            <a:prstGeom prst="roundRect">
              <a:avLst>
                <a:gd name="adj" fmla="val 14545"/>
              </a:avLst>
            </a:prstGeom>
            <a:solidFill>
              <a:srgbClr val="2E7D32">
                <a:alpha val="10000"/>
              </a:srgbClr>
            </a:solidFill>
            <a:ln>
              <a:noFill/>
            </a:ln>
          </p:spPr>
        </p:sp>
        <p:sp>
          <p:nvSpPr>
            <p:cNvPr id="28" name="TextBox 28"/>
            <p:cNvSpPr txBox="1"/>
            <p:nvPr/>
          </p:nvSpPr>
          <p:spPr>
            <a:xfrm>
              <a:off x="1964302" y="5069681"/>
              <a:ext cx="1595896"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Segoe UI" panose="020B0502040204020203"/>
                  <a:ea typeface="微软雅黑" panose="020B0503020204020204" charset="-122"/>
                  <a:cs typeface="Segoe UI" panose="020B0502040204020203"/>
                </a:rPr>
                <a:t>AI让"体力活"趋近于零</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2297906" y="5260181"/>
              <a:ext cx="928688"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最强辅助子弹</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238750" y="904875"/>
            <a:ext cx="6381750" cy="4953000"/>
            <a:chOff x="5238750" y="904875"/>
            <a:chExt cx="6381750" cy="4953000"/>
          </a:xfrm>
        </p:grpSpPr>
        <p:sp>
          <p:nvSpPr>
            <p:cNvPr id="31" name="Rectangle 31"/>
            <p:cNvSpPr/>
            <p:nvPr/>
          </p:nvSpPr>
          <p:spPr>
            <a:xfrm>
              <a:off x="5238750" y="904875"/>
              <a:ext cx="6381750" cy="4953000"/>
            </a:xfrm>
            <a:prstGeom prst="roundRect">
              <a:avLst>
                <a:gd name="adj" fmla="val 2308"/>
              </a:avLst>
            </a:prstGeom>
            <a:solidFill>
              <a:srgbClr val="FFFFFF"/>
            </a:solidFill>
            <a:ln>
              <a:noFill/>
            </a:ln>
          </p:spPr>
        </p:sp>
        <p:sp>
          <p:nvSpPr>
            <p:cNvPr id="32" name="Rectangle 32"/>
            <p:cNvSpPr/>
            <p:nvPr/>
          </p:nvSpPr>
          <p:spPr>
            <a:xfrm>
              <a:off x="5238750" y="904875"/>
              <a:ext cx="6381750" cy="38100"/>
            </a:xfrm>
            <a:prstGeom prst="roundRect">
              <a:avLst>
                <a:gd name="adj" fmla="val 50000"/>
              </a:avLst>
            </a:prstGeom>
            <a:solidFill>
              <a:srgbClr val="FF6F00"/>
            </a:solidFill>
            <a:ln>
              <a:noFill/>
            </a:ln>
          </p:spPr>
        </p:sp>
        <p:sp>
          <p:nvSpPr>
            <p:cNvPr id="33" name="Rectangle 33"/>
            <p:cNvSpPr/>
            <p:nvPr/>
          </p:nvSpPr>
          <p:spPr>
            <a:xfrm>
              <a:off x="5524500" y="1143000"/>
              <a:ext cx="381000" cy="381000"/>
            </a:xfrm>
            <a:prstGeom prst="roundRect">
              <a:avLst>
                <a:gd name="adj" fmla="val 25000"/>
              </a:avLst>
            </a:prstGeom>
            <a:solidFill>
              <a:srgbClr val="FF6F00">
                <a:alpha val="10000"/>
              </a:srgbClr>
            </a:solidFill>
            <a:ln>
              <a:noFill/>
            </a:ln>
          </p:spPr>
        </p:sp>
        <p:sp>
          <p:nvSpPr>
            <p:cNvPr id="34" name="TextBox 34"/>
            <p:cNvSpPr txBox="1"/>
            <p:nvPr/>
          </p:nvSpPr>
          <p:spPr>
            <a:xfrm>
              <a:off x="6076950" y="1238250"/>
              <a:ext cx="2411397" cy="304800"/>
            </a:xfrm>
            <a:prstGeom prst="rect">
              <a:avLst/>
            </a:prstGeom>
            <a:noFill/>
            <a:ln>
              <a:noFill/>
            </a:ln>
          </p:spPr>
          <p:txBody>
            <a:bodyPr wrap="none" lIns="0" tIns="0" rIns="0" bIns="0" anchor="t" anchorCtr="0">
              <a:spAutoFit/>
            </a:bodyPr>
            <a:lstStyle/>
            <a:p>
              <a:pPr algn="l"/>
              <a:r>
                <a:rPr lang="zh-CN" sz="1500" b="1" dirty="0">
                  <a:solidFill>
                    <a:srgbClr val="FF6F00"/>
                  </a:solidFill>
                  <a:latin typeface="Segoe UI" panose="020B0502040204020203"/>
                  <a:ea typeface="微软雅黑" panose="020B0503020204020204" charset="-122"/>
                  <a:cs typeface="Segoe UI" panose="020B0502040204020203"/>
                </a:rPr>
                <a:t>本质复杂度 人类不可回避</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5524500" y="1619250"/>
              <a:ext cx="5810250" cy="9525"/>
            </a:xfrm>
            <a:prstGeom prst="rect">
              <a:avLst/>
            </a:prstGeom>
            <a:solidFill>
              <a:srgbClr val="CFD8DC">
                <a:alpha val="50000"/>
              </a:srgbClr>
            </a:solidFill>
            <a:ln>
              <a:noFill/>
            </a:ln>
          </p:spPr>
        </p:sp>
        <p:sp>
          <p:nvSpPr>
            <p:cNvPr id="36" name="Rectangle 36"/>
            <p:cNvSpPr/>
            <p:nvPr/>
          </p:nvSpPr>
          <p:spPr>
            <a:xfrm>
              <a:off x="5524500" y="1809750"/>
              <a:ext cx="5810250" cy="476250"/>
            </a:xfrm>
            <a:prstGeom prst="roundRect">
              <a:avLst>
                <a:gd name="adj" fmla="val 16000"/>
              </a:avLst>
            </a:prstGeom>
            <a:solidFill>
              <a:srgbClr val="FF6F00">
                <a:alpha val="5000"/>
              </a:srgbClr>
            </a:solidFill>
            <a:ln>
              <a:noFill/>
            </a:ln>
          </p:spPr>
        </p:sp>
        <p:sp>
          <p:nvSpPr>
            <p:cNvPr id="37" name="TextBox 37"/>
            <p:cNvSpPr txBox="1"/>
            <p:nvPr/>
          </p:nvSpPr>
          <p:spPr>
            <a:xfrm>
              <a:off x="5700712" y="1983581"/>
              <a:ext cx="328398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模糊业务理解 —— 真实世界需求从来不是非黑即白</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5524500" y="2400300"/>
              <a:ext cx="5810250" cy="476250"/>
            </a:xfrm>
            <a:prstGeom prst="roundRect">
              <a:avLst>
                <a:gd name="adj" fmla="val 16000"/>
              </a:avLst>
            </a:prstGeom>
            <a:solidFill>
              <a:srgbClr val="FF6F00">
                <a:alpha val="5000"/>
              </a:srgbClr>
            </a:solidFill>
            <a:ln>
              <a:noFill/>
            </a:ln>
          </p:spPr>
        </p:sp>
        <p:sp>
          <p:nvSpPr>
            <p:cNvPr id="39" name="TextBox 39"/>
            <p:cNvSpPr txBox="1"/>
            <p:nvPr/>
          </p:nvSpPr>
          <p:spPr>
            <a:xfrm>
              <a:off x="5700712" y="2574131"/>
              <a:ext cx="299894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架构权衡 —— 性能/成本/可维护性的三角取舍</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5524500" y="2990850"/>
              <a:ext cx="5810250" cy="476250"/>
            </a:xfrm>
            <a:prstGeom prst="roundRect">
              <a:avLst>
                <a:gd name="adj" fmla="val 16000"/>
              </a:avLst>
            </a:prstGeom>
            <a:solidFill>
              <a:srgbClr val="FF6F00">
                <a:alpha val="5000"/>
              </a:srgbClr>
            </a:solidFill>
            <a:ln>
              <a:noFill/>
            </a:ln>
          </p:spPr>
        </p:sp>
        <p:sp>
          <p:nvSpPr>
            <p:cNvPr id="41" name="TextBox 41"/>
            <p:cNvSpPr txBox="1"/>
            <p:nvPr/>
          </p:nvSpPr>
          <p:spPr>
            <a:xfrm>
              <a:off x="5700712" y="3164681"/>
              <a:ext cx="359902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测试预言 —— "正确的输出是什么"本身就是最难的问题</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5524500" y="3581400"/>
              <a:ext cx="5810250" cy="476250"/>
            </a:xfrm>
            <a:prstGeom prst="roundRect">
              <a:avLst>
                <a:gd name="adj" fmla="val 16000"/>
              </a:avLst>
            </a:prstGeom>
            <a:solidFill>
              <a:srgbClr val="FF6F00">
                <a:alpha val="5000"/>
              </a:srgbClr>
            </a:solidFill>
            <a:ln>
              <a:noFill/>
            </a:ln>
          </p:spPr>
        </p:sp>
        <p:sp>
          <p:nvSpPr>
            <p:cNvPr id="43" name="TextBox 43"/>
            <p:cNvSpPr txBox="1"/>
            <p:nvPr/>
          </p:nvSpPr>
          <p:spPr>
            <a:xfrm>
              <a:off x="5700712" y="3755231"/>
              <a:ext cx="298394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最终责任承担 —— 代码上线后果只能由人负责</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4" name="Rectangle 44"/>
            <p:cNvSpPr/>
            <p:nvPr/>
          </p:nvSpPr>
          <p:spPr>
            <a:xfrm>
              <a:off x="5524500" y="4171950"/>
              <a:ext cx="5810250" cy="476250"/>
            </a:xfrm>
            <a:prstGeom prst="roundRect">
              <a:avLst>
                <a:gd name="adj" fmla="val 16000"/>
              </a:avLst>
            </a:prstGeom>
            <a:solidFill>
              <a:srgbClr val="FF6F00">
                <a:alpha val="5000"/>
              </a:srgbClr>
            </a:solidFill>
            <a:ln>
              <a:noFill/>
            </a:ln>
          </p:spPr>
        </p:sp>
        <p:sp>
          <p:nvSpPr>
            <p:cNvPr id="45" name="TextBox 45"/>
            <p:cNvSpPr txBox="1"/>
            <p:nvPr/>
          </p:nvSpPr>
          <p:spPr>
            <a:xfrm>
              <a:off x="5700712" y="4345781"/>
              <a:ext cx="3133963"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人际协作 —— 跨团队沟通、利益协调、共识达成</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5524500" y="4857750"/>
              <a:ext cx="5810250" cy="523875"/>
            </a:xfrm>
            <a:prstGeom prst="roundRect">
              <a:avLst>
                <a:gd name="adj" fmla="val 14545"/>
              </a:avLst>
            </a:prstGeom>
            <a:solidFill>
              <a:srgbClr val="FF6F00">
                <a:alpha val="10000"/>
              </a:srgbClr>
            </a:solidFill>
            <a:ln>
              <a:noFill/>
            </a:ln>
          </p:spPr>
        </p:sp>
        <p:sp>
          <p:nvSpPr>
            <p:cNvPr id="47" name="TextBox 47"/>
            <p:cNvSpPr txBox="1"/>
            <p:nvPr/>
          </p:nvSpPr>
          <p:spPr>
            <a:xfrm>
              <a:off x="7383584" y="4974431"/>
              <a:ext cx="2092083" cy="228600"/>
            </a:xfrm>
            <a:prstGeom prst="rect">
              <a:avLst/>
            </a:prstGeom>
            <a:noFill/>
            <a:ln>
              <a:noFill/>
            </a:ln>
          </p:spPr>
          <p:txBody>
            <a:bodyPr wrap="none" lIns="0" tIns="0" rIns="0" bIns="0" anchor="t" anchorCtr="0">
              <a:spAutoFit/>
            </a:bodyPr>
            <a:lstStyle/>
            <a:p>
              <a:pPr algn="ctr"/>
              <a:r>
                <a:rPr lang="zh-CN" sz="1125" b="1" dirty="0">
                  <a:solidFill>
                    <a:srgbClr val="FF6F00"/>
                  </a:solidFill>
                  <a:latin typeface="Segoe UI" panose="020B0502040204020203"/>
                  <a:ea typeface="微软雅黑" panose="020B0503020204020204" charset="-122"/>
                  <a:cs typeface="Segoe UI" panose="020B0502040204020203"/>
                </a:rPr>
                <a:t>"脑力活"的重要性反而被放大</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7740253" y="5164931"/>
              <a:ext cx="1378744"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永远不可替代的领域</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571500" y="6096000"/>
            <a:ext cx="11049000" cy="419100"/>
            <a:chOff x="571500" y="6096000"/>
            <a:chExt cx="11049000" cy="419100"/>
          </a:xfrm>
        </p:grpSpPr>
        <p:sp>
          <p:nvSpPr>
            <p:cNvPr id="50" name="Rectangle 50"/>
            <p:cNvSpPr/>
            <p:nvPr/>
          </p:nvSpPr>
          <p:spPr>
            <a:xfrm>
              <a:off x="571500" y="6096000"/>
              <a:ext cx="11049000" cy="419100"/>
            </a:xfrm>
            <a:prstGeom prst="roundRect">
              <a:avLst>
                <a:gd name="adj" fmla="val 18182"/>
              </a:avLst>
            </a:prstGeom>
            <a:solidFill>
              <a:srgbClr val="1565C0">
                <a:alpha val="6000"/>
              </a:srgbClr>
            </a:solidFill>
            <a:ln>
              <a:noFill/>
            </a:ln>
          </p:spPr>
        </p:sp>
        <p:sp>
          <p:nvSpPr>
            <p:cNvPr id="51" name="Rectangle 51"/>
            <p:cNvSpPr/>
            <p:nvPr/>
          </p:nvSpPr>
          <p:spPr>
            <a:xfrm>
              <a:off x="571500" y="6096000"/>
              <a:ext cx="57150" cy="419100"/>
            </a:xfrm>
            <a:prstGeom prst="roundRect">
              <a:avLst>
                <a:gd name="adj" fmla="val 50000"/>
              </a:avLst>
            </a:prstGeom>
            <a:solidFill>
              <a:srgbClr val="FF6F00"/>
            </a:solidFill>
            <a:ln>
              <a:noFill/>
            </a:ln>
          </p:spPr>
        </p:sp>
        <p:sp>
          <p:nvSpPr>
            <p:cNvPr id="52" name="TextBox 52"/>
            <p:cNvSpPr txBox="1"/>
            <p:nvPr/>
          </p:nvSpPr>
          <p:spPr>
            <a:xfrm>
              <a:off x="3220202" y="6233160"/>
              <a:ext cx="5751595"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底线：AI能让软件工程的"体力活"趋近于零，但"脑力活"的重要性反而被放大</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4" name="TextBox 5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5" name="图片 5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image">
                                      <p:cBhvr>
                                        <p:cTn id="7" dur="400"/>
                                        <p:tgtEl>
                                          <p:spTgt spid="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fade">
                                      <p:cBhvr>
                                        <p:cTn id="11" dur="400"/>
                                        <p:tgtEl>
                                          <p:spTgt spid="4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left)">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9" grpId="0"/>
      <p:bldP spid="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368010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AI写不出绝对零Bug的代码</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3" name="Group 33"/>
          <p:cNvGrpSpPr/>
          <p:nvPr/>
        </p:nvGrpSpPr>
        <p:grpSpPr>
          <a:xfrm>
            <a:off x="571500" y="904875"/>
            <a:ext cx="3238500" cy="5334000"/>
            <a:chOff x="571500" y="904875"/>
            <a:chExt cx="3238500" cy="5334000"/>
          </a:xfrm>
        </p:grpSpPr>
        <p:sp>
          <p:nvSpPr>
            <p:cNvPr id="10" name="Rectangle 10"/>
            <p:cNvSpPr/>
            <p:nvPr/>
          </p:nvSpPr>
          <p:spPr>
            <a:xfrm>
              <a:off x="571500" y="904875"/>
              <a:ext cx="3238500" cy="5334000"/>
            </a:xfrm>
            <a:prstGeom prst="roundRect">
              <a:avLst>
                <a:gd name="adj" fmla="val 3529"/>
              </a:avLst>
            </a:prstGeom>
            <a:solidFill>
              <a:srgbClr val="FFFFFF"/>
            </a:solidFill>
            <a:ln>
              <a:noFill/>
            </a:ln>
          </p:spPr>
        </p:sp>
        <p:sp>
          <p:nvSpPr>
            <p:cNvPr id="11" name="TextBox 11"/>
            <p:cNvSpPr txBox="1"/>
            <p:nvPr/>
          </p:nvSpPr>
          <p:spPr>
            <a:xfrm>
              <a:off x="1541621" y="1076325"/>
              <a:ext cx="1298258" cy="304800"/>
            </a:xfrm>
            <a:prstGeom prst="rect">
              <a:avLst/>
            </a:prstGeom>
            <a:noFill/>
            <a:ln>
              <a:noFill/>
            </a:ln>
          </p:spPr>
          <p:txBody>
            <a:bodyPr wrap="none" lIns="0" tIns="0" rIns="0" bIns="0" anchor="t" anchorCtr="0">
              <a:spAutoFit/>
            </a:bodyPr>
            <a:lstStyle/>
            <a:p>
              <a:pPr algn="ctr"/>
              <a:r>
                <a:rPr lang="zh-CN" sz="1500" b="1" dirty="0">
                  <a:solidFill>
                    <a:srgbClr val="263238"/>
                  </a:solidFill>
                  <a:latin typeface="Segoe UI" panose="020B0502040204020203"/>
                  <a:ea typeface="微软雅黑" panose="020B0503020204020204" charset="-122"/>
                  <a:cs typeface="Segoe UI" panose="020B0502040204020203"/>
                </a:rPr>
                <a:t>四层错误剖析</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2" name="Rectangle 12"/>
            <p:cNvSpPr/>
            <p:nvPr/>
          </p:nvSpPr>
          <p:spPr>
            <a:xfrm>
              <a:off x="952500" y="1428750"/>
              <a:ext cx="2476500" cy="9525"/>
            </a:xfrm>
            <a:prstGeom prst="rect">
              <a:avLst/>
            </a:prstGeom>
            <a:solidFill>
              <a:srgbClr val="CFD8DC"/>
            </a:solidFill>
            <a:ln>
              <a:noFill/>
            </a:ln>
          </p:spPr>
        </p:sp>
        <p:grpSp>
          <p:nvGrpSpPr>
            <p:cNvPr id="17" name="Group 17"/>
            <p:cNvGrpSpPr/>
            <p:nvPr/>
          </p:nvGrpSpPr>
          <p:grpSpPr>
            <a:xfrm>
              <a:off x="762000" y="1619250"/>
              <a:ext cx="2857500" cy="952500"/>
              <a:chOff x="762000" y="1619250"/>
              <a:chExt cx="2857500" cy="952500"/>
            </a:xfrm>
          </p:grpSpPr>
          <p:sp>
            <p:nvSpPr>
              <p:cNvPr id="13" name="Rectangle 13"/>
              <p:cNvSpPr/>
              <p:nvPr/>
            </p:nvSpPr>
            <p:spPr>
              <a:xfrm>
                <a:off x="762000" y="1619250"/>
                <a:ext cx="2857500" cy="952500"/>
              </a:xfrm>
              <a:prstGeom prst="roundRect">
                <a:avLst>
                  <a:gd name="adj" fmla="val 8000"/>
                </a:avLst>
              </a:prstGeom>
              <a:solidFill>
                <a:srgbClr val="2E7D32">
                  <a:alpha val="5000"/>
                </a:srgbClr>
              </a:solidFill>
              <a:ln>
                <a:noFill/>
              </a:ln>
            </p:spPr>
          </p:sp>
          <p:sp>
            <p:nvSpPr>
              <p:cNvPr id="14" name="TextBox 14"/>
              <p:cNvSpPr txBox="1"/>
              <p:nvPr/>
            </p:nvSpPr>
            <p:spPr>
              <a:xfrm>
                <a:off x="938212" y="1764506"/>
                <a:ext cx="1427480" cy="215265"/>
              </a:xfrm>
              <a:prstGeom prst="rect">
                <a:avLst/>
              </a:prstGeom>
              <a:noFill/>
              <a:ln>
                <a:noFill/>
              </a:ln>
            </p:spPr>
            <p:txBody>
              <a:bodyPr wrap="none" lIns="0" tIns="0" rIns="0" bIns="0" anchor="t" anchorCtr="0">
                <a:spAutoFit/>
              </a:bodyPr>
              <a:lstStyle/>
              <a:p>
                <a:pPr algn="l"/>
                <a:r>
                  <a:rPr lang="zh-CN" sz="1400" b="1" dirty="0">
                    <a:solidFill>
                      <a:srgbClr val="2E7D32"/>
                    </a:solidFill>
                    <a:latin typeface="Segoe UI" panose="020B0502040204020203"/>
                    <a:ea typeface="微软雅黑" panose="020B0503020204020204" charset="-122"/>
                    <a:cs typeface="Segoe UI" panose="020B0502040204020203"/>
                  </a:rPr>
                  <a:t>第一层：语法错误</a:t>
                </a:r>
                <a:endParaRPr lang="zh-CN" sz="1400" b="1" dirty="0">
                  <a:solidFill>
                    <a:srgbClr val="2E7D32"/>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8212" y="2021681"/>
                <a:ext cx="1778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类型不匹配、语法冲突</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938212" y="2240756"/>
                <a:ext cx="13036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编译器可消除</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762000" y="2714625"/>
              <a:ext cx="2857500" cy="952500"/>
              <a:chOff x="762000" y="2714625"/>
              <a:chExt cx="2857500" cy="952500"/>
            </a:xfrm>
          </p:grpSpPr>
          <p:sp>
            <p:nvSpPr>
              <p:cNvPr id="18" name="Rectangle 18"/>
              <p:cNvSpPr/>
              <p:nvPr/>
            </p:nvSpPr>
            <p:spPr>
              <a:xfrm>
                <a:off x="762000" y="2714625"/>
                <a:ext cx="2857500" cy="952500"/>
              </a:xfrm>
              <a:prstGeom prst="roundRect">
                <a:avLst>
                  <a:gd name="adj" fmla="val 8000"/>
                </a:avLst>
              </a:prstGeom>
              <a:solidFill>
                <a:srgbClr val="FF6F00">
                  <a:alpha val="5000"/>
                </a:srgbClr>
              </a:solidFill>
              <a:ln>
                <a:noFill/>
              </a:ln>
            </p:spPr>
          </p:sp>
          <p:sp>
            <p:nvSpPr>
              <p:cNvPr id="19" name="TextBox 19"/>
              <p:cNvSpPr txBox="1"/>
              <p:nvPr/>
            </p:nvSpPr>
            <p:spPr>
              <a:xfrm>
                <a:off x="938212" y="2859881"/>
                <a:ext cx="1427480" cy="215265"/>
              </a:xfrm>
              <a:prstGeom prst="rect">
                <a:avLst/>
              </a:prstGeom>
              <a:noFill/>
              <a:ln>
                <a:noFill/>
              </a:ln>
            </p:spPr>
            <p:txBody>
              <a:bodyPr wrap="none" lIns="0" tIns="0" rIns="0" bIns="0" anchor="t" anchorCtr="0">
                <a:spAutoFit/>
              </a:bodyPr>
              <a:lstStyle/>
              <a:p>
                <a:pPr algn="l"/>
                <a:r>
                  <a:rPr lang="zh-CN" sz="1400" b="1" dirty="0">
                    <a:solidFill>
                      <a:srgbClr val="FF6F00"/>
                    </a:solidFill>
                    <a:latin typeface="Segoe UI" panose="020B0502040204020203"/>
                    <a:ea typeface="微软雅黑" panose="020B0503020204020204" charset="-122"/>
                    <a:cs typeface="Segoe UI" panose="020B0502040204020203"/>
                  </a:rPr>
                  <a:t>第二层：逻辑错误</a:t>
                </a:r>
                <a:endParaRPr lang="zh-CN" sz="1400" b="1" dirty="0">
                  <a:solidFill>
                    <a:srgbClr val="FF6F0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8212" y="3117056"/>
                <a:ext cx="23114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条件判断、状态机、计算顺序</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336131"/>
                <a:ext cx="11258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需人类审查</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762000" y="3810000"/>
              <a:ext cx="2857500" cy="952500"/>
              <a:chOff x="762000" y="3810000"/>
              <a:chExt cx="2857500" cy="952500"/>
            </a:xfrm>
          </p:grpSpPr>
          <p:sp>
            <p:nvSpPr>
              <p:cNvPr id="23" name="Rectangle 23"/>
              <p:cNvSpPr/>
              <p:nvPr/>
            </p:nvSpPr>
            <p:spPr>
              <a:xfrm>
                <a:off x="762000" y="3810000"/>
                <a:ext cx="2857500" cy="952500"/>
              </a:xfrm>
              <a:prstGeom prst="roundRect">
                <a:avLst>
                  <a:gd name="adj" fmla="val 8000"/>
                </a:avLst>
              </a:prstGeom>
              <a:solidFill>
                <a:srgbClr val="00838F">
                  <a:alpha val="5000"/>
                </a:srgbClr>
              </a:solidFill>
              <a:ln>
                <a:noFill/>
              </a:ln>
            </p:spPr>
          </p:sp>
          <p:sp>
            <p:nvSpPr>
              <p:cNvPr id="24" name="TextBox 24"/>
              <p:cNvSpPr txBox="1"/>
              <p:nvPr/>
            </p:nvSpPr>
            <p:spPr>
              <a:xfrm>
                <a:off x="938212" y="3955256"/>
                <a:ext cx="1784350" cy="215265"/>
              </a:xfrm>
              <a:prstGeom prst="rect">
                <a:avLst/>
              </a:prstGeom>
              <a:noFill/>
              <a:ln>
                <a:noFill/>
              </a:ln>
            </p:spPr>
            <p:txBody>
              <a:bodyPr wrap="none" lIns="0" tIns="0" rIns="0" bIns="0" anchor="t" anchorCtr="0">
                <a:spAutoFit/>
              </a:bodyPr>
              <a:lstStyle/>
              <a:p>
                <a:pPr algn="l"/>
                <a:r>
                  <a:rPr lang="zh-CN" sz="1400" b="1" dirty="0">
                    <a:solidFill>
                      <a:srgbClr val="00838F"/>
                    </a:solidFill>
                    <a:latin typeface="Segoe UI" panose="020B0502040204020203"/>
                    <a:ea typeface="微软雅黑" panose="020B0503020204020204" charset="-122"/>
                    <a:cs typeface="Segoe UI" panose="020B0502040204020203"/>
                  </a:rPr>
                  <a:t>第三层：边界工程错误</a:t>
                </a:r>
                <a:endParaRPr lang="zh-CN" sz="1400" b="1" dirty="0">
                  <a:solidFill>
                    <a:srgbClr val="00838F"/>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938212" y="4212431"/>
                <a:ext cx="206121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null/空串/超大/并发/超时</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938212" y="4431506"/>
                <a:ext cx="11258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需测试闭环</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762000" y="4905375"/>
              <a:ext cx="2857500" cy="952500"/>
              <a:chOff x="762000" y="4905375"/>
              <a:chExt cx="2857500" cy="952500"/>
            </a:xfrm>
          </p:grpSpPr>
          <p:sp>
            <p:nvSpPr>
              <p:cNvPr id="28" name="Rectangle 28"/>
              <p:cNvSpPr/>
              <p:nvPr/>
            </p:nvSpPr>
            <p:spPr>
              <a:xfrm>
                <a:off x="762000" y="4905375"/>
                <a:ext cx="2857500" cy="952500"/>
              </a:xfrm>
              <a:prstGeom prst="roundRect">
                <a:avLst>
                  <a:gd name="adj" fmla="val 8000"/>
                </a:avLst>
              </a:prstGeom>
              <a:solidFill>
                <a:srgbClr val="C62828">
                  <a:alpha val="5000"/>
                </a:srgbClr>
              </a:solidFill>
              <a:ln>
                <a:noFill/>
              </a:ln>
            </p:spPr>
          </p:sp>
          <p:sp>
            <p:nvSpPr>
              <p:cNvPr id="29" name="TextBox 29"/>
              <p:cNvSpPr txBox="1"/>
              <p:nvPr/>
            </p:nvSpPr>
            <p:spPr>
              <a:xfrm>
                <a:off x="938212" y="5050631"/>
                <a:ext cx="1784350" cy="215265"/>
              </a:xfrm>
              <a:prstGeom prst="rect">
                <a:avLst/>
              </a:prstGeom>
              <a:noFill/>
              <a:ln>
                <a:noFill/>
              </a:ln>
            </p:spPr>
            <p:txBody>
              <a:bodyPr wrap="none" lIns="0" tIns="0" rIns="0" bIns="0" anchor="t" anchorCtr="0">
                <a:spAutoFit/>
              </a:bodyPr>
              <a:lstStyle/>
              <a:p>
                <a:pPr algn="l"/>
                <a:r>
                  <a:rPr lang="zh-CN" sz="1400" b="1" dirty="0">
                    <a:solidFill>
                      <a:srgbClr val="C62828"/>
                    </a:solidFill>
                    <a:latin typeface="Segoe UI" panose="020B0502040204020203"/>
                    <a:ea typeface="微软雅黑" panose="020B0503020204020204" charset="-122"/>
                    <a:cs typeface="Segoe UI" panose="020B0502040204020203"/>
                  </a:rPr>
                  <a:t>第四层：安全业务错误</a:t>
                </a:r>
                <a:endParaRPr lang="zh-CN" sz="1400" b="1"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938212" y="5307806"/>
                <a:ext cx="1778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权限、合规、业务规则</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938212" y="5526881"/>
                <a:ext cx="11258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需领域知识</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50" name="Group 50"/>
          <p:cNvGrpSpPr/>
          <p:nvPr/>
        </p:nvGrpSpPr>
        <p:grpSpPr>
          <a:xfrm>
            <a:off x="4095750" y="904875"/>
            <a:ext cx="7524750" cy="5334000"/>
            <a:chOff x="4095750" y="904875"/>
            <a:chExt cx="7524750" cy="5334000"/>
          </a:xfrm>
        </p:grpSpPr>
        <p:sp>
          <p:nvSpPr>
            <p:cNvPr id="34" name="Rectangle 34"/>
            <p:cNvSpPr/>
            <p:nvPr/>
          </p:nvSpPr>
          <p:spPr>
            <a:xfrm>
              <a:off x="4095750" y="904875"/>
              <a:ext cx="7524750" cy="5334000"/>
            </a:xfrm>
            <a:prstGeom prst="roundRect">
              <a:avLst>
                <a:gd name="adj" fmla="val 2143"/>
              </a:avLst>
            </a:prstGeom>
            <a:solidFill>
              <a:srgbClr val="FFFFFF"/>
            </a:solidFill>
            <a:ln>
              <a:noFill/>
            </a:ln>
          </p:spPr>
        </p:sp>
        <p:sp>
          <p:nvSpPr>
            <p:cNvPr id="35" name="Rectangle 35"/>
            <p:cNvSpPr/>
            <p:nvPr/>
          </p:nvSpPr>
          <p:spPr>
            <a:xfrm>
              <a:off x="4095750" y="904875"/>
              <a:ext cx="7524750" cy="38100"/>
            </a:xfrm>
            <a:prstGeom prst="roundRect">
              <a:avLst>
                <a:gd name="adj" fmla="val 50000"/>
              </a:avLst>
            </a:prstGeom>
            <a:solidFill>
              <a:srgbClr val="1565C0"/>
            </a:solidFill>
            <a:ln>
              <a:noFill/>
            </a:ln>
          </p:spPr>
        </p:sp>
        <p:sp>
          <p:nvSpPr>
            <p:cNvPr id="36" name="TextBox 36"/>
            <p:cNvSpPr txBox="1"/>
            <p:nvPr/>
          </p:nvSpPr>
          <p:spPr>
            <a:xfrm>
              <a:off x="7331202" y="1186815"/>
              <a:ext cx="1053846" cy="365760"/>
            </a:xfrm>
            <a:prstGeom prst="rect">
              <a:avLst/>
            </a:prstGeom>
            <a:noFill/>
            <a:ln>
              <a:noFill/>
            </a:ln>
          </p:spPr>
          <p:txBody>
            <a:bodyPr wrap="none" lIns="0" tIns="0" rIns="0" bIns="0" anchor="t" anchorCtr="0">
              <a:spAutoFit/>
            </a:bodyPr>
            <a:lstStyle/>
            <a:p>
              <a:pPr algn="ctr"/>
              <a:r>
                <a:rPr lang="zh-CN" sz="1800" b="1" dirty="0">
                  <a:solidFill>
                    <a:srgbClr val="1565C0"/>
                  </a:solidFill>
                  <a:latin typeface="Segoe UI" panose="020B0502040204020203"/>
                  <a:ea typeface="微软雅黑" panose="020B0503020204020204" charset="-122"/>
                  <a:cs typeface="Segoe UI" panose="020B0502040204020203"/>
                </a:rPr>
                <a:t>核心结论</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572000" y="1619250"/>
              <a:ext cx="6572250" cy="9525"/>
            </a:xfrm>
            <a:prstGeom prst="rect">
              <a:avLst/>
            </a:prstGeom>
            <a:solidFill>
              <a:srgbClr val="CFD8DC"/>
            </a:solidFill>
            <a:ln>
              <a:noFill/>
            </a:ln>
          </p:spPr>
        </p:sp>
        <p:sp>
          <p:nvSpPr>
            <p:cNvPr id="38" name="Rectangle 38"/>
            <p:cNvSpPr/>
            <p:nvPr/>
          </p:nvSpPr>
          <p:spPr>
            <a:xfrm>
              <a:off x="4572000" y="1857375"/>
              <a:ext cx="6572250" cy="762000"/>
            </a:xfrm>
            <a:prstGeom prst="roundRect">
              <a:avLst>
                <a:gd name="adj" fmla="val 12500"/>
              </a:avLst>
            </a:prstGeom>
            <a:solidFill>
              <a:srgbClr val="1565C0">
                <a:alpha val="6000"/>
              </a:srgbClr>
            </a:solidFill>
            <a:ln>
              <a:noFill/>
            </a:ln>
          </p:spPr>
        </p:sp>
        <p:sp>
          <p:nvSpPr>
            <p:cNvPr id="39" name="TextBox 39"/>
            <p:cNvSpPr txBox="1"/>
            <p:nvPr/>
          </p:nvSpPr>
          <p:spPr>
            <a:xfrm>
              <a:off x="6169025" y="1968818"/>
              <a:ext cx="3378200" cy="215265"/>
            </a:xfrm>
            <a:prstGeom prst="rect">
              <a:avLst/>
            </a:prstGeom>
            <a:noFill/>
            <a:ln>
              <a:noFill/>
            </a:ln>
          </p:spPr>
          <p:txBody>
            <a:bodyPr wrap="none" lIns="0" tIns="0" rIns="0" bIns="0" anchor="t" anchorCtr="0">
              <a:spAutoFit/>
            </a:bodyPr>
            <a:lstStyle/>
            <a:p>
              <a:pPr algn="ctr"/>
              <a:r>
                <a:rPr lang="zh-CN" sz="1400" b="1" dirty="0">
                  <a:solidFill>
                    <a:srgbClr val="1565C0"/>
                  </a:solidFill>
                  <a:latin typeface="Segoe UI" panose="020B0502040204020203"/>
                  <a:ea typeface="微软雅黑" panose="020B0503020204020204" charset="-122"/>
                  <a:cs typeface="Segoe UI" panose="020B0502040204020203"/>
                </a:rPr>
                <a:t>AI本质上是概率性文本接龙，而非逻辑推导</a:t>
              </a:r>
              <a:endParaRPr lang="zh-CN" sz="1400" b="1" dirty="0">
                <a:solidFill>
                  <a:srgbClr val="1565C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684838" y="2270760"/>
              <a:ext cx="4346575" cy="215265"/>
            </a:xfrm>
            <a:prstGeom prst="rect">
              <a:avLst/>
            </a:prstGeom>
            <a:noFill/>
            <a:ln>
              <a:noFill/>
            </a:ln>
          </p:spPr>
          <p:txBody>
            <a:bodyPr wrap="none" lIns="0" tIns="0" rIns="0" bIns="0" anchor="t" anchorCtr="0">
              <a:spAutoFit/>
            </a:bodyPr>
            <a:lstStyle/>
            <a:p>
              <a:pPr algn="ctr"/>
              <a:r>
                <a:rPr lang="zh-CN" sz="1400" dirty="0">
                  <a:solidFill>
                    <a:srgbClr val="546E7A"/>
                  </a:solidFill>
                  <a:latin typeface="Segoe UI" panose="020B0502040204020203"/>
                  <a:ea typeface="微软雅黑" panose="020B0503020204020204" charset="-122"/>
                  <a:cs typeface="Segoe UI" panose="020B0502040204020203"/>
                </a:rPr>
                <a:t>GPT不会"推理"，它只是在统计频率最高的下一个token</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4556760" y="2918460"/>
              <a:ext cx="2439035" cy="215265"/>
            </a:xfrm>
            <a:prstGeom prst="rect">
              <a:avLst/>
            </a:prstGeom>
            <a:noFill/>
            <a:ln>
              <a:noFill/>
            </a:ln>
          </p:spPr>
          <p:txBody>
            <a:bodyPr wrap="none" lIns="0" tIns="0" rIns="0" bIns="0" anchor="t" anchorCtr="0">
              <a:spAutoFit/>
            </a:bodyPr>
            <a:lstStyle/>
            <a:p>
              <a:pPr algn="l"/>
              <a:r>
                <a:rPr lang="zh-CN" sz="1400" b="1" dirty="0">
                  <a:solidFill>
                    <a:srgbClr val="263238"/>
                  </a:solidFill>
                  <a:latin typeface="Segoe UI" panose="020B0502040204020203"/>
                  <a:ea typeface="微软雅黑" panose="020B0503020204020204" charset="-122"/>
                  <a:cs typeface="Segoe UI" panose="020B0502040204020203"/>
                </a:rPr>
                <a:t>但 —— 人机协作可达到零缺陷</a:t>
              </a:r>
              <a:endParaRPr lang="zh-CN" sz="1400" b="1"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4572000" y="3286125"/>
              <a:ext cx="6572250" cy="9525"/>
            </a:xfrm>
            <a:prstGeom prst="rect">
              <a:avLst/>
            </a:prstGeom>
            <a:solidFill>
              <a:srgbClr val="CFD8DC">
                <a:alpha val="50000"/>
              </a:srgbClr>
            </a:solidFill>
            <a:ln>
              <a:noFill/>
            </a:ln>
          </p:spPr>
        </p:sp>
        <p:sp>
          <p:nvSpPr>
            <p:cNvPr id="43" name="Rectangle 43"/>
            <p:cNvSpPr/>
            <p:nvPr/>
          </p:nvSpPr>
          <p:spPr>
            <a:xfrm>
              <a:off x="4572000" y="3524250"/>
              <a:ext cx="6572250" cy="523875"/>
            </a:xfrm>
            <a:prstGeom prst="roundRect">
              <a:avLst>
                <a:gd name="adj" fmla="val 14545"/>
              </a:avLst>
            </a:prstGeom>
            <a:solidFill>
              <a:srgbClr val="2E7D32">
                <a:alpha val="6000"/>
              </a:srgbClr>
            </a:solidFill>
            <a:ln>
              <a:noFill/>
            </a:ln>
          </p:spPr>
        </p:sp>
        <p:sp>
          <p:nvSpPr>
            <p:cNvPr id="44" name="TextBox 44"/>
            <p:cNvSpPr txBox="1"/>
            <p:nvPr/>
          </p:nvSpPr>
          <p:spPr>
            <a:xfrm>
              <a:off x="4748212" y="3717131"/>
              <a:ext cx="2954655" cy="215265"/>
            </a:xfrm>
            <a:prstGeom prst="rect">
              <a:avLst/>
            </a:prstGeom>
            <a:noFill/>
            <a:ln>
              <a:noFill/>
            </a:ln>
          </p:spPr>
          <p:txBody>
            <a:bodyPr wrap="non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"人定规则 + AI落地 + 测试闭环" 范式</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4572000" y="4238625"/>
              <a:ext cx="6572250" cy="523875"/>
            </a:xfrm>
            <a:prstGeom prst="roundRect">
              <a:avLst>
                <a:gd name="adj" fmla="val 14545"/>
              </a:avLst>
            </a:prstGeom>
            <a:solidFill>
              <a:srgbClr val="00838F">
                <a:alpha val="6000"/>
              </a:srgbClr>
            </a:solidFill>
            <a:ln>
              <a:noFill/>
            </a:ln>
          </p:spPr>
        </p:sp>
        <p:sp>
          <p:nvSpPr>
            <p:cNvPr id="46" name="TextBox 46"/>
            <p:cNvSpPr txBox="1"/>
            <p:nvPr/>
          </p:nvSpPr>
          <p:spPr>
            <a:xfrm>
              <a:off x="4748212" y="4431506"/>
              <a:ext cx="3556000" cy="215265"/>
            </a:xfrm>
            <a:prstGeom prst="rect">
              <a:avLst/>
            </a:prstGeom>
            <a:noFill/>
            <a:ln>
              <a:noFill/>
            </a:ln>
          </p:spPr>
          <p:txBody>
            <a:bodyPr wrap="non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可以产出通过所有测试、可落地的零缺陷代码</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4572000" y="5048250"/>
              <a:ext cx="6572250" cy="523875"/>
            </a:xfrm>
            <a:prstGeom prst="roundRect">
              <a:avLst>
                <a:gd name="adj" fmla="val 14545"/>
              </a:avLst>
            </a:prstGeom>
            <a:solidFill>
              <a:srgbClr val="FF6F00">
                <a:alpha val="6000"/>
              </a:srgbClr>
            </a:solidFill>
            <a:ln>
              <a:noFill/>
            </a:ln>
          </p:spPr>
        </p:sp>
        <p:sp>
          <p:nvSpPr>
            <p:cNvPr id="48" name="TextBox 48"/>
            <p:cNvSpPr txBox="1"/>
            <p:nvPr/>
          </p:nvSpPr>
          <p:spPr>
            <a:xfrm>
              <a:off x="4748212" y="5145881"/>
              <a:ext cx="3003550" cy="215265"/>
            </a:xfrm>
            <a:prstGeom prst="rect">
              <a:avLst/>
            </a:prstGeom>
            <a:noFill/>
            <a:ln>
              <a:noFill/>
            </a:ln>
          </p:spPr>
          <p:txBody>
            <a:bodyPr wrap="non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关键定位：AI是副驾驶，而非自动驾驶</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4748212" y="5336381"/>
              <a:ext cx="1778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方向盘始终在人类手中</a:t>
              </a:r>
              <a:endParaRPr lang="zh-CN" sz="1400" dirty="0">
                <a:solidFill>
                  <a:srgbClr val="546E7A"/>
                </a:solidFill>
                <a:latin typeface="Segoe UI" panose="020B0502040204020203"/>
                <a:ea typeface="微软雅黑" panose="020B0503020204020204" charset="-122"/>
                <a:cs typeface="Segoe UI" panose="020B0502040204020203"/>
              </a:endParaRPr>
            </a:p>
          </p:txBody>
        </p:sp>
      </p:grpSp>
      <p:sp>
        <p:nvSpPr>
          <p:cNvPr id="51" name="TextBox 51"/>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2" name="图片 5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lide(fromBottom)">
                                      <p:cBhvr>
                                        <p:cTn id="7" dur="400"/>
                                        <p:tgtEl>
                                          <p:spTgt spid="33"/>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image">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5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952500"/>
            <a:ext cx="12954000" cy="8382000"/>
            <a:chOff x="0" y="-952500"/>
            <a:chExt cx="12954000" cy="83820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952500"/>
              <a:ext cx="5334000" cy="5334000"/>
            </a:xfrm>
            <a:prstGeom prst="ellipse">
              <a:avLst/>
            </a:prstGeom>
            <a:solidFill>
              <a:srgbClr val="FFFFFF">
                <a:alpha val="4000"/>
              </a:srgbClr>
            </a:solidFill>
            <a:ln>
              <a:noFill/>
            </a:ln>
          </p:spPr>
        </p:sp>
        <p:sp>
          <p:nvSpPr>
            <p:cNvPr id="4" name="Ellipse 4"/>
            <p:cNvSpPr/>
            <p:nvPr/>
          </p:nvSpPr>
          <p:spPr>
            <a:xfrm>
              <a:off x="0" y="3619500"/>
              <a:ext cx="3810000" cy="3810000"/>
            </a:xfrm>
            <a:prstGeom prst="ellipse">
              <a:avLst/>
            </a:prstGeom>
            <a:solidFill>
              <a:srgbClr val="FFFFFF">
                <a:alpha val="3000"/>
              </a:srgbClr>
            </a:solidFill>
            <a:ln>
              <a:noFill/>
            </a:ln>
          </p:spPr>
        </p:sp>
        <p:sp>
          <p:nvSpPr>
            <p:cNvPr id="5" name="Rectangle 5"/>
            <p:cNvSpPr/>
            <p:nvPr/>
          </p:nvSpPr>
          <p:spPr>
            <a:xfrm rot="-900000">
              <a:off x="7620000" y="3810000"/>
              <a:ext cx="3810000" cy="2857500"/>
            </a:xfrm>
            <a:prstGeom prst="rect">
              <a:avLst/>
            </a:prstGeom>
            <a:solidFill>
              <a:srgbClr val="FFFFFF">
                <a:alpha val="2000"/>
              </a:srgbClr>
            </a:solidFill>
            <a:ln>
              <a:noFill/>
            </a:ln>
          </p:spPr>
        </p:sp>
      </p:grpSp>
      <p:grpSp>
        <p:nvGrpSpPr>
          <p:cNvPr id="13" name="Group 13"/>
          <p:cNvGrpSpPr/>
          <p:nvPr/>
        </p:nvGrpSpPr>
        <p:grpSpPr>
          <a:xfrm>
            <a:off x="883920" y="1893570"/>
            <a:ext cx="4500919" cy="2976086"/>
            <a:chOff x="883920" y="1893570"/>
            <a:chExt cx="4500919" cy="2976086"/>
          </a:xfrm>
        </p:grpSpPr>
        <p:sp>
          <p:nvSpPr>
            <p:cNvPr id="8" name="Rectangle 8"/>
            <p:cNvSpPr/>
            <p:nvPr/>
          </p:nvSpPr>
          <p:spPr>
            <a:xfrm>
              <a:off x="613410" y="2809875"/>
              <a:ext cx="762000" cy="38100"/>
            </a:xfrm>
            <a:prstGeom prst="roundRect">
              <a:avLst>
                <a:gd name="adj" fmla="val 50000"/>
              </a:avLst>
            </a:prstGeom>
            <a:solidFill>
              <a:srgbClr val="FF6F00"/>
            </a:solidFill>
            <a:ln>
              <a:noFill/>
            </a:ln>
          </p:spPr>
        </p:sp>
        <p:sp>
          <p:nvSpPr>
            <p:cNvPr id="9" name="TextBox 9"/>
            <p:cNvSpPr txBox="1"/>
            <p:nvPr/>
          </p:nvSpPr>
          <p:spPr>
            <a:xfrm>
              <a:off x="571500" y="3168015"/>
              <a:ext cx="1932051"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工程哲学</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92455" y="3917632"/>
              <a:ext cx="3122295"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重新审视软件工程的本质与方法</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613410" y="4381500"/>
              <a:ext cx="1905000" cy="19050"/>
            </a:xfrm>
            <a:prstGeom prst="rect">
              <a:avLst/>
            </a:prstGeom>
            <a:solidFill>
              <a:srgbClr val="FFFFFF">
                <a:alpha val="20000"/>
              </a:srgbClr>
            </a:solidFill>
            <a:ln>
              <a:noFill/>
            </a:ln>
          </p:spPr>
        </p:sp>
        <p:sp>
          <p:nvSpPr>
            <p:cNvPr id="12" name="TextBox 12"/>
            <p:cNvSpPr txBox="1"/>
            <p:nvPr/>
          </p:nvSpPr>
          <p:spPr>
            <a:xfrm>
              <a:off x="599122" y="4641056"/>
              <a:ext cx="4446627"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银弹论新思考 · 工程化必然性 · 代码质量金字塔 · 去模糊化方法论</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4" name="TextBox 14"/>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12</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252412"/>
            <a:ext cx="11049000" cy="423863"/>
            <a:chOff x="571500" y="252412"/>
            <a:chExt cx="11049000" cy="423863"/>
          </a:xfrm>
        </p:grpSpPr>
        <p:sp>
          <p:nvSpPr>
            <p:cNvPr id="7" name="TextBox 7"/>
            <p:cNvSpPr txBox="1"/>
            <p:nvPr/>
          </p:nvSpPr>
          <p:spPr>
            <a:xfrm>
              <a:off x="571500" y="252412"/>
              <a:ext cx="3046730" cy="346075"/>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AI编程的3个痛点与对策</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8" name="Group 28"/>
          <p:cNvGrpSpPr/>
          <p:nvPr/>
        </p:nvGrpSpPr>
        <p:grpSpPr>
          <a:xfrm>
            <a:off x="571500" y="904875"/>
            <a:ext cx="3524250" cy="4572000"/>
            <a:chOff x="571500" y="904875"/>
            <a:chExt cx="3524250" cy="4572000"/>
          </a:xfrm>
        </p:grpSpPr>
        <p:sp>
          <p:nvSpPr>
            <p:cNvPr id="10" name="Rectangle 10"/>
            <p:cNvSpPr/>
            <p:nvPr/>
          </p:nvSpPr>
          <p:spPr>
            <a:xfrm>
              <a:off x="571500" y="904875"/>
              <a:ext cx="3524250" cy="4572000"/>
            </a:xfrm>
            <a:prstGeom prst="roundRect">
              <a:avLst>
                <a:gd name="adj" fmla="val 3243"/>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C62828"/>
            </a:solidFill>
            <a:ln>
              <a:noFill/>
            </a:ln>
          </p:spPr>
        </p:sp>
        <p:sp>
          <p:nvSpPr>
            <p:cNvPr id="12" name="Rectangle 12"/>
            <p:cNvSpPr/>
            <p:nvPr/>
          </p:nvSpPr>
          <p:spPr>
            <a:xfrm>
              <a:off x="857250" y="1143000"/>
              <a:ext cx="457200" cy="457200"/>
            </a:xfrm>
            <a:prstGeom prst="roundRect">
              <a:avLst>
                <a:gd name="adj" fmla="val 20833"/>
              </a:avLst>
            </a:prstGeom>
            <a:solidFill>
              <a:srgbClr val="C62828">
                <a:alpha val="10000"/>
              </a:srgbClr>
            </a:solidFill>
            <a:ln>
              <a:noFill/>
            </a:ln>
          </p:spPr>
        </p:sp>
        <p:sp>
          <p:nvSpPr>
            <p:cNvPr id="13" name="TextBox 13"/>
            <p:cNvSpPr txBox="1"/>
            <p:nvPr/>
          </p:nvSpPr>
          <p:spPr>
            <a:xfrm>
              <a:off x="1697428" y="1711642"/>
              <a:ext cx="1272395"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痛点1：忘性大</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857250" y="2047875"/>
              <a:ext cx="2952750" cy="9525"/>
            </a:xfrm>
            <a:prstGeom prst="rect">
              <a:avLst/>
            </a:prstGeom>
            <a:solidFill>
              <a:srgbClr val="CFD8DC"/>
            </a:solidFill>
            <a:ln>
              <a:noFill/>
            </a:ln>
          </p:spPr>
        </p:sp>
        <p:sp>
          <p:nvSpPr>
            <p:cNvPr id="15" name="Rectangle 15"/>
            <p:cNvSpPr/>
            <p:nvPr/>
          </p:nvSpPr>
          <p:spPr>
            <a:xfrm>
              <a:off x="857250" y="2238375"/>
              <a:ext cx="2952750" cy="523875"/>
            </a:xfrm>
            <a:prstGeom prst="roundRect">
              <a:avLst>
                <a:gd name="adj" fmla="val 14545"/>
              </a:avLst>
            </a:prstGeom>
            <a:solidFill>
              <a:srgbClr val="C62828">
                <a:alpha val="4000"/>
              </a:srgbClr>
            </a:solidFill>
            <a:ln>
              <a:noFill/>
            </a:ln>
          </p:spPr>
        </p:sp>
        <p:sp>
          <p:nvSpPr>
            <p:cNvPr id="16" name="TextBox 16"/>
            <p:cNvSpPr txBox="1"/>
            <p:nvPr/>
          </p:nvSpPr>
          <p:spPr>
            <a:xfrm>
              <a:off x="1033462" y="233600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对话上下文丢失</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033462" y="254555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早期约定被遗忘</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57250" y="2952750"/>
              <a:ext cx="2952750" cy="9525"/>
            </a:xfrm>
            <a:prstGeom prst="rect">
              <a:avLst/>
            </a:prstGeom>
            <a:solidFill>
              <a:srgbClr val="CFD8DC">
                <a:alpha val="50000"/>
              </a:srgbClr>
            </a:solidFill>
            <a:ln>
              <a:noFill/>
            </a:ln>
          </p:spPr>
        </p:sp>
        <p:sp>
          <p:nvSpPr>
            <p:cNvPr id="19" name="TextBox 19"/>
            <p:cNvSpPr txBox="1"/>
            <p:nvPr/>
          </p:nvSpPr>
          <p:spPr>
            <a:xfrm>
              <a:off x="1032510" y="3108960"/>
              <a:ext cx="148666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第1轮：约定用A方案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1032510" y="3347085"/>
              <a:ext cx="171069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第20轮：AI已忘记A方案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32510" y="3585210"/>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结果：代码前后不一致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57250" y="3952875"/>
              <a:ext cx="2952750" cy="9525"/>
            </a:xfrm>
            <a:prstGeom prst="rect">
              <a:avLst/>
            </a:prstGeom>
            <a:solidFill>
              <a:srgbClr val="CFD8DC"/>
            </a:solidFill>
            <a:ln>
              <a:noFill/>
            </a:ln>
          </p:spPr>
        </p:sp>
        <p:sp>
          <p:nvSpPr>
            <p:cNvPr id="23" name="Rectangle 23"/>
            <p:cNvSpPr/>
            <p:nvPr/>
          </p:nvSpPr>
          <p:spPr>
            <a:xfrm>
              <a:off x="857250" y="4095750"/>
              <a:ext cx="2952750" cy="1190625"/>
            </a:xfrm>
            <a:prstGeom prst="roundRect">
              <a:avLst>
                <a:gd name="adj" fmla="val 6400"/>
              </a:avLst>
            </a:prstGeom>
            <a:solidFill>
              <a:srgbClr val="2E7D32">
                <a:alpha val="6000"/>
              </a:srgbClr>
            </a:solidFill>
            <a:ln>
              <a:noFill/>
            </a:ln>
          </p:spPr>
        </p:sp>
        <p:sp>
          <p:nvSpPr>
            <p:cNvPr id="24" name="TextBox 24"/>
            <p:cNvSpPr txBox="1"/>
            <p:nvPr/>
          </p:nvSpPr>
          <p:spPr>
            <a:xfrm>
              <a:off x="1032510" y="4204335"/>
              <a:ext cx="509340"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对策</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1033462" y="4450556"/>
              <a:ext cx="2061329"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规则外置：写入Skill/规则文件</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1033462" y="4688681"/>
              <a:ext cx="1528762"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契约文档化：显式合同</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1033462" y="4926806"/>
              <a:ext cx="1078706"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回归测试护城河</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47" name="Group 47"/>
          <p:cNvGrpSpPr/>
          <p:nvPr/>
        </p:nvGrpSpPr>
        <p:grpSpPr>
          <a:xfrm>
            <a:off x="4333875" y="904875"/>
            <a:ext cx="3524250" cy="4572000"/>
            <a:chOff x="4333875" y="904875"/>
            <a:chExt cx="3524250" cy="4572000"/>
          </a:xfrm>
        </p:grpSpPr>
        <p:sp>
          <p:nvSpPr>
            <p:cNvPr id="29" name="Rectangle 29"/>
            <p:cNvSpPr/>
            <p:nvPr/>
          </p:nvSpPr>
          <p:spPr>
            <a:xfrm>
              <a:off x="4333875" y="904875"/>
              <a:ext cx="3524250" cy="4572000"/>
            </a:xfrm>
            <a:prstGeom prst="roundRect">
              <a:avLst>
                <a:gd name="adj" fmla="val 3243"/>
              </a:avLst>
            </a:prstGeom>
            <a:solidFill>
              <a:srgbClr val="FFFFFF"/>
            </a:solidFill>
            <a:ln>
              <a:noFill/>
            </a:ln>
          </p:spPr>
        </p:sp>
        <p:sp>
          <p:nvSpPr>
            <p:cNvPr id="30" name="Rectangle 30"/>
            <p:cNvSpPr/>
            <p:nvPr/>
          </p:nvSpPr>
          <p:spPr>
            <a:xfrm>
              <a:off x="4333875" y="904875"/>
              <a:ext cx="3524250" cy="38100"/>
            </a:xfrm>
            <a:prstGeom prst="roundRect">
              <a:avLst>
                <a:gd name="adj" fmla="val 50000"/>
              </a:avLst>
            </a:prstGeom>
            <a:solidFill>
              <a:srgbClr val="FF6F00"/>
            </a:solidFill>
            <a:ln>
              <a:noFill/>
            </a:ln>
          </p:spPr>
        </p:sp>
        <p:sp>
          <p:nvSpPr>
            <p:cNvPr id="31" name="Rectangle 31"/>
            <p:cNvSpPr/>
            <p:nvPr/>
          </p:nvSpPr>
          <p:spPr>
            <a:xfrm>
              <a:off x="4619625" y="1143000"/>
              <a:ext cx="457200" cy="457200"/>
            </a:xfrm>
            <a:prstGeom prst="roundRect">
              <a:avLst>
                <a:gd name="adj" fmla="val 20833"/>
              </a:avLst>
            </a:prstGeom>
            <a:solidFill>
              <a:srgbClr val="FF6F00">
                <a:alpha val="10000"/>
              </a:srgbClr>
            </a:solidFill>
            <a:ln>
              <a:noFill/>
            </a:ln>
          </p:spPr>
        </p:sp>
        <p:sp>
          <p:nvSpPr>
            <p:cNvPr id="32" name="TextBox 32"/>
            <p:cNvSpPr txBox="1"/>
            <p:nvPr/>
          </p:nvSpPr>
          <p:spPr>
            <a:xfrm>
              <a:off x="5365291" y="1711642"/>
              <a:ext cx="1461418"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痛点2：自以为是</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4619625" y="2047875"/>
              <a:ext cx="2952750" cy="9525"/>
            </a:xfrm>
            <a:prstGeom prst="rect">
              <a:avLst/>
            </a:prstGeom>
            <a:solidFill>
              <a:srgbClr val="CFD8DC"/>
            </a:solidFill>
            <a:ln>
              <a:noFill/>
            </a:ln>
          </p:spPr>
        </p:sp>
        <p:sp>
          <p:nvSpPr>
            <p:cNvPr id="34" name="Rectangle 34"/>
            <p:cNvSpPr/>
            <p:nvPr/>
          </p:nvSpPr>
          <p:spPr>
            <a:xfrm>
              <a:off x="4619625" y="2238375"/>
              <a:ext cx="2952750" cy="523875"/>
            </a:xfrm>
            <a:prstGeom prst="roundRect">
              <a:avLst>
                <a:gd name="adj" fmla="val 14545"/>
              </a:avLst>
            </a:prstGeom>
            <a:solidFill>
              <a:srgbClr val="FF6F00">
                <a:alpha val="4000"/>
              </a:srgbClr>
            </a:solidFill>
            <a:ln>
              <a:noFill/>
            </a:ln>
          </p:spPr>
        </p:sp>
        <p:sp>
          <p:nvSpPr>
            <p:cNvPr id="35" name="TextBox 35"/>
            <p:cNvSpPr txBox="1"/>
            <p:nvPr/>
          </p:nvSpPr>
          <p:spPr>
            <a:xfrm>
              <a:off x="4795838" y="233600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遇到模糊信息时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4795838" y="2545556"/>
              <a:ext cx="169378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基于概率"脑补"而非询问</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619625" y="2952750"/>
              <a:ext cx="2952750" cy="9525"/>
            </a:xfrm>
            <a:prstGeom prst="rect">
              <a:avLst/>
            </a:prstGeom>
            <a:solidFill>
              <a:srgbClr val="CFD8DC">
                <a:alpha val="50000"/>
              </a:srgbClr>
            </a:solidFill>
            <a:ln>
              <a:noFill/>
            </a:ln>
          </p:spPr>
        </p:sp>
        <p:sp>
          <p:nvSpPr>
            <p:cNvPr id="38" name="TextBox 38"/>
            <p:cNvSpPr txBox="1"/>
            <p:nvPr/>
          </p:nvSpPr>
          <p:spPr>
            <a:xfrm>
              <a:off x="4794885" y="3108960"/>
              <a:ext cx="116662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人："优化性能"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794885" y="3347085"/>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AI脑补：加缓存（未必对）</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4794885" y="3585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结果：答非所问</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4619625" y="3952875"/>
              <a:ext cx="2952750" cy="9525"/>
            </a:xfrm>
            <a:prstGeom prst="rect">
              <a:avLst/>
            </a:prstGeom>
            <a:solidFill>
              <a:srgbClr val="CFD8DC"/>
            </a:solidFill>
            <a:ln>
              <a:noFill/>
            </a:ln>
          </p:spPr>
        </p:sp>
        <p:sp>
          <p:nvSpPr>
            <p:cNvPr id="42" name="Rectangle 42"/>
            <p:cNvSpPr/>
            <p:nvPr/>
          </p:nvSpPr>
          <p:spPr>
            <a:xfrm>
              <a:off x="4619625" y="4095750"/>
              <a:ext cx="2952750" cy="1190625"/>
            </a:xfrm>
            <a:prstGeom prst="roundRect">
              <a:avLst>
                <a:gd name="adj" fmla="val 6400"/>
              </a:avLst>
            </a:prstGeom>
            <a:solidFill>
              <a:srgbClr val="2E7D32">
                <a:alpha val="6000"/>
              </a:srgbClr>
            </a:solidFill>
            <a:ln>
              <a:noFill/>
            </a:ln>
          </p:spPr>
        </p:sp>
        <p:sp>
          <p:nvSpPr>
            <p:cNvPr id="43" name="TextBox 43"/>
            <p:cNvSpPr txBox="1"/>
            <p:nvPr/>
          </p:nvSpPr>
          <p:spPr>
            <a:xfrm>
              <a:off x="4794885" y="4204335"/>
              <a:ext cx="509340"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对策</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4795838" y="4450556"/>
              <a:ext cx="928688"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去模糊化沟通</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4795838" y="4688681"/>
              <a:ext cx="1843802"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精确输入：量化+样例+边界</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4795838" y="4926806"/>
              <a:ext cx="1468755"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Sample-First 先样例</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66" name="Group 66"/>
          <p:cNvGrpSpPr/>
          <p:nvPr/>
        </p:nvGrpSpPr>
        <p:grpSpPr>
          <a:xfrm>
            <a:off x="8096250" y="904875"/>
            <a:ext cx="3524250" cy="4572000"/>
            <a:chOff x="8096250" y="904875"/>
            <a:chExt cx="3524250" cy="4572000"/>
          </a:xfrm>
        </p:grpSpPr>
        <p:sp>
          <p:nvSpPr>
            <p:cNvPr id="48" name="Rectangle 48"/>
            <p:cNvSpPr/>
            <p:nvPr/>
          </p:nvSpPr>
          <p:spPr>
            <a:xfrm>
              <a:off x="8096250" y="904875"/>
              <a:ext cx="3524250" cy="4572000"/>
            </a:xfrm>
            <a:prstGeom prst="roundRect">
              <a:avLst>
                <a:gd name="adj" fmla="val 3243"/>
              </a:avLst>
            </a:prstGeom>
            <a:solidFill>
              <a:srgbClr val="FFFFFF"/>
            </a:solidFill>
            <a:ln>
              <a:noFill/>
            </a:ln>
          </p:spPr>
        </p:sp>
        <p:sp>
          <p:nvSpPr>
            <p:cNvPr id="49" name="Rectangle 49"/>
            <p:cNvSpPr/>
            <p:nvPr/>
          </p:nvSpPr>
          <p:spPr>
            <a:xfrm>
              <a:off x="8096250" y="904875"/>
              <a:ext cx="3524250" cy="38100"/>
            </a:xfrm>
            <a:prstGeom prst="roundRect">
              <a:avLst>
                <a:gd name="adj" fmla="val 50000"/>
              </a:avLst>
            </a:prstGeom>
            <a:solidFill>
              <a:srgbClr val="1565C0"/>
            </a:solidFill>
            <a:ln>
              <a:noFill/>
            </a:ln>
          </p:spPr>
        </p:sp>
        <p:sp>
          <p:nvSpPr>
            <p:cNvPr id="50" name="Rectangle 50"/>
            <p:cNvSpPr/>
            <p:nvPr/>
          </p:nvSpPr>
          <p:spPr>
            <a:xfrm>
              <a:off x="8382000" y="1143000"/>
              <a:ext cx="457200" cy="457200"/>
            </a:xfrm>
            <a:prstGeom prst="roundRect">
              <a:avLst>
                <a:gd name="adj" fmla="val 20833"/>
              </a:avLst>
            </a:prstGeom>
            <a:solidFill>
              <a:srgbClr val="1565C0">
                <a:alpha val="10000"/>
              </a:srgbClr>
            </a:solidFill>
            <a:ln>
              <a:noFill/>
            </a:ln>
          </p:spPr>
        </p:sp>
        <p:sp>
          <p:nvSpPr>
            <p:cNvPr id="51" name="TextBox 51"/>
            <p:cNvSpPr txBox="1"/>
            <p:nvPr/>
          </p:nvSpPr>
          <p:spPr>
            <a:xfrm>
              <a:off x="9127666" y="1711642"/>
              <a:ext cx="1461418"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痛点3：知识陈旧</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8382000" y="2047875"/>
              <a:ext cx="2952750" cy="9525"/>
            </a:xfrm>
            <a:prstGeom prst="rect">
              <a:avLst/>
            </a:prstGeom>
            <a:solidFill>
              <a:srgbClr val="CFD8DC"/>
            </a:solidFill>
            <a:ln>
              <a:noFill/>
            </a:ln>
          </p:spPr>
        </p:sp>
        <p:sp>
          <p:nvSpPr>
            <p:cNvPr id="53" name="Rectangle 53"/>
            <p:cNvSpPr/>
            <p:nvPr/>
          </p:nvSpPr>
          <p:spPr>
            <a:xfrm>
              <a:off x="8382000" y="2238375"/>
              <a:ext cx="2952750" cy="523875"/>
            </a:xfrm>
            <a:prstGeom prst="roundRect">
              <a:avLst>
                <a:gd name="adj" fmla="val 14545"/>
              </a:avLst>
            </a:prstGeom>
            <a:solidFill>
              <a:srgbClr val="1565C0">
                <a:alpha val="4000"/>
              </a:srgbClr>
            </a:solidFill>
            <a:ln>
              <a:noFill/>
            </a:ln>
          </p:spPr>
        </p:sp>
        <p:sp>
          <p:nvSpPr>
            <p:cNvPr id="54" name="TextBox 54"/>
            <p:cNvSpPr txBox="1"/>
            <p:nvPr/>
          </p:nvSpPr>
          <p:spPr>
            <a:xfrm>
              <a:off x="8558212" y="2336006"/>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训练数据截止</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8558212" y="2545556"/>
              <a:ext cx="15212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导致使用旧API/旧框架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6" name="Rectangle 56"/>
            <p:cNvSpPr/>
            <p:nvPr/>
          </p:nvSpPr>
          <p:spPr>
            <a:xfrm>
              <a:off x="8382000" y="2952750"/>
              <a:ext cx="2952750" cy="9525"/>
            </a:xfrm>
            <a:prstGeom prst="rect">
              <a:avLst/>
            </a:prstGeom>
            <a:solidFill>
              <a:srgbClr val="CFD8DC">
                <a:alpha val="50000"/>
              </a:srgbClr>
            </a:solidFill>
            <a:ln>
              <a:noFill/>
            </a:ln>
          </p:spPr>
        </p:sp>
        <p:sp>
          <p:nvSpPr>
            <p:cNvPr id="57" name="TextBox 57"/>
            <p:cNvSpPr txBox="1"/>
            <p:nvPr/>
          </p:nvSpPr>
          <p:spPr>
            <a:xfrm>
              <a:off x="8557260" y="3108960"/>
              <a:ext cx="133464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要求：用React 19</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8557260" y="3347085"/>
              <a:ext cx="158267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AI输出：React 18 API</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8557260" y="3585210"/>
              <a:ext cx="14706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结果：不兼容、报错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0" name="Rectangle 60"/>
            <p:cNvSpPr/>
            <p:nvPr/>
          </p:nvSpPr>
          <p:spPr>
            <a:xfrm>
              <a:off x="8382000" y="3952875"/>
              <a:ext cx="2952750" cy="9525"/>
            </a:xfrm>
            <a:prstGeom prst="rect">
              <a:avLst/>
            </a:prstGeom>
            <a:solidFill>
              <a:srgbClr val="CFD8DC"/>
            </a:solidFill>
            <a:ln>
              <a:noFill/>
            </a:ln>
          </p:spPr>
        </p:sp>
        <p:sp>
          <p:nvSpPr>
            <p:cNvPr id="61" name="Rectangle 61"/>
            <p:cNvSpPr/>
            <p:nvPr/>
          </p:nvSpPr>
          <p:spPr>
            <a:xfrm>
              <a:off x="8382000" y="4095750"/>
              <a:ext cx="2952750" cy="1190625"/>
            </a:xfrm>
            <a:prstGeom prst="roundRect">
              <a:avLst>
                <a:gd name="adj" fmla="val 6400"/>
              </a:avLst>
            </a:prstGeom>
            <a:solidFill>
              <a:srgbClr val="2E7D32">
                <a:alpha val="6000"/>
              </a:srgbClr>
            </a:solidFill>
            <a:ln>
              <a:noFill/>
            </a:ln>
          </p:spPr>
        </p:sp>
        <p:sp>
          <p:nvSpPr>
            <p:cNvPr id="62" name="TextBox 62"/>
            <p:cNvSpPr txBox="1"/>
            <p:nvPr/>
          </p:nvSpPr>
          <p:spPr>
            <a:xfrm>
              <a:off x="8557260" y="4204335"/>
              <a:ext cx="509340"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对策</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8558212" y="4450556"/>
              <a:ext cx="1626275"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RAG知识库注入最新知识</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64" name="TextBox 64"/>
            <p:cNvSpPr txBox="1"/>
            <p:nvPr/>
          </p:nvSpPr>
          <p:spPr>
            <a:xfrm>
              <a:off x="8558212" y="4688681"/>
              <a:ext cx="1438751"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Skill注入最新API文档</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65" name="TextBox 65"/>
            <p:cNvSpPr txBox="1"/>
            <p:nvPr/>
          </p:nvSpPr>
          <p:spPr>
            <a:xfrm>
              <a:off x="8558212" y="4926806"/>
              <a:ext cx="928688"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代码审查机制</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70" name="Group 70"/>
          <p:cNvGrpSpPr/>
          <p:nvPr/>
        </p:nvGrpSpPr>
        <p:grpSpPr>
          <a:xfrm>
            <a:off x="571500" y="5715000"/>
            <a:ext cx="11049000" cy="523875"/>
            <a:chOff x="571500" y="5715000"/>
            <a:chExt cx="11049000" cy="523875"/>
          </a:xfrm>
        </p:grpSpPr>
        <p:sp>
          <p:nvSpPr>
            <p:cNvPr id="67" name="Rectangle 67"/>
            <p:cNvSpPr/>
            <p:nvPr/>
          </p:nvSpPr>
          <p:spPr>
            <a:xfrm>
              <a:off x="571500" y="5715000"/>
              <a:ext cx="11049000" cy="523875"/>
            </a:xfrm>
            <a:prstGeom prst="roundRect">
              <a:avLst>
                <a:gd name="adj" fmla="val 14545"/>
              </a:avLst>
            </a:prstGeom>
            <a:solidFill>
              <a:srgbClr val="1565C0">
                <a:alpha val="6000"/>
              </a:srgbClr>
            </a:solidFill>
            <a:ln>
              <a:noFill/>
            </a:ln>
          </p:spPr>
        </p:sp>
        <p:sp>
          <p:nvSpPr>
            <p:cNvPr id="68" name="Rectangle 68"/>
            <p:cNvSpPr/>
            <p:nvPr/>
          </p:nvSpPr>
          <p:spPr>
            <a:xfrm>
              <a:off x="571500" y="5715000"/>
              <a:ext cx="57150" cy="523875"/>
            </a:xfrm>
            <a:prstGeom prst="roundRect">
              <a:avLst>
                <a:gd name="adj" fmla="val 50000"/>
              </a:avLst>
            </a:prstGeom>
            <a:solidFill>
              <a:srgbClr val="FF6F00"/>
            </a:solidFill>
            <a:ln>
              <a:noFill/>
            </a:ln>
          </p:spPr>
        </p:sp>
        <p:sp>
          <p:nvSpPr>
            <p:cNvPr id="69" name="TextBox 69"/>
            <p:cNvSpPr txBox="1"/>
            <p:nvPr/>
          </p:nvSpPr>
          <p:spPr>
            <a:xfrm>
              <a:off x="3430229" y="5909310"/>
              <a:ext cx="5331543"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核心洞察：三大痛点是可管理的 —— 不需要等AI变聪明，只需学会驾驭它</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1" name="TextBox 71"/>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2" name="图片 7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400"/>
                                        <p:tgtEl>
                                          <p:spTgt spid="2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slide(fromBottom)">
                                      <p:cBhvr>
                                        <p:cTn id="11" dur="400"/>
                                        <p:tgtEl>
                                          <p:spTgt spid="47"/>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slide(fromBottom)">
                                      <p:cBhvr>
                                        <p:cTn id="15" dur="400"/>
                                        <p:tgtEl>
                                          <p:spTgt spid="6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7" grpId="0"/>
      <p:bldP spid="66" grpId="0"/>
      <p:bldP spid="7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6478043"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如何让AI生成正确、优美而无坏味道的代码（一）</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8" name="Group 28"/>
          <p:cNvGrpSpPr/>
          <p:nvPr/>
        </p:nvGrpSpPr>
        <p:grpSpPr>
          <a:xfrm>
            <a:off x="2381250" y="1028700"/>
            <a:ext cx="7429500" cy="3886200"/>
            <a:chOff x="2381250" y="1028700"/>
            <a:chExt cx="7429500" cy="3886200"/>
          </a:xfrm>
        </p:grpSpPr>
        <p:sp>
          <p:nvSpPr>
            <p:cNvPr id="10" name="Polygon 10"/>
            <p:cNvSpPr/>
            <p:nvPr/>
          </p:nvSpPr>
          <p:spPr>
            <a:xfrm>
              <a:off x="3238500" y="1028700"/>
              <a:ext cx="5715000" cy="876300"/>
            </a:xfrm>
            <a:custGeom>
              <a:avLst/>
              <a:gdLst/>
              <a:ahLst/>
              <a:cxnLst/>
              <a:rect l="l" t="t" r="r" b="b"/>
              <a:pathLst>
                <a:path w="5715000" h="876300">
                  <a:moveTo>
                    <a:pt x="2857500" y="0"/>
                  </a:moveTo>
                  <a:lnTo>
                    <a:pt x="5715000" y="876300"/>
                  </a:lnTo>
                  <a:lnTo>
                    <a:pt x="0" y="876300"/>
                  </a:lnTo>
                  <a:close/>
                </a:path>
              </a:pathLst>
            </a:custGeom>
            <a:solidFill>
              <a:srgbClr val="1565C0">
                <a:alpha val="12000"/>
              </a:srgbClr>
            </a:solidFill>
            <a:ln>
              <a:noFill/>
            </a:ln>
          </p:spPr>
        </p:sp>
        <p:sp>
          <p:nvSpPr>
            <p:cNvPr id="11" name="Polygon 11"/>
            <p:cNvSpPr/>
            <p:nvPr/>
          </p:nvSpPr>
          <p:spPr>
            <a:xfrm>
              <a:off x="3238500" y="1028700"/>
              <a:ext cx="5715000" cy="876300"/>
            </a:xfrm>
            <a:custGeom>
              <a:avLst/>
              <a:gdLst/>
              <a:ahLst/>
              <a:cxnLst/>
              <a:rect l="l" t="t" r="r" b="b"/>
              <a:pathLst>
                <a:path w="5715000" h="876300">
                  <a:moveTo>
                    <a:pt x="2857500" y="0"/>
                  </a:moveTo>
                  <a:lnTo>
                    <a:pt x="5715000" y="876300"/>
                  </a:lnTo>
                  <a:lnTo>
                    <a:pt x="0" y="876300"/>
                  </a:lnTo>
                  <a:close/>
                </a:path>
              </a:pathLst>
            </a:custGeom>
            <a:noFill/>
            <a:ln w="19050">
              <a:solidFill>
                <a:srgbClr val="1565C0"/>
              </a:solidFill>
            </a:ln>
          </p:spPr>
        </p:sp>
        <p:sp>
          <p:nvSpPr>
            <p:cNvPr id="12" name="TextBox 12"/>
            <p:cNvSpPr txBox="1"/>
            <p:nvPr/>
          </p:nvSpPr>
          <p:spPr>
            <a:xfrm>
              <a:off x="5457043" y="1298258"/>
              <a:ext cx="1277914" cy="335280"/>
            </a:xfrm>
            <a:prstGeom prst="rect">
              <a:avLst/>
            </a:prstGeom>
            <a:noFill/>
            <a:ln>
              <a:noFill/>
            </a:ln>
          </p:spPr>
          <p:txBody>
            <a:bodyPr wrap="none" lIns="0" tIns="0" rIns="0" bIns="0" anchor="t" anchorCtr="0">
              <a:spAutoFit/>
            </a:bodyPr>
            <a:lstStyle/>
            <a:p>
              <a:pPr algn="ctr"/>
              <a:r>
                <a:rPr lang="zh-CN" sz="1650" b="1" dirty="0">
                  <a:solidFill>
                    <a:srgbClr val="1565C0"/>
                  </a:solidFill>
                  <a:latin typeface="Segoe UI" panose="020B0502040204020203"/>
                  <a:ea typeface="微软雅黑" panose="020B0503020204020204" charset="-122"/>
                  <a:cs typeface="Segoe UI" panose="020B0502040204020203"/>
                </a:rPr>
                <a:t>优美 Design</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5631656" y="1593056"/>
              <a:ext cx="928688" cy="228600"/>
            </a:xfrm>
            <a:prstGeom prst="rect">
              <a:avLst/>
            </a:prstGeom>
            <a:noFill/>
            <a:ln>
              <a:noFill/>
            </a:ln>
          </p:spPr>
          <p:txBody>
            <a:bodyPr wrap="none" lIns="0" tIns="0" rIns="0" bIns="0" anchor="t" anchorCtr="0">
              <a:spAutoFit/>
            </a:bodyPr>
            <a:lstStyle/>
            <a:p>
              <a:pPr algn="ctr"/>
              <a:r>
                <a:rPr lang="zh-CN" sz="1125" dirty="0">
                  <a:solidFill>
                    <a:srgbClr val="1565C0"/>
                  </a:solidFill>
                  <a:latin typeface="Segoe UI" panose="020B0502040204020203"/>
                  <a:ea typeface="微软雅黑" panose="020B0503020204020204" charset="-122"/>
                  <a:cs typeface="Segoe UI" panose="020B0502040204020203"/>
                </a:rPr>
                <a:t>设计层次优雅</a:t>
              </a:r>
              <a:endParaRPr lang="zh-CN" sz="1125" dirty="0">
                <a:solidFill>
                  <a:srgbClr val="1565C0"/>
                </a:solidFill>
                <a:latin typeface="Segoe UI" panose="020B0502040204020203"/>
                <a:ea typeface="微软雅黑" panose="020B0503020204020204" charset="-122"/>
                <a:cs typeface="Segoe UI" panose="020B0502040204020203"/>
              </a:endParaRPr>
            </a:p>
          </p:txBody>
        </p:sp>
        <p:sp>
          <p:nvSpPr>
            <p:cNvPr id="14" name="Polygon 14"/>
            <p:cNvSpPr/>
            <p:nvPr/>
          </p:nvSpPr>
          <p:spPr>
            <a:xfrm>
              <a:off x="2857500" y="2047875"/>
              <a:ext cx="6477000" cy="1190625"/>
            </a:xfrm>
            <a:custGeom>
              <a:avLst/>
              <a:gdLst/>
              <a:ahLst/>
              <a:cxnLst/>
              <a:rect l="l" t="t" r="r" b="b"/>
              <a:pathLst>
                <a:path w="6477000" h="1190625">
                  <a:moveTo>
                    <a:pt x="3238500" y="0"/>
                  </a:moveTo>
                  <a:lnTo>
                    <a:pt x="6477000" y="1190625"/>
                  </a:lnTo>
                  <a:lnTo>
                    <a:pt x="0" y="1190625"/>
                  </a:lnTo>
                  <a:close/>
                </a:path>
              </a:pathLst>
            </a:custGeom>
            <a:solidFill>
              <a:srgbClr val="00838F">
                <a:alpha val="12000"/>
              </a:srgbClr>
            </a:solidFill>
            <a:ln>
              <a:noFill/>
            </a:ln>
          </p:spPr>
        </p:sp>
        <p:sp>
          <p:nvSpPr>
            <p:cNvPr id="15" name="Polygon 15"/>
            <p:cNvSpPr/>
            <p:nvPr/>
          </p:nvSpPr>
          <p:spPr>
            <a:xfrm>
              <a:off x="2857500" y="2047875"/>
              <a:ext cx="6477000" cy="1190625"/>
            </a:xfrm>
            <a:custGeom>
              <a:avLst/>
              <a:gdLst/>
              <a:ahLst/>
              <a:cxnLst/>
              <a:rect l="l" t="t" r="r" b="b"/>
              <a:pathLst>
                <a:path w="6477000" h="1190625">
                  <a:moveTo>
                    <a:pt x="3238500" y="0"/>
                  </a:moveTo>
                  <a:lnTo>
                    <a:pt x="6477000" y="1190625"/>
                  </a:lnTo>
                  <a:lnTo>
                    <a:pt x="0" y="1190625"/>
                  </a:lnTo>
                  <a:close/>
                </a:path>
              </a:pathLst>
            </a:custGeom>
            <a:noFill/>
            <a:ln w="19050">
              <a:solidFill>
                <a:srgbClr val="00838F"/>
              </a:solidFill>
            </a:ln>
          </p:spPr>
        </p:sp>
        <p:sp>
          <p:nvSpPr>
            <p:cNvPr id="16" name="TextBox 16"/>
            <p:cNvSpPr txBox="1"/>
            <p:nvPr/>
          </p:nvSpPr>
          <p:spPr>
            <a:xfrm>
              <a:off x="5362861" y="2505075"/>
              <a:ext cx="1466279" cy="304800"/>
            </a:xfrm>
            <a:prstGeom prst="rect">
              <a:avLst/>
            </a:prstGeom>
            <a:noFill/>
            <a:ln>
              <a:noFill/>
            </a:ln>
          </p:spPr>
          <p:txBody>
            <a:bodyPr wrap="none" lIns="0" tIns="0" rIns="0" bIns="0" anchor="t" anchorCtr="0">
              <a:spAutoFit/>
            </a:bodyPr>
            <a:lstStyle/>
            <a:p>
              <a:pPr algn="ctr"/>
              <a:r>
                <a:rPr lang="zh-CN" sz="1500" b="1" dirty="0">
                  <a:solidFill>
                    <a:srgbClr val="00838F"/>
                  </a:solidFill>
                  <a:latin typeface="Segoe UI" panose="020B0502040204020203"/>
                  <a:ea typeface="微软雅黑" panose="020B0503020204020204" charset="-122"/>
                  <a:cs typeface="Segoe UI" panose="020B0502040204020203"/>
                </a:rPr>
                <a:t>无坏味道 Clean</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5406628" y="2783681"/>
              <a:ext cx="1378744" cy="228600"/>
            </a:xfrm>
            <a:prstGeom prst="rect">
              <a:avLst/>
            </a:prstGeom>
            <a:noFill/>
            <a:ln>
              <a:noFill/>
            </a:ln>
          </p:spPr>
          <p:txBody>
            <a:bodyPr wrap="none" lIns="0" tIns="0" rIns="0" bIns="0" anchor="t" anchorCtr="0">
              <a:spAutoFit/>
            </a:bodyPr>
            <a:lstStyle/>
            <a:p>
              <a:pPr algn="ctr"/>
              <a:r>
                <a:rPr lang="zh-CN" sz="1125" dirty="0">
                  <a:solidFill>
                    <a:srgbClr val="00838F"/>
                  </a:solidFill>
                  <a:latin typeface="Segoe UI" panose="020B0502040204020203"/>
                  <a:ea typeface="微软雅黑" panose="020B0503020204020204" charset="-122"/>
                  <a:cs typeface="Segoe UI" panose="020B0502040204020203"/>
                </a:rPr>
                <a:t>编码整洁，无技术债</a:t>
              </a:r>
              <a:endParaRPr lang="zh-CN" sz="1125" dirty="0">
                <a:solidFill>
                  <a:srgbClr val="00838F"/>
                </a:solidFill>
                <a:latin typeface="Segoe UI" panose="020B0502040204020203"/>
                <a:ea typeface="微软雅黑" panose="020B0503020204020204" charset="-122"/>
                <a:cs typeface="Segoe UI" panose="020B0502040204020203"/>
              </a:endParaRPr>
            </a:p>
          </p:txBody>
        </p:sp>
        <p:sp>
          <p:nvSpPr>
            <p:cNvPr id="18" name="Polygon 18"/>
            <p:cNvSpPr/>
            <p:nvPr/>
          </p:nvSpPr>
          <p:spPr>
            <a:xfrm>
              <a:off x="2381250" y="3381375"/>
              <a:ext cx="7429500" cy="1476375"/>
            </a:xfrm>
            <a:custGeom>
              <a:avLst/>
              <a:gdLst/>
              <a:ahLst/>
              <a:cxnLst/>
              <a:rect l="l" t="t" r="r" b="b"/>
              <a:pathLst>
                <a:path w="7429500" h="1476375">
                  <a:moveTo>
                    <a:pt x="3714750" y="0"/>
                  </a:moveTo>
                  <a:lnTo>
                    <a:pt x="7429500" y="1476375"/>
                  </a:lnTo>
                  <a:lnTo>
                    <a:pt x="0" y="1476375"/>
                  </a:lnTo>
                  <a:close/>
                </a:path>
              </a:pathLst>
            </a:custGeom>
            <a:solidFill>
              <a:srgbClr val="2E7D32">
                <a:alpha val="12000"/>
              </a:srgbClr>
            </a:solidFill>
            <a:ln>
              <a:noFill/>
            </a:ln>
          </p:spPr>
        </p:sp>
        <p:sp>
          <p:nvSpPr>
            <p:cNvPr id="19" name="Polygon 19"/>
            <p:cNvSpPr/>
            <p:nvPr/>
          </p:nvSpPr>
          <p:spPr>
            <a:xfrm>
              <a:off x="2381250" y="3381375"/>
              <a:ext cx="7429500" cy="1476375"/>
            </a:xfrm>
            <a:custGeom>
              <a:avLst/>
              <a:gdLst/>
              <a:ahLst/>
              <a:cxnLst/>
              <a:rect l="l" t="t" r="r" b="b"/>
              <a:pathLst>
                <a:path w="7429500" h="1476375">
                  <a:moveTo>
                    <a:pt x="3714750" y="0"/>
                  </a:moveTo>
                  <a:lnTo>
                    <a:pt x="7429500" y="1476375"/>
                  </a:lnTo>
                  <a:lnTo>
                    <a:pt x="0" y="1476375"/>
                  </a:lnTo>
                  <a:close/>
                </a:path>
              </a:pathLst>
            </a:custGeom>
            <a:noFill/>
            <a:ln w="19050">
              <a:solidFill>
                <a:srgbClr val="2E7D32"/>
              </a:solidFill>
            </a:ln>
          </p:spPr>
        </p:sp>
        <p:sp>
          <p:nvSpPr>
            <p:cNvPr id="20" name="TextBox 20"/>
            <p:cNvSpPr txBox="1"/>
            <p:nvPr/>
          </p:nvSpPr>
          <p:spPr>
            <a:xfrm>
              <a:off x="5546634" y="3933825"/>
              <a:ext cx="1098733"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Segoe UI" panose="020B0502040204020203"/>
                  <a:ea typeface="微软雅黑" panose="020B0503020204020204" charset="-122"/>
                  <a:cs typeface="Segoe UI" panose="020B0502040204020203"/>
                </a:rPr>
                <a:t>正确 Craft</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5406628" y="4212431"/>
              <a:ext cx="1378744" cy="228600"/>
            </a:xfrm>
            <a:prstGeom prst="rect">
              <a:avLst/>
            </a:prstGeom>
            <a:noFill/>
            <a:ln>
              <a:noFill/>
            </a:ln>
          </p:spPr>
          <p:txBody>
            <a:bodyPr wrap="none" lIns="0" tIns="0" rIns="0" bIns="0" anchor="t" anchorCtr="0">
              <a:spAutoFit/>
            </a:bodyPr>
            <a:lstStyle/>
            <a:p>
              <a:pPr algn="ctr"/>
              <a:r>
                <a:rPr lang="zh-CN" sz="1125" dirty="0">
                  <a:solidFill>
                    <a:srgbClr val="2E7D32"/>
                  </a:solidFill>
                  <a:latin typeface="Segoe UI" panose="020B0502040204020203"/>
                  <a:ea typeface="微软雅黑" panose="020B0503020204020204" charset="-122"/>
                  <a:cs typeface="Segoe UI" panose="020B0502040204020203"/>
                </a:rPr>
                <a:t>匹配需求，测试通过</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3095625" y="4619625"/>
              <a:ext cx="266700" cy="266700"/>
            </a:xfrm>
            <a:prstGeom prst="roundRect">
              <a:avLst>
                <a:gd name="adj" fmla="val 50000"/>
              </a:avLst>
            </a:prstGeom>
            <a:solidFill>
              <a:srgbClr val="2E7D32">
                <a:alpha val="15000"/>
              </a:srgbClr>
            </a:solidFill>
            <a:ln>
              <a:noFill/>
            </a:ln>
          </p:spPr>
        </p:sp>
        <p:sp>
          <p:nvSpPr>
            <p:cNvPr id="23" name="TextBox 23"/>
            <p:cNvSpPr txBox="1"/>
            <p:nvPr/>
          </p:nvSpPr>
          <p:spPr>
            <a:xfrm>
              <a:off x="3167529" y="467106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1</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2762250" y="3000375"/>
              <a:ext cx="266700" cy="266700"/>
            </a:xfrm>
            <a:prstGeom prst="roundRect">
              <a:avLst>
                <a:gd name="adj" fmla="val 50000"/>
              </a:avLst>
            </a:prstGeom>
            <a:solidFill>
              <a:srgbClr val="00838F">
                <a:alpha val="15000"/>
              </a:srgbClr>
            </a:solidFill>
            <a:ln>
              <a:noFill/>
            </a:ln>
          </p:spPr>
        </p:sp>
        <p:sp>
          <p:nvSpPr>
            <p:cNvPr id="25" name="TextBox 25"/>
            <p:cNvSpPr txBox="1"/>
            <p:nvPr/>
          </p:nvSpPr>
          <p:spPr>
            <a:xfrm>
              <a:off x="2834154" y="3051810"/>
              <a:ext cx="122892"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2</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3095625" y="1666875"/>
              <a:ext cx="266700" cy="266700"/>
            </a:xfrm>
            <a:prstGeom prst="roundRect">
              <a:avLst>
                <a:gd name="adj" fmla="val 50000"/>
              </a:avLst>
            </a:prstGeom>
            <a:solidFill>
              <a:srgbClr val="1565C0">
                <a:alpha val="15000"/>
              </a:srgbClr>
            </a:solidFill>
            <a:ln>
              <a:noFill/>
            </a:ln>
          </p:spPr>
        </p:sp>
        <p:sp>
          <p:nvSpPr>
            <p:cNvPr id="27" name="TextBox 27"/>
            <p:cNvSpPr txBox="1"/>
            <p:nvPr/>
          </p:nvSpPr>
          <p:spPr>
            <a:xfrm>
              <a:off x="3167529" y="1718310"/>
              <a:ext cx="12289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3</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571500" y="5143500"/>
            <a:ext cx="11049000" cy="571500"/>
            <a:chOff x="571500" y="5143500"/>
            <a:chExt cx="11049000" cy="571500"/>
          </a:xfrm>
        </p:grpSpPr>
        <p:sp>
          <p:nvSpPr>
            <p:cNvPr id="29" name="Rectangle 29"/>
            <p:cNvSpPr/>
            <p:nvPr/>
          </p:nvSpPr>
          <p:spPr>
            <a:xfrm>
              <a:off x="571500" y="5143500"/>
              <a:ext cx="11049000" cy="571500"/>
            </a:xfrm>
            <a:prstGeom prst="roundRect">
              <a:avLst>
                <a:gd name="adj" fmla="val 13333"/>
              </a:avLst>
            </a:prstGeom>
            <a:solidFill>
              <a:srgbClr val="FFFFFF"/>
            </a:solidFill>
            <a:ln>
              <a:noFill/>
            </a:ln>
          </p:spPr>
        </p:sp>
        <p:sp>
          <p:nvSpPr>
            <p:cNvPr id="30" name="Rectangle 30"/>
            <p:cNvSpPr/>
            <p:nvPr/>
          </p:nvSpPr>
          <p:spPr>
            <a:xfrm>
              <a:off x="571500" y="5143500"/>
              <a:ext cx="38100" cy="571500"/>
            </a:xfrm>
            <a:prstGeom prst="roundRect">
              <a:avLst>
                <a:gd name="adj" fmla="val 50000"/>
              </a:avLst>
            </a:prstGeom>
            <a:solidFill>
              <a:srgbClr val="2E7D32"/>
            </a:solidFill>
            <a:ln>
              <a:noFill/>
            </a:ln>
          </p:spPr>
        </p:sp>
        <p:sp>
          <p:nvSpPr>
            <p:cNvPr id="31" name="TextBox 31"/>
            <p:cNvSpPr txBox="1"/>
            <p:nvPr/>
          </p:nvSpPr>
          <p:spPr>
            <a:xfrm>
              <a:off x="842962" y="5260181"/>
              <a:ext cx="1564392"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底层：正确（Craft）</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651760" y="5252085"/>
              <a:ext cx="157467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匹配需求，靠TDD约束</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4747260" y="5252085"/>
              <a:ext cx="295884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先写测试 → AI生成代码 → 测试通过 = 正确</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0" name="Group 40"/>
          <p:cNvGrpSpPr/>
          <p:nvPr/>
        </p:nvGrpSpPr>
        <p:grpSpPr>
          <a:xfrm>
            <a:off x="571500" y="5791200"/>
            <a:ext cx="11049000" cy="571500"/>
            <a:chOff x="571500" y="5791200"/>
            <a:chExt cx="11049000" cy="571500"/>
          </a:xfrm>
        </p:grpSpPr>
        <p:sp>
          <p:nvSpPr>
            <p:cNvPr id="35" name="Rectangle 35"/>
            <p:cNvSpPr/>
            <p:nvPr/>
          </p:nvSpPr>
          <p:spPr>
            <a:xfrm>
              <a:off x="571500" y="5791200"/>
              <a:ext cx="11049000" cy="571500"/>
            </a:xfrm>
            <a:prstGeom prst="roundRect">
              <a:avLst>
                <a:gd name="adj" fmla="val 13333"/>
              </a:avLst>
            </a:prstGeom>
            <a:solidFill>
              <a:srgbClr val="FFFFFF"/>
            </a:solidFill>
            <a:ln>
              <a:noFill/>
            </a:ln>
          </p:spPr>
        </p:sp>
        <p:sp>
          <p:nvSpPr>
            <p:cNvPr id="36" name="Rectangle 36"/>
            <p:cNvSpPr/>
            <p:nvPr/>
          </p:nvSpPr>
          <p:spPr>
            <a:xfrm>
              <a:off x="571500" y="5791200"/>
              <a:ext cx="38100" cy="571500"/>
            </a:xfrm>
            <a:prstGeom prst="roundRect">
              <a:avLst>
                <a:gd name="adj" fmla="val 50000"/>
              </a:avLst>
            </a:prstGeom>
            <a:solidFill>
              <a:srgbClr val="00838F"/>
            </a:solidFill>
            <a:ln>
              <a:noFill/>
            </a:ln>
          </p:spPr>
        </p:sp>
        <p:sp>
          <p:nvSpPr>
            <p:cNvPr id="37" name="TextBox 37"/>
            <p:cNvSpPr txBox="1"/>
            <p:nvPr/>
          </p:nvSpPr>
          <p:spPr>
            <a:xfrm>
              <a:off x="842962" y="5907881"/>
              <a:ext cx="1840051" cy="228600"/>
            </a:xfrm>
            <a:prstGeom prst="rect">
              <a:avLst/>
            </a:prstGeom>
            <a:noFill/>
            <a:ln>
              <a:noFill/>
            </a:ln>
          </p:spPr>
          <p:txBody>
            <a:bodyPr wrap="none" lIns="0" tIns="0" rIns="0" bIns="0" anchor="t" anchorCtr="0">
              <a:spAutoFit/>
            </a:bodyPr>
            <a:lstStyle/>
            <a:p>
              <a:pPr algn="l"/>
              <a:r>
                <a:rPr lang="zh-CN" sz="1125" b="1" dirty="0">
                  <a:solidFill>
                    <a:srgbClr val="00838F"/>
                  </a:solidFill>
                  <a:latin typeface="Segoe UI" panose="020B0502040204020203"/>
                  <a:ea typeface="微软雅黑" panose="020B0503020204020204" charset="-122"/>
                  <a:cs typeface="Segoe UI" panose="020B0502040204020203"/>
                </a:rPr>
                <a:t>中层：无坏味道（Clean）</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3128010" y="589978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编码整洁，靠坏味道自动扫描与重构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5699760" y="5899785"/>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检测圈复杂度、重复代码、长方法</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571500" y="6438900"/>
            <a:ext cx="11049000" cy="297656"/>
            <a:chOff x="571500" y="6438900"/>
            <a:chExt cx="11049000" cy="297656"/>
          </a:xfrm>
        </p:grpSpPr>
        <p:sp>
          <p:nvSpPr>
            <p:cNvPr id="41" name="Rectangle 41"/>
            <p:cNvSpPr/>
            <p:nvPr/>
          </p:nvSpPr>
          <p:spPr>
            <a:xfrm>
              <a:off x="571500" y="6438900"/>
              <a:ext cx="11049000" cy="285750"/>
            </a:xfrm>
            <a:prstGeom prst="roundRect">
              <a:avLst>
                <a:gd name="adj" fmla="val 26667"/>
              </a:avLst>
            </a:prstGeom>
            <a:solidFill>
              <a:srgbClr val="1565C0">
                <a:alpha val="4000"/>
              </a:srgbClr>
            </a:solidFill>
            <a:ln>
              <a:noFill/>
            </a:ln>
          </p:spPr>
        </p:sp>
        <p:sp>
          <p:nvSpPr>
            <p:cNvPr id="42" name="TextBox 42"/>
            <p:cNvSpPr txBox="1"/>
            <p:nvPr/>
          </p:nvSpPr>
          <p:spPr>
            <a:xfrm>
              <a:off x="842962" y="6507956"/>
              <a:ext cx="680192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顶层：优美（Design）—— 设计层次优雅，靠意图识别、模式推荐和SOLID自检。从代码堆砌到架构之美</a:t>
              </a:r>
              <a:endParaRPr lang="zh-CN" sz="1125" dirty="0">
                <a:solidFill>
                  <a:srgbClr val="546E7A"/>
                </a:solidFill>
                <a:latin typeface="Segoe UI" panose="020B0502040204020203"/>
                <a:ea typeface="微软雅黑" panose="020B0503020204020204" charset="-122"/>
                <a:cs typeface="Segoe UI" panose="020B0502040204020203"/>
              </a:endParaRPr>
            </a:p>
          </p:txBody>
        </p:sp>
      </p:grpSp>
      <p:sp>
        <p:nvSpPr>
          <p:cNvPr id="44" name="TextBox 4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5" name="图片 4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400"/>
                                        <p:tgtEl>
                                          <p:spTgt spid="28"/>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image">
                                      <p:cBhvr>
                                        <p:cTn id="11" dur="400"/>
                                        <p:tgtEl>
                                          <p:spTgt spid="3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400"/>
                                        <p:tgtEl>
                                          <p:spTgt spid="40"/>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left)">
                                      <p:cBhvr>
                                        <p:cTn id="19"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4" grpId="0"/>
      <p:bldP spid="40"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6478043"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如何让AI生成正确、优美而无坏味道的代码（二）</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11049000" cy="1743075"/>
            <a:chOff x="571500" y="904875"/>
            <a:chExt cx="11049000" cy="1743075"/>
          </a:xfrm>
        </p:grpSpPr>
        <p:sp>
          <p:nvSpPr>
            <p:cNvPr id="10" name="Rectangle 10"/>
            <p:cNvSpPr/>
            <p:nvPr/>
          </p:nvSpPr>
          <p:spPr>
            <a:xfrm>
              <a:off x="571500" y="904875"/>
              <a:ext cx="11049000" cy="1333500"/>
            </a:xfrm>
            <a:prstGeom prst="roundRect">
              <a:avLst>
                <a:gd name="adj" fmla="val 8571"/>
              </a:avLst>
            </a:prstGeom>
            <a:solidFill>
              <a:srgbClr val="FFFFFF"/>
            </a:solidFill>
            <a:ln>
              <a:noFill/>
            </a:ln>
          </p:spPr>
        </p:sp>
        <p:sp>
          <p:nvSpPr>
            <p:cNvPr id="11" name="Rectangle 11"/>
            <p:cNvSpPr/>
            <p:nvPr/>
          </p:nvSpPr>
          <p:spPr>
            <a:xfrm>
              <a:off x="571500" y="904875"/>
              <a:ext cx="11049000" cy="38100"/>
            </a:xfrm>
            <a:prstGeom prst="roundRect">
              <a:avLst>
                <a:gd name="adj" fmla="val 50000"/>
              </a:avLst>
            </a:prstGeom>
            <a:solidFill>
              <a:srgbClr val="1565C0"/>
            </a:solidFill>
            <a:ln>
              <a:noFill/>
            </a:ln>
          </p:spPr>
        </p:sp>
        <p:sp>
          <p:nvSpPr>
            <p:cNvPr id="12" name="Rectangle 12"/>
            <p:cNvSpPr/>
            <p:nvPr/>
          </p:nvSpPr>
          <p:spPr>
            <a:xfrm>
              <a:off x="857250" y="1095375"/>
              <a:ext cx="457200" cy="457200"/>
            </a:xfrm>
            <a:prstGeom prst="roundRect">
              <a:avLst>
                <a:gd name="adj" fmla="val 20833"/>
              </a:avLst>
            </a:prstGeom>
            <a:solidFill>
              <a:srgbClr val="1565C0">
                <a:alpha val="10000"/>
              </a:srgbClr>
            </a:solidFill>
            <a:ln>
              <a:noFill/>
            </a:ln>
          </p:spPr>
        </p:sp>
        <p:sp>
          <p:nvSpPr>
            <p:cNvPr id="13" name="TextBox 13"/>
            <p:cNvSpPr txBox="1"/>
            <p:nvPr/>
          </p:nvSpPr>
          <p:spPr>
            <a:xfrm>
              <a:off x="1009333" y="1205865"/>
              <a:ext cx="153035" cy="276860"/>
            </a:xfrm>
            <a:prstGeom prst="rect">
              <a:avLst/>
            </a:prstGeom>
            <a:noFill/>
            <a:ln>
              <a:noFill/>
            </a:ln>
          </p:spPr>
          <p:txBody>
            <a:bodyPr wrap="none" lIns="0" tIns="0" rIns="0" bIns="0" anchor="t" anchorCtr="0">
              <a:spAutoFit/>
            </a:bodyPr>
            <a:lstStyle/>
            <a:p>
              <a:pPr algn="ctr"/>
              <a:r>
                <a:rPr lang="en-US" altLang="zh-CN" sz="1800" b="1" dirty="0">
                  <a:solidFill>
                    <a:srgbClr val="1565C0"/>
                  </a:solidFill>
                  <a:latin typeface="Segoe UI" panose="020B0502040204020203"/>
                  <a:ea typeface="微软雅黑" panose="020B0503020204020204" charset="-122"/>
                  <a:cs typeface="Segoe UI" panose="020B0502040204020203"/>
                </a:rPr>
                <a:t>3</a:t>
              </a:r>
              <a:endParaRPr lang="en-US" altLang="zh-CN" sz="1800" b="1" dirty="0">
                <a:solidFill>
                  <a:srgbClr val="1565C0"/>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504950" y="1219200"/>
              <a:ext cx="1720215" cy="230505"/>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设计决策（优美层）</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508760" y="153733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确定架构模式、组件边界、接口契约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508760" y="1775460"/>
              <a:ext cx="286283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选择设计模式、定义SOLID原则落地方案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508760" y="2013585"/>
              <a:ext cx="2038731"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人类主导 —— AI辅助分析选项</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5992320" y="2221230"/>
              <a:ext cx="207359" cy="426720"/>
            </a:xfrm>
            <a:prstGeom prst="rect">
              <a:avLst/>
            </a:prstGeom>
            <a:noFill/>
            <a:ln>
              <a:noFill/>
            </a:ln>
          </p:spPr>
          <p:txBody>
            <a:bodyPr wrap="none" lIns="0" tIns="0" rIns="0" bIns="0" anchor="t" anchorCtr="0">
              <a:spAutoFit/>
            </a:bodyPr>
            <a:lstStyle/>
            <a:p>
              <a:pPr algn="ctr"/>
              <a:r>
                <a:rPr lang="zh-CN" sz="2100" dirty="0">
                  <a:solidFill>
                    <a:srgbClr val="90A4AE"/>
                  </a:solidFill>
                  <a:latin typeface="Segoe UI" panose="020B0502040204020203"/>
                  <a:ea typeface="微软雅黑" panose="020B0503020204020204" charset="-122"/>
                  <a:cs typeface="Segoe UI" panose="020B0502040204020203"/>
                </a:rPr>
                <a:t>↓</a:t>
              </a:r>
              <a:endParaRPr lang="zh-CN" sz="2100" dirty="0">
                <a:solidFill>
                  <a:srgbClr val="90A4AE"/>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571500" y="5905500"/>
            <a:ext cx="11049000" cy="523875"/>
            <a:chOff x="571500" y="5905500"/>
            <a:chExt cx="11049000" cy="523875"/>
          </a:xfrm>
        </p:grpSpPr>
        <p:sp>
          <p:nvSpPr>
            <p:cNvPr id="39" name="Rectangle 39"/>
            <p:cNvSpPr/>
            <p:nvPr/>
          </p:nvSpPr>
          <p:spPr>
            <a:xfrm>
              <a:off x="571500" y="5905500"/>
              <a:ext cx="11049000" cy="523875"/>
            </a:xfrm>
            <a:prstGeom prst="roundRect">
              <a:avLst>
                <a:gd name="adj" fmla="val 14545"/>
              </a:avLst>
            </a:prstGeom>
            <a:solidFill>
              <a:srgbClr val="1565C0">
                <a:alpha val="6000"/>
              </a:srgbClr>
            </a:solidFill>
            <a:ln>
              <a:noFill/>
            </a:ln>
          </p:spPr>
        </p:sp>
        <p:sp>
          <p:nvSpPr>
            <p:cNvPr id="40" name="Rectangle 40"/>
            <p:cNvSpPr/>
            <p:nvPr/>
          </p:nvSpPr>
          <p:spPr>
            <a:xfrm>
              <a:off x="571500" y="5905500"/>
              <a:ext cx="57150" cy="523875"/>
            </a:xfrm>
            <a:prstGeom prst="roundRect">
              <a:avLst>
                <a:gd name="adj" fmla="val 50000"/>
              </a:avLst>
            </a:prstGeom>
            <a:solidFill>
              <a:srgbClr val="FF6F00"/>
            </a:solidFill>
            <a:ln>
              <a:noFill/>
            </a:ln>
          </p:spPr>
        </p:sp>
        <p:sp>
          <p:nvSpPr>
            <p:cNvPr id="41" name="TextBox 41"/>
            <p:cNvSpPr txBox="1"/>
            <p:nvPr/>
          </p:nvSpPr>
          <p:spPr>
            <a:xfrm>
              <a:off x="2779147" y="6099810"/>
              <a:ext cx="6633705"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金字塔从难到易：优美层最考验判断力 → 正确层靠方法约束 → 无坏味道层自动化程度最高</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43" name="TextBox 4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16</a:t>
            </a:r>
            <a:endParaRPr lang="zh-CN" sz="1200" dirty="0">
              <a:solidFill>
                <a:srgbClr val="90A4AE"/>
              </a:solidFill>
              <a:latin typeface="Segoe UI" panose="020B0502040204020203"/>
              <a:ea typeface="微软雅黑" panose="020B0503020204020204" charset="-122"/>
              <a:cs typeface="Segoe UI" panose="020B0502040204020203"/>
            </a:endParaRPr>
          </a:p>
        </p:txBody>
      </p:sp>
      <p:grpSp>
        <p:nvGrpSpPr>
          <p:cNvPr id="44" name="Group 29"/>
          <p:cNvGrpSpPr/>
          <p:nvPr/>
        </p:nvGrpSpPr>
        <p:grpSpPr>
          <a:xfrm>
            <a:off x="571500" y="2573655"/>
            <a:ext cx="11049000" cy="1352550"/>
            <a:chOff x="571500" y="2619375"/>
            <a:chExt cx="11049000" cy="1352550"/>
          </a:xfrm>
        </p:grpSpPr>
        <p:sp>
          <p:nvSpPr>
            <p:cNvPr id="45" name="Rectangle 20"/>
            <p:cNvSpPr/>
            <p:nvPr>
              <p:custDataLst>
                <p:tags r:id="rId1"/>
              </p:custDataLst>
            </p:nvPr>
          </p:nvSpPr>
          <p:spPr>
            <a:xfrm>
              <a:off x="571500" y="2619375"/>
              <a:ext cx="11049000" cy="1333500"/>
            </a:xfrm>
            <a:prstGeom prst="roundRect">
              <a:avLst>
                <a:gd name="adj" fmla="val 8571"/>
              </a:avLst>
            </a:prstGeom>
            <a:solidFill>
              <a:srgbClr val="FFFFFF"/>
            </a:solidFill>
            <a:ln>
              <a:noFill/>
            </a:ln>
          </p:spPr>
        </p:sp>
        <p:sp>
          <p:nvSpPr>
            <p:cNvPr id="46" name="Rectangle 21"/>
            <p:cNvSpPr/>
            <p:nvPr>
              <p:custDataLst>
                <p:tags r:id="rId2"/>
              </p:custDataLst>
            </p:nvPr>
          </p:nvSpPr>
          <p:spPr>
            <a:xfrm>
              <a:off x="571500" y="2619375"/>
              <a:ext cx="11049000" cy="38100"/>
            </a:xfrm>
            <a:prstGeom prst="roundRect">
              <a:avLst>
                <a:gd name="adj" fmla="val 50000"/>
              </a:avLst>
            </a:prstGeom>
            <a:solidFill>
              <a:srgbClr val="00838F"/>
            </a:solidFill>
            <a:ln>
              <a:noFill/>
            </a:ln>
          </p:spPr>
        </p:sp>
        <p:sp>
          <p:nvSpPr>
            <p:cNvPr id="47" name="Rectangle 22"/>
            <p:cNvSpPr/>
            <p:nvPr>
              <p:custDataLst>
                <p:tags r:id="rId3"/>
              </p:custDataLst>
            </p:nvPr>
          </p:nvSpPr>
          <p:spPr>
            <a:xfrm>
              <a:off x="857250" y="2809875"/>
              <a:ext cx="457200" cy="457200"/>
            </a:xfrm>
            <a:prstGeom prst="roundRect">
              <a:avLst>
                <a:gd name="adj" fmla="val 20833"/>
              </a:avLst>
            </a:prstGeom>
            <a:solidFill>
              <a:srgbClr val="00838F">
                <a:alpha val="10000"/>
              </a:srgbClr>
            </a:solidFill>
            <a:ln>
              <a:noFill/>
            </a:ln>
          </p:spPr>
        </p:sp>
        <p:sp>
          <p:nvSpPr>
            <p:cNvPr id="48" name="TextBox 23"/>
            <p:cNvSpPr txBox="1"/>
            <p:nvPr>
              <p:custDataLst>
                <p:tags r:id="rId4"/>
              </p:custDataLst>
            </p:nvPr>
          </p:nvSpPr>
          <p:spPr>
            <a:xfrm>
              <a:off x="1009336" y="2920365"/>
              <a:ext cx="153035" cy="276860"/>
            </a:xfrm>
            <a:prstGeom prst="rect">
              <a:avLst/>
            </a:prstGeom>
            <a:noFill/>
            <a:ln>
              <a:noFill/>
            </a:ln>
          </p:spPr>
          <p:txBody>
            <a:bodyPr wrap="none" lIns="0" tIns="0" rIns="0" bIns="0" anchor="t" anchorCtr="0">
              <a:spAutoFit/>
            </a:bodyPr>
            <a:p>
              <a:pPr algn="ctr"/>
              <a:r>
                <a:rPr lang="en-US" altLang="zh-CN" sz="1800" b="1" dirty="0">
                  <a:solidFill>
                    <a:srgbClr val="00838F"/>
                  </a:solidFill>
                  <a:latin typeface="Segoe UI" panose="020B0502040204020203"/>
                  <a:ea typeface="微软雅黑" panose="020B0503020204020204" charset="-122"/>
                  <a:cs typeface="Segoe UI" panose="020B0502040204020203"/>
                </a:rPr>
                <a:t>2</a:t>
              </a:r>
              <a:endParaRPr lang="en-US" altLang="zh-CN" sz="1800" b="1" dirty="0">
                <a:solidFill>
                  <a:srgbClr val="00838F"/>
                </a:solidFill>
                <a:latin typeface="Segoe UI" panose="020B0502040204020203"/>
                <a:ea typeface="微软雅黑" panose="020B0503020204020204" charset="-122"/>
                <a:cs typeface="Segoe UI" panose="020B0502040204020203"/>
              </a:endParaRPr>
            </a:p>
          </p:txBody>
        </p:sp>
        <p:sp>
          <p:nvSpPr>
            <p:cNvPr id="49" name="TextBox 24"/>
            <p:cNvSpPr txBox="1"/>
            <p:nvPr>
              <p:custDataLst>
                <p:tags r:id="rId5"/>
              </p:custDataLst>
            </p:nvPr>
          </p:nvSpPr>
          <p:spPr>
            <a:xfrm>
              <a:off x="1504950" y="2933700"/>
              <a:ext cx="1728470" cy="230505"/>
            </a:xfrm>
            <a:prstGeom prst="rect">
              <a:avLst/>
            </a:prstGeom>
            <a:noFill/>
            <a:ln>
              <a:noFill/>
            </a:ln>
          </p:spPr>
          <p:txBody>
            <a:bodyPr wrap="none" lIns="0" tIns="0" rIns="0" bIns="0" anchor="t" anchorCtr="0">
              <a:spAutoFit/>
            </a:bodyPr>
            <a:p>
              <a:pPr algn="l"/>
              <a:r>
                <a:rPr lang="zh-CN" sz="1500" b="1" dirty="0">
                  <a:solidFill>
                    <a:srgbClr val="00838F"/>
                  </a:solidFill>
                  <a:latin typeface="Segoe UI" panose="020B0502040204020203"/>
                  <a:ea typeface="微软雅黑" panose="020B0503020204020204" charset="-122"/>
                  <a:cs typeface="Segoe UI" panose="020B0502040204020203"/>
                </a:rPr>
                <a:t>TDD实现（正确层）</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50" name="TextBox 25"/>
            <p:cNvSpPr txBox="1"/>
            <p:nvPr>
              <p:custDataLst>
                <p:tags r:id="rId6"/>
              </p:custDataLst>
            </p:nvPr>
          </p:nvSpPr>
          <p:spPr>
            <a:xfrm>
              <a:off x="1508760" y="3251835"/>
              <a:ext cx="2798826"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红 → 绿 → 重构循环，每次只改一个测试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1" name="TextBox 26"/>
            <p:cNvSpPr txBox="1"/>
            <p:nvPr>
              <p:custDataLst>
                <p:tags r:id="rId7"/>
              </p:custDataLst>
            </p:nvPr>
          </p:nvSpPr>
          <p:spPr>
            <a:xfrm>
              <a:off x="1508760" y="3489960"/>
              <a:ext cx="3094863"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先写失败测试 → AI生成最小实现 → 重构优化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2" name="TextBox 27"/>
            <p:cNvSpPr txBox="1"/>
            <p:nvPr>
              <p:custDataLst>
                <p:tags r:id="rId8"/>
              </p:custDataLst>
            </p:nvPr>
          </p:nvSpPr>
          <p:spPr>
            <a:xfrm>
              <a:off x="1508760" y="3728085"/>
              <a:ext cx="2038731" cy="243840"/>
            </a:xfrm>
            <a:prstGeom prst="rect">
              <a:avLst/>
            </a:prstGeom>
            <a:noFill/>
            <a:ln>
              <a:noFill/>
            </a:ln>
          </p:spPr>
          <p:txBody>
            <a:bodyPr wrap="none" lIns="0" tIns="0" rIns="0" bIns="0" anchor="t" anchorCtr="0">
              <a:spAutoFit/>
            </a:bodyPr>
            <a:p>
              <a:pPr algn="l"/>
              <a:r>
                <a:rPr lang="zh-CN" sz="1200" dirty="0">
                  <a:solidFill>
                    <a:srgbClr val="90A4AE"/>
                  </a:solidFill>
                  <a:latin typeface="Segoe UI" panose="020B0502040204020203"/>
                  <a:ea typeface="微软雅黑" panose="020B0503020204020204" charset="-122"/>
                  <a:cs typeface="Segoe UI" panose="020B0502040204020203"/>
                </a:rPr>
                <a:t>AI执行 —— 人类审查测试逻辑</a:t>
              </a:r>
              <a:endParaRPr lang="zh-CN" sz="1200" dirty="0">
                <a:solidFill>
                  <a:srgbClr val="90A4AE"/>
                </a:solidFill>
                <a:latin typeface="Segoe UI" panose="020B0502040204020203"/>
                <a:ea typeface="微软雅黑" panose="020B0503020204020204" charset="-122"/>
                <a:cs typeface="Segoe UI" panose="020B0502040204020203"/>
              </a:endParaRPr>
            </a:p>
          </p:txBody>
        </p:sp>
      </p:grpSp>
      <p:sp>
        <p:nvSpPr>
          <p:cNvPr id="54" name="TextBox 28"/>
          <p:cNvSpPr txBox="1"/>
          <p:nvPr>
            <p:custDataLst>
              <p:tags r:id="rId9"/>
            </p:custDataLst>
          </p:nvPr>
        </p:nvSpPr>
        <p:spPr>
          <a:xfrm>
            <a:off x="5992320" y="3874770"/>
            <a:ext cx="207359" cy="426720"/>
          </a:xfrm>
          <a:prstGeom prst="rect">
            <a:avLst/>
          </a:prstGeom>
          <a:noFill/>
          <a:ln>
            <a:noFill/>
          </a:ln>
        </p:spPr>
        <p:txBody>
          <a:bodyPr wrap="none" lIns="0" tIns="0" rIns="0" bIns="0" anchor="t" anchorCtr="0">
            <a:spAutoFit/>
          </a:bodyPr>
          <a:p>
            <a:pPr algn="ctr"/>
            <a:r>
              <a:rPr lang="zh-CN" sz="2100" dirty="0">
                <a:solidFill>
                  <a:srgbClr val="90A4AE"/>
                </a:solidFill>
                <a:latin typeface="Segoe UI" panose="020B0502040204020203"/>
                <a:ea typeface="微软雅黑" panose="020B0503020204020204" charset="-122"/>
                <a:cs typeface="Segoe UI" panose="020B0502040204020203"/>
              </a:rPr>
              <a:t>↓</a:t>
            </a:r>
            <a:endParaRPr lang="zh-CN" sz="2100" dirty="0">
              <a:solidFill>
                <a:srgbClr val="90A4AE"/>
              </a:solidFill>
              <a:latin typeface="Segoe UI" panose="020B0502040204020203"/>
              <a:ea typeface="微软雅黑" panose="020B0503020204020204" charset="-122"/>
              <a:cs typeface="Segoe UI" panose="020B0502040204020203"/>
            </a:endParaRPr>
          </a:p>
        </p:txBody>
      </p:sp>
      <p:pic>
        <p:nvPicPr>
          <p:cNvPr id="20" name="图片 19" descr="麦哲思logo-横版透明底"/>
          <p:cNvPicPr>
            <a:picLocks noChangeAspect="1"/>
          </p:cNvPicPr>
          <p:nvPr userDrawn="1"/>
        </p:nvPicPr>
        <p:blipFill>
          <a:blip r:embed="rId10"/>
          <a:stretch>
            <a:fillRect/>
          </a:stretch>
        </p:blipFill>
        <p:spPr>
          <a:xfrm>
            <a:off x="10506710" y="252730"/>
            <a:ext cx="1436370" cy="313055"/>
          </a:xfrm>
          <a:prstGeom prst="rect">
            <a:avLst/>
          </a:prstGeom>
        </p:spPr>
      </p:pic>
      <p:grpSp>
        <p:nvGrpSpPr>
          <p:cNvPr id="21" name="Group 38"/>
          <p:cNvGrpSpPr/>
          <p:nvPr/>
        </p:nvGrpSpPr>
        <p:grpSpPr>
          <a:xfrm>
            <a:off x="571500" y="4242435"/>
            <a:ext cx="11049000" cy="1352550"/>
            <a:chOff x="571500" y="4333875"/>
            <a:chExt cx="11049000" cy="1352550"/>
          </a:xfrm>
        </p:grpSpPr>
        <p:sp>
          <p:nvSpPr>
            <p:cNvPr id="22" name="Rectangle 30"/>
            <p:cNvSpPr/>
            <p:nvPr>
              <p:custDataLst>
                <p:tags r:id="rId11"/>
              </p:custDataLst>
            </p:nvPr>
          </p:nvSpPr>
          <p:spPr>
            <a:xfrm>
              <a:off x="571500" y="4333875"/>
              <a:ext cx="11049000" cy="1333500"/>
            </a:xfrm>
            <a:prstGeom prst="roundRect">
              <a:avLst>
                <a:gd name="adj" fmla="val 8571"/>
              </a:avLst>
            </a:prstGeom>
            <a:solidFill>
              <a:srgbClr val="FFFFFF"/>
            </a:solidFill>
            <a:ln>
              <a:noFill/>
            </a:ln>
          </p:spPr>
        </p:sp>
        <p:sp>
          <p:nvSpPr>
            <p:cNvPr id="23" name="Rectangle 31"/>
            <p:cNvSpPr/>
            <p:nvPr>
              <p:custDataLst>
                <p:tags r:id="rId12"/>
              </p:custDataLst>
            </p:nvPr>
          </p:nvSpPr>
          <p:spPr>
            <a:xfrm>
              <a:off x="571500" y="4333875"/>
              <a:ext cx="11049000" cy="38100"/>
            </a:xfrm>
            <a:prstGeom prst="roundRect">
              <a:avLst>
                <a:gd name="adj" fmla="val 50000"/>
              </a:avLst>
            </a:prstGeom>
            <a:solidFill>
              <a:srgbClr val="2E7D32"/>
            </a:solidFill>
            <a:ln>
              <a:noFill/>
            </a:ln>
          </p:spPr>
        </p:sp>
        <p:sp>
          <p:nvSpPr>
            <p:cNvPr id="24" name="Rectangle 32"/>
            <p:cNvSpPr/>
            <p:nvPr>
              <p:custDataLst>
                <p:tags r:id="rId13"/>
              </p:custDataLst>
            </p:nvPr>
          </p:nvSpPr>
          <p:spPr>
            <a:xfrm>
              <a:off x="857250" y="4524375"/>
              <a:ext cx="457200" cy="457200"/>
            </a:xfrm>
            <a:prstGeom prst="roundRect">
              <a:avLst>
                <a:gd name="adj" fmla="val 20833"/>
              </a:avLst>
            </a:prstGeom>
            <a:solidFill>
              <a:srgbClr val="2E7D32">
                <a:alpha val="10000"/>
              </a:srgbClr>
            </a:solidFill>
            <a:ln>
              <a:noFill/>
            </a:ln>
          </p:spPr>
        </p:sp>
        <p:sp>
          <p:nvSpPr>
            <p:cNvPr id="25" name="TextBox 33"/>
            <p:cNvSpPr txBox="1"/>
            <p:nvPr>
              <p:custDataLst>
                <p:tags r:id="rId14"/>
              </p:custDataLst>
            </p:nvPr>
          </p:nvSpPr>
          <p:spPr>
            <a:xfrm>
              <a:off x="1009334" y="4634865"/>
              <a:ext cx="153035" cy="276860"/>
            </a:xfrm>
            <a:prstGeom prst="rect">
              <a:avLst/>
            </a:prstGeom>
            <a:noFill/>
            <a:ln>
              <a:noFill/>
            </a:ln>
          </p:spPr>
          <p:txBody>
            <a:bodyPr wrap="none" lIns="0" tIns="0" rIns="0" bIns="0" anchor="t" anchorCtr="0">
              <a:spAutoFit/>
            </a:bodyPr>
            <a:p>
              <a:pPr algn="ctr"/>
              <a:r>
                <a:rPr lang="en-US" altLang="zh-CN" sz="1800" b="1" dirty="0">
                  <a:solidFill>
                    <a:srgbClr val="2E7D32"/>
                  </a:solidFill>
                  <a:latin typeface="Segoe UI" panose="020B0502040204020203"/>
                  <a:ea typeface="微软雅黑" panose="020B0503020204020204" charset="-122"/>
                  <a:cs typeface="Segoe UI" panose="020B0502040204020203"/>
                </a:rPr>
                <a:t>1</a:t>
              </a:r>
              <a:endParaRPr lang="en-US" altLang="zh-CN" sz="1800" b="1" dirty="0">
                <a:solidFill>
                  <a:srgbClr val="2E7D32"/>
                </a:solidFill>
                <a:latin typeface="Segoe UI" panose="020B0502040204020203"/>
                <a:ea typeface="微软雅黑" panose="020B0503020204020204" charset="-122"/>
                <a:cs typeface="Segoe UI" panose="020B0502040204020203"/>
              </a:endParaRPr>
            </a:p>
          </p:txBody>
        </p:sp>
        <p:sp>
          <p:nvSpPr>
            <p:cNvPr id="26" name="TextBox 34"/>
            <p:cNvSpPr txBox="1"/>
            <p:nvPr>
              <p:custDataLst>
                <p:tags r:id="rId15"/>
              </p:custDataLst>
            </p:nvPr>
          </p:nvSpPr>
          <p:spPr>
            <a:xfrm>
              <a:off x="1504950" y="4648200"/>
              <a:ext cx="2293620" cy="230505"/>
            </a:xfrm>
            <a:prstGeom prst="rect">
              <a:avLst/>
            </a:prstGeom>
            <a:noFill/>
            <a:ln>
              <a:noFill/>
            </a:ln>
          </p:spPr>
          <p:txBody>
            <a:bodyPr wrap="none" lIns="0" tIns="0" rIns="0" bIns="0" anchor="t" anchorCtr="0">
              <a:spAutoFit/>
            </a:bodyPr>
            <a:p>
              <a:pPr algn="l"/>
              <a:r>
                <a:rPr lang="zh-CN" sz="1500" b="1" dirty="0">
                  <a:solidFill>
                    <a:srgbClr val="2E7D32"/>
                  </a:solidFill>
                  <a:latin typeface="Segoe UI" panose="020B0502040204020203"/>
                  <a:ea typeface="微软雅黑" panose="020B0503020204020204" charset="-122"/>
                  <a:cs typeface="Segoe UI" panose="020B0502040204020203"/>
                </a:rPr>
                <a:t>坏味道扫描（无坏味道层）</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27" name="TextBox 35"/>
            <p:cNvSpPr txBox="1"/>
            <p:nvPr>
              <p:custDataLst>
                <p:tags r:id="rId16"/>
              </p:custDataLst>
            </p:nvPr>
          </p:nvSpPr>
          <p:spPr>
            <a:xfrm>
              <a:off x="1508760" y="4966335"/>
              <a:ext cx="3390900"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自动检测圈复杂度、重复代码、长方法、耦合度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36"/>
            <p:cNvSpPr txBox="1"/>
            <p:nvPr>
              <p:custDataLst>
                <p:tags r:id="rId17"/>
              </p:custDataLst>
            </p:nvPr>
          </p:nvSpPr>
          <p:spPr>
            <a:xfrm>
              <a:off x="1508760" y="5204460"/>
              <a:ext cx="3366897"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自动建议重构方案，AI执行重构，回归测试验证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37"/>
            <p:cNvSpPr txBox="1"/>
            <p:nvPr>
              <p:custDataLst>
                <p:tags r:id="rId18"/>
              </p:custDataLst>
            </p:nvPr>
          </p:nvSpPr>
          <p:spPr>
            <a:xfrm>
              <a:off x="1508760" y="5442585"/>
              <a:ext cx="2198751" cy="243840"/>
            </a:xfrm>
            <a:prstGeom prst="rect">
              <a:avLst/>
            </a:prstGeom>
            <a:noFill/>
            <a:ln>
              <a:noFill/>
            </a:ln>
          </p:spPr>
          <p:txBody>
            <a:bodyPr wrap="none" lIns="0" tIns="0" rIns="0" bIns="0" anchor="t" anchorCtr="0">
              <a:spAutoFit/>
            </a:bodyPr>
            <a:p>
              <a:pPr algn="l"/>
              <a:r>
                <a:rPr lang="zh-CN" sz="1200" dirty="0">
                  <a:solidFill>
                    <a:srgbClr val="90A4AE"/>
                  </a:solidFill>
                  <a:latin typeface="Segoe UI" panose="020B0502040204020203"/>
                  <a:ea typeface="微软雅黑" panose="020B0503020204020204" charset="-122"/>
                  <a:cs typeface="Segoe UI" panose="020B0502040204020203"/>
                </a:rPr>
                <a:t>AI自动执行 —— 自动化程度最高</a:t>
              </a:r>
              <a:endParaRPr lang="zh-CN" sz="1200" dirty="0">
                <a:solidFill>
                  <a:srgbClr val="90A4AE"/>
                </a:solidFill>
                <a:latin typeface="Segoe UI" panose="020B0502040204020203"/>
                <a:ea typeface="微软雅黑" panose="020B0503020204020204" charset="-122"/>
                <a:cs typeface="Segoe UI" panose="020B0502040204020203"/>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400"/>
                                        <p:tgtEl>
                                          <p:spTgt spid="42"/>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image">
                                      <p:cBhvr>
                                        <p:cTn id="15" dur="400"/>
                                        <p:tgtEl>
                                          <p:spTgt spid="4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2" grpId="0"/>
      <p:bldP spid="44"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4963754"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AI编程更应工程化，AI编程更能工程化</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5" name="Group 25"/>
          <p:cNvGrpSpPr/>
          <p:nvPr/>
        </p:nvGrpSpPr>
        <p:grpSpPr>
          <a:xfrm>
            <a:off x="571500" y="904875"/>
            <a:ext cx="3524250" cy="4667250"/>
            <a:chOff x="571500" y="904875"/>
            <a:chExt cx="3524250" cy="4667250"/>
          </a:xfrm>
        </p:grpSpPr>
        <p:sp>
          <p:nvSpPr>
            <p:cNvPr id="10" name="Rectangle 10"/>
            <p:cNvSpPr/>
            <p:nvPr/>
          </p:nvSpPr>
          <p:spPr>
            <a:xfrm>
              <a:off x="571500" y="904875"/>
              <a:ext cx="3524250" cy="4667250"/>
            </a:xfrm>
            <a:prstGeom prst="roundRect">
              <a:avLst>
                <a:gd name="adj" fmla="val 3243"/>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sp>
          <p:nvSpPr>
            <p:cNvPr id="12" name="Rectangle 12"/>
            <p:cNvSpPr/>
            <p:nvPr/>
          </p:nvSpPr>
          <p:spPr>
            <a:xfrm>
              <a:off x="857250" y="1143000"/>
              <a:ext cx="457200" cy="457200"/>
            </a:xfrm>
            <a:prstGeom prst="roundRect">
              <a:avLst>
                <a:gd name="adj" fmla="val 20833"/>
              </a:avLst>
            </a:prstGeom>
            <a:solidFill>
              <a:srgbClr val="1565C0">
                <a:alpha val="10000"/>
              </a:srgbClr>
            </a:solidFill>
            <a:ln>
              <a:noFill/>
            </a:ln>
          </p:spPr>
        </p:sp>
        <p:sp>
          <p:nvSpPr>
            <p:cNvPr id="13" name="TextBox 13"/>
            <p:cNvSpPr txBox="1"/>
            <p:nvPr/>
          </p:nvSpPr>
          <p:spPr>
            <a:xfrm>
              <a:off x="930974" y="1253490"/>
              <a:ext cx="309753" cy="365760"/>
            </a:xfrm>
            <a:prstGeom prst="rect">
              <a:avLst/>
            </a:prstGeom>
            <a:noFill/>
            <a:ln>
              <a:noFill/>
            </a:ln>
          </p:spPr>
          <p:txBody>
            <a:bodyPr wrap="none" lIns="0" tIns="0" rIns="0" bIns="0" anchor="t" anchorCtr="0">
              <a:spAutoFit/>
            </a:bodyPr>
            <a:lstStyle/>
            <a:p>
              <a:pPr algn="ctr"/>
              <a:r>
                <a:rPr lang="zh-CN" sz="1800" dirty="0">
                  <a:solidFill>
                    <a:srgbClr val="1565C0"/>
                  </a:solidFill>
                  <a:latin typeface="Segoe UI" panose="020B0502040204020203"/>
                  <a:ea typeface="微软雅黑" panose="020B0503020204020204" charset="-122"/>
                  <a:cs typeface="Segoe UI" panose="020B0502040204020203"/>
                </a:rPr>
                <a:t>01</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276850" y="1711642"/>
              <a:ext cx="2113550"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传统工程化的天花板是人</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857250" y="2047875"/>
              <a:ext cx="2952750" cy="9525"/>
            </a:xfrm>
            <a:prstGeom prst="rect">
              <a:avLst/>
            </a:prstGeom>
            <a:solidFill>
              <a:srgbClr val="CFD8DC"/>
            </a:solidFill>
            <a:ln>
              <a:noFill/>
            </a:ln>
          </p:spPr>
        </p:sp>
        <p:sp>
          <p:nvSpPr>
            <p:cNvPr id="16" name="Rectangle 16"/>
            <p:cNvSpPr/>
            <p:nvPr/>
          </p:nvSpPr>
          <p:spPr>
            <a:xfrm>
              <a:off x="857250" y="2238375"/>
              <a:ext cx="2952750" cy="619125"/>
            </a:xfrm>
            <a:prstGeom prst="roundRect">
              <a:avLst>
                <a:gd name="adj" fmla="val 12308"/>
              </a:avLst>
            </a:prstGeom>
            <a:solidFill>
              <a:srgbClr val="1565C0">
                <a:alpha val="4000"/>
              </a:srgbClr>
            </a:solidFill>
            <a:ln>
              <a:noFill/>
            </a:ln>
          </p:spPr>
        </p:sp>
        <p:sp>
          <p:nvSpPr>
            <p:cNvPr id="17" name="TextBox 17"/>
            <p:cNvSpPr txBox="1"/>
            <p:nvPr/>
          </p:nvSpPr>
          <p:spPr>
            <a:xfrm>
              <a:off x="1032510" y="2346960"/>
              <a:ext cx="19027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人会累 —— 持续注意力有限</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032510" y="2575560"/>
              <a:ext cx="268681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人会妥协 —— deadline压力下跳过流程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57250" y="3000375"/>
              <a:ext cx="2952750" cy="619125"/>
            </a:xfrm>
            <a:prstGeom prst="roundRect">
              <a:avLst>
                <a:gd name="adj" fmla="val 12308"/>
              </a:avLst>
            </a:prstGeom>
            <a:solidFill>
              <a:srgbClr val="1565C0">
                <a:alpha val="4000"/>
              </a:srgbClr>
            </a:solidFill>
            <a:ln>
              <a:noFill/>
            </a:ln>
          </p:spPr>
        </p:sp>
        <p:sp>
          <p:nvSpPr>
            <p:cNvPr id="20" name="TextBox 20"/>
            <p:cNvSpPr txBox="1"/>
            <p:nvPr/>
          </p:nvSpPr>
          <p:spPr>
            <a:xfrm>
              <a:off x="1032510" y="3108960"/>
              <a:ext cx="222275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人会抵触 —— 繁琐流程让人抗拒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32510" y="3337560"/>
              <a:ext cx="254279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人会走捷径 —— 测试跳过、文档不写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57250" y="3762375"/>
              <a:ext cx="2952750" cy="523875"/>
            </a:xfrm>
            <a:prstGeom prst="roundRect">
              <a:avLst>
                <a:gd name="adj" fmla="val 14545"/>
              </a:avLst>
            </a:prstGeom>
            <a:solidFill>
              <a:srgbClr val="C62828">
                <a:alpha val="6000"/>
              </a:srgbClr>
            </a:solidFill>
            <a:ln>
              <a:noFill/>
            </a:ln>
          </p:spPr>
        </p:sp>
        <p:sp>
          <p:nvSpPr>
            <p:cNvPr id="23" name="TextBox 23"/>
            <p:cNvSpPr txBox="1"/>
            <p:nvPr/>
          </p:nvSpPr>
          <p:spPr>
            <a:xfrm>
              <a:off x="1678305" y="3870960"/>
              <a:ext cx="1310640"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Segoe UI" panose="020B0502040204020203"/>
                  <a:ea typeface="微软雅黑" panose="020B0503020204020204" charset="-122"/>
                  <a:cs typeface="Segoe UI" panose="020B0502040204020203"/>
                </a:rPr>
                <a:t>这不是技术问题，</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1918335" y="4061460"/>
              <a:ext cx="830580"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Segoe UI" panose="020B0502040204020203"/>
                  <a:ea typeface="微软雅黑" panose="020B0503020204020204" charset="-122"/>
                  <a:cs typeface="Segoe UI" panose="020B0502040204020203"/>
                </a:rPr>
                <a:t>是人性问题</a:t>
              </a:r>
              <a:endParaRPr lang="zh-CN" sz="1200" dirty="0">
                <a:solidFill>
                  <a:srgbClr val="C62828"/>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4333875" y="904875"/>
            <a:ext cx="3524250" cy="4667250"/>
            <a:chOff x="4333875" y="904875"/>
            <a:chExt cx="3524250" cy="4667250"/>
          </a:xfrm>
        </p:grpSpPr>
        <p:sp>
          <p:nvSpPr>
            <p:cNvPr id="26" name="Rectangle 26"/>
            <p:cNvSpPr/>
            <p:nvPr/>
          </p:nvSpPr>
          <p:spPr>
            <a:xfrm>
              <a:off x="4333875" y="904875"/>
              <a:ext cx="3524250" cy="4667250"/>
            </a:xfrm>
            <a:prstGeom prst="roundRect">
              <a:avLst>
                <a:gd name="adj" fmla="val 3243"/>
              </a:avLst>
            </a:prstGeom>
            <a:solidFill>
              <a:srgbClr val="FFFFFF"/>
            </a:solidFill>
            <a:ln>
              <a:noFill/>
            </a:ln>
          </p:spPr>
        </p:sp>
        <p:sp>
          <p:nvSpPr>
            <p:cNvPr id="27" name="Rectangle 27"/>
            <p:cNvSpPr/>
            <p:nvPr/>
          </p:nvSpPr>
          <p:spPr>
            <a:xfrm>
              <a:off x="4333875" y="904875"/>
              <a:ext cx="3524250" cy="38100"/>
            </a:xfrm>
            <a:prstGeom prst="roundRect">
              <a:avLst>
                <a:gd name="adj" fmla="val 50000"/>
              </a:avLst>
            </a:prstGeom>
            <a:solidFill>
              <a:srgbClr val="FF6F00"/>
            </a:solidFill>
            <a:ln>
              <a:noFill/>
            </a:ln>
          </p:spPr>
        </p:sp>
        <p:sp>
          <p:nvSpPr>
            <p:cNvPr id="28" name="Rectangle 28"/>
            <p:cNvSpPr/>
            <p:nvPr/>
          </p:nvSpPr>
          <p:spPr>
            <a:xfrm>
              <a:off x="4619625" y="1143000"/>
              <a:ext cx="457200" cy="457200"/>
            </a:xfrm>
            <a:prstGeom prst="roundRect">
              <a:avLst>
                <a:gd name="adj" fmla="val 20833"/>
              </a:avLst>
            </a:prstGeom>
            <a:solidFill>
              <a:srgbClr val="FF6F00">
                <a:alpha val="10000"/>
              </a:srgbClr>
            </a:solidFill>
            <a:ln>
              <a:noFill/>
            </a:ln>
          </p:spPr>
        </p:sp>
        <p:sp>
          <p:nvSpPr>
            <p:cNvPr id="29" name="TextBox 29"/>
            <p:cNvSpPr txBox="1"/>
            <p:nvPr/>
          </p:nvSpPr>
          <p:spPr>
            <a:xfrm>
              <a:off x="4693348" y="1253490"/>
              <a:ext cx="309753" cy="365760"/>
            </a:xfrm>
            <a:prstGeom prst="rect">
              <a:avLst/>
            </a:prstGeom>
            <a:noFill/>
            <a:ln>
              <a:noFill/>
            </a:ln>
          </p:spPr>
          <p:txBody>
            <a:bodyPr wrap="none" lIns="0" tIns="0" rIns="0" bIns="0" anchor="t" anchorCtr="0">
              <a:spAutoFit/>
            </a:bodyPr>
            <a:lstStyle/>
            <a:p>
              <a:pPr algn="ctr"/>
              <a:r>
                <a:rPr lang="zh-CN" sz="1800" dirty="0">
                  <a:solidFill>
                    <a:srgbClr val="FF6F00"/>
                  </a:solidFill>
                  <a:latin typeface="Segoe UI" panose="020B0502040204020203"/>
                  <a:ea typeface="微软雅黑" panose="020B0503020204020204" charset="-122"/>
                  <a:cs typeface="Segoe UI" panose="020B0502040204020203"/>
                </a:rPr>
                <a:t>02</a:t>
              </a:r>
              <a:endParaRPr lang="zh-CN" sz="1800" dirty="0">
                <a:solidFill>
                  <a:srgbClr val="FF6F00"/>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5147914" y="1711642"/>
              <a:ext cx="1896173"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AI放大了不规范的成本</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4619625" y="2047875"/>
              <a:ext cx="2952750" cy="9525"/>
            </a:xfrm>
            <a:prstGeom prst="rect">
              <a:avLst/>
            </a:prstGeom>
            <a:solidFill>
              <a:srgbClr val="CFD8DC"/>
            </a:solidFill>
            <a:ln>
              <a:noFill/>
            </a:ln>
          </p:spPr>
        </p:sp>
        <p:sp>
          <p:nvSpPr>
            <p:cNvPr id="32" name="Rectangle 32"/>
            <p:cNvSpPr/>
            <p:nvPr/>
          </p:nvSpPr>
          <p:spPr>
            <a:xfrm>
              <a:off x="4619625" y="2238375"/>
              <a:ext cx="2952750" cy="619125"/>
            </a:xfrm>
            <a:prstGeom prst="roundRect">
              <a:avLst>
                <a:gd name="adj" fmla="val 12308"/>
              </a:avLst>
            </a:prstGeom>
            <a:solidFill>
              <a:srgbClr val="FF6F00">
                <a:alpha val="4000"/>
              </a:srgbClr>
            </a:solidFill>
            <a:ln>
              <a:noFill/>
            </a:ln>
          </p:spPr>
        </p:sp>
        <p:sp>
          <p:nvSpPr>
            <p:cNvPr id="33" name="TextBox 33"/>
            <p:cNvSpPr txBox="1"/>
            <p:nvPr/>
          </p:nvSpPr>
          <p:spPr>
            <a:xfrm>
              <a:off x="4794885" y="2327910"/>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不规范 = AI输出不可控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4794885" y="255651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返工成本成倍增加</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4619625" y="3000375"/>
              <a:ext cx="2952750" cy="619125"/>
            </a:xfrm>
            <a:prstGeom prst="roundRect">
              <a:avLst>
                <a:gd name="adj" fmla="val 12308"/>
              </a:avLst>
            </a:prstGeom>
            <a:solidFill>
              <a:srgbClr val="FF6F00">
                <a:alpha val="4000"/>
              </a:srgbClr>
            </a:solidFill>
            <a:ln>
              <a:noFill/>
            </a:ln>
          </p:spPr>
        </p:sp>
        <p:sp>
          <p:nvSpPr>
            <p:cNvPr id="36" name="TextBox 36"/>
            <p:cNvSpPr txBox="1"/>
            <p:nvPr/>
          </p:nvSpPr>
          <p:spPr>
            <a:xfrm>
              <a:off x="4794885" y="3089910"/>
              <a:ext cx="231876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模糊需求 → 跑偏代码 → 多次返工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4794885" y="3318510"/>
              <a:ext cx="17907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小洞不补 → AI制造大窟窿</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4619625" y="3762375"/>
              <a:ext cx="2952750" cy="523875"/>
            </a:xfrm>
            <a:prstGeom prst="roundRect">
              <a:avLst>
                <a:gd name="adj" fmla="val 14545"/>
              </a:avLst>
            </a:prstGeom>
            <a:solidFill>
              <a:srgbClr val="FF6F00">
                <a:alpha val="10000"/>
              </a:srgbClr>
            </a:solidFill>
            <a:ln>
              <a:noFill/>
            </a:ln>
          </p:spPr>
        </p:sp>
        <p:sp>
          <p:nvSpPr>
            <p:cNvPr id="39" name="TextBox 39"/>
            <p:cNvSpPr txBox="1"/>
            <p:nvPr/>
          </p:nvSpPr>
          <p:spPr>
            <a:xfrm>
              <a:off x="5372671" y="3851910"/>
              <a:ext cx="1446657"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AI时代不规范的成本</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680710" y="4042410"/>
              <a:ext cx="83058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倒逼工程化</a:t>
              </a:r>
              <a:endParaRPr lang="zh-CN" sz="1200" dirty="0">
                <a:solidFill>
                  <a:srgbClr val="FF6F00"/>
                </a:solidFill>
                <a:latin typeface="Segoe UI" panose="020B0502040204020203"/>
                <a:ea typeface="微软雅黑" panose="020B0503020204020204" charset="-122"/>
                <a:cs typeface="Segoe UI" panose="020B0502040204020203"/>
              </a:endParaRPr>
            </a:p>
          </p:txBody>
        </p:sp>
      </p:grpSp>
      <p:grpSp>
        <p:nvGrpSpPr>
          <p:cNvPr id="57" name="Group 57"/>
          <p:cNvGrpSpPr/>
          <p:nvPr/>
        </p:nvGrpSpPr>
        <p:grpSpPr>
          <a:xfrm>
            <a:off x="8096250" y="904875"/>
            <a:ext cx="3524250" cy="4667250"/>
            <a:chOff x="8096250" y="904875"/>
            <a:chExt cx="3524250" cy="4667250"/>
          </a:xfrm>
        </p:grpSpPr>
        <p:sp>
          <p:nvSpPr>
            <p:cNvPr id="42" name="Rectangle 42"/>
            <p:cNvSpPr/>
            <p:nvPr/>
          </p:nvSpPr>
          <p:spPr>
            <a:xfrm>
              <a:off x="8096250" y="904875"/>
              <a:ext cx="3524250" cy="4667250"/>
            </a:xfrm>
            <a:prstGeom prst="roundRect">
              <a:avLst>
                <a:gd name="adj" fmla="val 3243"/>
              </a:avLst>
            </a:prstGeom>
            <a:solidFill>
              <a:srgbClr val="FFFFFF"/>
            </a:solidFill>
            <a:ln>
              <a:noFill/>
            </a:ln>
          </p:spPr>
        </p:sp>
        <p:sp>
          <p:nvSpPr>
            <p:cNvPr id="43" name="Rectangle 43"/>
            <p:cNvSpPr/>
            <p:nvPr/>
          </p:nvSpPr>
          <p:spPr>
            <a:xfrm>
              <a:off x="8096250" y="904875"/>
              <a:ext cx="3524250" cy="38100"/>
            </a:xfrm>
            <a:prstGeom prst="roundRect">
              <a:avLst>
                <a:gd name="adj" fmla="val 50000"/>
              </a:avLst>
            </a:prstGeom>
            <a:solidFill>
              <a:srgbClr val="00838F"/>
            </a:solidFill>
            <a:ln>
              <a:noFill/>
            </a:ln>
          </p:spPr>
        </p:sp>
        <p:sp>
          <p:nvSpPr>
            <p:cNvPr id="44" name="Rectangle 44"/>
            <p:cNvSpPr/>
            <p:nvPr/>
          </p:nvSpPr>
          <p:spPr>
            <a:xfrm>
              <a:off x="8382000" y="1143000"/>
              <a:ext cx="457200" cy="457200"/>
            </a:xfrm>
            <a:prstGeom prst="roundRect">
              <a:avLst>
                <a:gd name="adj" fmla="val 20833"/>
              </a:avLst>
            </a:prstGeom>
            <a:solidFill>
              <a:srgbClr val="00838F">
                <a:alpha val="10000"/>
              </a:srgbClr>
            </a:solidFill>
            <a:ln>
              <a:noFill/>
            </a:ln>
          </p:spPr>
        </p:sp>
        <p:sp>
          <p:nvSpPr>
            <p:cNvPr id="45" name="TextBox 45"/>
            <p:cNvSpPr txBox="1"/>
            <p:nvPr/>
          </p:nvSpPr>
          <p:spPr>
            <a:xfrm>
              <a:off x="8455724" y="1253490"/>
              <a:ext cx="309753" cy="365760"/>
            </a:xfrm>
            <a:prstGeom prst="rect">
              <a:avLst/>
            </a:prstGeom>
            <a:noFill/>
            <a:ln>
              <a:noFill/>
            </a:ln>
          </p:spPr>
          <p:txBody>
            <a:bodyPr wrap="none" lIns="0" tIns="0" rIns="0" bIns="0" anchor="t" anchorCtr="0">
              <a:spAutoFit/>
            </a:bodyPr>
            <a:lstStyle/>
            <a:p>
              <a:pPr algn="ctr"/>
              <a:r>
                <a:rPr lang="zh-CN" sz="1800" dirty="0">
                  <a:solidFill>
                    <a:srgbClr val="00838F"/>
                  </a:solidFill>
                  <a:latin typeface="Segoe UI" panose="020B0502040204020203"/>
                  <a:ea typeface="微软雅黑" panose="020B0503020204020204" charset="-122"/>
                  <a:cs typeface="Segoe UI" panose="020B0502040204020203"/>
                </a:rPr>
                <a:t>03</a:t>
              </a:r>
              <a:endParaRPr lang="zh-CN" sz="1800" dirty="0">
                <a:solidFill>
                  <a:srgbClr val="00838F"/>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8910289" y="1711642"/>
              <a:ext cx="1896173"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AI完美匹配工程化需求</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8382000" y="2047875"/>
              <a:ext cx="2952750" cy="9525"/>
            </a:xfrm>
            <a:prstGeom prst="rect">
              <a:avLst/>
            </a:prstGeom>
            <a:solidFill>
              <a:srgbClr val="CFD8DC"/>
            </a:solidFill>
            <a:ln>
              <a:noFill/>
            </a:ln>
          </p:spPr>
        </p:sp>
        <p:sp>
          <p:nvSpPr>
            <p:cNvPr id="48" name="Rectangle 48"/>
            <p:cNvSpPr/>
            <p:nvPr/>
          </p:nvSpPr>
          <p:spPr>
            <a:xfrm>
              <a:off x="8382000" y="2238375"/>
              <a:ext cx="2952750" cy="619125"/>
            </a:xfrm>
            <a:prstGeom prst="roundRect">
              <a:avLst>
                <a:gd name="adj" fmla="val 12308"/>
              </a:avLst>
            </a:prstGeom>
            <a:solidFill>
              <a:srgbClr val="00838F">
                <a:alpha val="4000"/>
              </a:srgbClr>
            </a:solidFill>
            <a:ln>
              <a:noFill/>
            </a:ln>
          </p:spPr>
        </p:sp>
        <p:sp>
          <p:nvSpPr>
            <p:cNvPr id="49" name="TextBox 49"/>
            <p:cNvSpPr txBox="1"/>
            <p:nvPr/>
          </p:nvSpPr>
          <p:spPr>
            <a:xfrm>
              <a:off x="8557260" y="232791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永不疲惫的执行者</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8557260" y="25565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持续注意力，不疲劳不偷懒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8382000" y="3000375"/>
              <a:ext cx="2952750" cy="619125"/>
            </a:xfrm>
            <a:prstGeom prst="roundRect">
              <a:avLst>
                <a:gd name="adj" fmla="val 12308"/>
              </a:avLst>
            </a:prstGeom>
            <a:solidFill>
              <a:srgbClr val="00838F">
                <a:alpha val="4000"/>
              </a:srgbClr>
            </a:solidFill>
            <a:ln>
              <a:noFill/>
            </a:ln>
          </p:spPr>
        </p:sp>
        <p:sp>
          <p:nvSpPr>
            <p:cNvPr id="52" name="TextBox 52"/>
            <p:cNvSpPr txBox="1"/>
            <p:nvPr/>
          </p:nvSpPr>
          <p:spPr>
            <a:xfrm>
              <a:off x="8557260" y="3089910"/>
              <a:ext cx="174269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无捷径倾向 —— 不走歪路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8557260" y="3318510"/>
              <a:ext cx="206273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硬性约束遵守 —— 不妥协流程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8382000" y="3762375"/>
              <a:ext cx="2952750" cy="523875"/>
            </a:xfrm>
            <a:prstGeom prst="roundRect">
              <a:avLst>
                <a:gd name="adj" fmla="val 14545"/>
              </a:avLst>
            </a:prstGeom>
            <a:solidFill>
              <a:srgbClr val="2E7D32">
                <a:alpha val="8000"/>
              </a:srgbClr>
            </a:solidFill>
            <a:ln>
              <a:noFill/>
            </a:ln>
          </p:spPr>
        </p:sp>
        <p:sp>
          <p:nvSpPr>
            <p:cNvPr id="55" name="TextBox 55"/>
            <p:cNvSpPr txBox="1"/>
            <p:nvPr/>
          </p:nvSpPr>
          <p:spPr>
            <a:xfrm>
              <a:off x="9195054" y="3851910"/>
              <a:ext cx="1326642"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"严格执行工程化"</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9363075" y="4042410"/>
              <a:ext cx="990600"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首次成为可能</a:t>
              </a:r>
              <a:endParaRPr lang="zh-CN" sz="1200" dirty="0">
                <a:solidFill>
                  <a:srgbClr val="2E7D32"/>
                </a:solidFill>
                <a:latin typeface="Segoe UI" panose="020B0502040204020203"/>
                <a:ea typeface="微软雅黑" panose="020B0503020204020204" charset="-122"/>
                <a:cs typeface="Segoe UI" panose="020B0502040204020203"/>
              </a:endParaRPr>
            </a:p>
          </p:txBody>
        </p:sp>
      </p:grpSp>
      <p:grpSp>
        <p:nvGrpSpPr>
          <p:cNvPr id="61" name="Group 61"/>
          <p:cNvGrpSpPr/>
          <p:nvPr/>
        </p:nvGrpSpPr>
        <p:grpSpPr>
          <a:xfrm>
            <a:off x="571500" y="5810250"/>
            <a:ext cx="11049000" cy="523875"/>
            <a:chOff x="571500" y="5810250"/>
            <a:chExt cx="11049000" cy="523875"/>
          </a:xfrm>
        </p:grpSpPr>
        <p:sp>
          <p:nvSpPr>
            <p:cNvPr id="58" name="Rectangle 58"/>
            <p:cNvSpPr/>
            <p:nvPr/>
          </p:nvSpPr>
          <p:spPr>
            <a:xfrm>
              <a:off x="571500" y="5810250"/>
              <a:ext cx="11049000" cy="523875"/>
            </a:xfrm>
            <a:prstGeom prst="roundRect">
              <a:avLst>
                <a:gd name="adj" fmla="val 14545"/>
              </a:avLst>
            </a:prstGeom>
            <a:solidFill>
              <a:srgbClr val="1565C0">
                <a:alpha val="6000"/>
              </a:srgbClr>
            </a:solidFill>
            <a:ln>
              <a:noFill/>
            </a:ln>
          </p:spPr>
        </p:sp>
        <p:sp>
          <p:nvSpPr>
            <p:cNvPr id="59" name="Rectangle 59"/>
            <p:cNvSpPr/>
            <p:nvPr/>
          </p:nvSpPr>
          <p:spPr>
            <a:xfrm>
              <a:off x="571500" y="5810250"/>
              <a:ext cx="57150" cy="523875"/>
            </a:xfrm>
            <a:prstGeom prst="roundRect">
              <a:avLst>
                <a:gd name="adj" fmla="val 50000"/>
              </a:avLst>
            </a:prstGeom>
            <a:solidFill>
              <a:srgbClr val="FF6F00"/>
            </a:solidFill>
            <a:ln>
              <a:noFill/>
            </a:ln>
          </p:spPr>
        </p:sp>
        <p:sp>
          <p:nvSpPr>
            <p:cNvPr id="60" name="TextBox 60"/>
            <p:cNvSpPr txBox="1"/>
            <p:nvPr/>
          </p:nvSpPr>
          <p:spPr>
            <a:xfrm>
              <a:off x="3417627" y="6014085"/>
              <a:ext cx="5356746"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核心洞察：AI不仅需要工程化护航，而且AI本身就是工程化的最佳执行者</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62" name="TextBox 62"/>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3" name="图片 6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lide(fromBottom)">
                                      <p:cBhvr>
                                        <p:cTn id="7" dur="400"/>
                                        <p:tgtEl>
                                          <p:spTgt spid="2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lide(fromBottom)">
                                      <p:cBhvr>
                                        <p:cTn id="11" dur="400"/>
                                        <p:tgtEl>
                                          <p:spTgt spid="41"/>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slide(fromBottom)">
                                      <p:cBhvr>
                                        <p:cTn id="15" dur="400"/>
                                        <p:tgtEl>
                                          <p:spTgt spid="5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1" grpId="0"/>
      <p:bldP spid="57" grpId="0"/>
      <p:bldP spid="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410540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AI编程更应工程化的实践框架</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8" name="Group 18"/>
          <p:cNvGrpSpPr/>
          <p:nvPr/>
        </p:nvGrpSpPr>
        <p:grpSpPr>
          <a:xfrm>
            <a:off x="571500" y="904875"/>
            <a:ext cx="11049000" cy="1219200"/>
            <a:chOff x="571500" y="904875"/>
            <a:chExt cx="11049000" cy="1219200"/>
          </a:xfrm>
        </p:grpSpPr>
        <p:sp>
          <p:nvSpPr>
            <p:cNvPr id="10" name="Rectangle 10"/>
            <p:cNvSpPr/>
            <p:nvPr/>
          </p:nvSpPr>
          <p:spPr>
            <a:xfrm>
              <a:off x="571500" y="904875"/>
              <a:ext cx="11049000" cy="952500"/>
            </a:xfrm>
            <a:prstGeom prst="roundRect">
              <a:avLst>
                <a:gd name="adj" fmla="val 12000"/>
              </a:avLst>
            </a:prstGeom>
            <a:solidFill>
              <a:srgbClr val="FFFFFF"/>
            </a:solidFill>
            <a:ln>
              <a:noFill/>
            </a:ln>
          </p:spPr>
        </p:sp>
        <p:sp>
          <p:nvSpPr>
            <p:cNvPr id="11" name="Rectangle 11"/>
            <p:cNvSpPr/>
            <p:nvPr/>
          </p:nvSpPr>
          <p:spPr>
            <a:xfrm>
              <a:off x="1809750" y="904875"/>
              <a:ext cx="9810750" cy="952500"/>
            </a:xfrm>
            <a:prstGeom prst="roundRect">
              <a:avLst>
                <a:gd name="adj" fmla="val 12000"/>
              </a:avLst>
            </a:prstGeom>
            <a:solidFill>
              <a:srgbClr val="1565C0">
                <a:alpha val="4000"/>
              </a:srgbClr>
            </a:solidFill>
            <a:ln>
              <a:noFill/>
            </a:ln>
          </p:spPr>
        </p:sp>
        <p:sp>
          <p:nvSpPr>
            <p:cNvPr id="12" name="Rectangle 12"/>
            <p:cNvSpPr/>
            <p:nvPr/>
          </p:nvSpPr>
          <p:spPr>
            <a:xfrm>
              <a:off x="571500" y="904875"/>
              <a:ext cx="1333500" cy="952500"/>
            </a:xfrm>
            <a:prstGeom prst="roundRect">
              <a:avLst>
                <a:gd name="adj" fmla="val 12000"/>
              </a:avLst>
            </a:prstGeom>
            <a:solidFill>
              <a:srgbClr val="1565C0"/>
            </a:solidFill>
            <a:ln>
              <a:noFill/>
            </a:ln>
          </p:spPr>
        </p:sp>
        <p:sp>
          <p:nvSpPr>
            <p:cNvPr id="13" name="TextBox 13"/>
            <p:cNvSpPr txBox="1"/>
            <p:nvPr/>
          </p:nvSpPr>
          <p:spPr>
            <a:xfrm>
              <a:off x="937570" y="1140142"/>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第三层</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18984" y="1442085"/>
              <a:ext cx="438531"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Skills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2078355" y="1140142"/>
              <a:ext cx="1896173"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可复用的AI工作流模板</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2080260" y="1442085"/>
              <a:ext cx="37109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封装最佳实践，将经验转化为可执行的结构化指令集</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3406140" y="1758315"/>
              <a:ext cx="177737" cy="365760"/>
            </a:xfrm>
            <a:prstGeom prst="rect">
              <a:avLst/>
            </a:prstGeom>
            <a:noFill/>
            <a:ln>
              <a:noFill/>
            </a:ln>
          </p:spPr>
          <p:txBody>
            <a:bodyPr wrap="none" lIns="0" tIns="0" rIns="0" bIns="0" anchor="t" anchorCtr="0">
              <a:spAutoFit/>
            </a:bodyPr>
            <a:lstStyle/>
            <a:p>
              <a:pPr algn="l"/>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571500" y="2095500"/>
            <a:ext cx="11049000" cy="1219200"/>
            <a:chOff x="571500" y="2095500"/>
            <a:chExt cx="11049000" cy="1219200"/>
          </a:xfrm>
        </p:grpSpPr>
        <p:sp>
          <p:nvSpPr>
            <p:cNvPr id="19" name="Rectangle 19"/>
            <p:cNvSpPr/>
            <p:nvPr/>
          </p:nvSpPr>
          <p:spPr>
            <a:xfrm>
              <a:off x="571500" y="2095500"/>
              <a:ext cx="11049000" cy="952500"/>
            </a:xfrm>
            <a:prstGeom prst="roundRect">
              <a:avLst>
                <a:gd name="adj" fmla="val 12000"/>
              </a:avLst>
            </a:prstGeom>
            <a:solidFill>
              <a:srgbClr val="FFFFFF"/>
            </a:solidFill>
            <a:ln>
              <a:noFill/>
            </a:ln>
          </p:spPr>
        </p:sp>
        <p:sp>
          <p:nvSpPr>
            <p:cNvPr id="20" name="Rectangle 20"/>
            <p:cNvSpPr/>
            <p:nvPr/>
          </p:nvSpPr>
          <p:spPr>
            <a:xfrm>
              <a:off x="1809750" y="2095500"/>
              <a:ext cx="9810750" cy="952500"/>
            </a:xfrm>
            <a:prstGeom prst="roundRect">
              <a:avLst>
                <a:gd name="adj" fmla="val 12000"/>
              </a:avLst>
            </a:prstGeom>
            <a:solidFill>
              <a:srgbClr val="00838F">
                <a:alpha val="4000"/>
              </a:srgbClr>
            </a:solidFill>
            <a:ln>
              <a:noFill/>
            </a:ln>
          </p:spPr>
        </p:sp>
        <p:sp>
          <p:nvSpPr>
            <p:cNvPr id="21" name="Rectangle 21"/>
            <p:cNvSpPr/>
            <p:nvPr/>
          </p:nvSpPr>
          <p:spPr>
            <a:xfrm>
              <a:off x="571500" y="2095500"/>
              <a:ext cx="1333500" cy="952500"/>
            </a:xfrm>
            <a:prstGeom prst="roundRect">
              <a:avLst>
                <a:gd name="adj" fmla="val 12000"/>
              </a:avLst>
            </a:prstGeom>
            <a:solidFill>
              <a:srgbClr val="00838F"/>
            </a:solidFill>
            <a:ln>
              <a:noFill/>
            </a:ln>
          </p:spPr>
        </p:sp>
        <p:sp>
          <p:nvSpPr>
            <p:cNvPr id="22" name="TextBox 22"/>
            <p:cNvSpPr txBox="1"/>
            <p:nvPr/>
          </p:nvSpPr>
          <p:spPr>
            <a:xfrm>
              <a:off x="937570" y="2330768"/>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第二层</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826961" y="2632710"/>
              <a:ext cx="822579"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Standards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2078355" y="2330768"/>
              <a:ext cx="2680621" cy="274320"/>
            </a:xfrm>
            <a:prstGeom prst="rect">
              <a:avLst/>
            </a:prstGeom>
            <a:noFill/>
            <a:ln>
              <a:noFill/>
            </a:ln>
          </p:spPr>
          <p:txBody>
            <a:bodyPr wrap="none" lIns="0" tIns="0" rIns="0" bIns="0" anchor="t" anchorCtr="0">
              <a:spAutoFit/>
            </a:bodyPr>
            <a:lstStyle/>
            <a:p>
              <a:pPr algn="l"/>
              <a:r>
                <a:rPr lang="zh-CN" sz="1350" b="1" dirty="0">
                  <a:solidFill>
                    <a:srgbClr val="00838F"/>
                  </a:solidFill>
                  <a:latin typeface="Segoe UI" panose="020B0502040204020203"/>
                  <a:ea typeface="微软雅黑" panose="020B0503020204020204" charset="-122"/>
                  <a:cs typeface="Segoe UI" panose="020B0502040204020203"/>
                </a:rPr>
                <a:t>编码规范、命名约定、架构约束</a:t>
              </a:r>
              <a:endParaRPr lang="zh-CN" sz="1350" b="1" dirty="0">
                <a:solidFill>
                  <a:srgbClr val="00838F"/>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2080260" y="2632710"/>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将团队共识固化为AI可读取的标准化规则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3406140" y="2948940"/>
              <a:ext cx="177737" cy="365760"/>
            </a:xfrm>
            <a:prstGeom prst="rect">
              <a:avLst/>
            </a:prstGeom>
            <a:noFill/>
            <a:ln>
              <a:noFill/>
            </a:ln>
          </p:spPr>
          <p:txBody>
            <a:bodyPr wrap="none" lIns="0" tIns="0" rIns="0" bIns="0" anchor="t" anchorCtr="0">
              <a:spAutoFit/>
            </a:bodyPr>
            <a:lstStyle/>
            <a:p>
              <a:pPr algn="l"/>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571500" y="3286125"/>
            <a:ext cx="11049000" cy="1219200"/>
            <a:chOff x="571500" y="3286125"/>
            <a:chExt cx="11049000" cy="1219200"/>
          </a:xfrm>
        </p:grpSpPr>
        <p:sp>
          <p:nvSpPr>
            <p:cNvPr id="28" name="Rectangle 28"/>
            <p:cNvSpPr/>
            <p:nvPr/>
          </p:nvSpPr>
          <p:spPr>
            <a:xfrm>
              <a:off x="571500" y="3286125"/>
              <a:ext cx="11049000" cy="952500"/>
            </a:xfrm>
            <a:prstGeom prst="roundRect">
              <a:avLst>
                <a:gd name="adj" fmla="val 12000"/>
              </a:avLst>
            </a:prstGeom>
            <a:solidFill>
              <a:srgbClr val="FFFFFF"/>
            </a:solidFill>
            <a:ln>
              <a:noFill/>
            </a:ln>
          </p:spPr>
        </p:sp>
        <p:sp>
          <p:nvSpPr>
            <p:cNvPr id="29" name="Rectangle 29"/>
            <p:cNvSpPr/>
            <p:nvPr/>
          </p:nvSpPr>
          <p:spPr>
            <a:xfrm>
              <a:off x="1809750" y="3286125"/>
              <a:ext cx="9810750" cy="952500"/>
            </a:xfrm>
            <a:prstGeom prst="roundRect">
              <a:avLst>
                <a:gd name="adj" fmla="val 12000"/>
              </a:avLst>
            </a:prstGeom>
            <a:solidFill>
              <a:srgbClr val="FF6F00">
                <a:alpha val="4000"/>
              </a:srgbClr>
            </a:solidFill>
            <a:ln>
              <a:noFill/>
            </a:ln>
          </p:spPr>
        </p:sp>
        <p:sp>
          <p:nvSpPr>
            <p:cNvPr id="30" name="Rectangle 30"/>
            <p:cNvSpPr/>
            <p:nvPr/>
          </p:nvSpPr>
          <p:spPr>
            <a:xfrm>
              <a:off x="571500" y="3286125"/>
              <a:ext cx="1333500" cy="952500"/>
            </a:xfrm>
            <a:prstGeom prst="roundRect">
              <a:avLst>
                <a:gd name="adj" fmla="val 12000"/>
              </a:avLst>
            </a:prstGeom>
            <a:solidFill>
              <a:srgbClr val="FF6F00"/>
            </a:solidFill>
            <a:ln>
              <a:noFill/>
            </a:ln>
          </p:spPr>
        </p:sp>
        <p:sp>
          <p:nvSpPr>
            <p:cNvPr id="31" name="TextBox 31"/>
            <p:cNvSpPr txBox="1"/>
            <p:nvPr/>
          </p:nvSpPr>
          <p:spPr>
            <a:xfrm>
              <a:off x="937570" y="3521392"/>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第一层</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1022985" y="3823335"/>
              <a:ext cx="430530"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Tools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2078355" y="3521392"/>
              <a:ext cx="3153180" cy="274320"/>
            </a:xfrm>
            <a:prstGeom prst="rect">
              <a:avLst/>
            </a:prstGeom>
            <a:noFill/>
            <a:ln>
              <a:noFill/>
            </a:ln>
          </p:spPr>
          <p:txBody>
            <a:bodyPr wrap="none" lIns="0" tIns="0" rIns="0" bIns="0" anchor="t" anchorCtr="0">
              <a:spAutoFit/>
            </a:bodyPr>
            <a:lstStyle/>
            <a:p>
              <a:pPr algn="l"/>
              <a:r>
                <a:rPr lang="zh-CN" sz="1350" b="1" dirty="0">
                  <a:solidFill>
                    <a:srgbClr val="FF6F00"/>
                  </a:solidFill>
                  <a:latin typeface="Segoe UI" panose="020B0502040204020203"/>
                  <a:ea typeface="微软雅黑" panose="020B0503020204020204" charset="-122"/>
                  <a:cs typeface="Segoe UI" panose="020B0502040204020203"/>
                </a:rPr>
                <a:t>自动化测试、代码扫描、CI/CD流水线</a:t>
              </a:r>
              <a:endParaRPr lang="zh-CN" sz="1350" b="1" dirty="0">
                <a:solidFill>
                  <a:srgbClr val="FF6F00"/>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2080260" y="3823335"/>
              <a:ext cx="33668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不可跳过的自动化质量门禁，让AI输出有据可查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3406140" y="4139565"/>
              <a:ext cx="177737" cy="365760"/>
            </a:xfrm>
            <a:prstGeom prst="rect">
              <a:avLst/>
            </a:prstGeom>
            <a:noFill/>
            <a:ln>
              <a:noFill/>
            </a:ln>
          </p:spPr>
          <p:txBody>
            <a:bodyPr wrap="none" lIns="0" tIns="0" rIns="0" bIns="0" anchor="t" anchorCtr="0">
              <a:spAutoFit/>
            </a:bodyPr>
            <a:lstStyle/>
            <a:p>
              <a:pPr algn="l"/>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grpSp>
      <p:grpSp>
        <p:nvGrpSpPr>
          <p:cNvPr id="44" name="Group 44"/>
          <p:cNvGrpSpPr/>
          <p:nvPr/>
        </p:nvGrpSpPr>
        <p:grpSpPr>
          <a:xfrm>
            <a:off x="571500" y="4476750"/>
            <a:ext cx="11049000" cy="952500"/>
            <a:chOff x="571500" y="4476750"/>
            <a:chExt cx="11049000" cy="952500"/>
          </a:xfrm>
        </p:grpSpPr>
        <p:sp>
          <p:nvSpPr>
            <p:cNvPr id="37" name="Rectangle 37"/>
            <p:cNvSpPr/>
            <p:nvPr/>
          </p:nvSpPr>
          <p:spPr>
            <a:xfrm>
              <a:off x="571500" y="4476750"/>
              <a:ext cx="11049000" cy="952500"/>
            </a:xfrm>
            <a:prstGeom prst="roundRect">
              <a:avLst>
                <a:gd name="adj" fmla="val 12000"/>
              </a:avLst>
            </a:prstGeom>
            <a:solidFill>
              <a:srgbClr val="FFFFFF"/>
            </a:solidFill>
            <a:ln>
              <a:noFill/>
            </a:ln>
          </p:spPr>
        </p:sp>
        <p:sp>
          <p:nvSpPr>
            <p:cNvPr id="38" name="Rectangle 38"/>
            <p:cNvSpPr/>
            <p:nvPr/>
          </p:nvSpPr>
          <p:spPr>
            <a:xfrm>
              <a:off x="1809750" y="4476750"/>
              <a:ext cx="9810750" cy="952500"/>
            </a:xfrm>
            <a:prstGeom prst="roundRect">
              <a:avLst>
                <a:gd name="adj" fmla="val 12000"/>
              </a:avLst>
            </a:prstGeom>
            <a:solidFill>
              <a:srgbClr val="C62828">
                <a:alpha val="3000"/>
              </a:srgbClr>
            </a:solidFill>
            <a:ln>
              <a:noFill/>
            </a:ln>
          </p:spPr>
        </p:sp>
        <p:sp>
          <p:nvSpPr>
            <p:cNvPr id="39" name="Rectangle 39"/>
            <p:cNvSpPr/>
            <p:nvPr/>
          </p:nvSpPr>
          <p:spPr>
            <a:xfrm>
              <a:off x="571500" y="4476750"/>
              <a:ext cx="1333500" cy="952500"/>
            </a:xfrm>
            <a:prstGeom prst="roundRect">
              <a:avLst>
                <a:gd name="adj" fmla="val 12000"/>
              </a:avLst>
            </a:prstGeom>
            <a:solidFill>
              <a:srgbClr val="C62828"/>
            </a:solidFill>
            <a:ln>
              <a:noFill/>
            </a:ln>
          </p:spPr>
        </p:sp>
        <p:sp>
          <p:nvSpPr>
            <p:cNvPr id="40" name="TextBox 40"/>
            <p:cNvSpPr txBox="1"/>
            <p:nvPr/>
          </p:nvSpPr>
          <p:spPr>
            <a:xfrm>
              <a:off x="1032081" y="471201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基座</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842963" y="5013960"/>
              <a:ext cx="790575"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Principles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2078355" y="4712018"/>
              <a:ext cx="1735503" cy="274320"/>
            </a:xfrm>
            <a:prstGeom prst="rect">
              <a:avLst/>
            </a:prstGeom>
            <a:noFill/>
            <a:ln>
              <a:noFill/>
            </a:ln>
          </p:spPr>
          <p:txBody>
            <a:bodyPr wrap="none" lIns="0" tIns="0" rIns="0" bIns="0" anchor="t" anchorCtr="0">
              <a:spAutoFit/>
            </a:bodyPr>
            <a:lstStyle/>
            <a:p>
              <a:pPr algn="l"/>
              <a:r>
                <a:rPr lang="zh-CN" sz="1350" b="1" dirty="0">
                  <a:solidFill>
                    <a:srgbClr val="C62828"/>
                  </a:solidFill>
                  <a:latin typeface="Segoe UI" panose="020B0502040204020203"/>
                  <a:ea typeface="微软雅黑" panose="020B0503020204020204" charset="-122"/>
                  <a:cs typeface="Segoe UI" panose="020B0502040204020203"/>
                </a:rPr>
                <a:t>不可妥协的工程底线</a:t>
              </a:r>
              <a:endParaRPr lang="zh-CN" sz="1350" b="1" dirty="0">
                <a:solidFill>
                  <a:srgbClr val="C62828"/>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2080260" y="5013960"/>
              <a:ext cx="286283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每次变更必须通过全部测试 —— 这是铁律</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5715000"/>
            <a:ext cx="11049000" cy="476250"/>
            <a:chOff x="571500" y="5715000"/>
            <a:chExt cx="11049000" cy="476250"/>
          </a:xfrm>
        </p:grpSpPr>
        <p:sp>
          <p:nvSpPr>
            <p:cNvPr id="45" name="Rectangle 45"/>
            <p:cNvSpPr/>
            <p:nvPr/>
          </p:nvSpPr>
          <p:spPr>
            <a:xfrm>
              <a:off x="571500" y="5715000"/>
              <a:ext cx="11049000" cy="476250"/>
            </a:xfrm>
            <a:prstGeom prst="roundRect">
              <a:avLst>
                <a:gd name="adj" fmla="val 16000"/>
              </a:avLst>
            </a:prstGeom>
            <a:solidFill>
              <a:srgbClr val="1565C0">
                <a:alpha val="6000"/>
              </a:srgbClr>
            </a:solidFill>
            <a:ln>
              <a:noFill/>
            </a:ln>
          </p:spPr>
        </p:sp>
        <p:sp>
          <p:nvSpPr>
            <p:cNvPr id="46" name="Rectangle 46"/>
            <p:cNvSpPr/>
            <p:nvPr/>
          </p:nvSpPr>
          <p:spPr>
            <a:xfrm>
              <a:off x="571500" y="5715000"/>
              <a:ext cx="57150" cy="476250"/>
            </a:xfrm>
            <a:prstGeom prst="roundRect">
              <a:avLst>
                <a:gd name="adj" fmla="val 50000"/>
              </a:avLst>
            </a:prstGeom>
            <a:solidFill>
              <a:srgbClr val="FF6F00"/>
            </a:solidFill>
            <a:ln>
              <a:noFill/>
            </a:ln>
          </p:spPr>
        </p:sp>
        <p:sp>
          <p:nvSpPr>
            <p:cNvPr id="47" name="TextBox 47"/>
            <p:cNvSpPr txBox="1"/>
            <p:nvPr/>
          </p:nvSpPr>
          <p:spPr>
            <a:xfrm>
              <a:off x="3127791" y="5880735"/>
              <a:ext cx="5936418"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四层架构自底向上：原则为基 → 规范为网 → Skill为桥 → 工具链为盾 —— 缺一不可</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49" name="TextBox 4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0" name="图片 4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Bottom)">
                                      <p:cBhvr>
                                        <p:cTn id="7" dur="400"/>
                                        <p:tgtEl>
                                          <p:spTgt spid="1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lide(fromBottom)">
                                      <p:cBhvr>
                                        <p:cTn id="11" dur="400"/>
                                        <p:tgtEl>
                                          <p:spTgt spid="27"/>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lide(fromBottom)">
                                      <p:cBhvr>
                                        <p:cTn id="15" dur="400"/>
                                        <p:tgtEl>
                                          <p:spTgt spid="36"/>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slide(fromBottom)">
                                      <p:cBhvr>
                                        <p:cTn id="19" dur="400"/>
                                        <p:tgtEl>
                                          <p:spTgt spid="4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36" grpId="0"/>
      <p:bldP spid="44" grpId="0"/>
      <p:bldP spid="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1500" y="220980"/>
            <a:ext cx="3774440" cy="41910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AI开发四大核心原则（一）</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882283" y="1052989"/>
            <a:ext cx="4427434"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四大核心原则将AI开发从试错式编码转变为规范化工程落地</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2619375" cy="4000500"/>
          </a:xfrm>
          <a:prstGeom prst="roundRect">
            <a:avLst>
              <a:gd name="adj" fmla="val 4364"/>
            </a:avLst>
          </a:prstGeom>
          <a:solidFill>
            <a:srgbClr val="FFFFFF"/>
          </a:solidFill>
          <a:ln w="9525">
            <a:solidFill>
              <a:srgbClr val="CFD8DC"/>
            </a:solidFill>
          </a:ln>
        </p:spPr>
      </p:sp>
      <p:sp>
        <p:nvSpPr>
          <p:cNvPr id="11" name="Rectangle 11"/>
          <p:cNvSpPr/>
          <p:nvPr/>
        </p:nvSpPr>
        <p:spPr>
          <a:xfrm>
            <a:off x="571500" y="1428750"/>
            <a:ext cx="2619375" cy="47625"/>
          </a:xfrm>
          <a:prstGeom prst="roundRect">
            <a:avLst>
              <a:gd name="adj" fmla="val 50000"/>
            </a:avLst>
          </a:prstGeom>
          <a:solidFill>
            <a:srgbClr val="1565C0"/>
          </a:solidFill>
          <a:ln>
            <a:noFill/>
          </a:ln>
        </p:spPr>
      </p:sp>
      <p:sp>
        <p:nvSpPr>
          <p:cNvPr id="12" name="Rectangle 12"/>
          <p:cNvSpPr/>
          <p:nvPr/>
        </p:nvSpPr>
        <p:spPr>
          <a:xfrm>
            <a:off x="800100" y="1666875"/>
            <a:ext cx="419100" cy="419100"/>
          </a:xfrm>
          <a:prstGeom prst="roundRect">
            <a:avLst>
              <a:gd name="adj" fmla="val 22727"/>
            </a:avLst>
          </a:prstGeom>
          <a:solidFill>
            <a:srgbClr val="1565C0">
              <a:alpha val="10000"/>
            </a:srgbClr>
          </a:solidFill>
          <a:ln>
            <a:noFill/>
          </a:ln>
        </p:spPr>
      </p:sp>
      <p:grpSp>
        <p:nvGrpSpPr>
          <p:cNvPr id="15" name="Group 15"/>
          <p:cNvGrpSpPr/>
          <p:nvPr/>
        </p:nvGrpSpPr>
        <p:grpSpPr>
          <a:xfrm>
            <a:off x="906879" y="1774918"/>
            <a:ext cx="207126" cy="205692"/>
            <a:chOff x="906879" y="1774918"/>
            <a:chExt cx="207126" cy="205692"/>
          </a:xfrm>
        </p:grpSpPr>
        <p:sp>
          <p:nvSpPr>
            <p:cNvPr id="13" name="Freeform 13"/>
            <p:cNvSpPr/>
            <p:nvPr/>
          </p:nvSpPr>
          <p:spPr>
            <a:xfrm>
              <a:off x="966788" y="1833562"/>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1565C0">
                <a:alpha val="20000"/>
              </a:srgbClr>
            </a:solidFill>
            <a:ln>
              <a:noFill/>
            </a:ln>
          </p:spPr>
        </p:sp>
        <p:sp>
          <p:nvSpPr>
            <p:cNvPr id="14" name="Freeform 14"/>
            <p:cNvSpPr/>
            <p:nvPr/>
          </p:nvSpPr>
          <p:spPr>
            <a:xfrm>
              <a:off x="906879" y="1774918"/>
              <a:ext cx="207126" cy="205692"/>
            </a:xfrm>
            <a:custGeom>
              <a:avLst/>
              <a:gdLst/>
              <a:ahLst/>
              <a:cxnLst/>
              <a:rect l="l" t="t" r="r" b="b"/>
              <a:pathLst>
                <a:path w="207126" h="205692">
                  <a:moveTo>
                    <a:pt x="186594" y="61466"/>
                  </a:moveTo>
                  <a:cubicBezTo>
                    <a:pt x="207126" y="104409"/>
                    <a:pt x="191903" y="155922"/>
                    <a:pt x="151328" y="180807"/>
                  </a:cubicBezTo>
                  <a:cubicBezTo>
                    <a:pt x="110753" y="205692"/>
                    <a:pt x="57936" y="195907"/>
                    <a:pt x="28968" y="158138"/>
                  </a:cubicBezTo>
                  <a:cubicBezTo>
                    <a:pt x="0" y="120369"/>
                    <a:pt x="4242" y="66821"/>
                    <a:pt x="38795" y="34084"/>
                  </a:cubicBezTo>
                  <a:cubicBezTo>
                    <a:pt x="73347" y="1348"/>
                    <a:pt x="127046" y="0"/>
                    <a:pt x="163198" y="30963"/>
                  </a:cubicBezTo>
                  <a:lnTo>
                    <a:pt x="183441" y="10710"/>
                  </a:lnTo>
                  <a:cubicBezTo>
                    <a:pt x="186233" y="7919"/>
                    <a:pt x="190758" y="7919"/>
                    <a:pt x="193550" y="10710"/>
                  </a:cubicBezTo>
                  <a:cubicBezTo>
                    <a:pt x="196341" y="13501"/>
                    <a:pt x="196341" y="18027"/>
                    <a:pt x="193550" y="20818"/>
                  </a:cubicBezTo>
                  <a:lnTo>
                    <a:pt x="107825" y="106543"/>
                  </a:lnTo>
                  <a:cubicBezTo>
                    <a:pt x="105033" y="109335"/>
                    <a:pt x="100508" y="109335"/>
                    <a:pt x="97716" y="106543"/>
                  </a:cubicBezTo>
                  <a:cubicBezTo>
                    <a:pt x="94925" y="103752"/>
                    <a:pt x="94925" y="99226"/>
                    <a:pt x="97716" y="96435"/>
                  </a:cubicBezTo>
                  <a:lnTo>
                    <a:pt x="122469" y="71682"/>
                  </a:lnTo>
                  <a:cubicBezTo>
                    <a:pt x="108659" y="62548"/>
                    <a:pt x="90381" y="64103"/>
                    <a:pt x="78312" y="75439"/>
                  </a:cubicBezTo>
                  <a:cubicBezTo>
                    <a:pt x="66243" y="86775"/>
                    <a:pt x="63547" y="104919"/>
                    <a:pt x="71798" y="119274"/>
                  </a:cubicBezTo>
                  <a:cubicBezTo>
                    <a:pt x="80049" y="133630"/>
                    <a:pt x="97085" y="140432"/>
                    <a:pt x="112955" y="135709"/>
                  </a:cubicBezTo>
                  <a:cubicBezTo>
                    <a:pt x="128825" y="130986"/>
                    <a:pt x="139368" y="115975"/>
                    <a:pt x="138427" y="99444"/>
                  </a:cubicBezTo>
                  <a:cubicBezTo>
                    <a:pt x="138205" y="95499"/>
                    <a:pt x="141223" y="92121"/>
                    <a:pt x="145169" y="91899"/>
                  </a:cubicBezTo>
                  <a:cubicBezTo>
                    <a:pt x="149114" y="91677"/>
                    <a:pt x="152492" y="94695"/>
                    <a:pt x="152714" y="98641"/>
                  </a:cubicBezTo>
                  <a:cubicBezTo>
                    <a:pt x="154056" y="122054"/>
                    <a:pt x="138946" y="143255"/>
                    <a:pt x="116376" y="149627"/>
                  </a:cubicBezTo>
                  <a:cubicBezTo>
                    <a:pt x="93807" y="155998"/>
                    <a:pt x="69841" y="145830"/>
                    <a:pt x="58740" y="125171"/>
                  </a:cubicBezTo>
                  <a:cubicBezTo>
                    <a:pt x="47640" y="104512"/>
                    <a:pt x="52387" y="78915"/>
                    <a:pt x="70157" y="63611"/>
                  </a:cubicBezTo>
                  <a:cubicBezTo>
                    <a:pt x="87927" y="48306"/>
                    <a:pt x="113946" y="47407"/>
                    <a:pt x="132730" y="61449"/>
                  </a:cubicBezTo>
                  <a:lnTo>
                    <a:pt x="153045" y="41134"/>
                  </a:lnTo>
                  <a:cubicBezTo>
                    <a:pt x="122215" y="15537"/>
                    <a:pt x="77053" y="17279"/>
                    <a:pt x="48287" y="45174"/>
                  </a:cubicBezTo>
                  <a:cubicBezTo>
                    <a:pt x="19520" y="73069"/>
                    <a:pt x="16391" y="118156"/>
                    <a:pt x="41027" y="149758"/>
                  </a:cubicBezTo>
                  <a:cubicBezTo>
                    <a:pt x="65663" y="181360"/>
                    <a:pt x="110151" y="189325"/>
                    <a:pt x="144222" y="168234"/>
                  </a:cubicBezTo>
                  <a:cubicBezTo>
                    <a:pt x="178292" y="147143"/>
                    <a:pt x="191000" y="103771"/>
                    <a:pt x="173699" y="67628"/>
                  </a:cubicBezTo>
                  <a:cubicBezTo>
                    <a:pt x="171998" y="64067"/>
                    <a:pt x="173505" y="59801"/>
                    <a:pt x="177066" y="58100"/>
                  </a:cubicBezTo>
                  <a:cubicBezTo>
                    <a:pt x="180626" y="56398"/>
                    <a:pt x="184892" y="57906"/>
                    <a:pt x="186594" y="61466"/>
                  </a:cubicBezTo>
                  <a:close/>
                </a:path>
              </a:pathLst>
            </a:custGeom>
            <a:solidFill>
              <a:srgbClr val="1565C0"/>
            </a:solidFill>
            <a:ln>
              <a:noFill/>
            </a:ln>
          </p:spPr>
        </p:sp>
      </p:grpSp>
      <p:sp>
        <p:nvSpPr>
          <p:cNvPr id="16" name="TextBox 16"/>
          <p:cNvSpPr txBox="1"/>
          <p:nvPr/>
        </p:nvSpPr>
        <p:spPr>
          <a:xfrm>
            <a:off x="788670" y="215550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完备规划</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94385" y="2442210"/>
            <a:ext cx="1374648"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先定规则再写代码</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09625" y="2686050"/>
            <a:ext cx="2143125" cy="9525"/>
          </a:xfrm>
          <a:prstGeom prst="rect">
            <a:avLst/>
          </a:prstGeom>
          <a:solidFill>
            <a:srgbClr val="CFD8DC"/>
          </a:solidFill>
          <a:ln>
            <a:noFill/>
          </a:ln>
        </p:spPr>
      </p:sp>
      <p:sp>
        <p:nvSpPr>
          <p:cNvPr id="19" name="TextBox 19"/>
          <p:cNvSpPr txBox="1"/>
          <p:nvPr/>
        </p:nvSpPr>
        <p:spPr>
          <a:xfrm>
            <a:off x="794385" y="2823210"/>
            <a:ext cx="148666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需求文档→业务事件→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794385" y="3070860"/>
            <a:ext cx="15586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业务能力→结构化描述</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794385" y="3318510"/>
            <a:ext cx="91859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→工作流编排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3419475" y="1428750"/>
            <a:ext cx="2619375" cy="4000500"/>
          </a:xfrm>
          <a:prstGeom prst="roundRect">
            <a:avLst>
              <a:gd name="adj" fmla="val 4364"/>
            </a:avLst>
          </a:prstGeom>
          <a:solidFill>
            <a:srgbClr val="FFFFFF"/>
          </a:solidFill>
          <a:ln w="9525">
            <a:solidFill>
              <a:srgbClr val="CFD8DC"/>
            </a:solidFill>
          </a:ln>
        </p:spPr>
      </p:sp>
      <p:sp>
        <p:nvSpPr>
          <p:cNvPr id="23" name="Rectangle 23"/>
          <p:cNvSpPr/>
          <p:nvPr/>
        </p:nvSpPr>
        <p:spPr>
          <a:xfrm>
            <a:off x="3419475" y="1428750"/>
            <a:ext cx="2619375" cy="47625"/>
          </a:xfrm>
          <a:prstGeom prst="roundRect">
            <a:avLst>
              <a:gd name="adj" fmla="val 50000"/>
            </a:avLst>
          </a:prstGeom>
          <a:solidFill>
            <a:srgbClr val="00838F"/>
          </a:solidFill>
          <a:ln>
            <a:noFill/>
          </a:ln>
        </p:spPr>
      </p:sp>
      <p:sp>
        <p:nvSpPr>
          <p:cNvPr id="24" name="Rectangle 24"/>
          <p:cNvSpPr/>
          <p:nvPr/>
        </p:nvSpPr>
        <p:spPr>
          <a:xfrm>
            <a:off x="3648075" y="1666875"/>
            <a:ext cx="419100" cy="419100"/>
          </a:xfrm>
          <a:prstGeom prst="roundRect">
            <a:avLst>
              <a:gd name="adj" fmla="val 22727"/>
            </a:avLst>
          </a:prstGeom>
          <a:solidFill>
            <a:srgbClr val="00838F">
              <a:alpha val="10000"/>
            </a:srgbClr>
          </a:solidFill>
          <a:ln>
            <a:noFill/>
          </a:ln>
        </p:spPr>
      </p:sp>
      <p:grpSp>
        <p:nvGrpSpPr>
          <p:cNvPr id="27" name="Group 27"/>
          <p:cNvGrpSpPr/>
          <p:nvPr/>
        </p:nvGrpSpPr>
        <p:grpSpPr>
          <a:xfrm>
            <a:off x="3763814" y="1776089"/>
            <a:ext cx="187671" cy="200672"/>
            <a:chOff x="3763814" y="1776089"/>
            <a:chExt cx="187671" cy="200672"/>
          </a:xfrm>
        </p:grpSpPr>
        <p:sp>
          <p:nvSpPr>
            <p:cNvPr id="25" name="Freeform 25"/>
            <p:cNvSpPr/>
            <p:nvPr/>
          </p:nvSpPr>
          <p:spPr>
            <a:xfrm>
              <a:off x="3771900" y="1783556"/>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6" name="Freeform 26"/>
            <p:cNvSpPr/>
            <p:nvPr/>
          </p:nvSpPr>
          <p:spPr>
            <a:xfrm>
              <a:off x="3763814" y="1776089"/>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8" name="TextBox 28"/>
          <p:cNvSpPr txBox="1"/>
          <p:nvPr/>
        </p:nvSpPr>
        <p:spPr>
          <a:xfrm>
            <a:off x="3636645" y="2155508"/>
            <a:ext cx="931371"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分级MVP</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3642360" y="2442210"/>
            <a:ext cx="1086485" cy="18415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嵌套拆解为M</a:t>
            </a:r>
            <a:r>
              <a:rPr lang="en-US" altLang="zh-CN" sz="1200" b="1" dirty="0">
                <a:solidFill>
                  <a:srgbClr val="FF6F00"/>
                </a:solidFill>
                <a:latin typeface="Segoe UI" panose="020B0502040204020203"/>
                <a:ea typeface="微软雅黑" panose="020B0503020204020204" charset="-122"/>
                <a:cs typeface="Segoe UI" panose="020B0502040204020203"/>
              </a:rPr>
              <a:t>T</a:t>
            </a:r>
            <a:r>
              <a:rPr lang="zh-CN" sz="1200" b="1" dirty="0">
                <a:solidFill>
                  <a:srgbClr val="FF6F00"/>
                </a:solidFill>
                <a:latin typeface="Segoe UI" panose="020B0502040204020203"/>
                <a:ea typeface="微软雅黑" panose="020B0503020204020204" charset="-122"/>
                <a:cs typeface="Segoe UI" panose="020B0502040204020203"/>
              </a:rPr>
              <a:t>F</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3657600" y="2686050"/>
            <a:ext cx="2143125" cy="9525"/>
          </a:xfrm>
          <a:prstGeom prst="rect">
            <a:avLst/>
          </a:prstGeom>
          <a:solidFill>
            <a:srgbClr val="CFD8DC"/>
          </a:solidFill>
          <a:ln>
            <a:noFill/>
          </a:ln>
        </p:spPr>
      </p:sp>
      <p:sp>
        <p:nvSpPr>
          <p:cNvPr id="31" name="TextBox 31"/>
          <p:cNvSpPr txBox="1"/>
          <p:nvPr/>
        </p:nvSpPr>
        <p:spPr>
          <a:xfrm>
            <a:off x="3642360" y="2823210"/>
            <a:ext cx="116662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大需求→中需求→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3642360" y="3070860"/>
            <a:ext cx="59855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小需求→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3642360" y="33185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最小可验证单元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267450" y="1428750"/>
            <a:ext cx="2619375" cy="4000500"/>
          </a:xfrm>
          <a:prstGeom prst="roundRect">
            <a:avLst>
              <a:gd name="adj" fmla="val 4364"/>
            </a:avLst>
          </a:prstGeom>
          <a:solidFill>
            <a:srgbClr val="FFFFFF"/>
          </a:solidFill>
          <a:ln w="9525">
            <a:solidFill>
              <a:srgbClr val="CFD8DC"/>
            </a:solidFill>
          </a:ln>
        </p:spPr>
      </p:sp>
      <p:sp>
        <p:nvSpPr>
          <p:cNvPr id="35" name="Rectangle 35"/>
          <p:cNvSpPr/>
          <p:nvPr/>
        </p:nvSpPr>
        <p:spPr>
          <a:xfrm>
            <a:off x="6267450" y="1428750"/>
            <a:ext cx="2619375" cy="47625"/>
          </a:xfrm>
          <a:prstGeom prst="roundRect">
            <a:avLst>
              <a:gd name="adj" fmla="val 50000"/>
            </a:avLst>
          </a:prstGeom>
          <a:solidFill>
            <a:srgbClr val="2E7D32"/>
          </a:solidFill>
          <a:ln>
            <a:noFill/>
          </a:ln>
        </p:spPr>
      </p:sp>
      <p:sp>
        <p:nvSpPr>
          <p:cNvPr id="36" name="Rectangle 36"/>
          <p:cNvSpPr/>
          <p:nvPr/>
        </p:nvSpPr>
        <p:spPr>
          <a:xfrm>
            <a:off x="6496050" y="1666875"/>
            <a:ext cx="419100" cy="419100"/>
          </a:xfrm>
          <a:prstGeom prst="roundRect">
            <a:avLst>
              <a:gd name="adj" fmla="val 22727"/>
            </a:avLst>
          </a:prstGeom>
          <a:solidFill>
            <a:srgbClr val="2E7D32">
              <a:alpha val="10000"/>
            </a:srgbClr>
          </a:solidFill>
          <a:ln>
            <a:noFill/>
          </a:ln>
        </p:spPr>
      </p:sp>
      <p:grpSp>
        <p:nvGrpSpPr>
          <p:cNvPr id="39" name="Group 39"/>
          <p:cNvGrpSpPr/>
          <p:nvPr/>
        </p:nvGrpSpPr>
        <p:grpSpPr>
          <a:xfrm>
            <a:off x="6604886" y="1804985"/>
            <a:ext cx="200729" cy="129292"/>
            <a:chOff x="6604886" y="1804985"/>
            <a:chExt cx="200729" cy="129292"/>
          </a:xfrm>
        </p:grpSpPr>
        <p:sp>
          <p:nvSpPr>
            <p:cNvPr id="37" name="Freeform 37"/>
            <p:cNvSpPr/>
            <p:nvPr/>
          </p:nvSpPr>
          <p:spPr>
            <a:xfrm>
              <a:off x="6741319" y="1812131"/>
              <a:ext cx="57150" cy="57150"/>
            </a:xfrm>
            <a:custGeom>
              <a:avLst/>
              <a:gdLst/>
              <a:ahLst/>
              <a:cxnLst/>
              <a:rect l="l" t="t" r="r" b="b"/>
              <a:pathLst>
                <a:path w="57150" h="57150">
                  <a:moveTo>
                    <a:pt x="57150" y="0"/>
                  </a:moveTo>
                  <a:lnTo>
                    <a:pt x="57150" y="57150"/>
                  </a:lnTo>
                  <a:lnTo>
                    <a:pt x="0" y="0"/>
                  </a:lnTo>
                  <a:close/>
                </a:path>
              </a:pathLst>
            </a:custGeom>
            <a:solidFill>
              <a:srgbClr val="2E7D32">
                <a:alpha val="20000"/>
              </a:srgbClr>
            </a:solidFill>
            <a:ln>
              <a:noFill/>
            </a:ln>
          </p:spPr>
        </p:sp>
        <p:sp>
          <p:nvSpPr>
            <p:cNvPr id="38" name="Freeform 38"/>
            <p:cNvSpPr/>
            <p:nvPr/>
          </p:nvSpPr>
          <p:spPr>
            <a:xfrm>
              <a:off x="6604886" y="1804985"/>
              <a:ext cx="200729" cy="129292"/>
            </a:xfrm>
            <a:custGeom>
              <a:avLst/>
              <a:gdLst/>
              <a:ahLst/>
              <a:cxnLst/>
              <a:rect l="l" t="t" r="r" b="b"/>
              <a:pathLst>
                <a:path w="200729" h="129292">
                  <a:moveTo>
                    <a:pt x="193583" y="2"/>
                  </a:moveTo>
                  <a:lnTo>
                    <a:pt x="136433" y="2"/>
                  </a:lnTo>
                  <a:cubicBezTo>
                    <a:pt x="133542" y="0"/>
                    <a:pt x="130934" y="1741"/>
                    <a:pt x="129828" y="4411"/>
                  </a:cubicBezTo>
                  <a:cubicBezTo>
                    <a:pt x="128721" y="7082"/>
                    <a:pt x="129333" y="10157"/>
                    <a:pt x="131379" y="12200"/>
                  </a:cubicBezTo>
                  <a:lnTo>
                    <a:pt x="154909" y="35721"/>
                  </a:lnTo>
                  <a:lnTo>
                    <a:pt x="107858" y="82772"/>
                  </a:lnTo>
                  <a:lnTo>
                    <a:pt x="77194" y="52098"/>
                  </a:lnTo>
                  <a:cubicBezTo>
                    <a:pt x="75854" y="50757"/>
                    <a:pt x="74035" y="50003"/>
                    <a:pt x="72139" y="50003"/>
                  </a:cubicBezTo>
                  <a:cubicBezTo>
                    <a:pt x="70243" y="50003"/>
                    <a:pt x="68425" y="50757"/>
                    <a:pt x="67085" y="52098"/>
                  </a:cubicBezTo>
                  <a:lnTo>
                    <a:pt x="2791" y="116392"/>
                  </a:lnTo>
                  <a:cubicBezTo>
                    <a:pt x="0" y="119183"/>
                    <a:pt x="0" y="123709"/>
                    <a:pt x="2791" y="126500"/>
                  </a:cubicBezTo>
                  <a:cubicBezTo>
                    <a:pt x="5583" y="129292"/>
                    <a:pt x="10108" y="129292"/>
                    <a:pt x="12900" y="126500"/>
                  </a:cubicBezTo>
                  <a:lnTo>
                    <a:pt x="72139" y="67252"/>
                  </a:lnTo>
                  <a:lnTo>
                    <a:pt x="102804" y="97925"/>
                  </a:lnTo>
                  <a:cubicBezTo>
                    <a:pt x="104144" y="99267"/>
                    <a:pt x="105962" y="100020"/>
                    <a:pt x="107858" y="100020"/>
                  </a:cubicBezTo>
                  <a:cubicBezTo>
                    <a:pt x="109754" y="100020"/>
                    <a:pt x="111572" y="99267"/>
                    <a:pt x="112912" y="97925"/>
                  </a:cubicBezTo>
                  <a:lnTo>
                    <a:pt x="165008" y="45821"/>
                  </a:lnTo>
                  <a:lnTo>
                    <a:pt x="188529" y="69350"/>
                  </a:lnTo>
                  <a:cubicBezTo>
                    <a:pt x="190572" y="71396"/>
                    <a:pt x="193647" y="72008"/>
                    <a:pt x="196318" y="70901"/>
                  </a:cubicBezTo>
                  <a:cubicBezTo>
                    <a:pt x="198989" y="69795"/>
                    <a:pt x="200729" y="67187"/>
                    <a:pt x="200727" y="64296"/>
                  </a:cubicBezTo>
                  <a:lnTo>
                    <a:pt x="200727" y="7146"/>
                  </a:lnTo>
                  <a:cubicBezTo>
                    <a:pt x="200727" y="3201"/>
                    <a:pt x="197528" y="2"/>
                    <a:pt x="193583" y="2"/>
                  </a:cubicBezTo>
                  <a:close/>
                  <a:moveTo>
                    <a:pt x="186439" y="47053"/>
                  </a:moveTo>
                  <a:lnTo>
                    <a:pt x="153676" y="14290"/>
                  </a:lnTo>
                  <a:lnTo>
                    <a:pt x="186439" y="14290"/>
                  </a:lnTo>
                  <a:close/>
                </a:path>
              </a:pathLst>
            </a:custGeom>
            <a:solidFill>
              <a:srgbClr val="2E7D32"/>
            </a:solidFill>
            <a:ln>
              <a:noFill/>
            </a:ln>
          </p:spPr>
        </p:sp>
      </p:grpSp>
      <p:sp>
        <p:nvSpPr>
          <p:cNvPr id="40" name="TextBox 40"/>
          <p:cNvSpPr txBox="1"/>
          <p:nvPr/>
        </p:nvSpPr>
        <p:spPr>
          <a:xfrm>
            <a:off x="6484620" y="215550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增量实现</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6490335" y="2442210"/>
            <a:ext cx="1542669"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小步叠加、只增不改</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6505575" y="2686050"/>
            <a:ext cx="2143125" cy="9525"/>
          </a:xfrm>
          <a:prstGeom prst="rect">
            <a:avLst/>
          </a:prstGeom>
          <a:solidFill>
            <a:srgbClr val="CFD8DC"/>
          </a:solidFill>
          <a:ln>
            <a:noFill/>
          </a:ln>
        </p:spPr>
      </p:sp>
      <p:sp>
        <p:nvSpPr>
          <p:cNvPr id="43" name="TextBox 43"/>
          <p:cNvSpPr txBox="1"/>
          <p:nvPr/>
        </p:nvSpPr>
        <p:spPr>
          <a:xfrm>
            <a:off x="6490335" y="2823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每次只添加一个</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6490335" y="307086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已验证的最小单元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6490335" y="3318510"/>
            <a:ext cx="132664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——不破坏已有稳定</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9115425" y="1428750"/>
            <a:ext cx="2619375" cy="4000500"/>
          </a:xfrm>
          <a:prstGeom prst="roundRect">
            <a:avLst>
              <a:gd name="adj" fmla="val 4364"/>
            </a:avLst>
          </a:prstGeom>
          <a:solidFill>
            <a:srgbClr val="FFFFFF"/>
          </a:solidFill>
          <a:ln w="9525">
            <a:solidFill>
              <a:srgbClr val="CFD8DC"/>
            </a:solidFill>
          </a:ln>
        </p:spPr>
      </p:sp>
      <p:sp>
        <p:nvSpPr>
          <p:cNvPr id="47" name="Rectangle 47"/>
          <p:cNvSpPr/>
          <p:nvPr/>
        </p:nvSpPr>
        <p:spPr>
          <a:xfrm>
            <a:off x="9115425" y="1428750"/>
            <a:ext cx="2619375" cy="47625"/>
          </a:xfrm>
          <a:prstGeom prst="roundRect">
            <a:avLst>
              <a:gd name="adj" fmla="val 50000"/>
            </a:avLst>
          </a:prstGeom>
          <a:solidFill>
            <a:srgbClr val="C62828"/>
          </a:solidFill>
          <a:ln>
            <a:noFill/>
          </a:ln>
        </p:spPr>
      </p:sp>
      <p:sp>
        <p:nvSpPr>
          <p:cNvPr id="48" name="Rectangle 48"/>
          <p:cNvSpPr/>
          <p:nvPr/>
        </p:nvSpPr>
        <p:spPr>
          <a:xfrm>
            <a:off x="9344025" y="1666875"/>
            <a:ext cx="419100" cy="419100"/>
          </a:xfrm>
          <a:prstGeom prst="roundRect">
            <a:avLst>
              <a:gd name="adj" fmla="val 22727"/>
            </a:avLst>
          </a:prstGeom>
          <a:solidFill>
            <a:srgbClr val="C62828">
              <a:alpha val="10000"/>
            </a:srgbClr>
          </a:solidFill>
          <a:ln>
            <a:noFill/>
          </a:ln>
        </p:spPr>
      </p:sp>
      <p:grpSp>
        <p:nvGrpSpPr>
          <p:cNvPr id="51" name="Group 51"/>
          <p:cNvGrpSpPr/>
          <p:nvPr/>
        </p:nvGrpSpPr>
        <p:grpSpPr>
          <a:xfrm>
            <a:off x="9452597" y="1783556"/>
            <a:ext cx="201950" cy="178676"/>
            <a:chOff x="9452597" y="1783556"/>
            <a:chExt cx="201950" cy="178676"/>
          </a:xfrm>
        </p:grpSpPr>
        <p:sp>
          <p:nvSpPr>
            <p:cNvPr id="49" name="Freeform 49"/>
            <p:cNvSpPr/>
            <p:nvPr/>
          </p:nvSpPr>
          <p:spPr>
            <a:xfrm>
              <a:off x="9457134" y="1788218"/>
              <a:ext cx="192881" cy="166789"/>
            </a:xfrm>
            <a:custGeom>
              <a:avLst/>
              <a:gdLst/>
              <a:ahLst/>
              <a:cxnLst/>
              <a:rect l="l" t="t" r="r" b="b"/>
              <a:pathLst>
                <a:path w="192881" h="166789">
                  <a:moveTo>
                    <a:pt x="174540" y="166789"/>
                  </a:moveTo>
                  <a:lnTo>
                    <a:pt x="18342" y="166789"/>
                  </a:lnTo>
                  <a:cubicBezTo>
                    <a:pt x="7072" y="166789"/>
                    <a:pt x="0" y="154993"/>
                    <a:pt x="5474" y="145438"/>
                  </a:cubicBezTo>
                  <a:lnTo>
                    <a:pt x="83573" y="9823"/>
                  </a:lnTo>
                  <a:cubicBezTo>
                    <a:pt x="89199" y="0"/>
                    <a:pt x="103683" y="0"/>
                    <a:pt x="109308" y="9823"/>
                  </a:cubicBezTo>
                  <a:lnTo>
                    <a:pt x="187407" y="145438"/>
                  </a:lnTo>
                  <a:cubicBezTo>
                    <a:pt x="192881" y="154993"/>
                    <a:pt x="185809" y="166789"/>
                    <a:pt x="174540" y="166789"/>
                  </a:cubicBezTo>
                  <a:close/>
                </a:path>
              </a:pathLst>
            </a:custGeom>
            <a:solidFill>
              <a:srgbClr val="C62828">
                <a:alpha val="20000"/>
              </a:srgbClr>
            </a:solidFill>
            <a:ln>
              <a:noFill/>
            </a:ln>
          </p:spPr>
        </p:sp>
        <p:sp>
          <p:nvSpPr>
            <p:cNvPr id="50" name="Freeform 50"/>
            <p:cNvSpPr/>
            <p:nvPr/>
          </p:nvSpPr>
          <p:spPr>
            <a:xfrm>
              <a:off x="9452597" y="1783556"/>
              <a:ext cx="201950" cy="178676"/>
            </a:xfrm>
            <a:custGeom>
              <a:avLst/>
              <a:gdLst/>
              <a:ahLst/>
              <a:cxnLst/>
              <a:rect l="l" t="t" r="r" b="b"/>
              <a:pathLst>
                <a:path w="201950" h="178676">
                  <a:moveTo>
                    <a:pt x="198133" y="146528"/>
                  </a:moveTo>
                  <a:lnTo>
                    <a:pt x="120043" y="10913"/>
                  </a:lnTo>
                  <a:lnTo>
                    <a:pt x="120043" y="10913"/>
                  </a:lnTo>
                  <a:cubicBezTo>
                    <a:pt x="116072" y="4152"/>
                    <a:pt x="108818" y="0"/>
                    <a:pt x="100978" y="0"/>
                  </a:cubicBezTo>
                  <a:cubicBezTo>
                    <a:pt x="93137" y="0"/>
                    <a:pt x="85884" y="4152"/>
                    <a:pt x="81913" y="10913"/>
                  </a:cubicBezTo>
                  <a:lnTo>
                    <a:pt x="3823" y="146528"/>
                  </a:lnTo>
                  <a:cubicBezTo>
                    <a:pt x="0" y="153071"/>
                    <a:pt x="0" y="161166"/>
                    <a:pt x="3823" y="167709"/>
                  </a:cubicBezTo>
                  <a:cubicBezTo>
                    <a:pt x="7745" y="174515"/>
                    <a:pt x="15033" y="178676"/>
                    <a:pt x="22888" y="178594"/>
                  </a:cubicBezTo>
                  <a:lnTo>
                    <a:pt x="179068" y="178594"/>
                  </a:lnTo>
                  <a:cubicBezTo>
                    <a:pt x="186916" y="178669"/>
                    <a:pt x="194196" y="174509"/>
                    <a:pt x="198115" y="167709"/>
                  </a:cubicBezTo>
                  <a:cubicBezTo>
                    <a:pt x="201943" y="161169"/>
                    <a:pt x="201950" y="153074"/>
                    <a:pt x="198133" y="146528"/>
                  </a:cubicBezTo>
                  <a:close/>
                  <a:moveTo>
                    <a:pt x="185747" y="160556"/>
                  </a:moveTo>
                  <a:cubicBezTo>
                    <a:pt x="184361" y="162921"/>
                    <a:pt x="181808" y="164354"/>
                    <a:pt x="179068" y="164307"/>
                  </a:cubicBezTo>
                  <a:lnTo>
                    <a:pt x="22888" y="164307"/>
                  </a:lnTo>
                  <a:cubicBezTo>
                    <a:pt x="20147" y="164354"/>
                    <a:pt x="17594" y="162921"/>
                    <a:pt x="16208" y="160556"/>
                  </a:cubicBezTo>
                  <a:cubicBezTo>
                    <a:pt x="14952" y="158430"/>
                    <a:pt x="14952" y="155789"/>
                    <a:pt x="16208" y="153663"/>
                  </a:cubicBezTo>
                  <a:lnTo>
                    <a:pt x="94298" y="18047"/>
                  </a:lnTo>
                  <a:cubicBezTo>
                    <a:pt x="95711" y="15697"/>
                    <a:pt x="98253" y="14259"/>
                    <a:pt x="100996" y="14259"/>
                  </a:cubicBezTo>
                  <a:cubicBezTo>
                    <a:pt x="103738" y="14259"/>
                    <a:pt x="106280" y="15697"/>
                    <a:pt x="107693" y="18047"/>
                  </a:cubicBezTo>
                  <a:lnTo>
                    <a:pt x="185783" y="153663"/>
                  </a:lnTo>
                  <a:cubicBezTo>
                    <a:pt x="187028" y="155795"/>
                    <a:pt x="187014" y="158437"/>
                    <a:pt x="185747" y="160556"/>
                  </a:cubicBezTo>
                  <a:close/>
                  <a:moveTo>
                    <a:pt x="93834" y="107157"/>
                  </a:moveTo>
                  <a:lnTo>
                    <a:pt x="93834" y="71438"/>
                  </a:lnTo>
                  <a:cubicBezTo>
                    <a:pt x="93834" y="67493"/>
                    <a:pt x="97032" y="64294"/>
                    <a:pt x="100978" y="64294"/>
                  </a:cubicBezTo>
                  <a:cubicBezTo>
                    <a:pt x="104923" y="64294"/>
                    <a:pt x="108122" y="67493"/>
                    <a:pt x="108122" y="71438"/>
                  </a:cubicBezTo>
                  <a:lnTo>
                    <a:pt x="108122" y="107157"/>
                  </a:lnTo>
                  <a:cubicBezTo>
                    <a:pt x="108122" y="111102"/>
                    <a:pt x="104923" y="114301"/>
                    <a:pt x="100978" y="114301"/>
                  </a:cubicBezTo>
                  <a:cubicBezTo>
                    <a:pt x="97032" y="114301"/>
                    <a:pt x="93834" y="111102"/>
                    <a:pt x="93834" y="107157"/>
                  </a:cubicBezTo>
                  <a:close/>
                  <a:moveTo>
                    <a:pt x="111693" y="139304"/>
                  </a:moveTo>
                  <a:cubicBezTo>
                    <a:pt x="111693" y="145222"/>
                    <a:pt x="106896" y="150019"/>
                    <a:pt x="100978" y="150019"/>
                  </a:cubicBezTo>
                  <a:cubicBezTo>
                    <a:pt x="95060" y="150019"/>
                    <a:pt x="90262" y="145222"/>
                    <a:pt x="90262" y="139304"/>
                  </a:cubicBezTo>
                  <a:cubicBezTo>
                    <a:pt x="90262" y="133386"/>
                    <a:pt x="95060" y="128588"/>
                    <a:pt x="100978" y="128588"/>
                  </a:cubicBezTo>
                  <a:cubicBezTo>
                    <a:pt x="106896" y="128588"/>
                    <a:pt x="111693" y="133386"/>
                    <a:pt x="111693" y="139304"/>
                  </a:cubicBezTo>
                  <a:close/>
                </a:path>
              </a:pathLst>
            </a:custGeom>
            <a:solidFill>
              <a:srgbClr val="C62828"/>
            </a:solidFill>
            <a:ln>
              <a:noFill/>
            </a:ln>
          </p:spPr>
        </p:sp>
      </p:grpSp>
      <p:sp>
        <p:nvSpPr>
          <p:cNvPr id="52" name="TextBox 52"/>
          <p:cNvSpPr txBox="1"/>
          <p:nvPr/>
        </p:nvSpPr>
        <p:spPr>
          <a:xfrm>
            <a:off x="9332595" y="215550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局部修改</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9338310" y="2442210"/>
            <a:ext cx="870585"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最小影响域</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9353550" y="2686050"/>
            <a:ext cx="2143125" cy="9525"/>
          </a:xfrm>
          <a:prstGeom prst="rect">
            <a:avLst/>
          </a:prstGeom>
          <a:solidFill>
            <a:srgbClr val="CFD8DC"/>
          </a:solidFill>
          <a:ln>
            <a:noFill/>
          </a:ln>
        </p:spPr>
      </p:sp>
      <p:sp>
        <p:nvSpPr>
          <p:cNvPr id="55" name="TextBox 55"/>
          <p:cNvSpPr txBox="1"/>
          <p:nvPr/>
        </p:nvSpPr>
        <p:spPr>
          <a:xfrm>
            <a:off x="9338310" y="2823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改哪里说哪里，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9338310" y="30708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圈外不动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9338310" y="3318510"/>
            <a:ext cx="116662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——杜绝全局重构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8" name="Rectangle 58"/>
          <p:cNvSpPr/>
          <p:nvPr/>
        </p:nvSpPr>
        <p:spPr>
          <a:xfrm>
            <a:off x="571500" y="5715000"/>
            <a:ext cx="11049000" cy="476250"/>
          </a:xfrm>
          <a:prstGeom prst="roundRect">
            <a:avLst>
              <a:gd name="adj" fmla="val 16000"/>
            </a:avLst>
          </a:prstGeom>
          <a:solidFill>
            <a:srgbClr val="1565C0">
              <a:alpha val="6000"/>
            </a:srgbClr>
          </a:solidFill>
          <a:ln>
            <a:noFill/>
          </a:ln>
        </p:spPr>
      </p:sp>
      <p:grpSp>
        <p:nvGrpSpPr>
          <p:cNvPr id="61" name="Group 61"/>
          <p:cNvGrpSpPr/>
          <p:nvPr/>
        </p:nvGrpSpPr>
        <p:grpSpPr>
          <a:xfrm>
            <a:off x="813579" y="5860979"/>
            <a:ext cx="144336" cy="183824"/>
            <a:chOff x="813579" y="5860979"/>
            <a:chExt cx="144336" cy="183824"/>
          </a:xfrm>
        </p:grpSpPr>
        <p:sp>
          <p:nvSpPr>
            <p:cNvPr id="59" name="Freeform 59"/>
            <p:cNvSpPr/>
            <p:nvPr/>
          </p:nvSpPr>
          <p:spPr>
            <a:xfrm>
              <a:off x="820144" y="586757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60" name="Freeform 60"/>
            <p:cNvSpPr/>
            <p:nvPr/>
          </p:nvSpPr>
          <p:spPr>
            <a:xfrm>
              <a:off x="813579" y="586097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62" name="TextBox 62"/>
          <p:cNvSpPr txBox="1"/>
          <p:nvPr/>
        </p:nvSpPr>
        <p:spPr>
          <a:xfrm>
            <a:off x="1071562" y="5898356"/>
            <a:ext cx="632936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核心逻辑：四个原则环环相扣 —— 规划定义边界 → MVP确定粒度 → 增量控制节奏 → 局部确保安全</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5" name="图片 6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6"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1500" y="221615"/>
            <a:ext cx="3774440" cy="41846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AI开发四大核心原则（二）</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031051" y="1052989"/>
            <a:ext cx="412989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"鼓励有效增量，减少无效迭代"是四大原则的核心理念</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2857500"/>
          </a:xfrm>
          <a:prstGeom prst="roundRect">
            <a:avLst>
              <a:gd name="adj" fmla="val 4000"/>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2E7D32"/>
          </a:solidFill>
          <a:ln>
            <a:noFill/>
          </a:ln>
        </p:spPr>
      </p:sp>
      <p:grpSp>
        <p:nvGrpSpPr>
          <p:cNvPr id="14" name="Group 14"/>
          <p:cNvGrpSpPr/>
          <p:nvPr/>
        </p:nvGrpSpPr>
        <p:grpSpPr>
          <a:xfrm>
            <a:off x="863203" y="1644253"/>
            <a:ext cx="216694" cy="216694"/>
            <a:chOff x="863203" y="1644253"/>
            <a:chExt cx="216694" cy="216694"/>
          </a:xfrm>
        </p:grpSpPr>
        <p:sp>
          <p:nvSpPr>
            <p:cNvPr id="12" name="Freeform 12"/>
            <p:cNvSpPr/>
            <p:nvPr/>
          </p:nvSpPr>
          <p:spPr>
            <a:xfrm>
              <a:off x="871538" y="1652588"/>
              <a:ext cx="200025" cy="200025"/>
            </a:xfrm>
            <a:custGeom>
              <a:avLst/>
              <a:gdLst/>
              <a:ahLst/>
              <a:cxnLst/>
              <a:rect l="l" t="t" r="r" b="b"/>
              <a:pathLst>
                <a:path w="200025" h="200025">
                  <a:moveTo>
                    <a:pt x="200025" y="100012"/>
                  </a:moveTo>
                  <a:cubicBezTo>
                    <a:pt x="200025" y="155248"/>
                    <a:pt x="155248" y="200025"/>
                    <a:pt x="100012" y="200025"/>
                  </a:cubicBezTo>
                  <a:cubicBezTo>
                    <a:pt x="44777" y="200025"/>
                    <a:pt x="0" y="155248"/>
                    <a:pt x="0" y="100012"/>
                  </a:cubicBezTo>
                  <a:cubicBezTo>
                    <a:pt x="0" y="44777"/>
                    <a:pt x="44777" y="0"/>
                    <a:pt x="100012" y="0"/>
                  </a:cubicBezTo>
                  <a:cubicBezTo>
                    <a:pt x="155248" y="0"/>
                    <a:pt x="200025" y="44777"/>
                    <a:pt x="200025" y="100012"/>
                  </a:cubicBezTo>
                  <a:close/>
                </a:path>
              </a:pathLst>
            </a:custGeom>
            <a:solidFill>
              <a:srgbClr val="2E7D32">
                <a:alpha val="20000"/>
              </a:srgbClr>
            </a:solidFill>
            <a:ln>
              <a:noFill/>
            </a:ln>
          </p:spPr>
        </p:sp>
        <p:sp>
          <p:nvSpPr>
            <p:cNvPr id="13" name="Freeform 13"/>
            <p:cNvSpPr/>
            <p:nvPr/>
          </p:nvSpPr>
          <p:spPr>
            <a:xfrm>
              <a:off x="863203" y="1644253"/>
              <a:ext cx="216694" cy="216694"/>
            </a:xfrm>
            <a:custGeom>
              <a:avLst/>
              <a:gdLst/>
              <a:ahLst/>
              <a:cxnLst/>
              <a:rect l="l" t="t" r="r" b="b"/>
              <a:pathLst>
                <a:path w="216694" h="216694">
                  <a:moveTo>
                    <a:pt x="155915" y="77447"/>
                  </a:moveTo>
                  <a:cubicBezTo>
                    <a:pt x="157480" y="79010"/>
                    <a:pt x="158360" y="81132"/>
                    <a:pt x="158360" y="83344"/>
                  </a:cubicBezTo>
                  <a:cubicBezTo>
                    <a:pt x="158360" y="85556"/>
                    <a:pt x="157480" y="87677"/>
                    <a:pt x="155915" y="89240"/>
                  </a:cubicBezTo>
                  <a:lnTo>
                    <a:pt x="97575" y="147581"/>
                  </a:lnTo>
                  <a:cubicBezTo>
                    <a:pt x="96011" y="149146"/>
                    <a:pt x="93890" y="150025"/>
                    <a:pt x="91678" y="150025"/>
                  </a:cubicBezTo>
                  <a:cubicBezTo>
                    <a:pt x="89466" y="150025"/>
                    <a:pt x="87345" y="149146"/>
                    <a:pt x="85782" y="147581"/>
                  </a:cubicBezTo>
                  <a:lnTo>
                    <a:pt x="60778" y="122578"/>
                  </a:lnTo>
                  <a:cubicBezTo>
                    <a:pt x="57522" y="119321"/>
                    <a:pt x="57522" y="114041"/>
                    <a:pt x="60778" y="110785"/>
                  </a:cubicBezTo>
                  <a:cubicBezTo>
                    <a:pt x="64035" y="107528"/>
                    <a:pt x="69315" y="107528"/>
                    <a:pt x="72572" y="110785"/>
                  </a:cubicBezTo>
                  <a:lnTo>
                    <a:pt x="91678" y="129902"/>
                  </a:lnTo>
                  <a:lnTo>
                    <a:pt x="144122" y="77447"/>
                  </a:lnTo>
                  <a:cubicBezTo>
                    <a:pt x="145685" y="75882"/>
                    <a:pt x="147807" y="75003"/>
                    <a:pt x="150019" y="75003"/>
                  </a:cubicBezTo>
                  <a:cubicBezTo>
                    <a:pt x="152231" y="75003"/>
                    <a:pt x="154352" y="75882"/>
                    <a:pt x="155915" y="77447"/>
                  </a:cubicBezTo>
                  <a:close/>
                  <a:moveTo>
                    <a:pt x="216694" y="108347"/>
                  </a:moveTo>
                  <a:cubicBezTo>
                    <a:pt x="216694" y="168185"/>
                    <a:pt x="168185" y="216694"/>
                    <a:pt x="108347" y="216694"/>
                  </a:cubicBezTo>
                  <a:cubicBezTo>
                    <a:pt x="48509" y="216694"/>
                    <a:pt x="0" y="168185"/>
                    <a:pt x="0" y="108347"/>
                  </a:cubicBezTo>
                  <a:cubicBezTo>
                    <a:pt x="0" y="48509"/>
                    <a:pt x="48509" y="0"/>
                    <a:pt x="108347" y="0"/>
                  </a:cubicBezTo>
                  <a:cubicBezTo>
                    <a:pt x="168159" y="63"/>
                    <a:pt x="216631" y="48535"/>
                    <a:pt x="216694" y="108347"/>
                  </a:cubicBezTo>
                  <a:close/>
                  <a:moveTo>
                    <a:pt x="200025" y="108347"/>
                  </a:moveTo>
                  <a:cubicBezTo>
                    <a:pt x="200025" y="57714"/>
                    <a:pt x="158979" y="16669"/>
                    <a:pt x="108347" y="16669"/>
                  </a:cubicBezTo>
                  <a:cubicBezTo>
                    <a:pt x="57714" y="16669"/>
                    <a:pt x="16669" y="57714"/>
                    <a:pt x="16669" y="108347"/>
                  </a:cubicBezTo>
                  <a:cubicBezTo>
                    <a:pt x="16669" y="158979"/>
                    <a:pt x="57714" y="200025"/>
                    <a:pt x="108347" y="200025"/>
                  </a:cubicBezTo>
                  <a:cubicBezTo>
                    <a:pt x="158956" y="199968"/>
                    <a:pt x="199968" y="158956"/>
                    <a:pt x="200025" y="108347"/>
                  </a:cubicBezTo>
                  <a:close/>
                </a:path>
              </a:pathLst>
            </a:custGeom>
            <a:solidFill>
              <a:srgbClr val="2E7D32"/>
            </a:solidFill>
            <a:ln>
              <a:noFill/>
            </a:ln>
          </p:spPr>
        </p:sp>
      </p:grpSp>
      <p:sp>
        <p:nvSpPr>
          <p:cNvPr id="15" name="TextBox 15"/>
          <p:cNvSpPr txBox="1"/>
          <p:nvPr/>
        </p:nvSpPr>
        <p:spPr>
          <a:xfrm>
            <a:off x="1196340" y="1634490"/>
            <a:ext cx="1053846" cy="365760"/>
          </a:xfrm>
          <a:prstGeom prst="rect">
            <a:avLst/>
          </a:prstGeom>
          <a:noFill/>
          <a:ln>
            <a:noFill/>
          </a:ln>
        </p:spPr>
        <p:txBody>
          <a:bodyPr wrap="none" lIns="0" tIns="0" rIns="0" bIns="0" anchor="t" anchorCtr="0">
            <a:spAutoFit/>
          </a:bodyPr>
          <a:lstStyle/>
          <a:p>
            <a:pPr algn="l"/>
            <a:r>
              <a:rPr lang="zh-CN" sz="1800" b="1" dirty="0">
                <a:solidFill>
                  <a:srgbClr val="2E7D32"/>
                </a:solidFill>
                <a:latin typeface="Segoe UI" panose="020B0502040204020203"/>
                <a:ea typeface="微软雅黑" panose="020B0503020204020204" charset="-122"/>
                <a:cs typeface="Segoe UI" panose="020B0502040204020203"/>
              </a:rPr>
              <a:t>有效增量</a:t>
            </a:r>
            <a:endParaRPr lang="zh-CN" sz="1800" b="1" dirty="0">
              <a:solidFill>
                <a:srgbClr val="2E7D32"/>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47875"/>
            <a:ext cx="4800600" cy="381000"/>
          </a:xfrm>
          <a:prstGeom prst="roundRect">
            <a:avLst>
              <a:gd name="adj" fmla="val 15000"/>
            </a:avLst>
          </a:prstGeom>
          <a:solidFill>
            <a:srgbClr val="E8F5E9"/>
          </a:solidFill>
          <a:ln>
            <a:noFill/>
          </a:ln>
        </p:spPr>
      </p:sp>
      <p:sp>
        <p:nvSpPr>
          <p:cNvPr id="17" name="TextBox 17"/>
          <p:cNvSpPr txBox="1"/>
          <p:nvPr/>
        </p:nvSpPr>
        <p:spPr>
          <a:xfrm>
            <a:off x="937260" y="2156460"/>
            <a:ext cx="4191000" cy="243840"/>
          </a:xfrm>
          <a:prstGeom prst="rect">
            <a:avLst/>
          </a:prstGeom>
          <a:noFill/>
          <a:ln>
            <a:noFill/>
          </a:ln>
        </p:spPr>
        <p:txBody>
          <a:bodyPr wrap="none" lIns="0" tIns="0" rIns="0" bIns="0" anchor="t" anchorCtr="0">
            <a:spAutoFit/>
          </a:bodyPr>
          <a:lstStyle/>
          <a:p>
            <a:pPr algn="l"/>
            <a:r>
              <a:rPr lang="zh-CN" sz="1200" dirty="0">
                <a:solidFill>
                  <a:srgbClr val="2E7D32"/>
                </a:solidFill>
                <a:latin typeface="Segoe UI" panose="020B0502040204020203"/>
                <a:ea typeface="微软雅黑" panose="020B0503020204020204" charset="-122"/>
                <a:cs typeface="Segoe UI" panose="020B0502040204020203"/>
              </a:rPr>
              <a:t>每个增量都是可验证、可交付、不破坏已有功能的独立单元</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822960" y="2632710"/>
            <a:ext cx="27508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特性一：每个增量可以独立部署和回滚</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22960" y="2918460"/>
            <a:ext cx="30708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特性二：增量通过时累积已有测试全部回归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22960" y="3204210"/>
            <a:ext cx="32308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特性三：每个增量对应一个可演示的业务价值</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22960" y="3489960"/>
            <a:ext cx="33909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特性四：增量之间按依赖顺序线性叠加，不交叉</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6286500" y="1428750"/>
            <a:ext cx="5334000" cy="2857500"/>
          </a:xfrm>
          <a:prstGeom prst="roundRect">
            <a:avLst>
              <a:gd name="adj" fmla="val 4000"/>
            </a:avLst>
          </a:prstGeom>
          <a:solidFill>
            <a:srgbClr val="FFFFFF"/>
          </a:solidFill>
          <a:ln w="9525">
            <a:solidFill>
              <a:srgbClr val="CFD8DC"/>
            </a:solidFill>
          </a:ln>
        </p:spPr>
      </p:sp>
      <p:sp>
        <p:nvSpPr>
          <p:cNvPr id="23" name="Rectangle 23"/>
          <p:cNvSpPr/>
          <p:nvPr/>
        </p:nvSpPr>
        <p:spPr>
          <a:xfrm>
            <a:off x="6286500" y="1428750"/>
            <a:ext cx="5334000" cy="38100"/>
          </a:xfrm>
          <a:prstGeom prst="roundRect">
            <a:avLst>
              <a:gd name="adj" fmla="val 50000"/>
            </a:avLst>
          </a:prstGeom>
          <a:solidFill>
            <a:srgbClr val="C62828"/>
          </a:solidFill>
          <a:ln>
            <a:noFill/>
          </a:ln>
        </p:spPr>
      </p:sp>
      <p:grpSp>
        <p:nvGrpSpPr>
          <p:cNvPr id="26" name="Group 26"/>
          <p:cNvGrpSpPr/>
          <p:nvPr/>
        </p:nvGrpSpPr>
        <p:grpSpPr>
          <a:xfrm>
            <a:off x="6568743" y="1644252"/>
            <a:ext cx="235608" cy="208455"/>
            <a:chOff x="6568743" y="1644252"/>
            <a:chExt cx="235608" cy="208455"/>
          </a:xfrm>
        </p:grpSpPr>
        <p:sp>
          <p:nvSpPr>
            <p:cNvPr id="24" name="Freeform 24"/>
            <p:cNvSpPr/>
            <p:nvPr/>
          </p:nvSpPr>
          <p:spPr>
            <a:xfrm>
              <a:off x="6574036" y="1649691"/>
              <a:ext cx="225028" cy="194587"/>
            </a:xfrm>
            <a:custGeom>
              <a:avLst/>
              <a:gdLst/>
              <a:ahLst/>
              <a:cxnLst/>
              <a:rect l="l" t="t" r="r" b="b"/>
              <a:pathLst>
                <a:path w="225028" h="194587">
                  <a:moveTo>
                    <a:pt x="203630" y="194587"/>
                  </a:moveTo>
                  <a:lnTo>
                    <a:pt x="21399" y="194587"/>
                  </a:lnTo>
                  <a:cubicBezTo>
                    <a:pt x="8251" y="194587"/>
                    <a:pt x="0" y="180825"/>
                    <a:pt x="6386" y="169677"/>
                  </a:cubicBezTo>
                  <a:lnTo>
                    <a:pt x="97502" y="11460"/>
                  </a:lnTo>
                  <a:cubicBezTo>
                    <a:pt x="104065" y="0"/>
                    <a:pt x="120963" y="0"/>
                    <a:pt x="127526" y="11460"/>
                  </a:cubicBezTo>
                  <a:lnTo>
                    <a:pt x="218642" y="169677"/>
                  </a:lnTo>
                  <a:cubicBezTo>
                    <a:pt x="225028" y="180825"/>
                    <a:pt x="216777" y="194587"/>
                    <a:pt x="203630" y="194587"/>
                  </a:cubicBezTo>
                  <a:close/>
                </a:path>
              </a:pathLst>
            </a:custGeom>
            <a:solidFill>
              <a:srgbClr val="C62828">
                <a:alpha val="20000"/>
              </a:srgbClr>
            </a:solidFill>
            <a:ln>
              <a:noFill/>
            </a:ln>
          </p:spPr>
        </p:sp>
        <p:sp>
          <p:nvSpPr>
            <p:cNvPr id="25" name="Freeform 25"/>
            <p:cNvSpPr/>
            <p:nvPr/>
          </p:nvSpPr>
          <p:spPr>
            <a:xfrm>
              <a:off x="6568743" y="1644252"/>
              <a:ext cx="235608" cy="208455"/>
            </a:xfrm>
            <a:custGeom>
              <a:avLst/>
              <a:gdLst/>
              <a:ahLst/>
              <a:cxnLst/>
              <a:rect l="l" t="t" r="r" b="b"/>
              <a:pathLst>
                <a:path w="235608" h="208455">
                  <a:moveTo>
                    <a:pt x="231155" y="170949"/>
                  </a:moveTo>
                  <a:lnTo>
                    <a:pt x="140050" y="12731"/>
                  </a:lnTo>
                  <a:lnTo>
                    <a:pt x="140050" y="12731"/>
                  </a:lnTo>
                  <a:cubicBezTo>
                    <a:pt x="135417" y="4844"/>
                    <a:pt x="126954" y="0"/>
                    <a:pt x="117807" y="0"/>
                  </a:cubicBezTo>
                  <a:cubicBezTo>
                    <a:pt x="108660" y="0"/>
                    <a:pt x="100197" y="4844"/>
                    <a:pt x="95565" y="12731"/>
                  </a:cubicBezTo>
                  <a:lnTo>
                    <a:pt x="4460" y="170949"/>
                  </a:lnTo>
                  <a:cubicBezTo>
                    <a:pt x="0" y="178583"/>
                    <a:pt x="0" y="188027"/>
                    <a:pt x="4460" y="195661"/>
                  </a:cubicBezTo>
                  <a:cubicBezTo>
                    <a:pt x="9036" y="203601"/>
                    <a:pt x="17539" y="208455"/>
                    <a:pt x="26702" y="208360"/>
                  </a:cubicBezTo>
                  <a:lnTo>
                    <a:pt x="208913" y="208360"/>
                  </a:lnTo>
                  <a:cubicBezTo>
                    <a:pt x="218069" y="208448"/>
                    <a:pt x="226562" y="203594"/>
                    <a:pt x="231134" y="195661"/>
                  </a:cubicBezTo>
                  <a:cubicBezTo>
                    <a:pt x="235600" y="188031"/>
                    <a:pt x="235608" y="178586"/>
                    <a:pt x="231155" y="170949"/>
                  </a:cubicBezTo>
                  <a:close/>
                  <a:moveTo>
                    <a:pt x="216705" y="187316"/>
                  </a:moveTo>
                  <a:cubicBezTo>
                    <a:pt x="215088" y="190074"/>
                    <a:pt x="212110" y="191747"/>
                    <a:pt x="208913" y="191691"/>
                  </a:cubicBezTo>
                  <a:lnTo>
                    <a:pt x="26702" y="191691"/>
                  </a:lnTo>
                  <a:cubicBezTo>
                    <a:pt x="23505" y="191747"/>
                    <a:pt x="20527" y="190074"/>
                    <a:pt x="18910" y="187316"/>
                  </a:cubicBezTo>
                  <a:cubicBezTo>
                    <a:pt x="17444" y="184835"/>
                    <a:pt x="17444" y="181754"/>
                    <a:pt x="18910" y="179273"/>
                  </a:cubicBezTo>
                  <a:lnTo>
                    <a:pt x="110015" y="21055"/>
                  </a:lnTo>
                  <a:cubicBezTo>
                    <a:pt x="111663" y="18313"/>
                    <a:pt x="114628" y="16635"/>
                    <a:pt x="117828" y="16635"/>
                  </a:cubicBezTo>
                  <a:cubicBezTo>
                    <a:pt x="121028" y="16635"/>
                    <a:pt x="123994" y="18313"/>
                    <a:pt x="125642" y="21055"/>
                  </a:cubicBezTo>
                  <a:lnTo>
                    <a:pt x="216747" y="179273"/>
                  </a:lnTo>
                  <a:cubicBezTo>
                    <a:pt x="218199" y="181761"/>
                    <a:pt x="218183" y="184843"/>
                    <a:pt x="216705" y="187316"/>
                  </a:cubicBezTo>
                  <a:close/>
                  <a:moveTo>
                    <a:pt x="109473" y="125016"/>
                  </a:moveTo>
                  <a:lnTo>
                    <a:pt x="109473" y="83344"/>
                  </a:lnTo>
                  <a:cubicBezTo>
                    <a:pt x="109473" y="78741"/>
                    <a:pt x="113204" y="75010"/>
                    <a:pt x="117807" y="75010"/>
                  </a:cubicBezTo>
                  <a:cubicBezTo>
                    <a:pt x="122410" y="75010"/>
                    <a:pt x="126142" y="78741"/>
                    <a:pt x="126142" y="83344"/>
                  </a:cubicBezTo>
                  <a:lnTo>
                    <a:pt x="126142" y="125016"/>
                  </a:lnTo>
                  <a:cubicBezTo>
                    <a:pt x="126142" y="129619"/>
                    <a:pt x="122410" y="133351"/>
                    <a:pt x="117807" y="133351"/>
                  </a:cubicBezTo>
                  <a:cubicBezTo>
                    <a:pt x="113204" y="133351"/>
                    <a:pt x="109473" y="129619"/>
                    <a:pt x="109473" y="125016"/>
                  </a:cubicBezTo>
                  <a:close/>
                  <a:moveTo>
                    <a:pt x="130309" y="162521"/>
                  </a:moveTo>
                  <a:cubicBezTo>
                    <a:pt x="130309" y="169425"/>
                    <a:pt x="124712" y="175023"/>
                    <a:pt x="117807" y="175023"/>
                  </a:cubicBezTo>
                  <a:cubicBezTo>
                    <a:pt x="110903" y="175023"/>
                    <a:pt x="105306" y="169425"/>
                    <a:pt x="105306" y="162521"/>
                  </a:cubicBezTo>
                  <a:cubicBezTo>
                    <a:pt x="105306" y="155617"/>
                    <a:pt x="110903" y="150019"/>
                    <a:pt x="117807" y="150019"/>
                  </a:cubicBezTo>
                  <a:cubicBezTo>
                    <a:pt x="124712" y="150019"/>
                    <a:pt x="130309" y="155617"/>
                    <a:pt x="130309" y="162521"/>
                  </a:cubicBezTo>
                  <a:close/>
                </a:path>
              </a:pathLst>
            </a:custGeom>
            <a:solidFill>
              <a:srgbClr val="C62828"/>
            </a:solidFill>
            <a:ln>
              <a:noFill/>
            </a:ln>
          </p:spPr>
        </p:sp>
      </p:grpSp>
      <p:sp>
        <p:nvSpPr>
          <p:cNvPr id="27" name="TextBox 27"/>
          <p:cNvSpPr txBox="1"/>
          <p:nvPr/>
        </p:nvSpPr>
        <p:spPr>
          <a:xfrm>
            <a:off x="6911340" y="1634490"/>
            <a:ext cx="1053846" cy="365760"/>
          </a:xfrm>
          <a:prstGeom prst="rect">
            <a:avLst/>
          </a:prstGeom>
          <a:noFill/>
          <a:ln>
            <a:noFill/>
          </a:ln>
        </p:spPr>
        <p:txBody>
          <a:bodyPr wrap="none" lIns="0" tIns="0" rIns="0" bIns="0" anchor="t" anchorCtr="0">
            <a:spAutoFit/>
          </a:bodyPr>
          <a:lstStyle/>
          <a:p>
            <a:pPr algn="l"/>
            <a:r>
              <a:rPr lang="zh-CN" sz="1800" b="1" dirty="0">
                <a:solidFill>
                  <a:srgbClr val="C62828"/>
                </a:solidFill>
                <a:latin typeface="Segoe UI" panose="020B0502040204020203"/>
                <a:ea typeface="微软雅黑" panose="020B0503020204020204" charset="-122"/>
                <a:cs typeface="Segoe UI" panose="020B0502040204020203"/>
              </a:rPr>
              <a:t>无效迭代</a:t>
            </a:r>
            <a:endParaRPr lang="zh-CN" sz="1800" b="1" dirty="0">
              <a:solidFill>
                <a:srgbClr val="C6282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553200" y="2047875"/>
            <a:ext cx="4800600" cy="381000"/>
          </a:xfrm>
          <a:prstGeom prst="roundRect">
            <a:avLst>
              <a:gd name="adj" fmla="val 15000"/>
            </a:avLst>
          </a:prstGeom>
          <a:solidFill>
            <a:srgbClr val="FFEBEE"/>
          </a:solidFill>
          <a:ln>
            <a:noFill/>
          </a:ln>
        </p:spPr>
      </p:sp>
      <p:sp>
        <p:nvSpPr>
          <p:cNvPr id="29" name="TextBox 29"/>
          <p:cNvSpPr txBox="1"/>
          <p:nvPr/>
        </p:nvSpPr>
        <p:spPr>
          <a:xfrm>
            <a:off x="6652260" y="2156460"/>
            <a:ext cx="4239006"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大需求一次扔给AI → 多轮修改返工 → 质量不可控 → 交付延期</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537960" y="2632710"/>
            <a:ext cx="32068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症状一：上下文窗口被撑爆，AI遗忘早期约定</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537960" y="2918460"/>
            <a:ext cx="27508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症状二：每次修改都可能破坏已有功能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6537960" y="320421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症状三：缺乏可验证的中间节点</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537960" y="3489960"/>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症状四：调试成本随规模指数级增长</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4572000"/>
            <a:ext cx="11049000" cy="714375"/>
          </a:xfrm>
          <a:prstGeom prst="roundRect">
            <a:avLst>
              <a:gd name="adj" fmla="val 16000"/>
            </a:avLst>
          </a:prstGeom>
          <a:gradFill>
            <a:gsLst>
              <a:gs pos="0">
                <a:srgbClr val="1565C0"/>
              </a:gs>
              <a:gs pos="100000">
                <a:srgbClr val="00838F"/>
              </a:gs>
            </a:gsLst>
            <a:lin ang="0" scaled="1"/>
          </a:gradFill>
          <a:ln>
            <a:noFill/>
          </a:ln>
        </p:spPr>
      </p:sp>
      <p:sp>
        <p:nvSpPr>
          <p:cNvPr id="35" name="TextBox 35"/>
          <p:cNvSpPr txBox="1"/>
          <p:nvPr/>
        </p:nvSpPr>
        <p:spPr>
          <a:xfrm>
            <a:off x="5612987" y="4727258"/>
            <a:ext cx="96602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核心公式</a:t>
            </a:r>
            <a:endParaRPr lang="zh-CN" sz="1650" b="1" dirty="0">
              <a:solidFill>
                <a:srgbClr val="FFFFFF"/>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3878080" y="5026342"/>
            <a:ext cx="4435840" cy="274320"/>
          </a:xfrm>
          <a:prstGeom prst="rect">
            <a:avLst/>
          </a:prstGeom>
          <a:noFill/>
          <a:ln>
            <a:noFill/>
          </a:ln>
        </p:spPr>
        <p:txBody>
          <a:bodyPr wrap="none" lIns="0" tIns="0" rIns="0" bIns="0" anchor="t" anchorCtr="0">
            <a:spAutoFit/>
          </a:bodyPr>
          <a:lstStyle/>
          <a:p>
            <a:pPr algn="ctr"/>
            <a:r>
              <a:rPr lang="zh-CN" sz="1350" dirty="0">
                <a:solidFill>
                  <a:srgbClr val="FFFFFF">
                    <a:alphaMod val="90000"/>
                  </a:srgbClr>
                </a:solidFill>
                <a:latin typeface="Segoe UI" panose="020B0502040204020203"/>
                <a:ea typeface="微软雅黑" panose="020B0503020204020204" charset="-122"/>
                <a:cs typeface="Segoe UI" panose="020B0502040204020203"/>
              </a:rPr>
              <a:t>有效交付 = 完备规划 × 分级MVP × 增量实现 × 局部修改</a:t>
            </a:r>
            <a:endParaRPr lang="zh-CN" sz="1350" dirty="0">
              <a:solidFill>
                <a:srgbClr val="FFFFFF">
                  <a:alphaMod val="90000"/>
                </a:srgbClr>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571500" y="5572125"/>
            <a:ext cx="11049000" cy="523875"/>
          </a:xfrm>
          <a:prstGeom prst="roundRect">
            <a:avLst>
              <a:gd name="adj" fmla="val 14545"/>
            </a:avLst>
          </a:prstGeom>
          <a:solidFill>
            <a:srgbClr val="1565C0">
              <a:alpha val="6000"/>
            </a:srgbClr>
          </a:solidFill>
          <a:ln>
            <a:noFill/>
          </a:ln>
        </p:spPr>
      </p:sp>
      <p:grpSp>
        <p:nvGrpSpPr>
          <p:cNvPr id="40" name="Group 40"/>
          <p:cNvGrpSpPr/>
          <p:nvPr/>
        </p:nvGrpSpPr>
        <p:grpSpPr>
          <a:xfrm>
            <a:off x="810622" y="5783631"/>
            <a:ext cx="131214" cy="167113"/>
            <a:chOff x="810622" y="5783631"/>
            <a:chExt cx="131214" cy="167113"/>
          </a:xfrm>
        </p:grpSpPr>
        <p:sp>
          <p:nvSpPr>
            <p:cNvPr id="38" name="Freeform 38"/>
            <p:cNvSpPr/>
            <p:nvPr/>
          </p:nvSpPr>
          <p:spPr>
            <a:xfrm>
              <a:off x="816590" y="57896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1565C0">
                <a:alpha val="20000"/>
              </a:srgbClr>
            </a:solidFill>
            <a:ln>
              <a:noFill/>
            </a:ln>
          </p:spPr>
        </p:sp>
        <p:sp>
          <p:nvSpPr>
            <p:cNvPr id="39" name="Freeform 39"/>
            <p:cNvSpPr/>
            <p:nvPr/>
          </p:nvSpPr>
          <p:spPr>
            <a:xfrm>
              <a:off x="810622" y="57836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1565C0"/>
            </a:solidFill>
            <a:ln>
              <a:noFill/>
            </a:ln>
          </p:spPr>
        </p:sp>
      </p:grpSp>
      <p:sp>
        <p:nvSpPr>
          <p:cNvPr id="41" name="TextBox 41"/>
          <p:cNvSpPr txBox="1"/>
          <p:nvPr/>
        </p:nvSpPr>
        <p:spPr>
          <a:xfrm>
            <a:off x="1052512" y="5774531"/>
            <a:ext cx="556426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四个原则是乘数关系 —— 任何一个为零，整体交付都无法成功。不是"或"，是"且"。</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4" name="图片 4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5"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11430"/>
            <a:ext cx="12192000" cy="7429500"/>
            <a:chOff x="0" y="0"/>
            <a:chExt cx="12192000" cy="74295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sp>
          <p:nvSpPr>
            <p:cNvPr id="4" name="Ellipse 4"/>
            <p:cNvSpPr/>
            <p:nvPr/>
          </p:nvSpPr>
          <p:spPr>
            <a:xfrm>
              <a:off x="8763000" y="4000500"/>
              <a:ext cx="3429000" cy="3429000"/>
            </a:xfrm>
            <a:prstGeom prst="ellipse">
              <a:avLst/>
            </a:prstGeom>
            <a:solidFill>
              <a:srgbClr val="1565C0">
                <a:alpha val="3000"/>
              </a:srgbClr>
            </a:solidFill>
            <a:ln>
              <a:noFill/>
            </a:ln>
          </p:spPr>
        </p:sp>
        <p:sp>
          <p:nvSpPr>
            <p:cNvPr id="5" name="Ellipse 5"/>
            <p:cNvSpPr/>
            <p:nvPr/>
          </p:nvSpPr>
          <p:spPr>
            <a:xfrm>
              <a:off x="762000" y="285750"/>
              <a:ext cx="2286000" cy="2286000"/>
            </a:xfrm>
            <a:prstGeom prst="ellipse">
              <a:avLst/>
            </a:prstGeom>
            <a:solidFill>
              <a:srgbClr val="00838F">
                <a:alpha val="3000"/>
              </a:srgbClr>
            </a:solidFill>
            <a:ln>
              <a:noFill/>
            </a:ln>
          </p:spPr>
        </p:sp>
      </p:grpSp>
      <p:grpSp>
        <p:nvGrpSpPr>
          <p:cNvPr id="11" name="Group 11"/>
          <p:cNvGrpSpPr/>
          <p:nvPr/>
        </p:nvGrpSpPr>
        <p:grpSpPr>
          <a:xfrm>
            <a:off x="498241" y="252412"/>
            <a:ext cx="11122259" cy="457200"/>
            <a:chOff x="498241" y="252412"/>
            <a:chExt cx="11122259" cy="457200"/>
          </a:xfrm>
        </p:grpSpPr>
        <p:sp>
          <p:nvSpPr>
            <p:cNvPr id="9" name="TextBox 9"/>
            <p:cNvSpPr txBox="1"/>
            <p:nvPr/>
          </p:nvSpPr>
          <p:spPr>
            <a:xfrm>
              <a:off x="571500" y="252412"/>
              <a:ext cx="2892504"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本章小结：工程哲学</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1524000" y="952500"/>
            <a:ext cx="9144000" cy="666750"/>
            <a:chOff x="1524000" y="952500"/>
            <a:chExt cx="9144000" cy="666750"/>
          </a:xfrm>
        </p:grpSpPr>
        <p:sp>
          <p:nvSpPr>
            <p:cNvPr id="12" name="Rectangle 12"/>
            <p:cNvSpPr/>
            <p:nvPr/>
          </p:nvSpPr>
          <p:spPr>
            <a:xfrm>
              <a:off x="1524000" y="952500"/>
              <a:ext cx="9144000" cy="666750"/>
            </a:xfrm>
            <a:prstGeom prst="roundRect">
              <a:avLst>
                <a:gd name="adj" fmla="val 17143"/>
              </a:avLst>
            </a:prstGeom>
            <a:solidFill>
              <a:srgbClr val="1565C0">
                <a:alpha val="8000"/>
              </a:srgbClr>
            </a:solidFill>
            <a:ln>
              <a:noFill/>
            </a:ln>
          </p:spPr>
        </p:sp>
        <p:sp>
          <p:nvSpPr>
            <p:cNvPr id="13" name="Rectangle 13"/>
            <p:cNvSpPr/>
            <p:nvPr/>
          </p:nvSpPr>
          <p:spPr>
            <a:xfrm>
              <a:off x="1524000" y="952500"/>
              <a:ext cx="57150" cy="666750"/>
            </a:xfrm>
            <a:prstGeom prst="roundRect">
              <a:avLst>
                <a:gd name="adj" fmla="val 50000"/>
              </a:avLst>
            </a:prstGeom>
            <a:solidFill>
              <a:srgbClr val="FF6F00"/>
            </a:solidFill>
            <a:ln>
              <a:noFill/>
            </a:ln>
          </p:spPr>
        </p:sp>
        <p:sp>
          <p:nvSpPr>
            <p:cNvPr id="14" name="TextBox 14"/>
            <p:cNvSpPr txBox="1"/>
            <p:nvPr/>
          </p:nvSpPr>
          <p:spPr>
            <a:xfrm>
              <a:off x="5700808" y="1111568"/>
              <a:ext cx="790384"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核心主题</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4424553" y="1365885"/>
              <a:ext cx="3342894"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AI时代的工程哲学：拥抱AI效率，坚守工程纪律</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1524000" y="1857375"/>
            <a:ext cx="9144000" cy="904875"/>
            <a:chOff x="1524000" y="1857375"/>
            <a:chExt cx="9144000" cy="904875"/>
          </a:xfrm>
        </p:grpSpPr>
        <p:sp>
          <p:nvSpPr>
            <p:cNvPr id="17" name="Rectangle 17"/>
            <p:cNvSpPr/>
            <p:nvPr/>
          </p:nvSpPr>
          <p:spPr>
            <a:xfrm>
              <a:off x="1524000" y="1857375"/>
              <a:ext cx="9144000" cy="904875"/>
            </a:xfrm>
            <a:prstGeom prst="roundRect">
              <a:avLst>
                <a:gd name="adj" fmla="val 10526"/>
              </a:avLst>
            </a:prstGeom>
            <a:solidFill>
              <a:srgbClr val="FFFFFF"/>
            </a:solidFill>
            <a:ln>
              <a:noFill/>
            </a:ln>
          </p:spPr>
        </p:sp>
        <p:sp>
          <p:nvSpPr>
            <p:cNvPr id="18" name="Rectangle 18"/>
            <p:cNvSpPr/>
            <p:nvPr/>
          </p:nvSpPr>
          <p:spPr>
            <a:xfrm>
              <a:off x="1714500" y="2019300"/>
              <a:ext cx="381000" cy="381000"/>
            </a:xfrm>
            <a:prstGeom prst="roundRect">
              <a:avLst>
                <a:gd name="adj" fmla="val 25000"/>
              </a:avLst>
            </a:prstGeom>
            <a:solidFill>
              <a:srgbClr val="1565C0">
                <a:alpha val="10000"/>
              </a:srgbClr>
            </a:solidFill>
            <a:ln>
              <a:noFill/>
            </a:ln>
          </p:spPr>
        </p:sp>
        <p:sp>
          <p:nvSpPr>
            <p:cNvPr id="19" name="TextBox 19"/>
            <p:cNvSpPr txBox="1"/>
            <p:nvPr/>
          </p:nvSpPr>
          <p:spPr>
            <a:xfrm>
              <a:off x="1788843" y="2121218"/>
              <a:ext cx="232315" cy="274320"/>
            </a:xfrm>
            <a:prstGeom prst="rect">
              <a:avLst/>
            </a:prstGeom>
            <a:noFill/>
            <a:ln>
              <a:noFill/>
            </a:ln>
          </p:spPr>
          <p:txBody>
            <a:bodyPr wrap="none" lIns="0" tIns="0" rIns="0" bIns="0" anchor="t" anchorCtr="0">
              <a:spAutoFit/>
            </a:bodyPr>
            <a:lstStyle/>
            <a:p>
              <a:pPr algn="ctr"/>
              <a:r>
                <a:rPr lang="zh-CN" sz="1350" dirty="0">
                  <a:solidFill>
                    <a:srgbClr val="1565C0"/>
                  </a:solidFill>
                  <a:latin typeface="Segoe UI" panose="020B0502040204020203"/>
                  <a:ea typeface="微软雅黑" panose="020B0503020204020204" charset="-122"/>
                  <a:cs typeface="Segoe UI" panose="020B0502040204020203"/>
                </a:rPr>
                <a:t>01</a:t>
              </a:r>
              <a:endParaRPr lang="zh-CN" sz="1350" dirty="0">
                <a:solidFill>
                  <a:srgbClr val="1565C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2268855" y="2045018"/>
              <a:ext cx="4164456"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哲学一：AI不是银弹，但能让偶然复杂度趋近于零</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2270760" y="2346960"/>
              <a:ext cx="51271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AI消灭体力活，让人聚焦本质复杂度 —— Brooks论断成立，但边界在移动</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1524000" y="2952750"/>
            <a:ext cx="9144000" cy="904875"/>
            <a:chOff x="1524000" y="2952750"/>
            <a:chExt cx="9144000" cy="904875"/>
          </a:xfrm>
        </p:grpSpPr>
        <p:sp>
          <p:nvSpPr>
            <p:cNvPr id="23" name="Rectangle 23"/>
            <p:cNvSpPr/>
            <p:nvPr/>
          </p:nvSpPr>
          <p:spPr>
            <a:xfrm>
              <a:off x="1524000" y="2952750"/>
              <a:ext cx="9144000" cy="904875"/>
            </a:xfrm>
            <a:prstGeom prst="roundRect">
              <a:avLst>
                <a:gd name="adj" fmla="val 10526"/>
              </a:avLst>
            </a:prstGeom>
            <a:solidFill>
              <a:srgbClr val="FFFFFF"/>
            </a:solidFill>
            <a:ln>
              <a:noFill/>
            </a:ln>
          </p:spPr>
        </p:sp>
        <p:sp>
          <p:nvSpPr>
            <p:cNvPr id="24" name="Rectangle 24"/>
            <p:cNvSpPr/>
            <p:nvPr/>
          </p:nvSpPr>
          <p:spPr>
            <a:xfrm>
              <a:off x="1714500" y="3114675"/>
              <a:ext cx="381000" cy="381000"/>
            </a:xfrm>
            <a:prstGeom prst="roundRect">
              <a:avLst>
                <a:gd name="adj" fmla="val 25000"/>
              </a:avLst>
            </a:prstGeom>
            <a:solidFill>
              <a:srgbClr val="FF6F00">
                <a:alpha val="10000"/>
              </a:srgbClr>
            </a:solidFill>
            <a:ln>
              <a:noFill/>
            </a:ln>
          </p:spPr>
        </p:sp>
        <p:sp>
          <p:nvSpPr>
            <p:cNvPr id="25" name="TextBox 25"/>
            <p:cNvSpPr txBox="1"/>
            <p:nvPr/>
          </p:nvSpPr>
          <p:spPr>
            <a:xfrm>
              <a:off x="1788843" y="3216592"/>
              <a:ext cx="232315" cy="274320"/>
            </a:xfrm>
            <a:prstGeom prst="rect">
              <a:avLst/>
            </a:prstGeom>
            <a:noFill/>
            <a:ln>
              <a:noFill/>
            </a:ln>
          </p:spPr>
          <p:txBody>
            <a:bodyPr wrap="none" lIns="0" tIns="0" rIns="0" bIns="0" anchor="t" anchorCtr="0">
              <a:spAutoFit/>
            </a:bodyPr>
            <a:lstStyle/>
            <a:p>
              <a:pPr algn="ctr"/>
              <a:r>
                <a:rPr lang="zh-CN" sz="1350" dirty="0">
                  <a:solidFill>
                    <a:srgbClr val="FF6F00"/>
                  </a:solidFill>
                  <a:latin typeface="Segoe UI" panose="020B0502040204020203"/>
                  <a:ea typeface="微软雅黑" panose="020B0503020204020204" charset="-122"/>
                  <a:cs typeface="Segoe UI" panose="020B0502040204020203"/>
                </a:rPr>
                <a:t>02</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2268855" y="3140392"/>
              <a:ext cx="189617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哲学二：AI倒逼工程化</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2270760" y="3442335"/>
              <a:ext cx="556717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不规范的成本被AI放大，守纪律的价值被AI彰显 —— 工程化从"应该"变成"必须"</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1524000" y="4048125"/>
            <a:ext cx="9144000" cy="904875"/>
            <a:chOff x="1524000" y="4048125"/>
            <a:chExt cx="9144000" cy="904875"/>
          </a:xfrm>
        </p:grpSpPr>
        <p:sp>
          <p:nvSpPr>
            <p:cNvPr id="29" name="Rectangle 29"/>
            <p:cNvSpPr/>
            <p:nvPr/>
          </p:nvSpPr>
          <p:spPr>
            <a:xfrm>
              <a:off x="1524000" y="4048125"/>
              <a:ext cx="9144000" cy="904875"/>
            </a:xfrm>
            <a:prstGeom prst="roundRect">
              <a:avLst>
                <a:gd name="adj" fmla="val 10526"/>
              </a:avLst>
            </a:prstGeom>
            <a:solidFill>
              <a:srgbClr val="FFFFFF"/>
            </a:solidFill>
            <a:ln>
              <a:noFill/>
            </a:ln>
          </p:spPr>
        </p:sp>
        <p:sp>
          <p:nvSpPr>
            <p:cNvPr id="30" name="Rectangle 30"/>
            <p:cNvSpPr/>
            <p:nvPr/>
          </p:nvSpPr>
          <p:spPr>
            <a:xfrm>
              <a:off x="1714500" y="4210050"/>
              <a:ext cx="381000" cy="381000"/>
            </a:xfrm>
            <a:prstGeom prst="roundRect">
              <a:avLst>
                <a:gd name="adj" fmla="val 25000"/>
              </a:avLst>
            </a:prstGeom>
            <a:solidFill>
              <a:srgbClr val="00838F">
                <a:alpha val="10000"/>
              </a:srgbClr>
            </a:solidFill>
            <a:ln>
              <a:noFill/>
            </a:ln>
          </p:spPr>
        </p:sp>
        <p:sp>
          <p:nvSpPr>
            <p:cNvPr id="31" name="TextBox 31"/>
            <p:cNvSpPr txBox="1"/>
            <p:nvPr/>
          </p:nvSpPr>
          <p:spPr>
            <a:xfrm>
              <a:off x="1788843" y="4311968"/>
              <a:ext cx="232315" cy="274320"/>
            </a:xfrm>
            <a:prstGeom prst="rect">
              <a:avLst/>
            </a:prstGeom>
            <a:noFill/>
            <a:ln>
              <a:noFill/>
            </a:ln>
          </p:spPr>
          <p:txBody>
            <a:bodyPr wrap="none" lIns="0" tIns="0" rIns="0" bIns="0" anchor="t" anchorCtr="0">
              <a:spAutoFit/>
            </a:bodyPr>
            <a:lstStyle/>
            <a:p>
              <a:pPr algn="ctr"/>
              <a:r>
                <a:rPr lang="zh-CN" sz="1350" dirty="0">
                  <a:solidFill>
                    <a:srgbClr val="00838F"/>
                  </a:solidFill>
                  <a:latin typeface="Segoe UI" panose="020B0502040204020203"/>
                  <a:ea typeface="微软雅黑" panose="020B0503020204020204" charset="-122"/>
                  <a:cs typeface="Segoe UI" panose="020B0502040204020203"/>
                </a:rPr>
                <a:t>03</a:t>
              </a:r>
              <a:endParaRPr lang="zh-CN" sz="1350" dirty="0">
                <a:solidFill>
                  <a:srgbClr val="00838F"/>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268855" y="4235768"/>
              <a:ext cx="230257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哲学三：代码质量三层模型</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2270760" y="4537710"/>
              <a:ext cx="375894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正确 → 无坏味道 → 优美，逐层递进。三层缺一不可。</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0" name="Group 40"/>
          <p:cNvGrpSpPr/>
          <p:nvPr/>
        </p:nvGrpSpPr>
        <p:grpSpPr>
          <a:xfrm>
            <a:off x="1524000" y="5143500"/>
            <a:ext cx="9144000" cy="762000"/>
            <a:chOff x="1524000" y="5143500"/>
            <a:chExt cx="9144000" cy="762000"/>
          </a:xfrm>
        </p:grpSpPr>
        <p:sp>
          <p:nvSpPr>
            <p:cNvPr id="35" name="Rectangle 35"/>
            <p:cNvSpPr/>
            <p:nvPr/>
          </p:nvSpPr>
          <p:spPr>
            <a:xfrm>
              <a:off x="1524000" y="5143500"/>
              <a:ext cx="9144000" cy="762000"/>
            </a:xfrm>
            <a:prstGeom prst="roundRect">
              <a:avLst>
                <a:gd name="adj" fmla="val 12500"/>
              </a:avLst>
            </a:prstGeom>
            <a:solidFill>
              <a:srgbClr val="FFFFFF"/>
            </a:solidFill>
            <a:ln>
              <a:noFill/>
            </a:ln>
          </p:spPr>
        </p:sp>
        <p:sp>
          <p:nvSpPr>
            <p:cNvPr id="36" name="Rectangle 36"/>
            <p:cNvSpPr/>
            <p:nvPr/>
          </p:nvSpPr>
          <p:spPr>
            <a:xfrm>
              <a:off x="1714500" y="5286375"/>
              <a:ext cx="381000" cy="381000"/>
            </a:xfrm>
            <a:prstGeom prst="roundRect">
              <a:avLst>
                <a:gd name="adj" fmla="val 25000"/>
              </a:avLst>
            </a:prstGeom>
            <a:solidFill>
              <a:srgbClr val="C62828">
                <a:alpha val="10000"/>
              </a:srgbClr>
            </a:solidFill>
            <a:ln>
              <a:noFill/>
            </a:ln>
          </p:spPr>
        </p:sp>
        <p:sp>
          <p:nvSpPr>
            <p:cNvPr id="37" name="TextBox 37"/>
            <p:cNvSpPr txBox="1"/>
            <p:nvPr/>
          </p:nvSpPr>
          <p:spPr>
            <a:xfrm>
              <a:off x="1788843" y="5388292"/>
              <a:ext cx="232315" cy="274320"/>
            </a:xfrm>
            <a:prstGeom prst="rect">
              <a:avLst/>
            </a:prstGeom>
            <a:noFill/>
            <a:ln>
              <a:noFill/>
            </a:ln>
          </p:spPr>
          <p:txBody>
            <a:bodyPr wrap="none" lIns="0" tIns="0" rIns="0" bIns="0" anchor="t" anchorCtr="0">
              <a:spAutoFit/>
            </a:bodyPr>
            <a:lstStyle/>
            <a:p>
              <a:pPr algn="ctr"/>
              <a:r>
                <a:rPr lang="zh-CN" sz="1350" dirty="0">
                  <a:solidFill>
                    <a:srgbClr val="C62828"/>
                  </a:solidFill>
                  <a:latin typeface="Segoe UI" panose="020B0502040204020203"/>
                  <a:ea typeface="微软雅黑" panose="020B0503020204020204" charset="-122"/>
                  <a:cs typeface="Segoe UI" panose="020B0502040204020203"/>
                </a:rPr>
                <a:t>04</a:t>
              </a:r>
              <a:endParaRPr lang="zh-CN" sz="1350" dirty="0">
                <a:solidFill>
                  <a:srgbClr val="C62828"/>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2268855" y="5331142"/>
              <a:ext cx="2237105" cy="207645"/>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哲学四：小步快跑，增量</a:t>
              </a:r>
              <a:r>
                <a:rPr lang="zh-CN" sz="1350" b="1" dirty="0">
                  <a:solidFill>
                    <a:srgbClr val="263238"/>
                  </a:solidFill>
                  <a:latin typeface="Segoe UI" panose="020B0502040204020203"/>
                  <a:ea typeface="微软雅黑" panose="020B0503020204020204" charset="-122"/>
                  <a:cs typeface="Segoe UI" panose="020B0502040204020203"/>
                </a:rPr>
                <a:t>迭代</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2270760" y="5633085"/>
              <a:ext cx="3200400" cy="18415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完备规划，最小可测特性，增量实现，局部</a:t>
              </a:r>
              <a:r>
                <a:rPr lang="zh-CN" sz="1200" dirty="0">
                  <a:solidFill>
                    <a:srgbClr val="546E7A"/>
                  </a:solidFill>
                  <a:latin typeface="Segoe UI" panose="020B0502040204020203"/>
                  <a:ea typeface="微软雅黑" panose="020B0503020204020204" charset="-122"/>
                  <a:cs typeface="Segoe UI" panose="020B0502040204020203"/>
                </a:rPr>
                <a:t>修改</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1524000" y="6143625"/>
            <a:ext cx="9144000" cy="476250"/>
            <a:chOff x="1524000" y="6143625"/>
            <a:chExt cx="9144000" cy="476250"/>
          </a:xfrm>
        </p:grpSpPr>
        <p:sp>
          <p:nvSpPr>
            <p:cNvPr id="41" name="Rectangle 41"/>
            <p:cNvSpPr/>
            <p:nvPr/>
          </p:nvSpPr>
          <p:spPr>
            <a:xfrm>
              <a:off x="1524000" y="6143625"/>
              <a:ext cx="9144000" cy="476250"/>
            </a:xfrm>
            <a:prstGeom prst="roundRect">
              <a:avLst>
                <a:gd name="adj" fmla="val 20000"/>
              </a:avLst>
            </a:prstGeom>
            <a:solidFill>
              <a:srgbClr val="2E7D32">
                <a:alpha val="8000"/>
              </a:srgbClr>
            </a:solidFill>
            <a:ln>
              <a:noFill/>
            </a:ln>
          </p:spPr>
        </p:sp>
        <p:sp>
          <p:nvSpPr>
            <p:cNvPr id="42" name="TextBox 42"/>
            <p:cNvSpPr txBox="1"/>
            <p:nvPr/>
          </p:nvSpPr>
          <p:spPr>
            <a:xfrm>
              <a:off x="3321015" y="6280785"/>
              <a:ext cx="55499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关键行动：建立工程化体系，用去模糊化沟通，让AI在约束中发挥最大效能</a:t>
              </a:r>
              <a:endParaRPr lang="zh-CN" sz="1200" b="1" dirty="0">
                <a:solidFill>
                  <a:srgbClr val="2E7D32"/>
                </a:solidFill>
                <a:latin typeface="Segoe UI" panose="020B0502040204020203"/>
                <a:ea typeface="微软雅黑" panose="020B0503020204020204" charset="-122"/>
                <a:cs typeface="Segoe UI" panose="020B0502040204020203"/>
              </a:endParaRPr>
            </a:p>
          </p:txBody>
        </p:sp>
      </p:grpSp>
      <p:sp>
        <p:nvSpPr>
          <p:cNvPr id="44" name="TextBox 4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5" name="图片 4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image">
                                      <p:cBhvr>
                                        <p:cTn id="15" dur="400"/>
                                        <p:tgtEl>
                                          <p:spTgt spid="2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400"/>
                                        <p:tgtEl>
                                          <p:spTgt spid="34"/>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400"/>
                                        <p:tgtEl>
                                          <p:spTgt spid="40"/>
                                        </p:tgtEl>
                                      </p:cBhvr>
                                    </p:animEffect>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slide(fromBottom)">
                                      <p:cBhvr>
                                        <p:cTn id="27"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p:bldP spid="28" grpId="0"/>
      <p:bldP spid="34" grpId="0"/>
      <p:bldP spid="40" grpId="0"/>
      <p:bldP spid="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Rectangle 3"/>
          <p:cNvSpPr/>
          <p:nvPr/>
        </p:nvSpPr>
        <p:spPr>
          <a:xfrm>
            <a:off x="-381000" y="-381000"/>
            <a:ext cx="1905000" cy="1905000"/>
          </a:xfrm>
          <a:prstGeom prst="roundRect">
            <a:avLst>
              <a:gd name="adj" fmla="val 6000"/>
            </a:avLst>
          </a:prstGeom>
          <a:solidFill>
            <a:srgbClr val="FFFFFF">
              <a:alpha val="4000"/>
            </a:srgbClr>
          </a:solidFill>
          <a:ln>
            <a:noFill/>
          </a:ln>
        </p:spPr>
      </p:sp>
      <p:sp>
        <p:nvSpPr>
          <p:cNvPr id="4" name="Rectangle 4"/>
          <p:cNvSpPr/>
          <p:nvPr/>
        </p:nvSpPr>
        <p:spPr>
          <a:xfrm>
            <a:off x="11239500" y="5905500"/>
            <a:ext cx="1524000" cy="1524000"/>
          </a:xfrm>
          <a:prstGeom prst="roundRect">
            <a:avLst>
              <a:gd name="adj" fmla="val 7500"/>
            </a:avLst>
          </a:prstGeom>
          <a:solidFill>
            <a:srgbClr val="FFFFFF">
              <a:alpha val="4000"/>
            </a:srgbClr>
          </a:solidFill>
          <a:ln>
            <a:noFill/>
          </a:ln>
        </p:spPr>
      </p:sp>
      <p:sp>
        <p:nvSpPr>
          <p:cNvPr id="5" name="Rectangle 5"/>
          <p:cNvSpPr/>
          <p:nvPr/>
        </p:nvSpPr>
        <p:spPr>
          <a:xfrm>
            <a:off x="9525000" y="-571500"/>
            <a:ext cx="2857500" cy="2857500"/>
          </a:xfrm>
          <a:prstGeom prst="roundRect">
            <a:avLst>
              <a:gd name="adj" fmla="val 50000"/>
            </a:avLst>
          </a:prstGeom>
          <a:solidFill>
            <a:srgbClr val="FFFFFF">
              <a:alpha val="3000"/>
            </a:srgbClr>
          </a:solidFill>
          <a:ln>
            <a:noFill/>
          </a:ln>
        </p:spPr>
      </p:sp>
      <p:sp>
        <p:nvSpPr>
          <p:cNvPr id="6" name="Ellipse 6"/>
          <p:cNvSpPr/>
          <p:nvPr/>
        </p:nvSpPr>
        <p:spPr>
          <a:xfrm>
            <a:off x="4191000" y="1905000"/>
            <a:ext cx="3810000" cy="3810000"/>
          </a:xfrm>
          <a:prstGeom prst="ellipse">
            <a:avLst/>
          </a:prstGeom>
          <a:solidFill>
            <a:srgbClr val="FFFFFF">
              <a:alpha val="2000"/>
            </a:srgbClr>
          </a:solidFill>
          <a:ln>
            <a:noFill/>
          </a:ln>
        </p:spPr>
      </p:sp>
      <p:sp>
        <p:nvSpPr>
          <p:cNvPr id="10" name="TextBox 10"/>
          <p:cNvSpPr txBox="1"/>
          <p:nvPr/>
        </p:nvSpPr>
        <p:spPr>
          <a:xfrm>
            <a:off x="571500" y="3168015"/>
            <a:ext cx="2611755"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Segoe UI" panose="020B0502040204020203"/>
                <a:ea typeface="微软雅黑" panose="020B0503020204020204" charset="-122"/>
                <a:cs typeface="Segoe UI" panose="020B0502040204020203"/>
              </a:rPr>
              <a:t>需求与设计</a:t>
            </a:r>
            <a:endParaRPr lang="zh-CN" sz="3600" b="1" dirty="0">
              <a:solidFill>
                <a:srgbClr val="FFFFFF"/>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592455" y="3917632"/>
            <a:ext cx="3342322" cy="335280"/>
          </a:xfrm>
          <a:prstGeom prst="rect">
            <a:avLst/>
          </a:prstGeom>
          <a:noFill/>
          <a:ln>
            <a:noFill/>
          </a:ln>
        </p:spPr>
        <p:txBody>
          <a:bodyPr wrap="none" lIns="0" tIns="0" rIns="0" bIns="0" anchor="t" anchorCtr="0">
            <a:spAutoFit/>
          </a:bodyPr>
          <a:lstStyle/>
          <a:p>
            <a:pPr algn="ctr"/>
            <a:r>
              <a:rPr lang="zh-CN" sz="1650" dirty="0">
                <a:solidFill>
                  <a:srgbClr val="FFFFFF">
                    <a:alphaMod val="85000"/>
                  </a:srgbClr>
                </a:solidFill>
                <a:latin typeface="Segoe UI" panose="020B0502040204020203"/>
                <a:ea typeface="微软雅黑" panose="020B0503020204020204" charset="-122"/>
                <a:cs typeface="Segoe UI" panose="020B0502040204020203"/>
              </a:rPr>
              <a:t>从模糊想法到精确规格的转化之道</a:t>
            </a:r>
            <a:endParaRPr lang="zh-CN" sz="1650"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599122" y="4641056"/>
            <a:ext cx="4257413" cy="259080"/>
          </a:xfrm>
          <a:prstGeom prst="rect">
            <a:avLst/>
          </a:prstGeom>
          <a:noFill/>
          <a:ln>
            <a:noFill/>
          </a:ln>
        </p:spPr>
        <p:txBody>
          <a:bodyPr wrap="none" lIns="0" tIns="0" rIns="0" bIns="0" anchor="t" anchorCtr="0">
            <a:spAutoFit/>
          </a:bodyPr>
          <a:lstStyle/>
          <a:p>
            <a:pPr algn="ctr"/>
            <a:r>
              <a:rPr lang="zh-CN" sz="1275" dirty="0">
                <a:solidFill>
                  <a:srgbClr val="FFFFFF">
                    <a:alphaMod val="65000"/>
                  </a:srgbClr>
                </a:solidFill>
                <a:latin typeface="Segoe UI" panose="020B0502040204020203"/>
                <a:ea typeface="微软雅黑" panose="020B0503020204020204" charset="-122"/>
                <a:cs typeface="Segoe UI" panose="020B0502040204020203"/>
              </a:rPr>
              <a:t>需求是AI编程的第一道关卡，设计决定了代码质量的上限</a:t>
            </a:r>
            <a:endParaRPr lang="zh-CN" sz="1275" dirty="0">
              <a:solidFill>
                <a:srgbClr val="FFFFFF">
                  <a:alphaMod val="65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14411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40000"/>
                  </a:srgbClr>
                </a:solidFill>
                <a:latin typeface="Segoe UI" panose="020B0502040204020203"/>
                <a:ea typeface="微软雅黑" panose="020B0503020204020204" charset="-122"/>
                <a:cs typeface="Segoe UI" panose="020B0502040204020203"/>
              </a:rPr>
              <a:t>23</a:t>
            </a:r>
            <a:endParaRPr lang="zh-CN" sz="1125" dirty="0">
              <a:solidFill>
                <a:srgbClr val="FFFFFF">
                  <a:alphaMod val="4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22605" y="164465"/>
            <a:ext cx="3632200" cy="47561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AI编程之需求分析与描述</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372219" y="1052989"/>
            <a:ext cx="5447562"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AI无法主动追问模糊需求，开发人员必须把需求转化为精确的结构化规格</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1428750"/>
          </a:xfrm>
          <a:prstGeom prst="roundRect">
            <a:avLst>
              <a:gd name="adj" fmla="val 8000"/>
            </a:avLst>
          </a:prstGeom>
          <a:solidFill>
            <a:srgbClr val="FFFFFF"/>
          </a:solidFill>
          <a:ln w="9525">
            <a:solidFill>
              <a:srgbClr val="CFD8DC"/>
            </a:solidFill>
          </a:ln>
        </p:spPr>
      </p:sp>
      <p:sp>
        <p:nvSpPr>
          <p:cNvPr id="11" name="Rectangle 11"/>
          <p:cNvSpPr/>
          <p:nvPr/>
        </p:nvSpPr>
        <p:spPr>
          <a:xfrm>
            <a:off x="809625" y="1857375"/>
            <a:ext cx="1714500" cy="571500"/>
          </a:xfrm>
          <a:prstGeom prst="roundRect">
            <a:avLst>
              <a:gd name="adj" fmla="val 13333"/>
            </a:avLst>
          </a:prstGeom>
          <a:solidFill>
            <a:srgbClr val="1565C0"/>
          </a:solidFill>
          <a:ln>
            <a:noFill/>
          </a:ln>
        </p:spPr>
      </p:sp>
      <p:sp>
        <p:nvSpPr>
          <p:cNvPr id="12" name="TextBox 12"/>
          <p:cNvSpPr txBox="1"/>
          <p:nvPr/>
        </p:nvSpPr>
        <p:spPr>
          <a:xfrm>
            <a:off x="1147572" y="18707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模糊业务需求</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03554" y="2099310"/>
            <a:ext cx="1326642"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"做一个用户系统"</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26155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2905125" y="1857375"/>
            <a:ext cx="1714500" cy="571500"/>
          </a:xfrm>
          <a:prstGeom prst="roundRect">
            <a:avLst>
              <a:gd name="adj" fmla="val 13333"/>
            </a:avLst>
          </a:prstGeom>
          <a:solidFill>
            <a:srgbClr val="00838F"/>
          </a:solidFill>
          <a:ln>
            <a:noFill/>
          </a:ln>
        </p:spPr>
      </p:sp>
      <p:sp>
        <p:nvSpPr>
          <p:cNvPr id="16" name="TextBox 16"/>
          <p:cNvSpPr txBox="1"/>
          <p:nvPr/>
        </p:nvSpPr>
        <p:spPr>
          <a:xfrm>
            <a:off x="3243072" y="18707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业务事件识别</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3019044" y="2099310"/>
            <a:ext cx="1486662"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注册/登录/权限变更</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47110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5000625" y="1857375"/>
            <a:ext cx="1714500" cy="571500"/>
          </a:xfrm>
          <a:prstGeom prst="roundRect">
            <a:avLst>
              <a:gd name="adj" fmla="val 13333"/>
            </a:avLst>
          </a:prstGeom>
          <a:solidFill>
            <a:srgbClr val="FF6F00"/>
          </a:solidFill>
          <a:ln>
            <a:noFill/>
          </a:ln>
        </p:spPr>
      </p:sp>
      <p:sp>
        <p:nvSpPr>
          <p:cNvPr id="20" name="TextBox 20"/>
          <p:cNvSpPr txBox="1"/>
          <p:nvPr/>
        </p:nvSpPr>
        <p:spPr>
          <a:xfrm>
            <a:off x="5338572" y="18707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业务能力映射</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5098542" y="2099310"/>
            <a:ext cx="1518666"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用户CRUD/认证/授权</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68065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7096125" y="1857375"/>
            <a:ext cx="1714500" cy="571500"/>
          </a:xfrm>
          <a:prstGeom prst="roundRect">
            <a:avLst>
              <a:gd name="adj" fmla="val 13333"/>
            </a:avLst>
          </a:prstGeom>
          <a:solidFill>
            <a:srgbClr val="2E7D32"/>
          </a:solidFill>
          <a:ln>
            <a:noFill/>
          </a:ln>
        </p:spPr>
      </p:sp>
      <p:sp>
        <p:nvSpPr>
          <p:cNvPr id="24" name="TextBox 24"/>
          <p:cNvSpPr txBox="1"/>
          <p:nvPr/>
        </p:nvSpPr>
        <p:spPr>
          <a:xfrm>
            <a:off x="7518082" y="1870710"/>
            <a:ext cx="87058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结构化描述</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7254049" y="2099310"/>
            <a:ext cx="1398651"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统一模板/输入输出</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89020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9191625" y="1857375"/>
            <a:ext cx="2095500" cy="571500"/>
          </a:xfrm>
          <a:prstGeom prst="roundRect">
            <a:avLst>
              <a:gd name="adj" fmla="val 13333"/>
            </a:avLst>
          </a:prstGeom>
          <a:solidFill>
            <a:srgbClr val="1565C0"/>
          </a:solidFill>
          <a:ln>
            <a:noFill/>
          </a:ln>
        </p:spPr>
      </p:sp>
      <p:sp>
        <p:nvSpPr>
          <p:cNvPr id="28" name="TextBox 28"/>
          <p:cNvSpPr txBox="1"/>
          <p:nvPr/>
        </p:nvSpPr>
        <p:spPr>
          <a:xfrm>
            <a:off x="9816684" y="1870710"/>
            <a:ext cx="84538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AI可读规格</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424035" y="2099310"/>
            <a:ext cx="1630680"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可直接生成代码的文档</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41045" y="3060382"/>
            <a:ext cx="2282890"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AI可读规格 5项检查单</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571500" y="3476625"/>
            <a:ext cx="11049000" cy="1143000"/>
          </a:xfrm>
          <a:prstGeom prst="roundRect">
            <a:avLst>
              <a:gd name="adj" fmla="val 10000"/>
            </a:avLst>
          </a:prstGeom>
          <a:solidFill>
            <a:srgbClr val="FFFFFF"/>
          </a:solidFill>
          <a:ln w="9525">
            <a:solidFill>
              <a:srgbClr val="CFD8DC"/>
            </a:solidFill>
          </a:ln>
        </p:spPr>
      </p:sp>
      <p:sp>
        <p:nvSpPr>
          <p:cNvPr id="32" name="Rectangle 32"/>
          <p:cNvSpPr/>
          <p:nvPr/>
        </p:nvSpPr>
        <p:spPr>
          <a:xfrm>
            <a:off x="762000" y="3667125"/>
            <a:ext cx="2000250" cy="762000"/>
          </a:xfrm>
          <a:prstGeom prst="roundRect">
            <a:avLst>
              <a:gd name="adj" fmla="val 7500"/>
            </a:avLst>
          </a:prstGeom>
          <a:solidFill>
            <a:srgbClr val="E3F2FD"/>
          </a:solidFill>
          <a:ln>
            <a:noFill/>
          </a:ln>
        </p:spPr>
      </p:sp>
      <p:sp>
        <p:nvSpPr>
          <p:cNvPr id="33" name="TextBox 33"/>
          <p:cNvSpPr txBox="1"/>
          <p:nvPr/>
        </p:nvSpPr>
        <p:spPr>
          <a:xfrm>
            <a:off x="1255424" y="3775710"/>
            <a:ext cx="1013403"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1 目标明确性</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1222772" y="4021931"/>
            <a:ext cx="107870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做的到底是什么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2905125" y="3667125"/>
            <a:ext cx="2000250" cy="762000"/>
          </a:xfrm>
          <a:prstGeom prst="roundRect">
            <a:avLst>
              <a:gd name="adj" fmla="val 7500"/>
            </a:avLst>
          </a:prstGeom>
          <a:solidFill>
            <a:srgbClr val="E0F7FA"/>
          </a:solidFill>
          <a:ln>
            <a:noFill/>
          </a:ln>
        </p:spPr>
      </p:sp>
      <p:sp>
        <p:nvSpPr>
          <p:cNvPr id="36" name="TextBox 36"/>
          <p:cNvSpPr txBox="1"/>
          <p:nvPr/>
        </p:nvSpPr>
        <p:spPr>
          <a:xfrm>
            <a:off x="3398549" y="3775710"/>
            <a:ext cx="1013403"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2 输入完整性</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3290888" y="4021931"/>
            <a:ext cx="1228725"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需要什么前置条件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5048250" y="3667125"/>
            <a:ext cx="2000250" cy="762000"/>
          </a:xfrm>
          <a:prstGeom prst="roundRect">
            <a:avLst>
              <a:gd name="adj" fmla="val 7500"/>
            </a:avLst>
          </a:prstGeom>
          <a:solidFill>
            <a:srgbClr val="FFF3E0"/>
          </a:solidFill>
          <a:ln>
            <a:noFill/>
          </a:ln>
        </p:spPr>
      </p:sp>
      <p:sp>
        <p:nvSpPr>
          <p:cNvPr id="39" name="TextBox 39"/>
          <p:cNvSpPr txBox="1"/>
          <p:nvPr/>
        </p:nvSpPr>
        <p:spPr>
          <a:xfrm>
            <a:off x="5541674" y="3775710"/>
            <a:ext cx="1013403" cy="243840"/>
          </a:xfrm>
          <a:prstGeom prst="rect">
            <a:avLst/>
          </a:prstGeom>
          <a:noFill/>
          <a:ln>
            <a:noFill/>
          </a:ln>
        </p:spPr>
        <p:txBody>
          <a:bodyPr wrap="none" lIns="0" tIns="0" rIns="0" bIns="0" anchor="t" anchorCtr="0">
            <a:spAutoFit/>
          </a:bodyPr>
          <a:lstStyle/>
          <a:p>
            <a:pPr algn="ctr"/>
            <a:r>
              <a:rPr lang="zh-CN" sz="1200" b="1" dirty="0">
                <a:solidFill>
                  <a:srgbClr val="FF6F00"/>
                </a:solidFill>
                <a:latin typeface="Segoe UI" panose="020B0502040204020203"/>
                <a:ea typeface="微软雅黑" panose="020B0503020204020204" charset="-122"/>
                <a:cs typeface="Segoe UI" panose="020B0502040204020203"/>
              </a:rPr>
              <a:t>3 输出规范性</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509022" y="4021931"/>
            <a:ext cx="107870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产出是什么形式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7191375" y="3667125"/>
            <a:ext cx="2000250" cy="762000"/>
          </a:xfrm>
          <a:prstGeom prst="roundRect">
            <a:avLst>
              <a:gd name="adj" fmla="val 7500"/>
            </a:avLst>
          </a:prstGeom>
          <a:solidFill>
            <a:srgbClr val="E8F5E9"/>
          </a:solidFill>
          <a:ln>
            <a:noFill/>
          </a:ln>
        </p:spPr>
      </p:sp>
      <p:sp>
        <p:nvSpPr>
          <p:cNvPr id="42" name="TextBox 42"/>
          <p:cNvSpPr txBox="1"/>
          <p:nvPr/>
        </p:nvSpPr>
        <p:spPr>
          <a:xfrm>
            <a:off x="7684799" y="3775710"/>
            <a:ext cx="1013403"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4 边界清晰性</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7877175" y="4021931"/>
            <a:ext cx="628650"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不做什么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4" name="Rectangle 44"/>
          <p:cNvSpPr/>
          <p:nvPr/>
        </p:nvSpPr>
        <p:spPr>
          <a:xfrm>
            <a:off x="9334500" y="3667125"/>
            <a:ext cx="2000250" cy="762000"/>
          </a:xfrm>
          <a:prstGeom prst="roundRect">
            <a:avLst>
              <a:gd name="adj" fmla="val 7500"/>
            </a:avLst>
          </a:prstGeom>
          <a:solidFill>
            <a:srgbClr val="E3F2FD"/>
          </a:solidFill>
          <a:ln>
            <a:noFill/>
          </a:ln>
        </p:spPr>
      </p:sp>
      <p:sp>
        <p:nvSpPr>
          <p:cNvPr id="45" name="TextBox 45"/>
          <p:cNvSpPr txBox="1"/>
          <p:nvPr/>
        </p:nvSpPr>
        <p:spPr>
          <a:xfrm>
            <a:off x="9827924" y="3775710"/>
            <a:ext cx="1013403"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5 验收可测性</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9795272" y="4021931"/>
            <a:ext cx="107870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怎么判断做完了</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571500" y="4953000"/>
            <a:ext cx="11049000" cy="762000"/>
          </a:xfrm>
          <a:prstGeom prst="roundRect">
            <a:avLst>
              <a:gd name="adj" fmla="val 12500"/>
            </a:avLst>
          </a:prstGeom>
          <a:solidFill>
            <a:srgbClr val="1565C0">
              <a:alpha val="8000"/>
            </a:srgbClr>
          </a:solidFill>
          <a:ln>
            <a:noFill/>
          </a:ln>
        </p:spPr>
      </p:sp>
      <p:grpSp>
        <p:nvGrpSpPr>
          <p:cNvPr id="50" name="Group 50"/>
          <p:cNvGrpSpPr/>
          <p:nvPr/>
        </p:nvGrpSpPr>
        <p:grpSpPr>
          <a:xfrm>
            <a:off x="845112" y="5204902"/>
            <a:ext cx="157457" cy="200535"/>
            <a:chOff x="845112" y="5204902"/>
            <a:chExt cx="157457" cy="200535"/>
          </a:xfrm>
        </p:grpSpPr>
        <p:sp>
          <p:nvSpPr>
            <p:cNvPr id="48" name="Freeform 48"/>
            <p:cNvSpPr/>
            <p:nvPr/>
          </p:nvSpPr>
          <p:spPr>
            <a:xfrm>
              <a:off x="852273" y="5212092"/>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1565C0">
                <a:alpha val="20000"/>
              </a:srgbClr>
            </a:solidFill>
            <a:ln>
              <a:noFill/>
            </a:ln>
          </p:spPr>
        </p:sp>
        <p:sp>
          <p:nvSpPr>
            <p:cNvPr id="49" name="Freeform 49"/>
            <p:cNvSpPr/>
            <p:nvPr/>
          </p:nvSpPr>
          <p:spPr>
            <a:xfrm>
              <a:off x="845112" y="5204902"/>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1565C0"/>
            </a:solidFill>
            <a:ln>
              <a:noFill/>
            </a:ln>
          </p:spPr>
        </p:sp>
      </p:grpSp>
      <p:sp>
        <p:nvSpPr>
          <p:cNvPr id="51" name="TextBox 51"/>
          <p:cNvSpPr txBox="1"/>
          <p:nvPr/>
        </p:nvSpPr>
        <p:spPr>
          <a:xfrm>
            <a:off x="1125855" y="5073968"/>
            <a:ext cx="79038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核心原则</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1127760" y="5347335"/>
            <a:ext cx="553516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你给AI的指令越清晰，AI给你的回报越精准 —— 精确度与输入清晰度严格正相关</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Rectangle 53"/>
          <p:cNvSpPr/>
          <p:nvPr/>
        </p:nvSpPr>
        <p:spPr>
          <a:xfrm>
            <a:off x="8286750" y="5095875"/>
            <a:ext cx="3048000" cy="476250"/>
          </a:xfrm>
          <a:prstGeom prst="roundRect">
            <a:avLst>
              <a:gd name="adj" fmla="val 50000"/>
            </a:avLst>
          </a:prstGeom>
          <a:solidFill>
            <a:srgbClr val="1565C0"/>
          </a:solidFill>
          <a:ln>
            <a:noFill/>
          </a:ln>
        </p:spPr>
      </p:sp>
      <p:sp>
        <p:nvSpPr>
          <p:cNvPr id="54" name="TextBox 54"/>
          <p:cNvSpPr txBox="1"/>
          <p:nvPr/>
        </p:nvSpPr>
        <p:spPr>
          <a:xfrm>
            <a:off x="8839530" y="5269706"/>
            <a:ext cx="194243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Garbage In → Garbage Out</a:t>
            </a:r>
            <a:endParaRPr lang="zh-CN" sz="1125" b="1" dirty="0">
              <a:solidFill>
                <a:srgbClr val="FFFFFF"/>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7" name="图片 5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8"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5301896"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去模糊化：AI协同最低成本的核心方法论</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3" name="Group 13"/>
          <p:cNvGrpSpPr/>
          <p:nvPr/>
        </p:nvGrpSpPr>
        <p:grpSpPr>
          <a:xfrm>
            <a:off x="571500" y="904875"/>
            <a:ext cx="11049000" cy="523875"/>
            <a:chOff x="571500" y="904875"/>
            <a:chExt cx="11049000" cy="523875"/>
          </a:xfrm>
        </p:grpSpPr>
        <p:sp>
          <p:nvSpPr>
            <p:cNvPr id="10" name="Rectangle 10"/>
            <p:cNvSpPr/>
            <p:nvPr/>
          </p:nvSpPr>
          <p:spPr>
            <a:xfrm>
              <a:off x="571500" y="904875"/>
              <a:ext cx="11049000" cy="523875"/>
            </a:xfrm>
            <a:prstGeom prst="roundRect">
              <a:avLst>
                <a:gd name="adj" fmla="val 18182"/>
              </a:avLst>
            </a:prstGeom>
            <a:solidFill>
              <a:srgbClr val="FF6F00">
                <a:alpha val="10000"/>
              </a:srgbClr>
            </a:solidFill>
            <a:ln>
              <a:noFill/>
            </a:ln>
          </p:spPr>
        </p:sp>
        <p:sp>
          <p:nvSpPr>
            <p:cNvPr id="11" name="Rectangle 11"/>
            <p:cNvSpPr/>
            <p:nvPr/>
          </p:nvSpPr>
          <p:spPr>
            <a:xfrm>
              <a:off x="571500" y="904875"/>
              <a:ext cx="57150" cy="523875"/>
            </a:xfrm>
            <a:prstGeom prst="roundRect">
              <a:avLst>
                <a:gd name="adj" fmla="val 50000"/>
              </a:avLst>
            </a:prstGeom>
            <a:solidFill>
              <a:srgbClr val="FF6F00"/>
            </a:solidFill>
            <a:ln>
              <a:noFill/>
            </a:ln>
          </p:spPr>
        </p:sp>
        <p:sp>
          <p:nvSpPr>
            <p:cNvPr id="12" name="TextBox 12"/>
            <p:cNvSpPr txBox="1"/>
            <p:nvPr/>
          </p:nvSpPr>
          <p:spPr>
            <a:xfrm>
              <a:off x="3475055" y="1073468"/>
              <a:ext cx="5241891" cy="274320"/>
            </a:xfrm>
            <a:prstGeom prst="rect">
              <a:avLst/>
            </a:prstGeom>
            <a:noFill/>
            <a:ln>
              <a:noFill/>
            </a:ln>
          </p:spPr>
          <p:txBody>
            <a:bodyPr wrap="none" lIns="0" tIns="0" rIns="0" bIns="0" anchor="t" anchorCtr="0">
              <a:spAutoFit/>
            </a:bodyPr>
            <a:lstStyle/>
            <a:p>
              <a:pPr algn="ctr"/>
              <a:r>
                <a:rPr lang="zh-CN" sz="1350" b="1" dirty="0">
                  <a:solidFill>
                    <a:srgbClr val="FF6F00"/>
                  </a:solidFill>
                  <a:latin typeface="Segoe UI" panose="020B0502040204020203"/>
                  <a:ea typeface="微软雅黑" panose="020B0503020204020204" charset="-122"/>
                  <a:cs typeface="Segoe UI" panose="020B0502040204020203"/>
                </a:rPr>
                <a:t>1:10定律 —— 前期投入1分钟去模糊化，可节省10分钟返工时间</a:t>
              </a:r>
              <a:endParaRPr lang="zh-CN" sz="1350" b="1" dirty="0">
                <a:solidFill>
                  <a:srgbClr val="FF6F00"/>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571500" y="1619250"/>
            <a:ext cx="5334000" cy="4191000"/>
            <a:chOff x="571500" y="1619250"/>
            <a:chExt cx="5334000" cy="4191000"/>
          </a:xfrm>
        </p:grpSpPr>
        <p:sp>
          <p:nvSpPr>
            <p:cNvPr id="14" name="Rectangle 14"/>
            <p:cNvSpPr/>
            <p:nvPr/>
          </p:nvSpPr>
          <p:spPr>
            <a:xfrm>
              <a:off x="571500" y="1619250"/>
              <a:ext cx="5334000" cy="4191000"/>
            </a:xfrm>
            <a:prstGeom prst="roundRect">
              <a:avLst>
                <a:gd name="adj" fmla="val 2727"/>
              </a:avLst>
            </a:prstGeom>
            <a:solidFill>
              <a:srgbClr val="FFFFFF"/>
            </a:solidFill>
            <a:ln>
              <a:noFill/>
            </a:ln>
          </p:spPr>
        </p:sp>
        <p:sp>
          <p:nvSpPr>
            <p:cNvPr id="15" name="Rectangle 15"/>
            <p:cNvSpPr/>
            <p:nvPr/>
          </p:nvSpPr>
          <p:spPr>
            <a:xfrm>
              <a:off x="571500" y="1619250"/>
              <a:ext cx="5334000" cy="38100"/>
            </a:xfrm>
            <a:prstGeom prst="roundRect">
              <a:avLst>
                <a:gd name="adj" fmla="val 50000"/>
              </a:avLst>
            </a:prstGeom>
            <a:solidFill>
              <a:srgbClr val="C62828"/>
            </a:solidFill>
            <a:ln>
              <a:noFill/>
            </a:ln>
          </p:spPr>
        </p:sp>
        <p:sp>
          <p:nvSpPr>
            <p:cNvPr id="16" name="TextBox 16"/>
            <p:cNvSpPr txBox="1"/>
            <p:nvPr/>
          </p:nvSpPr>
          <p:spPr>
            <a:xfrm>
              <a:off x="2484358" y="1838325"/>
              <a:ext cx="1508284" cy="304800"/>
            </a:xfrm>
            <a:prstGeom prst="rect">
              <a:avLst/>
            </a:prstGeom>
            <a:noFill/>
            <a:ln>
              <a:noFill/>
            </a:ln>
          </p:spPr>
          <p:txBody>
            <a:bodyPr wrap="none" lIns="0" tIns="0" rIns="0" bIns="0" anchor="t" anchorCtr="0">
              <a:spAutoFit/>
            </a:bodyPr>
            <a:lstStyle/>
            <a:p>
              <a:pPr algn="ctr"/>
              <a:r>
                <a:rPr lang="zh-CN" sz="1500" b="1" dirty="0">
                  <a:solidFill>
                    <a:srgbClr val="C62828"/>
                  </a:solidFill>
                  <a:latin typeface="Segoe UI" panose="020B0502040204020203"/>
                  <a:ea typeface="微软雅黑" panose="020B0503020204020204" charset="-122"/>
                  <a:cs typeface="Segoe UI" panose="020B0502040204020203"/>
                </a:rPr>
                <a:t>模糊沟通的代价</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952500" y="2190750"/>
              <a:ext cx="4572000" cy="9525"/>
            </a:xfrm>
            <a:prstGeom prst="rect">
              <a:avLst/>
            </a:prstGeom>
            <a:solidFill>
              <a:srgbClr val="CFD8DC">
                <a:alpha val="50000"/>
              </a:srgbClr>
            </a:solidFill>
            <a:ln>
              <a:noFill/>
            </a:ln>
          </p:spPr>
        </p:sp>
        <p:sp>
          <p:nvSpPr>
            <p:cNvPr id="18" name="Rectangle 18"/>
            <p:cNvSpPr/>
            <p:nvPr/>
          </p:nvSpPr>
          <p:spPr>
            <a:xfrm>
              <a:off x="1143000" y="2428875"/>
              <a:ext cx="4191000" cy="523875"/>
            </a:xfrm>
            <a:prstGeom prst="roundRect">
              <a:avLst>
                <a:gd name="adj" fmla="val 14545"/>
              </a:avLst>
            </a:prstGeom>
            <a:solidFill>
              <a:srgbClr val="C62828">
                <a:alpha val="4000"/>
              </a:srgbClr>
            </a:solidFill>
            <a:ln>
              <a:noFill/>
            </a:ln>
          </p:spPr>
        </p:sp>
        <p:sp>
          <p:nvSpPr>
            <p:cNvPr id="19" name="TextBox 19"/>
            <p:cNvSpPr txBox="1"/>
            <p:nvPr/>
          </p:nvSpPr>
          <p:spPr>
            <a:xfrm>
              <a:off x="2924175" y="2545556"/>
              <a:ext cx="628650"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目标模糊</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3149632" y="2710815"/>
              <a:ext cx="177737" cy="365760"/>
            </a:xfrm>
            <a:prstGeom prst="rect">
              <a:avLst/>
            </a:prstGeom>
            <a:noFill/>
            <a:ln>
              <a:noFill/>
            </a:ln>
          </p:spPr>
          <p:txBody>
            <a:bodyPr wrap="none" lIns="0" tIns="0" rIns="0" bIns="0" anchor="t" anchorCtr="0">
              <a:spAutoFit/>
            </a:bodyPr>
            <a:lstStyle/>
            <a:p>
              <a:pPr algn="ctr"/>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1143000" y="3048000"/>
              <a:ext cx="4191000" cy="523875"/>
            </a:xfrm>
            <a:prstGeom prst="roundRect">
              <a:avLst>
                <a:gd name="adj" fmla="val 14545"/>
              </a:avLst>
            </a:prstGeom>
            <a:solidFill>
              <a:srgbClr val="C62828">
                <a:alpha val="4000"/>
              </a:srgbClr>
            </a:solidFill>
            <a:ln>
              <a:noFill/>
            </a:ln>
          </p:spPr>
        </p:sp>
        <p:sp>
          <p:nvSpPr>
            <p:cNvPr id="22" name="TextBox 22"/>
            <p:cNvSpPr txBox="1"/>
            <p:nvPr/>
          </p:nvSpPr>
          <p:spPr>
            <a:xfrm>
              <a:off x="2860417" y="3164681"/>
              <a:ext cx="756166"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AI输出偏离</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3149632" y="3329940"/>
              <a:ext cx="177737" cy="365760"/>
            </a:xfrm>
            <a:prstGeom prst="rect">
              <a:avLst/>
            </a:prstGeom>
            <a:noFill/>
            <a:ln>
              <a:noFill/>
            </a:ln>
          </p:spPr>
          <p:txBody>
            <a:bodyPr wrap="none" lIns="0" tIns="0" rIns="0" bIns="0" anchor="t" anchorCtr="0">
              <a:spAutoFit/>
            </a:bodyPr>
            <a:lstStyle/>
            <a:p>
              <a:pPr algn="ctr"/>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1143000" y="3667125"/>
              <a:ext cx="4191000" cy="523875"/>
            </a:xfrm>
            <a:prstGeom prst="roundRect">
              <a:avLst>
                <a:gd name="adj" fmla="val 14545"/>
              </a:avLst>
            </a:prstGeom>
            <a:solidFill>
              <a:srgbClr val="C62828">
                <a:alpha val="4000"/>
              </a:srgbClr>
            </a:solidFill>
            <a:ln>
              <a:noFill/>
            </a:ln>
          </p:spPr>
        </p:sp>
        <p:sp>
          <p:nvSpPr>
            <p:cNvPr id="25" name="TextBox 25"/>
            <p:cNvSpPr txBox="1"/>
            <p:nvPr/>
          </p:nvSpPr>
          <p:spPr>
            <a:xfrm>
              <a:off x="3074194" y="3783806"/>
              <a:ext cx="328612"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返工</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3149632" y="3949065"/>
              <a:ext cx="177737" cy="365760"/>
            </a:xfrm>
            <a:prstGeom prst="rect">
              <a:avLst/>
            </a:prstGeom>
            <a:noFill/>
            <a:ln>
              <a:noFill/>
            </a:ln>
          </p:spPr>
          <p:txBody>
            <a:bodyPr wrap="none" lIns="0" tIns="0" rIns="0" bIns="0" anchor="t" anchorCtr="0">
              <a:spAutoFit/>
            </a:bodyPr>
            <a:lstStyle/>
            <a:p>
              <a:pPr algn="ctr"/>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1143000" y="4286250"/>
              <a:ext cx="4191000" cy="523875"/>
            </a:xfrm>
            <a:prstGeom prst="roundRect">
              <a:avLst>
                <a:gd name="adj" fmla="val 14545"/>
              </a:avLst>
            </a:prstGeom>
            <a:solidFill>
              <a:srgbClr val="C62828">
                <a:alpha val="4000"/>
              </a:srgbClr>
            </a:solidFill>
            <a:ln>
              <a:noFill/>
            </a:ln>
          </p:spPr>
        </p:sp>
        <p:sp>
          <p:nvSpPr>
            <p:cNvPr id="28" name="TextBox 28"/>
            <p:cNvSpPr txBox="1"/>
            <p:nvPr/>
          </p:nvSpPr>
          <p:spPr>
            <a:xfrm>
              <a:off x="2264092" y="4402931"/>
              <a:ext cx="1948815"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再次模糊沟通 → 再次偏离...</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1143000" y="5048250"/>
              <a:ext cx="4191000" cy="476250"/>
            </a:xfrm>
            <a:prstGeom prst="roundRect">
              <a:avLst>
                <a:gd name="adj" fmla="val 16000"/>
              </a:avLst>
            </a:prstGeom>
            <a:solidFill>
              <a:srgbClr val="C62828">
                <a:alpha val="8000"/>
              </a:srgbClr>
            </a:solidFill>
            <a:ln>
              <a:noFill/>
            </a:ln>
          </p:spPr>
        </p:sp>
        <p:sp>
          <p:nvSpPr>
            <p:cNvPr id="30" name="TextBox 30"/>
            <p:cNvSpPr txBox="1"/>
            <p:nvPr/>
          </p:nvSpPr>
          <p:spPr>
            <a:xfrm>
              <a:off x="2299144" y="5156835"/>
              <a:ext cx="1878711"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恶性循环，成本指数增长</a:t>
              </a:r>
              <a:endParaRPr lang="zh-CN" sz="1200" b="1" dirty="0">
                <a:solidFill>
                  <a:srgbClr val="C62828"/>
                </a:solidFill>
                <a:latin typeface="Segoe UI" panose="020B0502040204020203"/>
                <a:ea typeface="微软雅黑" panose="020B0503020204020204" charset="-122"/>
                <a:cs typeface="Segoe UI" panose="020B0502040204020203"/>
              </a:endParaRPr>
            </a:p>
          </p:txBody>
        </p:sp>
      </p:grpSp>
      <p:grpSp>
        <p:nvGrpSpPr>
          <p:cNvPr id="52" name="Group 52"/>
          <p:cNvGrpSpPr/>
          <p:nvPr/>
        </p:nvGrpSpPr>
        <p:grpSpPr>
          <a:xfrm>
            <a:off x="6286500" y="1619250"/>
            <a:ext cx="5334000" cy="4191000"/>
            <a:chOff x="6286500" y="1619250"/>
            <a:chExt cx="5334000" cy="4191000"/>
          </a:xfrm>
        </p:grpSpPr>
        <p:sp>
          <p:nvSpPr>
            <p:cNvPr id="32" name="Rectangle 32"/>
            <p:cNvSpPr/>
            <p:nvPr/>
          </p:nvSpPr>
          <p:spPr>
            <a:xfrm>
              <a:off x="6286500" y="1619250"/>
              <a:ext cx="5334000" cy="4191000"/>
            </a:xfrm>
            <a:prstGeom prst="roundRect">
              <a:avLst>
                <a:gd name="adj" fmla="val 2727"/>
              </a:avLst>
            </a:prstGeom>
            <a:solidFill>
              <a:srgbClr val="FFFFFF"/>
            </a:solidFill>
            <a:ln>
              <a:noFill/>
            </a:ln>
          </p:spPr>
        </p:sp>
        <p:sp>
          <p:nvSpPr>
            <p:cNvPr id="33" name="Rectangle 33"/>
            <p:cNvSpPr/>
            <p:nvPr/>
          </p:nvSpPr>
          <p:spPr>
            <a:xfrm>
              <a:off x="6286500" y="1619250"/>
              <a:ext cx="5334000" cy="38100"/>
            </a:xfrm>
            <a:prstGeom prst="roundRect">
              <a:avLst>
                <a:gd name="adj" fmla="val 50000"/>
              </a:avLst>
            </a:prstGeom>
            <a:solidFill>
              <a:srgbClr val="2E7D32"/>
            </a:solidFill>
            <a:ln>
              <a:noFill/>
            </a:ln>
          </p:spPr>
        </p:sp>
        <p:sp>
          <p:nvSpPr>
            <p:cNvPr id="34" name="TextBox 34"/>
            <p:cNvSpPr txBox="1"/>
            <p:nvPr/>
          </p:nvSpPr>
          <p:spPr>
            <a:xfrm>
              <a:off x="8136255" y="1838325"/>
              <a:ext cx="1634490" cy="230505"/>
            </a:xfrm>
            <a:prstGeom prst="rect">
              <a:avLst/>
            </a:prstGeom>
            <a:noFill/>
            <a:ln>
              <a:noFill/>
            </a:ln>
          </p:spPr>
          <p:txBody>
            <a:bodyPr wrap="none" lIns="0" tIns="0" rIns="0" bIns="0" anchor="t" anchorCtr="0">
              <a:spAutoFit/>
            </a:bodyPr>
            <a:lstStyle/>
            <a:p>
              <a:pPr algn="ctr"/>
              <a:r>
                <a:rPr lang="en-US" altLang="zh-CN" sz="1500" b="1" dirty="0">
                  <a:solidFill>
                    <a:srgbClr val="2E7D32"/>
                  </a:solidFill>
                  <a:latin typeface="Segoe UI" panose="020B0502040204020203"/>
                  <a:ea typeface="微软雅黑" panose="020B0503020204020204" charset="-122"/>
                  <a:cs typeface="Segoe UI" panose="020B0502040204020203"/>
                </a:rPr>
                <a:t>7</a:t>
              </a:r>
              <a:r>
                <a:rPr lang="zh-CN" sz="1500" b="1" dirty="0">
                  <a:solidFill>
                    <a:srgbClr val="2E7D32"/>
                  </a:solidFill>
                  <a:latin typeface="Segoe UI" panose="020B0502040204020203"/>
                  <a:ea typeface="微软雅黑" panose="020B0503020204020204" charset="-122"/>
                  <a:cs typeface="Segoe UI" panose="020B0502040204020203"/>
                </a:rPr>
                <a:t>条去模糊化方法论</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6667500" y="2190750"/>
              <a:ext cx="4572000" cy="9525"/>
            </a:xfrm>
            <a:prstGeom prst="rect">
              <a:avLst/>
            </a:prstGeom>
            <a:solidFill>
              <a:srgbClr val="CFD8DC">
                <a:alpha val="50000"/>
              </a:srgbClr>
            </a:solidFill>
            <a:ln>
              <a:noFill/>
            </a:ln>
          </p:spPr>
        </p:sp>
        <p:sp>
          <p:nvSpPr>
            <p:cNvPr id="38" name="Rectangle 38"/>
            <p:cNvSpPr/>
            <p:nvPr/>
          </p:nvSpPr>
          <p:spPr>
            <a:xfrm>
              <a:off x="6667500" y="2781300"/>
              <a:ext cx="4572000" cy="352425"/>
            </a:xfrm>
            <a:prstGeom prst="roundRect">
              <a:avLst>
                <a:gd name="adj" fmla="val 16216"/>
              </a:avLst>
            </a:prstGeom>
            <a:solidFill>
              <a:srgbClr val="2E7D32">
                <a:alpha val="4000"/>
              </a:srgbClr>
            </a:solidFill>
            <a:ln>
              <a:noFill/>
            </a:ln>
          </p:spPr>
        </p:sp>
        <p:sp>
          <p:nvSpPr>
            <p:cNvPr id="39" name="TextBox 39"/>
            <p:cNvSpPr txBox="1"/>
            <p:nvPr/>
          </p:nvSpPr>
          <p:spPr>
            <a:xfrm>
              <a:off x="6843712" y="2888456"/>
              <a:ext cx="2856428"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2. 量化任务目标：响应时间500ms→200ms</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6667500" y="3200400"/>
              <a:ext cx="4572000" cy="352425"/>
            </a:xfrm>
            <a:prstGeom prst="roundRect">
              <a:avLst>
                <a:gd name="adj" fmla="val 16216"/>
              </a:avLst>
            </a:prstGeom>
            <a:solidFill>
              <a:srgbClr val="2E7D32">
                <a:alpha val="4000"/>
              </a:srgbClr>
            </a:solidFill>
            <a:ln>
              <a:noFill/>
            </a:ln>
          </p:spPr>
        </p:sp>
        <p:sp>
          <p:nvSpPr>
            <p:cNvPr id="41" name="TextBox 41"/>
            <p:cNvSpPr txBox="1"/>
            <p:nvPr/>
          </p:nvSpPr>
          <p:spPr>
            <a:xfrm>
              <a:off x="6843712" y="3307556"/>
              <a:ext cx="299894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3. 量化篇幅规范：800-1000字接口设计文档</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6667500" y="3619500"/>
              <a:ext cx="4572000" cy="352425"/>
            </a:xfrm>
            <a:prstGeom prst="roundRect">
              <a:avLst>
                <a:gd name="adj" fmla="val 16216"/>
              </a:avLst>
            </a:prstGeom>
            <a:solidFill>
              <a:srgbClr val="2E7D32">
                <a:alpha val="4000"/>
              </a:srgbClr>
            </a:solidFill>
            <a:ln>
              <a:noFill/>
            </a:ln>
          </p:spPr>
        </p:sp>
        <p:sp>
          <p:nvSpPr>
            <p:cNvPr id="43" name="TextBox 43"/>
            <p:cNvSpPr txBox="1"/>
            <p:nvPr/>
          </p:nvSpPr>
          <p:spPr>
            <a:xfrm>
              <a:off x="6843712" y="3726656"/>
              <a:ext cx="327648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4. 量化输出格式：{code, data, message}结构</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4" name="Rectangle 44"/>
            <p:cNvSpPr/>
            <p:nvPr/>
          </p:nvSpPr>
          <p:spPr>
            <a:xfrm>
              <a:off x="6667500" y="4038600"/>
              <a:ext cx="4572000" cy="352425"/>
            </a:xfrm>
            <a:prstGeom prst="roundRect">
              <a:avLst>
                <a:gd name="adj" fmla="val 16216"/>
              </a:avLst>
            </a:prstGeom>
            <a:solidFill>
              <a:srgbClr val="2E7D32">
                <a:alpha val="4000"/>
              </a:srgbClr>
            </a:solidFill>
            <a:ln>
              <a:noFill/>
            </a:ln>
          </p:spPr>
        </p:sp>
        <p:sp>
          <p:nvSpPr>
            <p:cNvPr id="45" name="TextBox 45"/>
            <p:cNvSpPr txBox="1"/>
            <p:nvPr/>
          </p:nvSpPr>
          <p:spPr>
            <a:xfrm>
              <a:off x="6843712" y="4145756"/>
              <a:ext cx="278892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5. 明确内容边界：包含什么、不包含什么</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6667500" y="4457700"/>
              <a:ext cx="4572000" cy="352425"/>
            </a:xfrm>
            <a:prstGeom prst="roundRect">
              <a:avLst>
                <a:gd name="adj" fmla="val 16216"/>
              </a:avLst>
            </a:prstGeom>
            <a:solidFill>
              <a:srgbClr val="2E7D32">
                <a:alpha val="4000"/>
              </a:srgbClr>
            </a:solidFill>
            <a:ln>
              <a:noFill/>
            </a:ln>
          </p:spPr>
        </p:sp>
        <p:sp>
          <p:nvSpPr>
            <p:cNvPr id="47" name="TextBox 47"/>
            <p:cNvSpPr txBox="1"/>
            <p:nvPr/>
          </p:nvSpPr>
          <p:spPr>
            <a:xfrm>
              <a:off x="6843712" y="4564856"/>
              <a:ext cx="233886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6. 清晰应用场景：上下文环境明确</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8" name="Rectangle 48"/>
            <p:cNvSpPr/>
            <p:nvPr/>
          </p:nvSpPr>
          <p:spPr>
            <a:xfrm>
              <a:off x="6667500" y="4876800"/>
              <a:ext cx="4572000" cy="352425"/>
            </a:xfrm>
            <a:prstGeom prst="roundRect">
              <a:avLst>
                <a:gd name="adj" fmla="val 16216"/>
              </a:avLst>
            </a:prstGeom>
            <a:solidFill>
              <a:srgbClr val="2E7D32">
                <a:alpha val="4000"/>
              </a:srgbClr>
            </a:solidFill>
            <a:ln>
              <a:noFill/>
            </a:ln>
          </p:spPr>
        </p:sp>
        <p:sp>
          <p:nvSpPr>
            <p:cNvPr id="49" name="TextBox 49"/>
            <p:cNvSpPr txBox="1"/>
            <p:nvPr/>
          </p:nvSpPr>
          <p:spPr>
            <a:xfrm>
              <a:off x="6843712" y="4983956"/>
              <a:ext cx="278892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7. 精确逻辑颗粒度：功能边界与依赖明确</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0" name="Rectangle 50"/>
            <p:cNvSpPr/>
            <p:nvPr/>
          </p:nvSpPr>
          <p:spPr>
            <a:xfrm>
              <a:off x="6667500" y="2358390"/>
              <a:ext cx="4572000" cy="352425"/>
            </a:xfrm>
            <a:prstGeom prst="roundRect">
              <a:avLst>
                <a:gd name="adj" fmla="val 16216"/>
              </a:avLst>
            </a:prstGeom>
            <a:solidFill>
              <a:srgbClr val="2E7D32">
                <a:alpha val="4000"/>
              </a:srgbClr>
            </a:solidFill>
            <a:ln>
              <a:noFill/>
            </a:ln>
          </p:spPr>
        </p:sp>
        <p:sp>
          <p:nvSpPr>
            <p:cNvPr id="51" name="TextBox 51"/>
            <p:cNvSpPr txBox="1"/>
            <p:nvPr/>
          </p:nvSpPr>
          <p:spPr>
            <a:xfrm>
              <a:off x="6821487" y="2482056"/>
              <a:ext cx="2870200" cy="173355"/>
            </a:xfrm>
            <a:prstGeom prst="rect">
              <a:avLst/>
            </a:prstGeom>
            <a:noFill/>
            <a:ln>
              <a:noFill/>
            </a:ln>
          </p:spPr>
          <p:txBody>
            <a:bodyPr wrap="none" lIns="0" tIns="0" rIns="0" bIns="0" anchor="t" anchorCtr="0">
              <a:spAutoFit/>
            </a:bodyPr>
            <a:lstStyle/>
            <a:p>
              <a:pPr algn="l"/>
              <a:r>
                <a:rPr lang="en-US" altLang="zh-CN" sz="1125" dirty="0">
                  <a:solidFill>
                    <a:srgbClr val="263238"/>
                  </a:solidFill>
                  <a:latin typeface="Segoe UI" panose="020B0502040204020203"/>
                  <a:ea typeface="微软雅黑" panose="020B0503020204020204" charset="-122"/>
                  <a:cs typeface="Segoe UI" panose="020B0502040204020203"/>
                </a:rPr>
                <a:t>1</a:t>
              </a:r>
              <a:r>
                <a:rPr lang="zh-CN" sz="1125" dirty="0">
                  <a:solidFill>
                    <a:srgbClr val="263238"/>
                  </a:solidFill>
                  <a:latin typeface="Segoe UI" panose="020B0502040204020203"/>
                  <a:ea typeface="微软雅黑" panose="020B0503020204020204" charset="-122"/>
                  <a:cs typeface="Segoe UI" panose="020B0502040204020203"/>
                </a:rPr>
                <a:t>. 验收标准可测：给定输入→期望输出可验证</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55" name="Group 55"/>
          <p:cNvGrpSpPr/>
          <p:nvPr/>
        </p:nvGrpSpPr>
        <p:grpSpPr>
          <a:xfrm>
            <a:off x="571500" y="6048375"/>
            <a:ext cx="11049000" cy="428625"/>
            <a:chOff x="571500" y="6048375"/>
            <a:chExt cx="11049000" cy="428625"/>
          </a:xfrm>
        </p:grpSpPr>
        <p:sp>
          <p:nvSpPr>
            <p:cNvPr id="53" name="Rectangle 53"/>
            <p:cNvSpPr/>
            <p:nvPr/>
          </p:nvSpPr>
          <p:spPr>
            <a:xfrm>
              <a:off x="571500" y="6048375"/>
              <a:ext cx="11049000" cy="428625"/>
            </a:xfrm>
            <a:prstGeom prst="roundRect">
              <a:avLst>
                <a:gd name="adj" fmla="val 17778"/>
              </a:avLst>
            </a:prstGeom>
            <a:solidFill>
              <a:srgbClr val="1565C0">
                <a:alpha val="6000"/>
              </a:srgbClr>
            </a:solidFill>
            <a:ln>
              <a:noFill/>
            </a:ln>
          </p:spPr>
        </p:sp>
        <p:sp>
          <p:nvSpPr>
            <p:cNvPr id="54" name="TextBox 54"/>
            <p:cNvSpPr txBox="1"/>
            <p:nvPr/>
          </p:nvSpPr>
          <p:spPr>
            <a:xfrm>
              <a:off x="4064508" y="6185535"/>
              <a:ext cx="4062984"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核心原则：摒弃所有形容词副词沟通，实现确定性交付</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6" name="TextBox 5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7" name="图片 5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image">
                                      <p:cBhvr>
                                        <p:cTn id="15" dur="400"/>
                                        <p:tgtEl>
                                          <p:spTgt spid="5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1" grpId="0"/>
      <p:bldP spid="52" grpId="0"/>
      <p:bldP spid="5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84835" y="237490"/>
            <a:ext cx="3820795" cy="47688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需求阶段的去模糊化实践</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464606" y="1052989"/>
            <a:ext cx="3262789"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将模糊业务描述转化为可执行的结构化需求</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4953000" cy="4572000"/>
          </a:xfrm>
          <a:prstGeom prst="roundRect">
            <a:avLst>
              <a:gd name="adj" fmla="val 2500"/>
            </a:avLst>
          </a:prstGeom>
          <a:solidFill>
            <a:srgbClr val="FFFFFF"/>
          </a:solidFill>
          <a:ln w="9525">
            <a:solidFill>
              <a:srgbClr val="CFD8DC"/>
            </a:solidFill>
          </a:ln>
        </p:spPr>
      </p:sp>
      <p:sp>
        <p:nvSpPr>
          <p:cNvPr id="11" name="Rectangle 11"/>
          <p:cNvSpPr/>
          <p:nvPr/>
        </p:nvSpPr>
        <p:spPr>
          <a:xfrm>
            <a:off x="571500" y="1428750"/>
            <a:ext cx="4953000" cy="47625"/>
          </a:xfrm>
          <a:prstGeom prst="roundRect">
            <a:avLst>
              <a:gd name="adj" fmla="val 50000"/>
            </a:avLst>
          </a:prstGeom>
          <a:solidFill>
            <a:srgbClr val="C62828"/>
          </a:solidFill>
          <a:ln>
            <a:noFill/>
          </a:ln>
        </p:spPr>
      </p:sp>
      <p:sp>
        <p:nvSpPr>
          <p:cNvPr id="12" name="Rectangle 12"/>
          <p:cNvSpPr/>
          <p:nvPr/>
        </p:nvSpPr>
        <p:spPr>
          <a:xfrm>
            <a:off x="762000" y="1666875"/>
            <a:ext cx="762000" cy="285750"/>
          </a:xfrm>
          <a:prstGeom prst="roundRect">
            <a:avLst>
              <a:gd name="adj" fmla="val 50000"/>
            </a:avLst>
          </a:prstGeom>
          <a:solidFill>
            <a:srgbClr val="FFEBEE"/>
          </a:solidFill>
          <a:ln>
            <a:noFill/>
          </a:ln>
        </p:spPr>
      </p:sp>
      <p:sp>
        <p:nvSpPr>
          <p:cNvPr id="13" name="TextBox 13"/>
          <p:cNvSpPr txBox="1"/>
          <p:nvPr/>
        </p:nvSpPr>
        <p:spPr>
          <a:xfrm>
            <a:off x="833723" y="1737360"/>
            <a:ext cx="618554"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BEFORE</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695450" y="1704975"/>
            <a:ext cx="878205" cy="304800"/>
          </a:xfrm>
          <a:prstGeom prst="rect">
            <a:avLst/>
          </a:prstGeom>
          <a:noFill/>
          <a:ln>
            <a:noFill/>
          </a:ln>
        </p:spPr>
        <p:txBody>
          <a:bodyPr wrap="none" lIns="0" tIns="0" rIns="0" bIns="0" anchor="t" anchorCtr="0">
            <a:spAutoFit/>
          </a:bodyPr>
          <a:lstStyle/>
          <a:p>
            <a:pPr algn="l"/>
            <a:r>
              <a:rPr lang="zh-CN" sz="1500" b="1" dirty="0">
                <a:solidFill>
                  <a:srgbClr val="C62828"/>
                </a:solidFill>
                <a:latin typeface="Segoe UI" panose="020B0502040204020203"/>
                <a:ea typeface="微软雅黑" panose="020B0503020204020204" charset="-122"/>
                <a:cs typeface="Segoe UI" panose="020B0502040204020203"/>
              </a:rPr>
              <a:t>模糊需求</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762000" y="2143125"/>
            <a:ext cx="4572000" cy="1714500"/>
          </a:xfrm>
          <a:prstGeom prst="roundRect">
            <a:avLst>
              <a:gd name="adj" fmla="val 4444"/>
            </a:avLst>
          </a:prstGeom>
          <a:solidFill>
            <a:srgbClr val="FFF5F5"/>
          </a:solidFill>
          <a:ln>
            <a:noFill/>
          </a:ln>
        </p:spPr>
      </p:sp>
      <p:sp>
        <p:nvSpPr>
          <p:cNvPr id="16" name="TextBox 16"/>
          <p:cNvSpPr txBox="1"/>
          <p:nvPr/>
        </p:nvSpPr>
        <p:spPr>
          <a:xfrm>
            <a:off x="935355" y="2283142"/>
            <a:ext cx="1943429" cy="274320"/>
          </a:xfrm>
          <a:prstGeom prst="rect">
            <a:avLst/>
          </a:prstGeom>
          <a:noFill/>
          <a:ln>
            <a:noFill/>
          </a:ln>
        </p:spPr>
        <p:txBody>
          <a:bodyPr wrap="none" lIns="0" tIns="0" rIns="0" bIns="0" anchor="t" anchorCtr="0">
            <a:spAutoFit/>
          </a:bodyPr>
          <a:lstStyle/>
          <a:p>
            <a:pPr algn="l"/>
            <a:r>
              <a:rPr lang="zh-CN" sz="1350" b="1" dirty="0">
                <a:solidFill>
                  <a:srgbClr val="C62828"/>
                </a:solidFill>
                <a:latin typeface="Segoe UI" panose="020B0502040204020203"/>
                <a:ea typeface="微软雅黑" panose="020B0503020204020204" charset="-122"/>
                <a:cs typeface="Segoe UI" panose="020B0502040204020203"/>
              </a:rPr>
              <a:t>"做一个用户管理系统"</a:t>
            </a:r>
            <a:endParaRPr lang="zh-CN" sz="1350" b="1" dirty="0">
              <a:solidFill>
                <a:srgbClr val="C6282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952500" y="2619375"/>
            <a:ext cx="4191000" cy="9525"/>
          </a:xfrm>
          <a:prstGeom prst="rect">
            <a:avLst/>
          </a:prstGeom>
          <a:solidFill>
            <a:srgbClr val="FFCDD2"/>
          </a:solidFill>
          <a:ln>
            <a:noFill/>
          </a:ln>
        </p:spPr>
      </p:sp>
      <p:sp>
        <p:nvSpPr>
          <p:cNvPr id="18" name="TextBox 18"/>
          <p:cNvSpPr txBox="1"/>
          <p:nvPr/>
        </p:nvSpPr>
        <p:spPr>
          <a:xfrm>
            <a:off x="938212" y="2831306"/>
            <a:ext cx="75616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AI的反应：</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937260" y="3089910"/>
            <a:ext cx="2534793"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"好的，我来做一个用户管理系统…"</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7260" y="3318510"/>
            <a:ext cx="1958721"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 生成一个简单的CRUD页面</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7260" y="3547110"/>
            <a:ext cx="224675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 没有权限管理、没有角色区分</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937260" y="3775710"/>
            <a:ext cx="112661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 需要多轮返工</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746760" y="4109085"/>
            <a:ext cx="870585"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问题诊断：</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46760" y="4394835"/>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目标模糊：是内部系统还是对外产品？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746760" y="46139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角色缺失：有哪些用户角色？</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46760" y="4832985"/>
            <a:ext cx="24067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功能域未定义：包含哪些功能？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746760" y="5052060"/>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非功能需求缺失：并发、性能、安全？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746760" y="5271135"/>
            <a:ext cx="222275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全局：AI无从下手，只能猜测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6667500" y="1428750"/>
            <a:ext cx="4953000" cy="4572000"/>
          </a:xfrm>
          <a:prstGeom prst="roundRect">
            <a:avLst>
              <a:gd name="adj" fmla="val 2500"/>
            </a:avLst>
          </a:prstGeom>
          <a:solidFill>
            <a:srgbClr val="FFFFFF"/>
          </a:solidFill>
          <a:ln w="9525">
            <a:solidFill>
              <a:srgbClr val="CFD8DC"/>
            </a:solidFill>
          </a:ln>
        </p:spPr>
      </p:sp>
      <p:sp>
        <p:nvSpPr>
          <p:cNvPr id="30" name="Rectangle 30"/>
          <p:cNvSpPr/>
          <p:nvPr/>
        </p:nvSpPr>
        <p:spPr>
          <a:xfrm>
            <a:off x="6667500" y="1428750"/>
            <a:ext cx="4953000" cy="47625"/>
          </a:xfrm>
          <a:prstGeom prst="roundRect">
            <a:avLst>
              <a:gd name="adj" fmla="val 50000"/>
            </a:avLst>
          </a:prstGeom>
          <a:solidFill>
            <a:srgbClr val="2E7D32"/>
          </a:solidFill>
          <a:ln>
            <a:noFill/>
          </a:ln>
        </p:spPr>
      </p:sp>
      <p:sp>
        <p:nvSpPr>
          <p:cNvPr id="31" name="Rectangle 31"/>
          <p:cNvSpPr/>
          <p:nvPr/>
        </p:nvSpPr>
        <p:spPr>
          <a:xfrm>
            <a:off x="6858000" y="1666875"/>
            <a:ext cx="762000" cy="285750"/>
          </a:xfrm>
          <a:prstGeom prst="roundRect">
            <a:avLst>
              <a:gd name="adj" fmla="val 50000"/>
            </a:avLst>
          </a:prstGeom>
          <a:solidFill>
            <a:srgbClr val="E8F5E9"/>
          </a:solidFill>
          <a:ln>
            <a:noFill/>
          </a:ln>
        </p:spPr>
      </p:sp>
      <p:sp>
        <p:nvSpPr>
          <p:cNvPr id="32" name="TextBox 32"/>
          <p:cNvSpPr txBox="1"/>
          <p:nvPr/>
        </p:nvSpPr>
        <p:spPr>
          <a:xfrm>
            <a:off x="6992731" y="1737360"/>
            <a:ext cx="492538"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AFTER</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7791450" y="1704975"/>
            <a:ext cx="1088231" cy="304800"/>
          </a:xfrm>
          <a:prstGeom prst="rect">
            <a:avLst/>
          </a:prstGeom>
          <a:noFill/>
          <a:ln>
            <a:noFill/>
          </a:ln>
        </p:spPr>
        <p:txBody>
          <a:bodyPr wrap="none" lIns="0" tIns="0" rIns="0" bIns="0" anchor="t" anchorCtr="0">
            <a:spAutoFit/>
          </a:bodyPr>
          <a:lstStyle/>
          <a:p>
            <a:pPr algn="l"/>
            <a:r>
              <a:rPr lang="zh-CN" sz="1500" b="1" dirty="0">
                <a:solidFill>
                  <a:srgbClr val="2E7D32"/>
                </a:solidFill>
                <a:latin typeface="Segoe UI" panose="020B0502040204020203"/>
                <a:ea typeface="微软雅黑" panose="020B0503020204020204" charset="-122"/>
                <a:cs typeface="Segoe UI" panose="020B0502040204020203"/>
              </a:rPr>
              <a:t>去模糊化后</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858000" y="2143125"/>
            <a:ext cx="4572000" cy="2095500"/>
          </a:xfrm>
          <a:prstGeom prst="roundRect">
            <a:avLst>
              <a:gd name="adj" fmla="val 3636"/>
            </a:avLst>
          </a:prstGeom>
          <a:solidFill>
            <a:srgbClr val="E8F5E9"/>
          </a:solidFill>
          <a:ln>
            <a:noFill/>
          </a:ln>
        </p:spPr>
      </p:sp>
      <p:sp>
        <p:nvSpPr>
          <p:cNvPr id="35" name="TextBox 35"/>
          <p:cNvSpPr txBox="1"/>
          <p:nvPr/>
        </p:nvSpPr>
        <p:spPr>
          <a:xfrm>
            <a:off x="7034212" y="2278856"/>
            <a:ext cx="50113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目标：</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510462" y="2278856"/>
            <a:ext cx="227885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实现企业内部用户的生命周期管理</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034212" y="2545556"/>
            <a:ext cx="50113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角色：</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7510462" y="2545556"/>
            <a:ext cx="242887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普通用户、部门管理员、系统管理员</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7034212" y="2812256"/>
            <a:ext cx="65865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功能域：</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7510462" y="2812256"/>
            <a:ext cx="152876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注册登录、权限管理、</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7510462" y="3021806"/>
            <a:ext cx="274391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部门归属、状态流转（启用/禁用/离职）</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7034212" y="3288506"/>
            <a:ext cx="65865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非功能：</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7510462" y="3288506"/>
            <a:ext cx="23838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1000并发、响应&lt;200ms、加密存储</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6842760" y="4442460"/>
            <a:ext cx="870585"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转变效果：</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6842760" y="4709160"/>
            <a:ext cx="35029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从一句话描述到AI可直接生成代码的结构化规格</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6842760" y="4928235"/>
            <a:ext cx="27028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AI能精确理解需要实现哪些功能模块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6842760" y="5147310"/>
            <a:ext cx="35269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角色和边界明确，生成的代码有明确的目标受众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842760" y="5366385"/>
            <a:ext cx="36869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非功能需求明确，代码从一开始就考虑性能和安全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571500" y="5715000"/>
            <a:ext cx="11049000" cy="476250"/>
          </a:xfrm>
          <a:prstGeom prst="roundRect">
            <a:avLst>
              <a:gd name="adj" fmla="val 16000"/>
            </a:avLst>
          </a:prstGeom>
          <a:gradFill>
            <a:gsLst>
              <a:gs pos="0">
                <a:srgbClr val="1565C0"/>
              </a:gs>
              <a:gs pos="100000">
                <a:srgbClr val="00838F"/>
              </a:gs>
            </a:gsLst>
            <a:lin ang="0" scaled="1"/>
          </a:gradFill>
          <a:ln>
            <a:noFill/>
          </a:ln>
        </p:spPr>
      </p:sp>
      <p:sp>
        <p:nvSpPr>
          <p:cNvPr id="50" name="TextBox 50"/>
          <p:cNvSpPr txBox="1"/>
          <p:nvPr/>
        </p:nvSpPr>
        <p:spPr>
          <a:xfrm>
            <a:off x="3451427" y="5874068"/>
            <a:ext cx="52891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一句话描述 → 结构化规格 → AI可直接生成代码 = 1:10 效率提升</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3" name="图片 5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4"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839470" y="163195"/>
            <a:ext cx="3702685" cy="47688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从需求到规格的完整转化链路</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308461" y="1052989"/>
            <a:ext cx="5575078"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五步转化法：需求文档 → 业务事件 → 业务能力 → 结构化描述 → 工作流编排</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4572000"/>
          </a:xfrm>
          <a:prstGeom prst="roundRect">
            <a:avLst>
              <a:gd name="adj" fmla="val 2500"/>
            </a:avLst>
          </a:prstGeom>
          <a:solidFill>
            <a:srgbClr val="FFFFFF"/>
          </a:solidFill>
          <a:ln w="9525">
            <a:solidFill>
              <a:srgbClr val="CFD8DC"/>
            </a:solidFill>
          </a:ln>
        </p:spPr>
      </p:sp>
      <p:sp>
        <p:nvSpPr>
          <p:cNvPr id="11" name="Rectangle 11"/>
          <p:cNvSpPr/>
          <p:nvPr/>
        </p:nvSpPr>
        <p:spPr>
          <a:xfrm>
            <a:off x="857250" y="1762125"/>
            <a:ext cx="10287000" cy="619125"/>
          </a:xfrm>
          <a:prstGeom prst="roundRect">
            <a:avLst>
              <a:gd name="adj" fmla="val 12308"/>
            </a:avLst>
          </a:prstGeom>
          <a:solidFill>
            <a:srgbClr val="E3F2FD"/>
          </a:solidFill>
          <a:ln>
            <a:noFill/>
          </a:ln>
        </p:spPr>
      </p:sp>
      <p:sp>
        <p:nvSpPr>
          <p:cNvPr id="12" name="Rectangle 12"/>
          <p:cNvSpPr/>
          <p:nvPr/>
        </p:nvSpPr>
        <p:spPr>
          <a:xfrm>
            <a:off x="857250" y="1762125"/>
            <a:ext cx="57150" cy="619125"/>
          </a:xfrm>
          <a:prstGeom prst="roundRect">
            <a:avLst>
              <a:gd name="adj" fmla="val 50000"/>
            </a:avLst>
          </a:prstGeom>
          <a:solidFill>
            <a:srgbClr val="1565C0"/>
          </a:solidFill>
          <a:ln>
            <a:noFill/>
          </a:ln>
        </p:spPr>
      </p:sp>
      <p:sp>
        <p:nvSpPr>
          <p:cNvPr id="13" name="TextBox 13"/>
          <p:cNvSpPr txBox="1"/>
          <p:nvPr/>
        </p:nvSpPr>
        <p:spPr>
          <a:xfrm>
            <a:off x="1122045" y="1822132"/>
            <a:ext cx="746548"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Consolas" panose="020B0609020204030204"/>
                <a:ea typeface="微软雅黑" panose="020B0503020204020204" charset="-122"/>
                <a:cs typeface="Consolas" panose="020B0609020204030204"/>
              </a:rPr>
              <a:t>Step 1</a:t>
            </a:r>
            <a:endParaRPr lang="zh-CN" sz="1650" b="1" dirty="0">
              <a:solidFill>
                <a:srgbClr val="1565C0"/>
              </a:solidFill>
              <a:latin typeface="Consolas" panose="020B0609020204030204"/>
              <a:ea typeface="微软雅黑" panose="020B0503020204020204" charset="-122"/>
              <a:cs typeface="Consolas" panose="020B0609020204030204"/>
            </a:endParaRPr>
          </a:p>
        </p:txBody>
      </p:sp>
      <p:sp>
        <p:nvSpPr>
          <p:cNvPr id="14" name="TextBox 14"/>
          <p:cNvSpPr txBox="1"/>
          <p:nvPr/>
        </p:nvSpPr>
        <p:spPr>
          <a:xfrm>
            <a:off x="1981200" y="1838325"/>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需求文档</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985010" y="2118360"/>
            <a:ext cx="607923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收集并整理原始需求，去模糊化 —— 把"做一个用户系统"转化为明确的功能域和优先级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57250" y="2571750"/>
            <a:ext cx="10287000" cy="619125"/>
          </a:xfrm>
          <a:prstGeom prst="roundRect">
            <a:avLst>
              <a:gd name="adj" fmla="val 12308"/>
            </a:avLst>
          </a:prstGeom>
          <a:solidFill>
            <a:srgbClr val="E0F7FA"/>
          </a:solidFill>
          <a:ln>
            <a:noFill/>
          </a:ln>
        </p:spPr>
      </p:sp>
      <p:sp>
        <p:nvSpPr>
          <p:cNvPr id="17" name="Rectangle 17"/>
          <p:cNvSpPr/>
          <p:nvPr/>
        </p:nvSpPr>
        <p:spPr>
          <a:xfrm>
            <a:off x="857250" y="2571750"/>
            <a:ext cx="57150" cy="619125"/>
          </a:xfrm>
          <a:prstGeom prst="roundRect">
            <a:avLst>
              <a:gd name="adj" fmla="val 50000"/>
            </a:avLst>
          </a:prstGeom>
          <a:solidFill>
            <a:srgbClr val="00838F"/>
          </a:solidFill>
          <a:ln>
            <a:noFill/>
          </a:ln>
        </p:spPr>
      </p:sp>
      <p:sp>
        <p:nvSpPr>
          <p:cNvPr id="18" name="TextBox 18"/>
          <p:cNvSpPr txBox="1"/>
          <p:nvPr/>
        </p:nvSpPr>
        <p:spPr>
          <a:xfrm>
            <a:off x="1122045" y="2631758"/>
            <a:ext cx="746548" cy="335280"/>
          </a:xfrm>
          <a:prstGeom prst="rect">
            <a:avLst/>
          </a:prstGeom>
          <a:noFill/>
          <a:ln>
            <a:noFill/>
          </a:ln>
        </p:spPr>
        <p:txBody>
          <a:bodyPr wrap="none" lIns="0" tIns="0" rIns="0" bIns="0" anchor="t" anchorCtr="0">
            <a:spAutoFit/>
          </a:bodyPr>
          <a:lstStyle/>
          <a:p>
            <a:pPr algn="l"/>
            <a:r>
              <a:rPr lang="zh-CN" sz="1650" b="1" dirty="0">
                <a:solidFill>
                  <a:srgbClr val="00838F"/>
                </a:solidFill>
                <a:latin typeface="Consolas" panose="020B0609020204030204"/>
                <a:ea typeface="微软雅黑" panose="020B0503020204020204" charset="-122"/>
                <a:cs typeface="Consolas" panose="020B0609020204030204"/>
              </a:rPr>
              <a:t>Step 2</a:t>
            </a:r>
            <a:endParaRPr lang="zh-CN" sz="1650" b="1" dirty="0">
              <a:solidFill>
                <a:srgbClr val="00838F"/>
              </a:solidFill>
              <a:latin typeface="Consolas" panose="020B0609020204030204"/>
              <a:ea typeface="微软雅黑" panose="020B0503020204020204" charset="-122"/>
              <a:cs typeface="Consolas" panose="020B0609020204030204"/>
            </a:endParaRPr>
          </a:p>
        </p:txBody>
      </p:sp>
      <p:sp>
        <p:nvSpPr>
          <p:cNvPr id="19" name="TextBox 19"/>
          <p:cNvSpPr txBox="1"/>
          <p:nvPr/>
        </p:nvSpPr>
        <p:spPr>
          <a:xfrm>
            <a:off x="1981200" y="26479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业务事件</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1985010" y="2927985"/>
            <a:ext cx="638327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识别关键业务事件（用户注册、订单创建、角色变更） —— 每个事件是一个独立可交付单元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857250" y="3381375"/>
            <a:ext cx="10287000" cy="619125"/>
          </a:xfrm>
          <a:prstGeom prst="roundRect">
            <a:avLst>
              <a:gd name="adj" fmla="val 12308"/>
            </a:avLst>
          </a:prstGeom>
          <a:solidFill>
            <a:srgbClr val="FFF3E0"/>
          </a:solidFill>
          <a:ln>
            <a:noFill/>
          </a:ln>
        </p:spPr>
      </p:sp>
      <p:sp>
        <p:nvSpPr>
          <p:cNvPr id="22" name="Rectangle 22"/>
          <p:cNvSpPr/>
          <p:nvPr/>
        </p:nvSpPr>
        <p:spPr>
          <a:xfrm>
            <a:off x="857250" y="3381375"/>
            <a:ext cx="57150" cy="619125"/>
          </a:xfrm>
          <a:prstGeom prst="roundRect">
            <a:avLst>
              <a:gd name="adj" fmla="val 50000"/>
            </a:avLst>
          </a:prstGeom>
          <a:solidFill>
            <a:srgbClr val="FF6F00"/>
          </a:solidFill>
          <a:ln>
            <a:noFill/>
          </a:ln>
        </p:spPr>
      </p:sp>
      <p:sp>
        <p:nvSpPr>
          <p:cNvPr id="23" name="TextBox 23"/>
          <p:cNvSpPr txBox="1"/>
          <p:nvPr/>
        </p:nvSpPr>
        <p:spPr>
          <a:xfrm>
            <a:off x="1122045" y="3441382"/>
            <a:ext cx="746548" cy="335280"/>
          </a:xfrm>
          <a:prstGeom prst="rect">
            <a:avLst/>
          </a:prstGeom>
          <a:noFill/>
          <a:ln>
            <a:noFill/>
          </a:ln>
        </p:spPr>
        <p:txBody>
          <a:bodyPr wrap="none" lIns="0" tIns="0" rIns="0" bIns="0" anchor="t" anchorCtr="0">
            <a:spAutoFit/>
          </a:bodyPr>
          <a:lstStyle/>
          <a:p>
            <a:pPr algn="l"/>
            <a:r>
              <a:rPr lang="zh-CN" sz="1650" b="1" dirty="0">
                <a:solidFill>
                  <a:srgbClr val="FF6F00"/>
                </a:solidFill>
                <a:latin typeface="Consolas" panose="020B0609020204030204"/>
                <a:ea typeface="微软雅黑" panose="020B0503020204020204" charset="-122"/>
                <a:cs typeface="Consolas" panose="020B0609020204030204"/>
              </a:rPr>
              <a:t>Step 3</a:t>
            </a:r>
            <a:endParaRPr lang="zh-CN" sz="1650" b="1" dirty="0">
              <a:solidFill>
                <a:srgbClr val="FF6F00"/>
              </a:solidFill>
              <a:latin typeface="Consolas" panose="020B0609020204030204"/>
              <a:ea typeface="微软雅黑" panose="020B0503020204020204" charset="-122"/>
              <a:cs typeface="Consolas" panose="020B0609020204030204"/>
            </a:endParaRPr>
          </a:p>
        </p:txBody>
      </p:sp>
      <p:sp>
        <p:nvSpPr>
          <p:cNvPr id="24" name="TextBox 24"/>
          <p:cNvSpPr txBox="1"/>
          <p:nvPr/>
        </p:nvSpPr>
        <p:spPr>
          <a:xfrm>
            <a:off x="1981200" y="3457575"/>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业务能力</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1985010" y="3737610"/>
            <a:ext cx="545515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映射每个事件需要的业务能力 —— 用户CRUD、权限校验、状态流转、审计日志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857250" y="4191000"/>
            <a:ext cx="10287000" cy="619125"/>
          </a:xfrm>
          <a:prstGeom prst="roundRect">
            <a:avLst>
              <a:gd name="adj" fmla="val 12308"/>
            </a:avLst>
          </a:prstGeom>
          <a:solidFill>
            <a:srgbClr val="E8F5E9"/>
          </a:solidFill>
          <a:ln>
            <a:noFill/>
          </a:ln>
        </p:spPr>
      </p:sp>
      <p:sp>
        <p:nvSpPr>
          <p:cNvPr id="27" name="Rectangle 27"/>
          <p:cNvSpPr/>
          <p:nvPr/>
        </p:nvSpPr>
        <p:spPr>
          <a:xfrm>
            <a:off x="857250" y="4191000"/>
            <a:ext cx="57150" cy="619125"/>
          </a:xfrm>
          <a:prstGeom prst="roundRect">
            <a:avLst>
              <a:gd name="adj" fmla="val 50000"/>
            </a:avLst>
          </a:prstGeom>
          <a:solidFill>
            <a:srgbClr val="2E7D32"/>
          </a:solidFill>
          <a:ln>
            <a:noFill/>
          </a:ln>
        </p:spPr>
      </p:sp>
      <p:sp>
        <p:nvSpPr>
          <p:cNvPr id="28" name="TextBox 28"/>
          <p:cNvSpPr txBox="1"/>
          <p:nvPr/>
        </p:nvSpPr>
        <p:spPr>
          <a:xfrm>
            <a:off x="1122045" y="4251008"/>
            <a:ext cx="746548"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Consolas" panose="020B0609020204030204"/>
                <a:ea typeface="微软雅黑" panose="020B0503020204020204" charset="-122"/>
                <a:cs typeface="Consolas" panose="020B0609020204030204"/>
              </a:rPr>
              <a:t>Step 4</a:t>
            </a:r>
            <a:endParaRPr lang="zh-CN" sz="1650" b="1" dirty="0">
              <a:solidFill>
                <a:srgbClr val="2E7D32"/>
              </a:solidFill>
              <a:latin typeface="Consolas" panose="020B0609020204030204"/>
              <a:ea typeface="微软雅黑" panose="020B0503020204020204" charset="-122"/>
              <a:cs typeface="Consolas" panose="020B0609020204030204"/>
            </a:endParaRPr>
          </a:p>
        </p:txBody>
      </p:sp>
      <p:sp>
        <p:nvSpPr>
          <p:cNvPr id="29" name="TextBox 29"/>
          <p:cNvSpPr txBox="1"/>
          <p:nvPr/>
        </p:nvSpPr>
        <p:spPr>
          <a:xfrm>
            <a:off x="1981200" y="4267200"/>
            <a:ext cx="1088231"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结构化描述</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1985010" y="4547235"/>
            <a:ext cx="598322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用统一模板描述每个能力：输入/输出/边界/异常 —— 让AI无歧义理解每一个原子任务</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57250" y="5000625"/>
            <a:ext cx="10287000" cy="619125"/>
          </a:xfrm>
          <a:prstGeom prst="roundRect">
            <a:avLst>
              <a:gd name="adj" fmla="val 12308"/>
            </a:avLst>
          </a:prstGeom>
          <a:solidFill>
            <a:srgbClr val="1565C0">
              <a:alpha val="15000"/>
            </a:srgbClr>
          </a:solidFill>
          <a:ln>
            <a:noFill/>
          </a:ln>
        </p:spPr>
      </p:sp>
      <p:sp>
        <p:nvSpPr>
          <p:cNvPr id="32" name="Rectangle 32"/>
          <p:cNvSpPr/>
          <p:nvPr/>
        </p:nvSpPr>
        <p:spPr>
          <a:xfrm>
            <a:off x="857250" y="5000625"/>
            <a:ext cx="57150" cy="619125"/>
          </a:xfrm>
          <a:prstGeom prst="roundRect">
            <a:avLst>
              <a:gd name="adj" fmla="val 50000"/>
            </a:avLst>
          </a:prstGeom>
          <a:solidFill>
            <a:srgbClr val="1565C0"/>
          </a:solidFill>
          <a:ln>
            <a:noFill/>
          </a:ln>
        </p:spPr>
      </p:sp>
      <p:sp>
        <p:nvSpPr>
          <p:cNvPr id="33" name="TextBox 33"/>
          <p:cNvSpPr txBox="1"/>
          <p:nvPr/>
        </p:nvSpPr>
        <p:spPr>
          <a:xfrm>
            <a:off x="1122045" y="5060632"/>
            <a:ext cx="746548"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Consolas" panose="020B0609020204030204"/>
                <a:ea typeface="微软雅黑" panose="020B0503020204020204" charset="-122"/>
                <a:cs typeface="Consolas" panose="020B0609020204030204"/>
              </a:rPr>
              <a:t>Step 5</a:t>
            </a:r>
            <a:endParaRPr lang="zh-CN" sz="1650" b="1" dirty="0">
              <a:solidFill>
                <a:srgbClr val="1565C0"/>
              </a:solidFill>
              <a:latin typeface="Consolas" panose="020B0609020204030204"/>
              <a:ea typeface="微软雅黑" panose="020B0503020204020204" charset="-122"/>
              <a:cs typeface="Consolas" panose="020B0609020204030204"/>
            </a:endParaRPr>
          </a:p>
        </p:txBody>
      </p:sp>
      <p:sp>
        <p:nvSpPr>
          <p:cNvPr id="34" name="TextBox 34"/>
          <p:cNvSpPr txBox="1"/>
          <p:nvPr/>
        </p:nvSpPr>
        <p:spPr>
          <a:xfrm>
            <a:off x="1981200" y="5076825"/>
            <a:ext cx="1088231"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工作流编排</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1985010" y="5356860"/>
            <a:ext cx="603923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将能力串联为完整工作流，形成AI可执行的开发任务序列 —— 从需求到代码的最后一步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Rectangle 36"/>
          <p:cNvSpPr/>
          <p:nvPr/>
        </p:nvSpPr>
        <p:spPr>
          <a:xfrm>
            <a:off x="571500" y="5715000"/>
            <a:ext cx="11049000" cy="476250"/>
          </a:xfrm>
          <a:prstGeom prst="roundRect">
            <a:avLst>
              <a:gd name="adj" fmla="val 16000"/>
            </a:avLst>
          </a:prstGeom>
          <a:gradFill>
            <a:gsLst>
              <a:gs pos="0">
                <a:srgbClr val="1565C0"/>
              </a:gs>
              <a:gs pos="100000">
                <a:srgbClr val="00838F"/>
              </a:gs>
            </a:gsLst>
            <a:lin ang="0" scaled="1"/>
          </a:gradFill>
          <a:ln>
            <a:noFill/>
          </a:ln>
        </p:spPr>
      </p:sp>
      <p:sp>
        <p:nvSpPr>
          <p:cNvPr id="37" name="TextBox 37"/>
          <p:cNvSpPr txBox="1"/>
          <p:nvPr/>
        </p:nvSpPr>
        <p:spPr>
          <a:xfrm>
            <a:off x="2822923" y="5874068"/>
            <a:ext cx="6546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 需求文档 → 业务事件 → 业务能力 → 结构化描述 → 工作流编排 → AI可执行代码</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0" name="图片 3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1"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1500" y="212090"/>
            <a:ext cx="3779520" cy="42799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需求与设计阶段的关键原则</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10" name="Rectangle 10"/>
          <p:cNvSpPr/>
          <p:nvPr/>
        </p:nvSpPr>
        <p:spPr>
          <a:xfrm>
            <a:off x="571500" y="1428750"/>
            <a:ext cx="3552825" cy="4191000"/>
          </a:xfrm>
          <a:prstGeom prst="roundRect">
            <a:avLst>
              <a:gd name="adj" fmla="val 3217"/>
            </a:avLst>
          </a:prstGeom>
          <a:solidFill>
            <a:srgbClr val="FFFFFF"/>
          </a:solidFill>
          <a:ln w="9525">
            <a:solidFill>
              <a:srgbClr val="CFD8DC"/>
            </a:solidFill>
          </a:ln>
        </p:spPr>
      </p:sp>
      <p:sp>
        <p:nvSpPr>
          <p:cNvPr id="11" name="Rectangle 11"/>
          <p:cNvSpPr/>
          <p:nvPr/>
        </p:nvSpPr>
        <p:spPr>
          <a:xfrm>
            <a:off x="571500" y="1428750"/>
            <a:ext cx="3552825" cy="47625"/>
          </a:xfrm>
          <a:prstGeom prst="roundRect">
            <a:avLst>
              <a:gd name="adj" fmla="val 50000"/>
            </a:avLst>
          </a:prstGeom>
          <a:solidFill>
            <a:srgbClr val="1565C0"/>
          </a:solidFill>
          <a:ln>
            <a:noFill/>
          </a:ln>
        </p:spPr>
      </p:sp>
      <p:sp>
        <p:nvSpPr>
          <p:cNvPr id="12" name="Rectangle 12"/>
          <p:cNvSpPr/>
          <p:nvPr/>
        </p:nvSpPr>
        <p:spPr>
          <a:xfrm>
            <a:off x="857250" y="1666875"/>
            <a:ext cx="476250" cy="476250"/>
          </a:xfrm>
          <a:prstGeom prst="roundRect">
            <a:avLst>
              <a:gd name="adj" fmla="val 24000"/>
            </a:avLst>
          </a:prstGeom>
          <a:solidFill>
            <a:srgbClr val="1565C0"/>
          </a:solidFill>
          <a:ln>
            <a:noFill/>
          </a:ln>
        </p:spPr>
      </p:sp>
      <p:sp>
        <p:nvSpPr>
          <p:cNvPr id="13" name="TextBox 13"/>
          <p:cNvSpPr txBox="1"/>
          <p:nvPr/>
        </p:nvSpPr>
        <p:spPr>
          <a:xfrm>
            <a:off x="940498" y="1805940"/>
            <a:ext cx="309753" cy="365760"/>
          </a:xfrm>
          <a:prstGeom prst="rect">
            <a:avLst/>
          </a:prstGeom>
          <a:noFill/>
          <a:ln>
            <a:noFill/>
          </a:ln>
        </p:spPr>
        <p:txBody>
          <a:bodyPr wrap="none" lIns="0" tIns="0" rIns="0" bIns="0" anchor="t" anchorCtr="0">
            <a:spAutoFit/>
          </a:bodyPr>
          <a:lstStyle/>
          <a:p>
            <a:pPr algn="ctr"/>
            <a:r>
              <a:rPr lang="zh-CN" sz="1800" dirty="0">
                <a:solidFill>
                  <a:srgbClr val="FFFFFF"/>
                </a:solidFill>
                <a:latin typeface="Segoe UI" panose="020B0502040204020203"/>
                <a:ea typeface="微软雅黑" panose="020B0503020204020204" charset="-122"/>
                <a:cs typeface="Segoe UI" panose="020B0502040204020203"/>
              </a:rPr>
              <a:t>01</a:t>
            </a:r>
            <a:endParaRPr lang="zh-CN" sz="1800" dirty="0">
              <a:solidFill>
                <a:srgbClr val="FFFFF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503045" y="1803082"/>
            <a:ext cx="1428083"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完备规划法则</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857250" y="2333625"/>
            <a:ext cx="2981325" cy="9525"/>
          </a:xfrm>
          <a:prstGeom prst="rect">
            <a:avLst/>
          </a:prstGeom>
          <a:solidFill>
            <a:srgbClr val="CFD8DC"/>
          </a:solidFill>
          <a:ln>
            <a:noFill/>
          </a:ln>
        </p:spPr>
      </p:sp>
      <p:sp>
        <p:nvSpPr>
          <p:cNvPr id="16" name="Rectangle 16"/>
          <p:cNvSpPr/>
          <p:nvPr/>
        </p:nvSpPr>
        <p:spPr>
          <a:xfrm>
            <a:off x="857250" y="2571750"/>
            <a:ext cx="2981325" cy="523875"/>
          </a:xfrm>
          <a:prstGeom prst="roundRect">
            <a:avLst>
              <a:gd name="adj" fmla="val 10909"/>
            </a:avLst>
          </a:prstGeom>
          <a:solidFill>
            <a:srgbClr val="E3F2FD"/>
          </a:solidFill>
          <a:ln>
            <a:noFill/>
          </a:ln>
        </p:spPr>
      </p:sp>
      <p:sp>
        <p:nvSpPr>
          <p:cNvPr id="17" name="TextBox 17"/>
          <p:cNvSpPr txBox="1"/>
          <p:nvPr/>
        </p:nvSpPr>
        <p:spPr>
          <a:xfrm>
            <a:off x="995362" y="2688431"/>
            <a:ext cx="142262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先想清楚再让AI动手</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95362" y="2878931"/>
            <a:ext cx="13787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想清楚就不用做两遍</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42010" y="3251835"/>
            <a:ext cx="15586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需求阶段的1小时投入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42010" y="3509010"/>
            <a:ext cx="137464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编码阶段节省1天</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42010" y="3870960"/>
            <a:ext cx="1486662"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完备规划不是"慢"，</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842010" y="4090035"/>
            <a:ext cx="1726692"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而是最高ROI的前期投资</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857250" y="4524375"/>
            <a:ext cx="2981325" cy="476250"/>
          </a:xfrm>
          <a:prstGeom prst="roundRect">
            <a:avLst>
              <a:gd name="adj" fmla="val 16000"/>
            </a:avLst>
          </a:prstGeom>
          <a:solidFill>
            <a:srgbClr val="1565C0">
              <a:alpha val="6000"/>
            </a:srgbClr>
          </a:solidFill>
          <a:ln>
            <a:noFill/>
          </a:ln>
        </p:spPr>
      </p:sp>
      <p:grpSp>
        <p:nvGrpSpPr>
          <p:cNvPr id="26" name="Group 26"/>
          <p:cNvGrpSpPr/>
          <p:nvPr/>
        </p:nvGrpSpPr>
        <p:grpSpPr>
          <a:xfrm>
            <a:off x="1063823" y="4711898"/>
            <a:ext cx="139303" cy="139303"/>
            <a:chOff x="1063823" y="4711898"/>
            <a:chExt cx="139303" cy="139303"/>
          </a:xfrm>
        </p:grpSpPr>
        <p:sp>
          <p:nvSpPr>
            <p:cNvPr id="24" name="Freeform 24"/>
            <p:cNvSpPr/>
            <p:nvPr/>
          </p:nvSpPr>
          <p:spPr>
            <a:xfrm>
              <a:off x="1069181" y="471725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1565C0">
                <a:alpha val="20000"/>
              </a:srgbClr>
            </a:solidFill>
            <a:ln>
              <a:noFill/>
            </a:ln>
          </p:spPr>
        </p:sp>
        <p:sp>
          <p:nvSpPr>
            <p:cNvPr id="25" name="Freeform 25"/>
            <p:cNvSpPr/>
            <p:nvPr/>
          </p:nvSpPr>
          <p:spPr>
            <a:xfrm>
              <a:off x="1063823" y="4711898"/>
              <a:ext cx="139303" cy="139303"/>
            </a:xfrm>
            <a:custGeom>
              <a:avLst/>
              <a:gdLst/>
              <a:ahLst/>
              <a:cxnLst/>
              <a:rect l="l" t="t" r="r" b="b"/>
              <a:pathLst>
                <a:path w="139303" h="139303">
                  <a:moveTo>
                    <a:pt x="69652" y="0"/>
                  </a:moveTo>
                  <a:cubicBezTo>
                    <a:pt x="31184" y="0"/>
                    <a:pt x="0" y="31184"/>
                    <a:pt x="0" y="69652"/>
                  </a:cubicBezTo>
                  <a:cubicBezTo>
                    <a:pt x="0" y="108119"/>
                    <a:pt x="31184" y="139303"/>
                    <a:pt x="69652" y="139303"/>
                  </a:cubicBezTo>
                  <a:cubicBezTo>
                    <a:pt x="108119" y="139303"/>
                    <a:pt x="139303" y="108119"/>
                    <a:pt x="139303" y="69652"/>
                  </a:cubicBezTo>
                  <a:cubicBezTo>
                    <a:pt x="139263" y="31201"/>
                    <a:pt x="108102" y="41"/>
                    <a:pt x="69652" y="0"/>
                  </a:cubicBezTo>
                  <a:close/>
                  <a:moveTo>
                    <a:pt x="69652" y="128588"/>
                  </a:moveTo>
                  <a:cubicBezTo>
                    <a:pt x="37102" y="128588"/>
                    <a:pt x="10716" y="102201"/>
                    <a:pt x="10716" y="69652"/>
                  </a:cubicBezTo>
                  <a:cubicBezTo>
                    <a:pt x="10716" y="37102"/>
                    <a:pt x="37102" y="10716"/>
                    <a:pt x="69652" y="10716"/>
                  </a:cubicBezTo>
                  <a:cubicBezTo>
                    <a:pt x="102201" y="10716"/>
                    <a:pt x="128588" y="37102"/>
                    <a:pt x="128588" y="69652"/>
                  </a:cubicBezTo>
                  <a:cubicBezTo>
                    <a:pt x="128551" y="102186"/>
                    <a:pt x="102186" y="128551"/>
                    <a:pt x="69652" y="128588"/>
                  </a:cubicBezTo>
                  <a:close/>
                  <a:moveTo>
                    <a:pt x="112514" y="69652"/>
                  </a:moveTo>
                  <a:cubicBezTo>
                    <a:pt x="112514" y="72611"/>
                    <a:pt x="110115" y="75009"/>
                    <a:pt x="107156" y="75009"/>
                  </a:cubicBezTo>
                  <a:lnTo>
                    <a:pt x="69652" y="75009"/>
                  </a:lnTo>
                  <a:cubicBezTo>
                    <a:pt x="66693" y="75009"/>
                    <a:pt x="64294" y="72611"/>
                    <a:pt x="64294" y="69652"/>
                  </a:cubicBezTo>
                  <a:lnTo>
                    <a:pt x="64294" y="32147"/>
                  </a:lnTo>
                  <a:cubicBezTo>
                    <a:pt x="64294" y="29188"/>
                    <a:pt x="66693" y="26789"/>
                    <a:pt x="69652" y="26789"/>
                  </a:cubicBezTo>
                  <a:cubicBezTo>
                    <a:pt x="72611" y="26789"/>
                    <a:pt x="75009" y="29188"/>
                    <a:pt x="75009" y="32147"/>
                  </a:cubicBezTo>
                  <a:lnTo>
                    <a:pt x="75009" y="64294"/>
                  </a:lnTo>
                  <a:lnTo>
                    <a:pt x="107156" y="64294"/>
                  </a:lnTo>
                  <a:cubicBezTo>
                    <a:pt x="110115" y="64294"/>
                    <a:pt x="112514" y="66693"/>
                    <a:pt x="112514" y="69652"/>
                  </a:cubicBezTo>
                  <a:close/>
                </a:path>
              </a:pathLst>
            </a:custGeom>
            <a:solidFill>
              <a:srgbClr val="1565C0"/>
            </a:solidFill>
            <a:ln>
              <a:noFill/>
            </a:ln>
          </p:spPr>
        </p:sp>
      </p:grpSp>
      <p:sp>
        <p:nvSpPr>
          <p:cNvPr id="27" name="TextBox 27"/>
          <p:cNvSpPr txBox="1"/>
          <p:nvPr/>
        </p:nvSpPr>
        <p:spPr>
          <a:xfrm>
            <a:off x="1261110" y="4699635"/>
            <a:ext cx="1462659"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投入产出比高达 1:8</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4314825" y="1428750"/>
            <a:ext cx="3552825" cy="4191000"/>
          </a:xfrm>
          <a:prstGeom prst="roundRect">
            <a:avLst>
              <a:gd name="adj" fmla="val 3217"/>
            </a:avLst>
          </a:prstGeom>
          <a:solidFill>
            <a:srgbClr val="FFFFFF"/>
          </a:solidFill>
          <a:ln w="9525">
            <a:solidFill>
              <a:srgbClr val="CFD8DC"/>
            </a:solidFill>
          </a:ln>
        </p:spPr>
      </p:sp>
      <p:sp>
        <p:nvSpPr>
          <p:cNvPr id="29" name="Rectangle 29"/>
          <p:cNvSpPr/>
          <p:nvPr/>
        </p:nvSpPr>
        <p:spPr>
          <a:xfrm>
            <a:off x="4314825" y="1428750"/>
            <a:ext cx="3552825" cy="47625"/>
          </a:xfrm>
          <a:prstGeom prst="roundRect">
            <a:avLst>
              <a:gd name="adj" fmla="val 50000"/>
            </a:avLst>
          </a:prstGeom>
          <a:solidFill>
            <a:srgbClr val="00838F"/>
          </a:solidFill>
          <a:ln>
            <a:noFill/>
          </a:ln>
        </p:spPr>
      </p:sp>
      <p:sp>
        <p:nvSpPr>
          <p:cNvPr id="30" name="Rectangle 30"/>
          <p:cNvSpPr/>
          <p:nvPr/>
        </p:nvSpPr>
        <p:spPr>
          <a:xfrm>
            <a:off x="4600575" y="1666875"/>
            <a:ext cx="476250" cy="476250"/>
          </a:xfrm>
          <a:prstGeom prst="roundRect">
            <a:avLst>
              <a:gd name="adj" fmla="val 24000"/>
            </a:avLst>
          </a:prstGeom>
          <a:solidFill>
            <a:srgbClr val="00838F"/>
          </a:solidFill>
          <a:ln>
            <a:noFill/>
          </a:ln>
        </p:spPr>
      </p:sp>
      <p:sp>
        <p:nvSpPr>
          <p:cNvPr id="31" name="TextBox 31"/>
          <p:cNvSpPr txBox="1"/>
          <p:nvPr/>
        </p:nvSpPr>
        <p:spPr>
          <a:xfrm>
            <a:off x="4683824" y="1805940"/>
            <a:ext cx="309753" cy="365760"/>
          </a:xfrm>
          <a:prstGeom prst="rect">
            <a:avLst/>
          </a:prstGeom>
          <a:noFill/>
          <a:ln>
            <a:noFill/>
          </a:ln>
        </p:spPr>
        <p:txBody>
          <a:bodyPr wrap="none" lIns="0" tIns="0" rIns="0" bIns="0" anchor="t" anchorCtr="0">
            <a:spAutoFit/>
          </a:bodyPr>
          <a:lstStyle/>
          <a:p>
            <a:pPr algn="ctr"/>
            <a:r>
              <a:rPr lang="zh-CN" sz="1800" dirty="0">
                <a:solidFill>
                  <a:srgbClr val="FFFFFF"/>
                </a:solidFill>
                <a:latin typeface="Segoe UI" panose="020B0502040204020203"/>
                <a:ea typeface="微软雅黑" panose="020B0503020204020204" charset="-122"/>
                <a:cs typeface="Segoe UI" panose="020B0502040204020203"/>
              </a:rPr>
              <a:t>02</a:t>
            </a:r>
            <a:endParaRPr lang="zh-CN" sz="1800" dirty="0">
              <a:solidFill>
                <a:srgbClr val="FFFFFF"/>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5246370" y="1803082"/>
            <a:ext cx="1474289"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Spec先行法则</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4600575" y="2333625"/>
            <a:ext cx="2981325" cy="9525"/>
          </a:xfrm>
          <a:prstGeom prst="rect">
            <a:avLst/>
          </a:prstGeom>
          <a:solidFill>
            <a:srgbClr val="CFD8DC"/>
          </a:solidFill>
          <a:ln>
            <a:noFill/>
          </a:ln>
        </p:spPr>
      </p:sp>
      <p:sp>
        <p:nvSpPr>
          <p:cNvPr id="34" name="Rectangle 34"/>
          <p:cNvSpPr/>
          <p:nvPr/>
        </p:nvSpPr>
        <p:spPr>
          <a:xfrm>
            <a:off x="4600575" y="2571750"/>
            <a:ext cx="2981325" cy="523875"/>
          </a:xfrm>
          <a:prstGeom prst="roundRect">
            <a:avLst>
              <a:gd name="adj" fmla="val 10909"/>
            </a:avLst>
          </a:prstGeom>
          <a:solidFill>
            <a:srgbClr val="E0F7FA"/>
          </a:solidFill>
          <a:ln>
            <a:noFill/>
          </a:ln>
        </p:spPr>
      </p:sp>
      <p:sp>
        <p:nvSpPr>
          <p:cNvPr id="35" name="TextBox 35"/>
          <p:cNvSpPr txBox="1"/>
          <p:nvPr/>
        </p:nvSpPr>
        <p:spPr>
          <a:xfrm>
            <a:off x="4738688" y="2688431"/>
            <a:ext cx="1942439" cy="228600"/>
          </a:xfrm>
          <a:prstGeom prst="rect">
            <a:avLst/>
          </a:prstGeom>
          <a:noFill/>
          <a:ln>
            <a:noFill/>
          </a:ln>
        </p:spPr>
        <p:txBody>
          <a:bodyPr wrap="none" lIns="0" tIns="0" rIns="0" bIns="0" anchor="t" anchorCtr="0">
            <a:spAutoFit/>
          </a:bodyPr>
          <a:lstStyle/>
          <a:p>
            <a:pPr algn="l"/>
            <a:r>
              <a:rPr lang="zh-CN" sz="1125" b="1" dirty="0">
                <a:solidFill>
                  <a:srgbClr val="00838F"/>
                </a:solidFill>
                <a:latin typeface="Segoe UI" panose="020B0502040204020203"/>
                <a:ea typeface="微软雅黑" panose="020B0503020204020204" charset="-122"/>
                <a:cs typeface="Segoe UI" panose="020B0502040204020203"/>
              </a:rPr>
              <a:t>Spec是人与AI之间的"合同"</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4738688" y="2878931"/>
            <a:ext cx="15287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双方以此为唯一真相源</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4585335" y="3251835"/>
            <a:ext cx="150266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没有完整Spec就不写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4585335" y="350901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一行代码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585335" y="3870960"/>
            <a:ext cx="1838706"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Spec先行不是"慢起步"，</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4585335" y="4090035"/>
            <a:ext cx="1790700"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而是让每一步都有据可依</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4600575" y="4524375"/>
            <a:ext cx="2981325" cy="476250"/>
          </a:xfrm>
          <a:prstGeom prst="roundRect">
            <a:avLst>
              <a:gd name="adj" fmla="val 16000"/>
            </a:avLst>
          </a:prstGeom>
          <a:solidFill>
            <a:srgbClr val="00838F">
              <a:alpha val="6000"/>
            </a:srgbClr>
          </a:solidFill>
          <a:ln>
            <a:noFill/>
          </a:ln>
        </p:spPr>
      </p:sp>
      <p:grpSp>
        <p:nvGrpSpPr>
          <p:cNvPr id="44" name="Group 44"/>
          <p:cNvGrpSpPr/>
          <p:nvPr/>
        </p:nvGrpSpPr>
        <p:grpSpPr>
          <a:xfrm>
            <a:off x="4817864" y="4711897"/>
            <a:ext cx="117873" cy="139304"/>
            <a:chOff x="4817864" y="4711897"/>
            <a:chExt cx="117873" cy="139304"/>
          </a:xfrm>
        </p:grpSpPr>
        <p:sp>
          <p:nvSpPr>
            <p:cNvPr id="42" name="Freeform 42"/>
            <p:cNvSpPr/>
            <p:nvPr/>
          </p:nvSpPr>
          <p:spPr>
            <a:xfrm>
              <a:off x="4892873" y="4717256"/>
              <a:ext cx="37505" cy="37505"/>
            </a:xfrm>
            <a:custGeom>
              <a:avLst/>
              <a:gdLst/>
              <a:ahLst/>
              <a:cxnLst/>
              <a:rect l="l" t="t" r="r" b="b"/>
              <a:pathLst>
                <a:path w="37505" h="37505">
                  <a:moveTo>
                    <a:pt x="37505" y="37505"/>
                  </a:moveTo>
                  <a:lnTo>
                    <a:pt x="0" y="37505"/>
                  </a:lnTo>
                  <a:lnTo>
                    <a:pt x="0" y="0"/>
                  </a:lnTo>
                  <a:close/>
                </a:path>
              </a:pathLst>
            </a:custGeom>
            <a:solidFill>
              <a:srgbClr val="00838F">
                <a:alpha val="20000"/>
              </a:srgbClr>
            </a:solidFill>
            <a:ln>
              <a:noFill/>
            </a:ln>
          </p:spPr>
        </p:sp>
        <p:sp>
          <p:nvSpPr>
            <p:cNvPr id="43" name="Freeform 43"/>
            <p:cNvSpPr/>
            <p:nvPr/>
          </p:nvSpPr>
          <p:spPr>
            <a:xfrm>
              <a:off x="4817864" y="4711897"/>
              <a:ext cx="117873" cy="139304"/>
            </a:xfrm>
            <a:custGeom>
              <a:avLst/>
              <a:gdLst/>
              <a:ahLst/>
              <a:cxnLst/>
              <a:rect l="l" t="t" r="r" b="b"/>
              <a:pathLst>
                <a:path w="117873" h="139304">
                  <a:moveTo>
                    <a:pt x="116305" y="39073"/>
                  </a:moveTo>
                  <a:lnTo>
                    <a:pt x="78800" y="1568"/>
                  </a:lnTo>
                  <a:cubicBezTo>
                    <a:pt x="77794" y="564"/>
                    <a:pt x="76431" y="0"/>
                    <a:pt x="75009" y="1"/>
                  </a:cubicBezTo>
                  <a:lnTo>
                    <a:pt x="10716" y="1"/>
                  </a:lnTo>
                  <a:cubicBezTo>
                    <a:pt x="4798" y="1"/>
                    <a:pt x="0" y="4799"/>
                    <a:pt x="0" y="10717"/>
                  </a:cubicBezTo>
                  <a:lnTo>
                    <a:pt x="0" y="128589"/>
                  </a:lnTo>
                  <a:cubicBezTo>
                    <a:pt x="0" y="134507"/>
                    <a:pt x="4798" y="139304"/>
                    <a:pt x="10716" y="139304"/>
                  </a:cubicBezTo>
                  <a:lnTo>
                    <a:pt x="107156" y="139304"/>
                  </a:lnTo>
                  <a:cubicBezTo>
                    <a:pt x="113074" y="139304"/>
                    <a:pt x="117872" y="134507"/>
                    <a:pt x="117872" y="128589"/>
                  </a:cubicBezTo>
                  <a:lnTo>
                    <a:pt x="117872" y="42864"/>
                  </a:lnTo>
                  <a:cubicBezTo>
                    <a:pt x="117873" y="41442"/>
                    <a:pt x="117309" y="40079"/>
                    <a:pt x="116305" y="39073"/>
                  </a:cubicBezTo>
                  <a:close/>
                  <a:moveTo>
                    <a:pt x="80367" y="18291"/>
                  </a:moveTo>
                  <a:lnTo>
                    <a:pt x="99582" y="37506"/>
                  </a:lnTo>
                  <a:lnTo>
                    <a:pt x="80367" y="37506"/>
                  </a:lnTo>
                  <a:close/>
                  <a:moveTo>
                    <a:pt x="107156" y="128589"/>
                  </a:moveTo>
                  <a:lnTo>
                    <a:pt x="10716" y="128589"/>
                  </a:lnTo>
                  <a:lnTo>
                    <a:pt x="10716" y="10717"/>
                  </a:lnTo>
                  <a:lnTo>
                    <a:pt x="69652" y="10717"/>
                  </a:lnTo>
                  <a:lnTo>
                    <a:pt x="69652" y="42864"/>
                  </a:lnTo>
                  <a:cubicBezTo>
                    <a:pt x="69652" y="45823"/>
                    <a:pt x="72050" y="48221"/>
                    <a:pt x="75009" y="48221"/>
                  </a:cubicBezTo>
                  <a:lnTo>
                    <a:pt x="107156" y="48221"/>
                  </a:lnTo>
                  <a:lnTo>
                    <a:pt x="107156" y="128589"/>
                  </a:lnTo>
                  <a:close/>
                  <a:moveTo>
                    <a:pt x="85725" y="75010"/>
                  </a:moveTo>
                  <a:cubicBezTo>
                    <a:pt x="85725" y="77970"/>
                    <a:pt x="83326" y="80368"/>
                    <a:pt x="80367" y="80368"/>
                  </a:cubicBezTo>
                  <a:lnTo>
                    <a:pt x="37505" y="80368"/>
                  </a:lnTo>
                  <a:cubicBezTo>
                    <a:pt x="34546" y="80368"/>
                    <a:pt x="32147" y="77970"/>
                    <a:pt x="32147" y="75010"/>
                  </a:cubicBezTo>
                  <a:cubicBezTo>
                    <a:pt x="32147" y="72051"/>
                    <a:pt x="34546" y="69653"/>
                    <a:pt x="37505" y="69653"/>
                  </a:cubicBezTo>
                  <a:lnTo>
                    <a:pt x="80367" y="69653"/>
                  </a:lnTo>
                  <a:cubicBezTo>
                    <a:pt x="83326" y="69653"/>
                    <a:pt x="85725" y="72051"/>
                    <a:pt x="85725" y="75010"/>
                  </a:cubicBezTo>
                  <a:close/>
                  <a:moveTo>
                    <a:pt x="85725" y="96442"/>
                  </a:moveTo>
                  <a:cubicBezTo>
                    <a:pt x="85725" y="99401"/>
                    <a:pt x="83326" y="101800"/>
                    <a:pt x="80367" y="101800"/>
                  </a:cubicBezTo>
                  <a:lnTo>
                    <a:pt x="37505" y="101800"/>
                  </a:lnTo>
                  <a:cubicBezTo>
                    <a:pt x="34546" y="101800"/>
                    <a:pt x="32147" y="99401"/>
                    <a:pt x="32147" y="96442"/>
                  </a:cubicBezTo>
                  <a:cubicBezTo>
                    <a:pt x="32147" y="93483"/>
                    <a:pt x="34546" y="91084"/>
                    <a:pt x="37505" y="91084"/>
                  </a:cubicBezTo>
                  <a:lnTo>
                    <a:pt x="80367" y="91084"/>
                  </a:lnTo>
                  <a:cubicBezTo>
                    <a:pt x="83326" y="91084"/>
                    <a:pt x="85725" y="93483"/>
                    <a:pt x="85725" y="96442"/>
                  </a:cubicBezTo>
                  <a:close/>
                </a:path>
              </a:pathLst>
            </a:custGeom>
            <a:solidFill>
              <a:srgbClr val="00838F"/>
            </a:solidFill>
            <a:ln>
              <a:noFill/>
            </a:ln>
          </p:spPr>
        </p:sp>
      </p:grpSp>
      <p:sp>
        <p:nvSpPr>
          <p:cNvPr id="45" name="TextBox 45"/>
          <p:cNvSpPr txBox="1"/>
          <p:nvPr/>
        </p:nvSpPr>
        <p:spPr>
          <a:xfrm>
            <a:off x="5004435" y="4699635"/>
            <a:ext cx="166268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Spec = AI的确定性输入</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8067675" y="1428750"/>
            <a:ext cx="3552825" cy="4191000"/>
          </a:xfrm>
          <a:prstGeom prst="roundRect">
            <a:avLst>
              <a:gd name="adj" fmla="val 3217"/>
            </a:avLst>
          </a:prstGeom>
          <a:solidFill>
            <a:srgbClr val="FFFFFF"/>
          </a:solidFill>
          <a:ln w="9525">
            <a:solidFill>
              <a:srgbClr val="CFD8DC"/>
            </a:solidFill>
          </a:ln>
        </p:spPr>
      </p:sp>
      <p:sp>
        <p:nvSpPr>
          <p:cNvPr id="47" name="Rectangle 47"/>
          <p:cNvSpPr/>
          <p:nvPr/>
        </p:nvSpPr>
        <p:spPr>
          <a:xfrm>
            <a:off x="8067675" y="1428750"/>
            <a:ext cx="3552825" cy="47625"/>
          </a:xfrm>
          <a:prstGeom prst="roundRect">
            <a:avLst>
              <a:gd name="adj" fmla="val 50000"/>
            </a:avLst>
          </a:prstGeom>
          <a:solidFill>
            <a:srgbClr val="FF6F00"/>
          </a:solidFill>
          <a:ln>
            <a:noFill/>
          </a:ln>
        </p:spPr>
      </p:sp>
      <p:sp>
        <p:nvSpPr>
          <p:cNvPr id="48" name="Rectangle 48"/>
          <p:cNvSpPr/>
          <p:nvPr/>
        </p:nvSpPr>
        <p:spPr>
          <a:xfrm>
            <a:off x="8353425" y="1666875"/>
            <a:ext cx="476250" cy="476250"/>
          </a:xfrm>
          <a:prstGeom prst="roundRect">
            <a:avLst>
              <a:gd name="adj" fmla="val 24000"/>
            </a:avLst>
          </a:prstGeom>
          <a:solidFill>
            <a:srgbClr val="FF6F00"/>
          </a:solidFill>
          <a:ln>
            <a:noFill/>
          </a:ln>
        </p:spPr>
      </p:sp>
      <p:sp>
        <p:nvSpPr>
          <p:cNvPr id="49" name="TextBox 49"/>
          <p:cNvSpPr txBox="1"/>
          <p:nvPr/>
        </p:nvSpPr>
        <p:spPr>
          <a:xfrm>
            <a:off x="8436674" y="1805940"/>
            <a:ext cx="309753" cy="365760"/>
          </a:xfrm>
          <a:prstGeom prst="rect">
            <a:avLst/>
          </a:prstGeom>
          <a:noFill/>
          <a:ln>
            <a:noFill/>
          </a:ln>
        </p:spPr>
        <p:txBody>
          <a:bodyPr wrap="none" lIns="0" tIns="0" rIns="0" bIns="0" anchor="t" anchorCtr="0">
            <a:spAutoFit/>
          </a:bodyPr>
          <a:lstStyle/>
          <a:p>
            <a:pPr algn="ctr"/>
            <a:r>
              <a:rPr lang="zh-CN" sz="1800" dirty="0">
                <a:solidFill>
                  <a:srgbClr val="FFFFFF"/>
                </a:solidFill>
                <a:latin typeface="Segoe UI" panose="020B0502040204020203"/>
                <a:ea typeface="微软雅黑" panose="020B0503020204020204" charset="-122"/>
                <a:cs typeface="Segoe UI" panose="020B0502040204020203"/>
              </a:rPr>
              <a:t>03</a:t>
            </a:r>
            <a:endParaRPr lang="zh-CN" sz="1800" dirty="0">
              <a:solidFill>
                <a:srgbClr val="FFFFFF"/>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8999220" y="1803082"/>
            <a:ext cx="1428083"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分层拆解法则</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8353425" y="2333625"/>
            <a:ext cx="2981325" cy="9525"/>
          </a:xfrm>
          <a:prstGeom prst="rect">
            <a:avLst/>
          </a:prstGeom>
          <a:solidFill>
            <a:srgbClr val="CFD8DC"/>
          </a:solidFill>
          <a:ln>
            <a:noFill/>
          </a:ln>
        </p:spPr>
      </p:sp>
      <p:sp>
        <p:nvSpPr>
          <p:cNvPr id="52" name="Rectangle 52"/>
          <p:cNvSpPr/>
          <p:nvPr/>
        </p:nvSpPr>
        <p:spPr>
          <a:xfrm>
            <a:off x="8353425" y="2571750"/>
            <a:ext cx="2981325" cy="523875"/>
          </a:xfrm>
          <a:prstGeom prst="roundRect">
            <a:avLst>
              <a:gd name="adj" fmla="val 10909"/>
            </a:avLst>
          </a:prstGeom>
          <a:solidFill>
            <a:srgbClr val="FFF3E0"/>
          </a:solidFill>
          <a:ln>
            <a:noFill/>
          </a:ln>
        </p:spPr>
      </p:sp>
      <p:sp>
        <p:nvSpPr>
          <p:cNvPr id="53" name="TextBox 53"/>
          <p:cNvSpPr txBox="1"/>
          <p:nvPr/>
        </p:nvSpPr>
        <p:spPr>
          <a:xfrm>
            <a:off x="8491538" y="2688431"/>
            <a:ext cx="1918811" cy="228600"/>
          </a:xfrm>
          <a:prstGeom prst="rect">
            <a:avLst/>
          </a:prstGeom>
          <a:noFill/>
          <a:ln>
            <a:noFill/>
          </a:ln>
        </p:spPr>
        <p:txBody>
          <a:bodyPr wrap="none" lIns="0" tIns="0" rIns="0" bIns="0" anchor="t" anchorCtr="0">
            <a:spAutoFit/>
          </a:bodyPr>
          <a:lstStyle/>
          <a:p>
            <a:pPr algn="l"/>
            <a:r>
              <a:rPr lang="zh-CN" sz="1125" b="1" dirty="0">
                <a:solidFill>
                  <a:srgbClr val="FF6F00"/>
                </a:solidFill>
                <a:latin typeface="Segoe UI" panose="020B0502040204020203"/>
                <a:ea typeface="微软雅黑" panose="020B0503020204020204" charset="-122"/>
                <a:cs typeface="Segoe UI" panose="020B0502040204020203"/>
              </a:rPr>
              <a:t>从粗粒度到细粒度逐层拆解</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54" name="TextBox 54"/>
          <p:cNvSpPr txBox="1"/>
          <p:nvPr/>
        </p:nvSpPr>
        <p:spPr>
          <a:xfrm>
            <a:off x="8491538" y="2878931"/>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每层独立验证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8338185" y="3251835"/>
            <a:ext cx="14706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禁止一次把全部需求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8338185" y="3509010"/>
            <a:ext cx="4865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扔给AI</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8338185" y="3870960"/>
            <a:ext cx="1414653"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系统→子系统→模块→</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8338185" y="4090035"/>
            <a:ext cx="1558671"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功能→最小可验证单元</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59" name="Rectangle 59"/>
          <p:cNvSpPr/>
          <p:nvPr/>
        </p:nvSpPr>
        <p:spPr>
          <a:xfrm>
            <a:off x="8353425" y="4524375"/>
            <a:ext cx="2981325" cy="476250"/>
          </a:xfrm>
          <a:prstGeom prst="roundRect">
            <a:avLst>
              <a:gd name="adj" fmla="val 16000"/>
            </a:avLst>
          </a:prstGeom>
          <a:solidFill>
            <a:srgbClr val="FF6F00">
              <a:alpha val="6000"/>
            </a:srgbClr>
          </a:solidFill>
          <a:ln>
            <a:noFill/>
          </a:ln>
        </p:spPr>
      </p:sp>
      <p:grpSp>
        <p:nvGrpSpPr>
          <p:cNvPr id="62" name="Group 62"/>
          <p:cNvGrpSpPr/>
          <p:nvPr/>
        </p:nvGrpSpPr>
        <p:grpSpPr>
          <a:xfrm>
            <a:off x="8554641" y="4717256"/>
            <a:ext cx="144661" cy="128588"/>
            <a:chOff x="8554641" y="4717256"/>
            <a:chExt cx="144661" cy="128588"/>
          </a:xfrm>
        </p:grpSpPr>
        <p:sp>
          <p:nvSpPr>
            <p:cNvPr id="60" name="Freeform 60"/>
            <p:cNvSpPr/>
            <p:nvPr/>
          </p:nvSpPr>
          <p:spPr>
            <a:xfrm>
              <a:off x="8559998" y="4722614"/>
              <a:ext cx="133945" cy="117872"/>
            </a:xfrm>
            <a:custGeom>
              <a:avLst/>
              <a:gdLst/>
              <a:ahLst/>
              <a:cxnLst/>
              <a:rect l="l" t="t" r="r" b="b"/>
              <a:pathLst>
                <a:path w="133945" h="117872">
                  <a:moveTo>
                    <a:pt x="32147" y="48220"/>
                  </a:moveTo>
                  <a:lnTo>
                    <a:pt x="32147" y="69652"/>
                  </a:lnTo>
                  <a:cubicBezTo>
                    <a:pt x="32147" y="72611"/>
                    <a:pt x="29748" y="75009"/>
                    <a:pt x="26789" y="75009"/>
                  </a:cubicBezTo>
                  <a:lnTo>
                    <a:pt x="5358" y="75009"/>
                  </a:lnTo>
                  <a:cubicBezTo>
                    <a:pt x="2399" y="75009"/>
                    <a:pt x="0" y="72611"/>
                    <a:pt x="0" y="69652"/>
                  </a:cubicBezTo>
                  <a:lnTo>
                    <a:pt x="0" y="48220"/>
                  </a:lnTo>
                  <a:cubicBezTo>
                    <a:pt x="0" y="45261"/>
                    <a:pt x="2399" y="42862"/>
                    <a:pt x="5358" y="42862"/>
                  </a:cubicBezTo>
                  <a:lnTo>
                    <a:pt x="26789" y="42862"/>
                  </a:lnTo>
                  <a:cubicBezTo>
                    <a:pt x="29748" y="42862"/>
                    <a:pt x="32147" y="45261"/>
                    <a:pt x="32147" y="48220"/>
                  </a:cubicBezTo>
                  <a:close/>
                  <a:moveTo>
                    <a:pt x="128588" y="0"/>
                  </a:moveTo>
                  <a:lnTo>
                    <a:pt x="96441" y="0"/>
                  </a:lnTo>
                  <a:cubicBezTo>
                    <a:pt x="93482" y="0"/>
                    <a:pt x="91083" y="2399"/>
                    <a:pt x="91083" y="5358"/>
                  </a:cubicBezTo>
                  <a:lnTo>
                    <a:pt x="91083" y="37505"/>
                  </a:lnTo>
                  <a:cubicBezTo>
                    <a:pt x="91083" y="40464"/>
                    <a:pt x="93482" y="42862"/>
                    <a:pt x="96441" y="42862"/>
                  </a:cubicBezTo>
                  <a:lnTo>
                    <a:pt x="128588" y="42862"/>
                  </a:lnTo>
                  <a:cubicBezTo>
                    <a:pt x="131547" y="42862"/>
                    <a:pt x="133945" y="40464"/>
                    <a:pt x="133945" y="37505"/>
                  </a:cubicBezTo>
                  <a:lnTo>
                    <a:pt x="133945" y="5358"/>
                  </a:lnTo>
                  <a:cubicBezTo>
                    <a:pt x="133945" y="2399"/>
                    <a:pt x="131547" y="0"/>
                    <a:pt x="128588" y="0"/>
                  </a:cubicBezTo>
                  <a:close/>
                  <a:moveTo>
                    <a:pt x="128588" y="75009"/>
                  </a:moveTo>
                  <a:lnTo>
                    <a:pt x="96441" y="75009"/>
                  </a:lnTo>
                  <a:cubicBezTo>
                    <a:pt x="93482" y="75009"/>
                    <a:pt x="91083" y="77408"/>
                    <a:pt x="91083" y="80367"/>
                  </a:cubicBezTo>
                  <a:lnTo>
                    <a:pt x="91083" y="112514"/>
                  </a:lnTo>
                  <a:cubicBezTo>
                    <a:pt x="91083" y="115473"/>
                    <a:pt x="93482" y="117872"/>
                    <a:pt x="96441" y="117872"/>
                  </a:cubicBezTo>
                  <a:lnTo>
                    <a:pt x="128588" y="117872"/>
                  </a:lnTo>
                  <a:cubicBezTo>
                    <a:pt x="131547" y="117872"/>
                    <a:pt x="133945" y="115473"/>
                    <a:pt x="133945" y="112514"/>
                  </a:cubicBezTo>
                  <a:lnTo>
                    <a:pt x="133945" y="80367"/>
                  </a:lnTo>
                  <a:cubicBezTo>
                    <a:pt x="133945" y="77408"/>
                    <a:pt x="131547" y="75009"/>
                    <a:pt x="128588" y="75009"/>
                  </a:cubicBezTo>
                  <a:close/>
                </a:path>
              </a:pathLst>
            </a:custGeom>
            <a:solidFill>
              <a:srgbClr val="FF6F00">
                <a:alpha val="20000"/>
              </a:srgbClr>
            </a:solidFill>
            <a:ln>
              <a:noFill/>
            </a:ln>
          </p:spPr>
        </p:sp>
        <p:sp>
          <p:nvSpPr>
            <p:cNvPr id="61" name="Freeform 61"/>
            <p:cNvSpPr/>
            <p:nvPr/>
          </p:nvSpPr>
          <p:spPr>
            <a:xfrm>
              <a:off x="8554641" y="4717256"/>
              <a:ext cx="144661" cy="128588"/>
            </a:xfrm>
            <a:custGeom>
              <a:avLst/>
              <a:gdLst/>
              <a:ahLst/>
              <a:cxnLst/>
              <a:rect l="l" t="t" r="r" b="b"/>
              <a:pathLst>
                <a:path w="144661" h="128588">
                  <a:moveTo>
                    <a:pt x="101798" y="53578"/>
                  </a:moveTo>
                  <a:lnTo>
                    <a:pt x="133945" y="53578"/>
                  </a:lnTo>
                  <a:cubicBezTo>
                    <a:pt x="139863" y="53578"/>
                    <a:pt x="144661" y="48781"/>
                    <a:pt x="144661" y="42862"/>
                  </a:cubicBezTo>
                  <a:lnTo>
                    <a:pt x="144661" y="10716"/>
                  </a:lnTo>
                  <a:cubicBezTo>
                    <a:pt x="144661" y="4798"/>
                    <a:pt x="139863" y="0"/>
                    <a:pt x="133945" y="0"/>
                  </a:cubicBezTo>
                  <a:lnTo>
                    <a:pt x="101798" y="0"/>
                  </a:lnTo>
                  <a:cubicBezTo>
                    <a:pt x="95880" y="0"/>
                    <a:pt x="91083" y="4798"/>
                    <a:pt x="91083" y="10716"/>
                  </a:cubicBezTo>
                  <a:lnTo>
                    <a:pt x="91083" y="21431"/>
                  </a:lnTo>
                  <a:lnTo>
                    <a:pt x="85725" y="21431"/>
                  </a:lnTo>
                  <a:cubicBezTo>
                    <a:pt x="73889" y="21431"/>
                    <a:pt x="64294" y="31026"/>
                    <a:pt x="64294" y="42862"/>
                  </a:cubicBezTo>
                  <a:lnTo>
                    <a:pt x="64294" y="58936"/>
                  </a:lnTo>
                  <a:lnTo>
                    <a:pt x="42862" y="58936"/>
                  </a:lnTo>
                  <a:lnTo>
                    <a:pt x="42862" y="53578"/>
                  </a:lnTo>
                  <a:cubicBezTo>
                    <a:pt x="42862" y="47660"/>
                    <a:pt x="38065" y="42862"/>
                    <a:pt x="32147" y="42862"/>
                  </a:cubicBezTo>
                  <a:lnTo>
                    <a:pt x="10716" y="42862"/>
                  </a:lnTo>
                  <a:cubicBezTo>
                    <a:pt x="4798" y="42862"/>
                    <a:pt x="0" y="47660"/>
                    <a:pt x="0" y="53578"/>
                  </a:cubicBezTo>
                  <a:lnTo>
                    <a:pt x="0" y="75009"/>
                  </a:lnTo>
                  <a:cubicBezTo>
                    <a:pt x="0" y="80927"/>
                    <a:pt x="4798" y="85725"/>
                    <a:pt x="10716" y="85725"/>
                  </a:cubicBezTo>
                  <a:lnTo>
                    <a:pt x="32147" y="85725"/>
                  </a:lnTo>
                  <a:cubicBezTo>
                    <a:pt x="38065" y="85725"/>
                    <a:pt x="42862" y="80927"/>
                    <a:pt x="42862" y="75009"/>
                  </a:cubicBezTo>
                  <a:lnTo>
                    <a:pt x="42862" y="69652"/>
                  </a:lnTo>
                  <a:lnTo>
                    <a:pt x="64294" y="69652"/>
                  </a:lnTo>
                  <a:lnTo>
                    <a:pt x="64294" y="85725"/>
                  </a:lnTo>
                  <a:cubicBezTo>
                    <a:pt x="64294" y="97561"/>
                    <a:pt x="73889" y="107156"/>
                    <a:pt x="85725" y="107156"/>
                  </a:cubicBezTo>
                  <a:lnTo>
                    <a:pt x="91083" y="107156"/>
                  </a:lnTo>
                  <a:lnTo>
                    <a:pt x="91083" y="117872"/>
                  </a:lnTo>
                  <a:cubicBezTo>
                    <a:pt x="91083" y="123790"/>
                    <a:pt x="95880" y="128588"/>
                    <a:pt x="101798" y="128588"/>
                  </a:cubicBezTo>
                  <a:lnTo>
                    <a:pt x="133945" y="128588"/>
                  </a:lnTo>
                  <a:cubicBezTo>
                    <a:pt x="139863" y="128588"/>
                    <a:pt x="144661" y="123790"/>
                    <a:pt x="144661" y="117872"/>
                  </a:cubicBezTo>
                  <a:lnTo>
                    <a:pt x="144661" y="85725"/>
                  </a:lnTo>
                  <a:cubicBezTo>
                    <a:pt x="144661" y="79807"/>
                    <a:pt x="139863" y="75009"/>
                    <a:pt x="133945" y="75009"/>
                  </a:cubicBezTo>
                  <a:lnTo>
                    <a:pt x="101798" y="75009"/>
                  </a:lnTo>
                  <a:cubicBezTo>
                    <a:pt x="95880" y="75009"/>
                    <a:pt x="91083" y="79807"/>
                    <a:pt x="91083" y="85725"/>
                  </a:cubicBezTo>
                  <a:lnTo>
                    <a:pt x="91083" y="96441"/>
                  </a:lnTo>
                  <a:lnTo>
                    <a:pt x="85725" y="96441"/>
                  </a:lnTo>
                  <a:cubicBezTo>
                    <a:pt x="79807" y="96441"/>
                    <a:pt x="75009" y="91643"/>
                    <a:pt x="75009" y="85725"/>
                  </a:cubicBezTo>
                  <a:lnTo>
                    <a:pt x="75009" y="42862"/>
                  </a:lnTo>
                  <a:cubicBezTo>
                    <a:pt x="75009" y="36944"/>
                    <a:pt x="79807" y="32147"/>
                    <a:pt x="85725" y="32147"/>
                  </a:cubicBezTo>
                  <a:lnTo>
                    <a:pt x="91083" y="32147"/>
                  </a:lnTo>
                  <a:lnTo>
                    <a:pt x="91083" y="42862"/>
                  </a:lnTo>
                  <a:cubicBezTo>
                    <a:pt x="91083" y="48781"/>
                    <a:pt x="95880" y="53578"/>
                    <a:pt x="101798" y="53578"/>
                  </a:cubicBezTo>
                  <a:close/>
                  <a:moveTo>
                    <a:pt x="32147" y="75009"/>
                  </a:moveTo>
                  <a:lnTo>
                    <a:pt x="10716" y="75009"/>
                  </a:lnTo>
                  <a:lnTo>
                    <a:pt x="10716" y="53578"/>
                  </a:lnTo>
                  <a:lnTo>
                    <a:pt x="32147" y="53578"/>
                  </a:lnTo>
                  <a:lnTo>
                    <a:pt x="32147" y="75009"/>
                  </a:lnTo>
                  <a:close/>
                  <a:moveTo>
                    <a:pt x="101798" y="85725"/>
                  </a:moveTo>
                  <a:lnTo>
                    <a:pt x="133945" y="85725"/>
                  </a:lnTo>
                  <a:lnTo>
                    <a:pt x="133945" y="117872"/>
                  </a:lnTo>
                  <a:lnTo>
                    <a:pt x="101798" y="117872"/>
                  </a:lnTo>
                  <a:close/>
                  <a:moveTo>
                    <a:pt x="101798" y="10716"/>
                  </a:moveTo>
                  <a:lnTo>
                    <a:pt x="133945" y="10716"/>
                  </a:lnTo>
                  <a:lnTo>
                    <a:pt x="133945" y="42862"/>
                  </a:lnTo>
                  <a:lnTo>
                    <a:pt x="101798" y="42862"/>
                  </a:lnTo>
                  <a:close/>
                </a:path>
              </a:pathLst>
            </a:custGeom>
            <a:solidFill>
              <a:srgbClr val="FF6F00"/>
            </a:solidFill>
            <a:ln>
              <a:noFill/>
            </a:ln>
          </p:spPr>
        </p:sp>
      </p:grpSp>
      <p:sp>
        <p:nvSpPr>
          <p:cNvPr id="63" name="TextBox 63"/>
          <p:cNvSpPr txBox="1"/>
          <p:nvPr/>
        </p:nvSpPr>
        <p:spPr>
          <a:xfrm>
            <a:off x="8757285" y="4699635"/>
            <a:ext cx="1494663"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逐层拆解 = 逐层验证</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64" name="Rectangle 64"/>
          <p:cNvSpPr/>
          <p:nvPr/>
        </p:nvSpPr>
        <p:spPr>
          <a:xfrm>
            <a:off x="571500" y="5953125"/>
            <a:ext cx="11049000" cy="428625"/>
          </a:xfrm>
          <a:prstGeom prst="roundRect">
            <a:avLst>
              <a:gd name="adj" fmla="val 17778"/>
            </a:avLst>
          </a:prstGeom>
          <a:solidFill>
            <a:srgbClr val="1565C0">
              <a:alpha val="6000"/>
            </a:srgbClr>
          </a:solidFill>
          <a:ln>
            <a:noFill/>
          </a:ln>
        </p:spPr>
      </p:sp>
      <p:grpSp>
        <p:nvGrpSpPr>
          <p:cNvPr id="67" name="Group 67"/>
          <p:cNvGrpSpPr/>
          <p:nvPr/>
        </p:nvGrpSpPr>
        <p:grpSpPr>
          <a:xfrm>
            <a:off x="810622" y="6117006"/>
            <a:ext cx="131214" cy="167113"/>
            <a:chOff x="810622" y="6117006"/>
            <a:chExt cx="131214" cy="167113"/>
          </a:xfrm>
        </p:grpSpPr>
        <p:sp>
          <p:nvSpPr>
            <p:cNvPr id="65" name="Freeform 65"/>
            <p:cNvSpPr/>
            <p:nvPr/>
          </p:nvSpPr>
          <p:spPr>
            <a:xfrm>
              <a:off x="816590" y="6122997"/>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1565C0">
                <a:alpha val="20000"/>
              </a:srgbClr>
            </a:solidFill>
            <a:ln>
              <a:noFill/>
            </a:ln>
          </p:spPr>
        </p:sp>
        <p:sp>
          <p:nvSpPr>
            <p:cNvPr id="66" name="Freeform 66"/>
            <p:cNvSpPr/>
            <p:nvPr/>
          </p:nvSpPr>
          <p:spPr>
            <a:xfrm>
              <a:off x="810622" y="6117006"/>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1565C0"/>
            </a:solidFill>
            <a:ln>
              <a:noFill/>
            </a:ln>
          </p:spPr>
        </p:sp>
      </p:grpSp>
      <p:sp>
        <p:nvSpPr>
          <p:cNvPr id="68" name="TextBox 68"/>
          <p:cNvSpPr txBox="1"/>
          <p:nvPr/>
        </p:nvSpPr>
        <p:spPr>
          <a:xfrm>
            <a:off x="1052512" y="6107906"/>
            <a:ext cx="674941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三条法则层层递进：完备规划定义"做什么" → Spec先行确认"做成什么样" → 分层拆解确保"怎么做对"</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1" name="图片 7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7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98801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需求探索与缺陷复盘：往前看与往后看的辩证统一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8" name="Group 38"/>
          <p:cNvGrpSpPr/>
          <p:nvPr/>
        </p:nvGrpSpPr>
        <p:grpSpPr>
          <a:xfrm>
            <a:off x="571500" y="904875"/>
            <a:ext cx="5334000" cy="2857500"/>
            <a:chOff x="571500" y="904875"/>
            <a:chExt cx="5334000" cy="2857500"/>
          </a:xfrm>
        </p:grpSpPr>
        <p:sp>
          <p:nvSpPr>
            <p:cNvPr id="10" name="Rectangle 10"/>
            <p:cNvSpPr/>
            <p:nvPr/>
          </p:nvSpPr>
          <p:spPr>
            <a:xfrm>
              <a:off x="571500" y="904875"/>
              <a:ext cx="5334000" cy="2857500"/>
            </a:xfrm>
            <a:prstGeom prst="roundRect">
              <a:avLst>
                <a:gd name="adj" fmla="val 4000"/>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207514" y="1139190"/>
              <a:ext cx="2061972" cy="365760"/>
            </a:xfrm>
            <a:prstGeom prst="rect">
              <a:avLst/>
            </a:prstGeom>
            <a:noFill/>
            <a:ln>
              <a:noFill/>
            </a:ln>
          </p:spPr>
          <p:txBody>
            <a:bodyPr wrap="none" lIns="0" tIns="0" rIns="0" bIns="0" anchor="t" anchorCtr="0">
              <a:spAutoFit/>
            </a:bodyPr>
            <a:lstStyle/>
            <a:p>
              <a:pPr algn="ctr"/>
              <a:r>
                <a:rPr lang="zh-CN" sz="1800" b="1" dirty="0">
                  <a:solidFill>
                    <a:srgbClr val="1565C0"/>
                  </a:solidFill>
                  <a:latin typeface="Segoe UI" panose="020B0502040204020203"/>
                  <a:ea typeface="微软雅黑" panose="020B0503020204020204" charset="-122"/>
                  <a:cs typeface="Segoe UI" panose="020B0502040204020203"/>
                </a:rPr>
                <a:t>往前看：需求探索</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19" name="Group 19"/>
            <p:cNvGrpSpPr/>
            <p:nvPr/>
          </p:nvGrpSpPr>
          <p:grpSpPr>
            <a:xfrm>
              <a:off x="952500" y="1666875"/>
              <a:ext cx="4572000" cy="383381"/>
              <a:chOff x="952500" y="1666875"/>
              <a:chExt cx="4572000" cy="383381"/>
            </a:xfrm>
          </p:grpSpPr>
          <p:sp>
            <p:nvSpPr>
              <p:cNvPr id="14" name="Rectangle 14"/>
              <p:cNvSpPr/>
              <p:nvPr/>
            </p:nvSpPr>
            <p:spPr>
              <a:xfrm>
                <a:off x="952500" y="1666875"/>
                <a:ext cx="4572000" cy="361950"/>
              </a:xfrm>
              <a:prstGeom prst="roundRect">
                <a:avLst>
                  <a:gd name="adj" fmla="val 15789"/>
                </a:avLst>
              </a:prstGeom>
              <a:solidFill>
                <a:srgbClr val="1565C0">
                  <a:alpha val="6000"/>
                </a:srgbClr>
              </a:solidFill>
              <a:ln>
                <a:noFill/>
              </a:ln>
            </p:spPr>
          </p:sp>
          <p:grpSp>
            <p:nvGrpSpPr>
              <p:cNvPr id="17" name="Group 17"/>
              <p:cNvGrpSpPr/>
              <p:nvPr/>
            </p:nvGrpSpPr>
            <p:grpSpPr>
              <a:xfrm>
                <a:off x="1154088" y="1811284"/>
                <a:ext cx="162138" cy="162166"/>
                <a:chOff x="1154088" y="1811284"/>
                <a:chExt cx="162138" cy="162166"/>
              </a:xfrm>
            </p:grpSpPr>
            <p:sp>
              <p:nvSpPr>
                <p:cNvPr id="15" name="Freeform 15"/>
                <p:cNvSpPr/>
                <p:nvPr/>
              </p:nvSpPr>
              <p:spPr>
                <a:xfrm>
                  <a:off x="1166812" y="1824038"/>
                  <a:ext cx="119062" cy="119062"/>
                </a:xfrm>
                <a:custGeom>
                  <a:avLst/>
                  <a:gdLst/>
                  <a:ahLst/>
                  <a:cxnLst/>
                  <a:rect l="l" t="t" r="r" b="b"/>
                  <a:pathLst>
                    <a:path w="119062" h="119062">
                      <a:moveTo>
                        <a:pt x="119062" y="59531"/>
                      </a:moveTo>
                      <a:cubicBezTo>
                        <a:pt x="119062" y="92409"/>
                        <a:pt x="92409" y="119062"/>
                        <a:pt x="59531" y="119062"/>
                      </a:cubicBezTo>
                      <a:cubicBezTo>
                        <a:pt x="26653" y="119062"/>
                        <a:pt x="0" y="92409"/>
                        <a:pt x="0" y="59531"/>
                      </a:cubicBezTo>
                      <a:cubicBezTo>
                        <a:pt x="0" y="26653"/>
                        <a:pt x="26653" y="0"/>
                        <a:pt x="59531" y="0"/>
                      </a:cubicBezTo>
                      <a:cubicBezTo>
                        <a:pt x="92409" y="0"/>
                        <a:pt x="119062" y="26653"/>
                        <a:pt x="119062" y="59531"/>
                      </a:cubicBezTo>
                      <a:close/>
                    </a:path>
                  </a:pathLst>
                </a:custGeom>
                <a:solidFill>
                  <a:srgbClr val="1565C0">
                    <a:alpha val="20000"/>
                  </a:srgbClr>
                </a:solidFill>
                <a:ln>
                  <a:noFill/>
                </a:ln>
              </p:spPr>
            </p:sp>
            <p:sp>
              <p:nvSpPr>
                <p:cNvPr id="16" name="Freeform 16"/>
                <p:cNvSpPr/>
                <p:nvPr/>
              </p:nvSpPr>
              <p:spPr>
                <a:xfrm>
                  <a:off x="1154088" y="1811284"/>
                  <a:ext cx="162138" cy="162166"/>
                </a:xfrm>
                <a:custGeom>
                  <a:avLst/>
                  <a:gdLst/>
                  <a:ahLst/>
                  <a:cxnLst/>
                  <a:rect l="l" t="t" r="r" b="b"/>
                  <a:pathLst>
                    <a:path w="162138" h="162166">
                      <a:moveTo>
                        <a:pt x="159812" y="151417"/>
                      </a:moveTo>
                      <a:lnTo>
                        <a:pt x="122560" y="114165"/>
                      </a:lnTo>
                      <a:cubicBezTo>
                        <a:pt x="145034" y="87211"/>
                        <a:pt x="142332" y="47348"/>
                        <a:pt x="116426" y="23674"/>
                      </a:cubicBezTo>
                      <a:cubicBezTo>
                        <a:pt x="90521" y="0"/>
                        <a:pt x="50577" y="890"/>
                        <a:pt x="25751" y="25693"/>
                      </a:cubicBezTo>
                      <a:cubicBezTo>
                        <a:pt x="925" y="50497"/>
                        <a:pt x="0" y="90441"/>
                        <a:pt x="23651" y="116367"/>
                      </a:cubicBezTo>
                      <a:cubicBezTo>
                        <a:pt x="47303" y="142294"/>
                        <a:pt x="87163" y="145031"/>
                        <a:pt x="114136" y="122581"/>
                      </a:cubicBezTo>
                      <a:lnTo>
                        <a:pt x="151388" y="159840"/>
                      </a:lnTo>
                      <a:cubicBezTo>
                        <a:pt x="153714" y="162166"/>
                        <a:pt x="157486" y="162166"/>
                        <a:pt x="159812" y="159840"/>
                      </a:cubicBezTo>
                      <a:cubicBezTo>
                        <a:pt x="162138" y="157514"/>
                        <a:pt x="162138" y="153743"/>
                        <a:pt x="159812" y="151417"/>
                      </a:cubicBezTo>
                      <a:close/>
                      <a:moveTo>
                        <a:pt x="18678" y="72285"/>
                      </a:moveTo>
                      <a:cubicBezTo>
                        <a:pt x="18678" y="42694"/>
                        <a:pt x="42666" y="18706"/>
                        <a:pt x="72256" y="18706"/>
                      </a:cubicBezTo>
                      <a:cubicBezTo>
                        <a:pt x="101847" y="18706"/>
                        <a:pt x="125834" y="42694"/>
                        <a:pt x="125834" y="72285"/>
                      </a:cubicBezTo>
                      <a:cubicBezTo>
                        <a:pt x="125834" y="101875"/>
                        <a:pt x="101847" y="125863"/>
                        <a:pt x="72256" y="125863"/>
                      </a:cubicBezTo>
                      <a:cubicBezTo>
                        <a:pt x="42679" y="125830"/>
                        <a:pt x="18711" y="101861"/>
                        <a:pt x="18678" y="72285"/>
                      </a:cubicBezTo>
                      <a:close/>
                    </a:path>
                  </a:pathLst>
                </a:custGeom>
                <a:solidFill>
                  <a:srgbClr val="1565C0"/>
                </a:solidFill>
                <a:ln>
                  <a:noFill/>
                </a:ln>
              </p:spPr>
            </p:sp>
          </p:grpSp>
          <p:sp>
            <p:nvSpPr>
              <p:cNvPr id="18" name="TextBox 18"/>
              <p:cNvSpPr txBox="1"/>
              <p:nvPr/>
            </p:nvSpPr>
            <p:spPr>
              <a:xfrm>
                <a:off x="1414462" y="1821656"/>
                <a:ext cx="31789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识别潜在风险：需求阶段的模糊点和高风险区域</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952500" y="2143125"/>
              <a:ext cx="4572000" cy="383381"/>
              <a:chOff x="952500" y="2143125"/>
              <a:chExt cx="4572000" cy="383381"/>
            </a:xfrm>
          </p:grpSpPr>
          <p:sp>
            <p:nvSpPr>
              <p:cNvPr id="20" name="Rectangle 20"/>
              <p:cNvSpPr/>
              <p:nvPr/>
            </p:nvSpPr>
            <p:spPr>
              <a:xfrm>
                <a:off x="952500" y="2143125"/>
                <a:ext cx="4572000" cy="361950"/>
              </a:xfrm>
              <a:prstGeom prst="roundRect">
                <a:avLst>
                  <a:gd name="adj" fmla="val 15789"/>
                </a:avLst>
              </a:prstGeom>
              <a:solidFill>
                <a:srgbClr val="1565C0">
                  <a:alpha val="6000"/>
                </a:srgbClr>
              </a:solidFill>
              <a:ln>
                <a:noFill/>
              </a:ln>
            </p:spPr>
          </p:sp>
          <p:grpSp>
            <p:nvGrpSpPr>
              <p:cNvPr id="23" name="Group 23"/>
              <p:cNvGrpSpPr/>
              <p:nvPr/>
            </p:nvGrpSpPr>
            <p:grpSpPr>
              <a:xfrm>
                <a:off x="1160859" y="2294334"/>
                <a:ext cx="154781" cy="154781"/>
                <a:chOff x="1160859" y="2294334"/>
                <a:chExt cx="154781" cy="154781"/>
              </a:xfrm>
            </p:grpSpPr>
            <p:sp>
              <p:nvSpPr>
                <p:cNvPr id="21" name="Freeform 21"/>
                <p:cNvSpPr/>
                <p:nvPr/>
              </p:nvSpPr>
              <p:spPr>
                <a:xfrm>
                  <a:off x="1166812" y="2300288"/>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1565C0">
                    <a:alpha val="20000"/>
                  </a:srgbClr>
                </a:solidFill>
                <a:ln>
                  <a:noFill/>
                </a:ln>
              </p:spPr>
            </p:sp>
            <p:sp>
              <p:nvSpPr>
                <p:cNvPr id="22" name="Freeform 22"/>
                <p:cNvSpPr/>
                <p:nvPr/>
              </p:nvSpPr>
              <p:spPr>
                <a:xfrm>
                  <a:off x="1160859" y="2294334"/>
                  <a:ext cx="154781" cy="154781"/>
                </a:xfrm>
                <a:custGeom>
                  <a:avLst/>
                  <a:gdLst/>
                  <a:ahLst/>
                  <a:cxnLst/>
                  <a:rect l="l" t="t" r="r" b="b"/>
                  <a:pathLst>
                    <a:path w="154781" h="154781">
                      <a:moveTo>
                        <a:pt x="111368" y="55319"/>
                      </a:moveTo>
                      <a:cubicBezTo>
                        <a:pt x="112486" y="56436"/>
                        <a:pt x="113114" y="57951"/>
                        <a:pt x="113114" y="59531"/>
                      </a:cubicBezTo>
                      <a:cubicBezTo>
                        <a:pt x="113114" y="61111"/>
                        <a:pt x="112486" y="62626"/>
                        <a:pt x="111368" y="63743"/>
                      </a:cubicBezTo>
                      <a:lnTo>
                        <a:pt x="69696" y="105415"/>
                      </a:lnTo>
                      <a:cubicBezTo>
                        <a:pt x="68580" y="106533"/>
                        <a:pt x="67064" y="107161"/>
                        <a:pt x="65484" y="107161"/>
                      </a:cubicBezTo>
                      <a:cubicBezTo>
                        <a:pt x="63904" y="107161"/>
                        <a:pt x="62389" y="106533"/>
                        <a:pt x="61273" y="105415"/>
                      </a:cubicBezTo>
                      <a:lnTo>
                        <a:pt x="43413" y="87556"/>
                      </a:lnTo>
                      <a:cubicBezTo>
                        <a:pt x="41087" y="85229"/>
                        <a:pt x="41087" y="81458"/>
                        <a:pt x="43413" y="79132"/>
                      </a:cubicBezTo>
                      <a:cubicBezTo>
                        <a:pt x="45739" y="76806"/>
                        <a:pt x="49511" y="76806"/>
                        <a:pt x="51837" y="79132"/>
                      </a:cubicBezTo>
                      <a:lnTo>
                        <a:pt x="65484" y="92787"/>
                      </a:lnTo>
                      <a:lnTo>
                        <a:pt x="102944" y="55319"/>
                      </a:lnTo>
                      <a:cubicBezTo>
                        <a:pt x="104061" y="54202"/>
                        <a:pt x="105576" y="53573"/>
                        <a:pt x="107156" y="53573"/>
                      </a:cubicBezTo>
                      <a:cubicBezTo>
                        <a:pt x="108736" y="53573"/>
                        <a:pt x="110251" y="54202"/>
                        <a:pt x="111368" y="55319"/>
                      </a:cubicBezTo>
                      <a:close/>
                      <a:moveTo>
                        <a:pt x="154781" y="77391"/>
                      </a:moveTo>
                      <a:cubicBezTo>
                        <a:pt x="154781" y="120132"/>
                        <a:pt x="120132" y="154781"/>
                        <a:pt x="77391" y="154781"/>
                      </a:cubicBezTo>
                      <a:cubicBezTo>
                        <a:pt x="34649" y="154781"/>
                        <a:pt x="0" y="120132"/>
                        <a:pt x="0" y="77391"/>
                      </a:cubicBezTo>
                      <a:cubicBezTo>
                        <a:pt x="0" y="34649"/>
                        <a:pt x="34649" y="0"/>
                        <a:pt x="77391" y="0"/>
                      </a:cubicBezTo>
                      <a:cubicBezTo>
                        <a:pt x="120114" y="45"/>
                        <a:pt x="154736" y="34668"/>
                        <a:pt x="154781" y="77391"/>
                      </a:cubicBezTo>
                      <a:close/>
                      <a:moveTo>
                        <a:pt x="142875" y="77391"/>
                      </a:moveTo>
                      <a:cubicBezTo>
                        <a:pt x="142875" y="41225"/>
                        <a:pt x="113557" y="11906"/>
                        <a:pt x="77391" y="11906"/>
                      </a:cubicBezTo>
                      <a:cubicBezTo>
                        <a:pt x="41225" y="11906"/>
                        <a:pt x="11906" y="41225"/>
                        <a:pt x="11906" y="77391"/>
                      </a:cubicBezTo>
                      <a:cubicBezTo>
                        <a:pt x="11906" y="113557"/>
                        <a:pt x="41225" y="142875"/>
                        <a:pt x="77391" y="142875"/>
                      </a:cubicBezTo>
                      <a:cubicBezTo>
                        <a:pt x="113540" y="142834"/>
                        <a:pt x="142834" y="113540"/>
                        <a:pt x="142875" y="77391"/>
                      </a:cubicBezTo>
                      <a:close/>
                    </a:path>
                  </a:pathLst>
                </a:custGeom>
                <a:solidFill>
                  <a:srgbClr val="1565C0"/>
                </a:solidFill>
                <a:ln>
                  <a:noFill/>
                </a:ln>
              </p:spPr>
            </p:sp>
          </p:grpSp>
          <p:sp>
            <p:nvSpPr>
              <p:cNvPr id="24" name="TextBox 24"/>
              <p:cNvSpPr txBox="1"/>
              <p:nvPr/>
            </p:nvSpPr>
            <p:spPr>
              <a:xfrm>
                <a:off x="1414462" y="2297906"/>
                <a:ext cx="259389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明确验收标准：每个需求的"通过"定义</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952500" y="2619375"/>
              <a:ext cx="4572000" cy="383381"/>
              <a:chOff x="952500" y="2619375"/>
              <a:chExt cx="4572000" cy="383381"/>
            </a:xfrm>
          </p:grpSpPr>
          <p:sp>
            <p:nvSpPr>
              <p:cNvPr id="26" name="Rectangle 26"/>
              <p:cNvSpPr/>
              <p:nvPr/>
            </p:nvSpPr>
            <p:spPr>
              <a:xfrm>
                <a:off x="952500" y="2619375"/>
                <a:ext cx="4572000" cy="361950"/>
              </a:xfrm>
              <a:prstGeom prst="roundRect">
                <a:avLst>
                  <a:gd name="adj" fmla="val 15789"/>
                </a:avLst>
              </a:prstGeom>
              <a:solidFill>
                <a:srgbClr val="1565C0">
                  <a:alpha val="6000"/>
                </a:srgbClr>
              </a:solidFill>
              <a:ln>
                <a:noFill/>
              </a:ln>
            </p:spPr>
          </p:sp>
          <p:grpSp>
            <p:nvGrpSpPr>
              <p:cNvPr id="29" name="Group 29"/>
              <p:cNvGrpSpPr/>
              <p:nvPr/>
            </p:nvGrpSpPr>
            <p:grpSpPr>
              <a:xfrm>
                <a:off x="1152608" y="2763386"/>
                <a:ext cx="172605" cy="171410"/>
                <a:chOff x="1152608" y="2763386"/>
                <a:chExt cx="172605" cy="171410"/>
              </a:xfrm>
            </p:grpSpPr>
            <p:sp>
              <p:nvSpPr>
                <p:cNvPr id="27" name="Freeform 27"/>
                <p:cNvSpPr/>
                <p:nvPr/>
              </p:nvSpPr>
              <p:spPr>
                <a:xfrm>
                  <a:off x="1202531" y="2812256"/>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1565C0">
                    <a:alpha val="20000"/>
                  </a:srgbClr>
                </a:solidFill>
                <a:ln>
                  <a:noFill/>
                </a:ln>
              </p:spPr>
            </p:sp>
            <p:sp>
              <p:nvSpPr>
                <p:cNvPr id="28" name="Freeform 28"/>
                <p:cNvSpPr/>
                <p:nvPr/>
              </p:nvSpPr>
              <p:spPr>
                <a:xfrm>
                  <a:off x="1152608" y="2763386"/>
                  <a:ext cx="172605" cy="171410"/>
                </a:xfrm>
                <a:custGeom>
                  <a:avLst/>
                  <a:gdLst/>
                  <a:ahLst/>
                  <a:cxnLst/>
                  <a:rect l="l" t="t" r="r" b="b"/>
                  <a:pathLst>
                    <a:path w="172605" h="171410">
                      <a:moveTo>
                        <a:pt x="155495" y="51222"/>
                      </a:moveTo>
                      <a:cubicBezTo>
                        <a:pt x="172605" y="87007"/>
                        <a:pt x="159919" y="129935"/>
                        <a:pt x="126107" y="150673"/>
                      </a:cubicBezTo>
                      <a:cubicBezTo>
                        <a:pt x="92294" y="171410"/>
                        <a:pt x="48280" y="163256"/>
                        <a:pt x="24140" y="131782"/>
                      </a:cubicBezTo>
                      <a:cubicBezTo>
                        <a:pt x="0" y="100308"/>
                        <a:pt x="3535" y="55684"/>
                        <a:pt x="32329" y="28404"/>
                      </a:cubicBezTo>
                      <a:cubicBezTo>
                        <a:pt x="61123" y="1123"/>
                        <a:pt x="105872" y="0"/>
                        <a:pt x="135998" y="25802"/>
                      </a:cubicBezTo>
                      <a:lnTo>
                        <a:pt x="152868" y="8925"/>
                      </a:lnTo>
                      <a:cubicBezTo>
                        <a:pt x="155194" y="6599"/>
                        <a:pt x="158965" y="6599"/>
                        <a:pt x="161291" y="8925"/>
                      </a:cubicBezTo>
                      <a:cubicBezTo>
                        <a:pt x="163618" y="11251"/>
                        <a:pt x="163618" y="15023"/>
                        <a:pt x="161291" y="17349"/>
                      </a:cubicBezTo>
                      <a:lnTo>
                        <a:pt x="89854" y="88786"/>
                      </a:lnTo>
                      <a:cubicBezTo>
                        <a:pt x="87528" y="91112"/>
                        <a:pt x="83756" y="91112"/>
                        <a:pt x="81430" y="88786"/>
                      </a:cubicBezTo>
                      <a:cubicBezTo>
                        <a:pt x="79104" y="86460"/>
                        <a:pt x="79104" y="82689"/>
                        <a:pt x="81430" y="80363"/>
                      </a:cubicBezTo>
                      <a:lnTo>
                        <a:pt x="102058" y="59735"/>
                      </a:lnTo>
                      <a:cubicBezTo>
                        <a:pt x="90549" y="52123"/>
                        <a:pt x="75318" y="53419"/>
                        <a:pt x="65260" y="62866"/>
                      </a:cubicBezTo>
                      <a:cubicBezTo>
                        <a:pt x="55203" y="72312"/>
                        <a:pt x="52956" y="87432"/>
                        <a:pt x="59832" y="99395"/>
                      </a:cubicBezTo>
                      <a:cubicBezTo>
                        <a:pt x="66708" y="111358"/>
                        <a:pt x="80904" y="117027"/>
                        <a:pt x="94129" y="113091"/>
                      </a:cubicBezTo>
                      <a:cubicBezTo>
                        <a:pt x="107354" y="109155"/>
                        <a:pt x="116140" y="96646"/>
                        <a:pt x="115356" y="82870"/>
                      </a:cubicBezTo>
                      <a:cubicBezTo>
                        <a:pt x="115171" y="79582"/>
                        <a:pt x="117686" y="76767"/>
                        <a:pt x="120974" y="76582"/>
                      </a:cubicBezTo>
                      <a:cubicBezTo>
                        <a:pt x="124262" y="76397"/>
                        <a:pt x="127077" y="78913"/>
                        <a:pt x="127262" y="82201"/>
                      </a:cubicBezTo>
                      <a:cubicBezTo>
                        <a:pt x="128380" y="101712"/>
                        <a:pt x="115788" y="119379"/>
                        <a:pt x="96980" y="124689"/>
                      </a:cubicBezTo>
                      <a:cubicBezTo>
                        <a:pt x="78172" y="129999"/>
                        <a:pt x="58201" y="121525"/>
                        <a:pt x="48950" y="104309"/>
                      </a:cubicBezTo>
                      <a:cubicBezTo>
                        <a:pt x="39700" y="87094"/>
                        <a:pt x="43656" y="65762"/>
                        <a:pt x="58464" y="53009"/>
                      </a:cubicBezTo>
                      <a:cubicBezTo>
                        <a:pt x="73273" y="40255"/>
                        <a:pt x="94955" y="39506"/>
                        <a:pt x="110608" y="51207"/>
                      </a:cubicBezTo>
                      <a:lnTo>
                        <a:pt x="127537" y="34278"/>
                      </a:lnTo>
                      <a:cubicBezTo>
                        <a:pt x="101846" y="12948"/>
                        <a:pt x="64211" y="14399"/>
                        <a:pt x="40239" y="37645"/>
                      </a:cubicBezTo>
                      <a:cubicBezTo>
                        <a:pt x="16267" y="60891"/>
                        <a:pt x="13659" y="98463"/>
                        <a:pt x="34189" y="124798"/>
                      </a:cubicBezTo>
                      <a:cubicBezTo>
                        <a:pt x="54719" y="151133"/>
                        <a:pt x="91793" y="157771"/>
                        <a:pt x="120185" y="140195"/>
                      </a:cubicBezTo>
                      <a:cubicBezTo>
                        <a:pt x="148577" y="122619"/>
                        <a:pt x="159167" y="86476"/>
                        <a:pt x="144749" y="56357"/>
                      </a:cubicBezTo>
                      <a:cubicBezTo>
                        <a:pt x="143331" y="53389"/>
                        <a:pt x="144587" y="49834"/>
                        <a:pt x="147555" y="48417"/>
                      </a:cubicBezTo>
                      <a:cubicBezTo>
                        <a:pt x="150522" y="46999"/>
                        <a:pt x="154077" y="48255"/>
                        <a:pt x="155495" y="51222"/>
                      </a:cubicBezTo>
                      <a:close/>
                    </a:path>
                  </a:pathLst>
                </a:custGeom>
                <a:solidFill>
                  <a:srgbClr val="1565C0"/>
                </a:solidFill>
                <a:ln>
                  <a:noFill/>
                </a:ln>
              </p:spPr>
            </p:sp>
          </p:grpSp>
          <p:sp>
            <p:nvSpPr>
              <p:cNvPr id="30" name="TextBox 30"/>
              <p:cNvSpPr txBox="1"/>
              <p:nvPr/>
            </p:nvSpPr>
            <p:spPr>
              <a:xfrm>
                <a:off x="1414462" y="2774156"/>
                <a:ext cx="287893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设计测试策略：基于需求的五维度测试方案</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7" name="Group 37"/>
            <p:cNvGrpSpPr/>
            <p:nvPr/>
          </p:nvGrpSpPr>
          <p:grpSpPr>
            <a:xfrm>
              <a:off x="952500" y="3095625"/>
              <a:ext cx="4572000" cy="383381"/>
              <a:chOff x="952500" y="3095625"/>
              <a:chExt cx="4572000" cy="383381"/>
            </a:xfrm>
          </p:grpSpPr>
          <p:sp>
            <p:nvSpPr>
              <p:cNvPr id="32" name="Rectangle 32"/>
              <p:cNvSpPr/>
              <p:nvPr/>
            </p:nvSpPr>
            <p:spPr>
              <a:xfrm>
                <a:off x="952500" y="3095625"/>
                <a:ext cx="4572000" cy="361950"/>
              </a:xfrm>
              <a:prstGeom prst="roundRect">
                <a:avLst>
                  <a:gd name="adj" fmla="val 15789"/>
                </a:avLst>
              </a:prstGeom>
              <a:solidFill>
                <a:srgbClr val="1565C0">
                  <a:alpha val="6000"/>
                </a:srgbClr>
              </a:solidFill>
              <a:ln>
                <a:noFill/>
              </a:ln>
            </p:spPr>
          </p:sp>
          <p:grpSp>
            <p:nvGrpSpPr>
              <p:cNvPr id="35" name="Group 35"/>
              <p:cNvGrpSpPr/>
              <p:nvPr/>
            </p:nvGrpSpPr>
            <p:grpSpPr>
              <a:xfrm>
                <a:off x="1166268" y="3246834"/>
                <a:ext cx="143987" cy="148828"/>
                <a:chOff x="1166268" y="3246834"/>
                <a:chExt cx="143987" cy="148828"/>
              </a:xfrm>
            </p:grpSpPr>
            <p:sp>
              <p:nvSpPr>
                <p:cNvPr id="33" name="Freeform 33"/>
                <p:cNvSpPr/>
                <p:nvPr/>
              </p:nvSpPr>
              <p:spPr>
                <a:xfrm>
                  <a:off x="1172479" y="3341043"/>
                  <a:ext cx="131519" cy="48667"/>
                </a:xfrm>
                <a:custGeom>
                  <a:avLst/>
                  <a:gdLst/>
                  <a:ahLst/>
                  <a:cxnLst/>
                  <a:rect l="l" t="t" r="r" b="b"/>
                  <a:pathLst>
                    <a:path w="131519" h="48667">
                      <a:moveTo>
                        <a:pt x="125302" y="48667"/>
                      </a:moveTo>
                      <a:lnTo>
                        <a:pt x="6240" y="48667"/>
                      </a:lnTo>
                      <a:cubicBezTo>
                        <a:pt x="4094" y="48667"/>
                        <a:pt x="2114" y="47513"/>
                        <a:pt x="1057" y="45646"/>
                      </a:cubicBezTo>
                      <a:cubicBezTo>
                        <a:pt x="0" y="43779"/>
                        <a:pt x="30" y="41487"/>
                        <a:pt x="1135" y="39648"/>
                      </a:cubicBezTo>
                      <a:lnTo>
                        <a:pt x="23816" y="1845"/>
                      </a:lnTo>
                      <a:lnTo>
                        <a:pt x="23816" y="1845"/>
                      </a:lnTo>
                      <a:cubicBezTo>
                        <a:pt x="33661" y="0"/>
                        <a:pt x="47629" y="796"/>
                        <a:pt x="65763" y="9971"/>
                      </a:cubicBezTo>
                      <a:cubicBezTo>
                        <a:pt x="89762" y="22123"/>
                        <a:pt x="106505" y="19578"/>
                        <a:pt x="115993" y="15664"/>
                      </a:cubicBezTo>
                      <a:lnTo>
                        <a:pt x="115993" y="15664"/>
                      </a:lnTo>
                      <a:lnTo>
                        <a:pt x="130385" y="39648"/>
                      </a:lnTo>
                      <a:cubicBezTo>
                        <a:pt x="131488" y="41484"/>
                        <a:pt x="131519" y="43771"/>
                        <a:pt x="130468" y="45636"/>
                      </a:cubicBezTo>
                      <a:cubicBezTo>
                        <a:pt x="129416" y="47502"/>
                        <a:pt x="127444" y="48659"/>
                        <a:pt x="125302" y="48667"/>
                      </a:cubicBezTo>
                      <a:close/>
                    </a:path>
                  </a:pathLst>
                </a:custGeom>
                <a:solidFill>
                  <a:srgbClr val="1565C0">
                    <a:alpha val="20000"/>
                  </a:srgbClr>
                </a:solidFill>
                <a:ln>
                  <a:noFill/>
                </a:ln>
              </p:spPr>
            </p:sp>
            <p:sp>
              <p:nvSpPr>
                <p:cNvPr id="34" name="Freeform 34"/>
                <p:cNvSpPr/>
                <p:nvPr/>
              </p:nvSpPr>
              <p:spPr>
                <a:xfrm>
                  <a:off x="1166268" y="3246834"/>
                  <a:ext cx="143987" cy="148828"/>
                </a:xfrm>
                <a:custGeom>
                  <a:avLst/>
                  <a:gdLst/>
                  <a:ahLst/>
                  <a:cxnLst/>
                  <a:rect l="l" t="t" r="r" b="b"/>
                  <a:pathLst>
                    <a:path w="143987" h="148828">
                      <a:moveTo>
                        <a:pt x="141701" y="130798"/>
                      </a:moveTo>
                      <a:lnTo>
                        <a:pt x="95795" y="54263"/>
                      </a:lnTo>
                      <a:lnTo>
                        <a:pt x="95795" y="11906"/>
                      </a:lnTo>
                      <a:lnTo>
                        <a:pt x="101748" y="11906"/>
                      </a:lnTo>
                      <a:cubicBezTo>
                        <a:pt x="105036" y="11906"/>
                        <a:pt x="107701" y="9241"/>
                        <a:pt x="107701" y="5953"/>
                      </a:cubicBezTo>
                      <a:cubicBezTo>
                        <a:pt x="107701" y="2665"/>
                        <a:pt x="105036" y="0"/>
                        <a:pt x="101748" y="0"/>
                      </a:cubicBezTo>
                      <a:lnTo>
                        <a:pt x="42217" y="0"/>
                      </a:lnTo>
                      <a:cubicBezTo>
                        <a:pt x="38929" y="0"/>
                        <a:pt x="36263" y="2665"/>
                        <a:pt x="36263" y="5953"/>
                      </a:cubicBezTo>
                      <a:cubicBezTo>
                        <a:pt x="36263" y="9241"/>
                        <a:pt x="38929" y="11906"/>
                        <a:pt x="42217" y="11906"/>
                      </a:cubicBezTo>
                      <a:lnTo>
                        <a:pt x="48170" y="11906"/>
                      </a:lnTo>
                      <a:lnTo>
                        <a:pt x="48170" y="54263"/>
                      </a:lnTo>
                      <a:lnTo>
                        <a:pt x="2264" y="130798"/>
                      </a:lnTo>
                      <a:cubicBezTo>
                        <a:pt x="59" y="134472"/>
                        <a:pt x="0" y="139048"/>
                        <a:pt x="2108" y="142779"/>
                      </a:cubicBezTo>
                      <a:cubicBezTo>
                        <a:pt x="4216" y="146510"/>
                        <a:pt x="8166" y="148820"/>
                        <a:pt x="12451" y="148828"/>
                      </a:cubicBezTo>
                      <a:lnTo>
                        <a:pt x="131513" y="148828"/>
                      </a:lnTo>
                      <a:cubicBezTo>
                        <a:pt x="135802" y="148828"/>
                        <a:pt x="139760" y="146521"/>
                        <a:pt x="141873" y="142788"/>
                      </a:cubicBezTo>
                      <a:cubicBezTo>
                        <a:pt x="143987" y="139056"/>
                        <a:pt x="143929" y="134476"/>
                        <a:pt x="141723" y="130798"/>
                      </a:cubicBezTo>
                      <a:close/>
                      <a:moveTo>
                        <a:pt x="59228" y="58973"/>
                      </a:moveTo>
                      <a:cubicBezTo>
                        <a:pt x="59784" y="58050"/>
                        <a:pt x="60078" y="56993"/>
                        <a:pt x="60076" y="55915"/>
                      </a:cubicBezTo>
                      <a:lnTo>
                        <a:pt x="60076" y="11906"/>
                      </a:lnTo>
                      <a:lnTo>
                        <a:pt x="83888" y="11906"/>
                      </a:lnTo>
                      <a:lnTo>
                        <a:pt x="83888" y="55915"/>
                      </a:lnTo>
                      <a:cubicBezTo>
                        <a:pt x="83887" y="56993"/>
                        <a:pt x="84180" y="58050"/>
                        <a:pt x="84737" y="58973"/>
                      </a:cubicBezTo>
                      <a:lnTo>
                        <a:pt x="113178" y="106412"/>
                      </a:lnTo>
                      <a:cubicBezTo>
                        <a:pt x="104248" y="108176"/>
                        <a:pt x="91546" y="107432"/>
                        <a:pt x="74668" y="98889"/>
                      </a:cubicBezTo>
                      <a:cubicBezTo>
                        <a:pt x="62829" y="92899"/>
                        <a:pt x="51563" y="89721"/>
                        <a:pt x="41018" y="89356"/>
                      </a:cubicBezTo>
                      <a:close/>
                      <a:moveTo>
                        <a:pt x="12451" y="136922"/>
                      </a:moveTo>
                      <a:lnTo>
                        <a:pt x="33689" y="101516"/>
                      </a:lnTo>
                      <a:cubicBezTo>
                        <a:pt x="44293" y="100228"/>
                        <a:pt x="56244" y="102892"/>
                        <a:pt x="69273" y="109493"/>
                      </a:cubicBezTo>
                      <a:cubicBezTo>
                        <a:pt x="83412" y="116644"/>
                        <a:pt x="95318" y="119077"/>
                        <a:pt x="104992" y="119077"/>
                      </a:cubicBezTo>
                      <a:cubicBezTo>
                        <a:pt x="109912" y="119099"/>
                        <a:pt x="114810" y="118423"/>
                        <a:pt x="119540" y="117068"/>
                      </a:cubicBezTo>
                      <a:lnTo>
                        <a:pt x="131513" y="136922"/>
                      </a:lnTo>
                      <a:close/>
                    </a:path>
                  </a:pathLst>
                </a:custGeom>
                <a:solidFill>
                  <a:srgbClr val="1565C0"/>
                </a:solidFill>
                <a:ln>
                  <a:noFill/>
                </a:ln>
              </p:spPr>
            </p:sp>
          </p:grpSp>
          <p:sp>
            <p:nvSpPr>
              <p:cNvPr id="36" name="TextBox 36"/>
              <p:cNvSpPr txBox="1"/>
              <p:nvPr/>
            </p:nvSpPr>
            <p:spPr>
              <a:xfrm>
                <a:off x="1414462" y="3250406"/>
                <a:ext cx="257889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技术预研：不确定技术方案的早期验证</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67" name="Group 67"/>
          <p:cNvGrpSpPr/>
          <p:nvPr/>
        </p:nvGrpSpPr>
        <p:grpSpPr>
          <a:xfrm>
            <a:off x="6286500" y="904875"/>
            <a:ext cx="5334000" cy="2857500"/>
            <a:chOff x="6286500" y="904875"/>
            <a:chExt cx="5334000" cy="2857500"/>
          </a:xfrm>
        </p:grpSpPr>
        <p:sp>
          <p:nvSpPr>
            <p:cNvPr id="39" name="Rectangle 39"/>
            <p:cNvSpPr/>
            <p:nvPr/>
          </p:nvSpPr>
          <p:spPr>
            <a:xfrm>
              <a:off x="6286500" y="904875"/>
              <a:ext cx="5334000" cy="2857500"/>
            </a:xfrm>
            <a:prstGeom prst="roundRect">
              <a:avLst>
                <a:gd name="adj" fmla="val 4000"/>
              </a:avLst>
            </a:prstGeom>
            <a:solidFill>
              <a:srgbClr val="FFFFFF"/>
            </a:solidFill>
            <a:ln>
              <a:noFill/>
            </a:ln>
          </p:spPr>
        </p:sp>
        <p:sp>
          <p:nvSpPr>
            <p:cNvPr id="40" name="Rectangle 40"/>
            <p:cNvSpPr/>
            <p:nvPr/>
          </p:nvSpPr>
          <p:spPr>
            <a:xfrm>
              <a:off x="6286500" y="904875"/>
              <a:ext cx="5334000" cy="38100"/>
            </a:xfrm>
            <a:prstGeom prst="roundRect">
              <a:avLst>
                <a:gd name="adj" fmla="val 50000"/>
              </a:avLst>
            </a:prstGeom>
            <a:solidFill>
              <a:srgbClr val="FF6F00"/>
            </a:solidFill>
            <a:ln>
              <a:noFill/>
            </a:ln>
          </p:spPr>
        </p:sp>
        <p:sp>
          <p:nvSpPr>
            <p:cNvPr id="41" name="TextBox 41"/>
            <p:cNvSpPr txBox="1"/>
            <p:nvPr/>
          </p:nvSpPr>
          <p:spPr>
            <a:xfrm>
              <a:off x="7922514" y="1139190"/>
              <a:ext cx="2061972" cy="365760"/>
            </a:xfrm>
            <a:prstGeom prst="rect">
              <a:avLst/>
            </a:prstGeom>
            <a:noFill/>
            <a:ln>
              <a:noFill/>
            </a:ln>
          </p:spPr>
          <p:txBody>
            <a:bodyPr wrap="none" lIns="0" tIns="0" rIns="0" bIns="0" anchor="t" anchorCtr="0">
              <a:spAutoFit/>
            </a:bodyPr>
            <a:lstStyle/>
            <a:p>
              <a:pPr algn="ctr"/>
              <a:r>
                <a:rPr lang="zh-CN" sz="1800" b="1" dirty="0">
                  <a:solidFill>
                    <a:srgbClr val="FF6F00"/>
                  </a:solidFill>
                  <a:latin typeface="Segoe UI" panose="020B0502040204020203"/>
                  <a:ea typeface="微软雅黑" panose="020B0503020204020204" charset="-122"/>
                  <a:cs typeface="Segoe UI" panose="020B0502040204020203"/>
                </a:rPr>
                <a:t>往后看：缺陷复盘</a:t>
              </a:r>
              <a:endParaRPr lang="zh-CN" sz="1800" b="1" dirty="0">
                <a:solidFill>
                  <a:srgbClr val="FF6F00"/>
                </a:solidFill>
                <a:latin typeface="Segoe UI" panose="020B0502040204020203"/>
                <a:ea typeface="微软雅黑" panose="020B0503020204020204" charset="-122"/>
                <a:cs typeface="Segoe UI" panose="020B0502040204020203"/>
              </a:endParaRPr>
            </a:p>
          </p:txBody>
        </p:sp>
        <p:sp>
          <p:nvSpPr>
            <p:cNvPr id="42" name="Line 42"/>
            <p:cNvSpPr/>
            <p:nvPr/>
          </p:nvSpPr>
          <p:spPr>
            <a:xfrm>
              <a:off x="6667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48" name="Group 48"/>
            <p:cNvGrpSpPr/>
            <p:nvPr/>
          </p:nvGrpSpPr>
          <p:grpSpPr>
            <a:xfrm>
              <a:off x="6667500" y="1666875"/>
              <a:ext cx="4572000" cy="383381"/>
              <a:chOff x="6667500" y="1666875"/>
              <a:chExt cx="4572000" cy="383381"/>
            </a:xfrm>
          </p:grpSpPr>
          <p:sp>
            <p:nvSpPr>
              <p:cNvPr id="43" name="Rectangle 43"/>
              <p:cNvSpPr/>
              <p:nvPr/>
            </p:nvSpPr>
            <p:spPr>
              <a:xfrm>
                <a:off x="6667500" y="1666875"/>
                <a:ext cx="4572000" cy="361950"/>
              </a:xfrm>
              <a:prstGeom prst="roundRect">
                <a:avLst>
                  <a:gd name="adj" fmla="val 15789"/>
                </a:avLst>
              </a:prstGeom>
              <a:solidFill>
                <a:srgbClr val="FF6F00">
                  <a:alpha val="6000"/>
                </a:srgbClr>
              </a:solidFill>
              <a:ln>
                <a:noFill/>
              </a:ln>
            </p:spPr>
          </p:sp>
          <p:grpSp>
            <p:nvGrpSpPr>
              <p:cNvPr id="46" name="Group 46"/>
              <p:cNvGrpSpPr/>
              <p:nvPr/>
            </p:nvGrpSpPr>
            <p:grpSpPr>
              <a:xfrm>
                <a:off x="6863953" y="1818073"/>
                <a:ext cx="178594" cy="154804"/>
                <a:chOff x="6863953" y="1818073"/>
                <a:chExt cx="178594" cy="154804"/>
              </a:xfrm>
            </p:grpSpPr>
            <p:sp>
              <p:nvSpPr>
                <p:cNvPr id="44" name="Freeform 44"/>
                <p:cNvSpPr/>
                <p:nvPr/>
              </p:nvSpPr>
              <p:spPr>
                <a:xfrm>
                  <a:off x="6893719" y="1895475"/>
                  <a:ext cx="119062" cy="71438"/>
                </a:xfrm>
                <a:custGeom>
                  <a:avLst/>
                  <a:gdLst/>
                  <a:ahLst/>
                  <a:cxnLst/>
                  <a:rect l="l" t="t" r="r" b="b"/>
                  <a:pathLst>
                    <a:path w="119062" h="71438">
                      <a:moveTo>
                        <a:pt x="119062" y="0"/>
                      </a:moveTo>
                      <a:lnTo>
                        <a:pt x="119062" y="11906"/>
                      </a:lnTo>
                      <a:cubicBezTo>
                        <a:pt x="119062" y="44784"/>
                        <a:pt x="92409" y="71438"/>
                        <a:pt x="59531" y="71438"/>
                      </a:cubicBezTo>
                      <a:cubicBezTo>
                        <a:pt x="26653" y="71438"/>
                        <a:pt x="0" y="44784"/>
                        <a:pt x="0" y="11906"/>
                      </a:cubicBezTo>
                      <a:lnTo>
                        <a:pt x="0" y="0"/>
                      </a:lnTo>
                      <a:close/>
                    </a:path>
                  </a:pathLst>
                </a:custGeom>
                <a:solidFill>
                  <a:srgbClr val="FF6F00">
                    <a:alpha val="20000"/>
                  </a:srgbClr>
                </a:solidFill>
                <a:ln>
                  <a:noFill/>
                </a:ln>
              </p:spPr>
            </p:sp>
            <p:sp>
              <p:nvSpPr>
                <p:cNvPr id="45" name="Freeform 45"/>
                <p:cNvSpPr/>
                <p:nvPr/>
              </p:nvSpPr>
              <p:spPr>
                <a:xfrm>
                  <a:off x="6863953" y="1818073"/>
                  <a:ext cx="178594" cy="154804"/>
                </a:xfrm>
                <a:custGeom>
                  <a:avLst/>
                  <a:gdLst/>
                  <a:ahLst/>
                  <a:cxnLst/>
                  <a:rect l="l" t="t" r="r" b="b"/>
                  <a:pathLst>
                    <a:path w="178594" h="154804">
                      <a:moveTo>
                        <a:pt x="101203" y="50613"/>
                      </a:moveTo>
                      <a:cubicBezTo>
                        <a:pt x="101203" y="45681"/>
                        <a:pt x="105201" y="41683"/>
                        <a:pt x="110133" y="41683"/>
                      </a:cubicBezTo>
                      <a:cubicBezTo>
                        <a:pt x="115065" y="41683"/>
                        <a:pt x="119062" y="45681"/>
                        <a:pt x="119062" y="50613"/>
                      </a:cubicBezTo>
                      <a:cubicBezTo>
                        <a:pt x="119062" y="55545"/>
                        <a:pt x="115065" y="59543"/>
                        <a:pt x="110133" y="59543"/>
                      </a:cubicBezTo>
                      <a:cubicBezTo>
                        <a:pt x="105201" y="59543"/>
                        <a:pt x="101203" y="55545"/>
                        <a:pt x="101203" y="50613"/>
                      </a:cubicBezTo>
                      <a:close/>
                      <a:moveTo>
                        <a:pt x="68461" y="41683"/>
                      </a:moveTo>
                      <a:cubicBezTo>
                        <a:pt x="63529" y="41683"/>
                        <a:pt x="59531" y="45681"/>
                        <a:pt x="59531" y="50613"/>
                      </a:cubicBezTo>
                      <a:cubicBezTo>
                        <a:pt x="59531" y="55545"/>
                        <a:pt x="63529" y="59543"/>
                        <a:pt x="68461" y="59543"/>
                      </a:cubicBezTo>
                      <a:cubicBezTo>
                        <a:pt x="73393" y="59543"/>
                        <a:pt x="77391" y="55545"/>
                        <a:pt x="77391" y="50613"/>
                      </a:cubicBezTo>
                      <a:cubicBezTo>
                        <a:pt x="77391" y="45681"/>
                        <a:pt x="73393" y="41683"/>
                        <a:pt x="68461" y="41683"/>
                      </a:cubicBezTo>
                      <a:close/>
                      <a:moveTo>
                        <a:pt x="154781" y="89308"/>
                      </a:moveTo>
                      <a:cubicBezTo>
                        <a:pt x="154798" y="95087"/>
                        <a:pt x="154047" y="100843"/>
                        <a:pt x="152549" y="106424"/>
                      </a:cubicBezTo>
                      <a:lnTo>
                        <a:pt x="169099" y="113657"/>
                      </a:lnTo>
                      <a:cubicBezTo>
                        <a:pt x="171638" y="114814"/>
                        <a:pt x="173033" y="117579"/>
                        <a:pt x="172455" y="120309"/>
                      </a:cubicBezTo>
                      <a:cubicBezTo>
                        <a:pt x="171876" y="123039"/>
                        <a:pt x="169478" y="125001"/>
                        <a:pt x="166688" y="125027"/>
                      </a:cubicBezTo>
                      <a:cubicBezTo>
                        <a:pt x="165868" y="125029"/>
                        <a:pt x="165056" y="124859"/>
                        <a:pt x="164306" y="124529"/>
                      </a:cubicBezTo>
                      <a:lnTo>
                        <a:pt x="148367" y="117586"/>
                      </a:lnTo>
                      <a:cubicBezTo>
                        <a:pt x="137484" y="140329"/>
                        <a:pt x="114510" y="154804"/>
                        <a:pt x="89297" y="154804"/>
                      </a:cubicBezTo>
                      <a:cubicBezTo>
                        <a:pt x="64084" y="154804"/>
                        <a:pt x="41110" y="140329"/>
                        <a:pt x="30227" y="117586"/>
                      </a:cubicBezTo>
                      <a:lnTo>
                        <a:pt x="14288" y="124529"/>
                      </a:lnTo>
                      <a:cubicBezTo>
                        <a:pt x="13537" y="124859"/>
                        <a:pt x="12726" y="125029"/>
                        <a:pt x="11906" y="125027"/>
                      </a:cubicBezTo>
                      <a:cubicBezTo>
                        <a:pt x="9089" y="125026"/>
                        <a:pt x="6658" y="123049"/>
                        <a:pt x="6082" y="120291"/>
                      </a:cubicBezTo>
                      <a:cubicBezTo>
                        <a:pt x="5507" y="117532"/>
                        <a:pt x="6943" y="114748"/>
                        <a:pt x="9525" y="113620"/>
                      </a:cubicBezTo>
                      <a:lnTo>
                        <a:pt x="26045" y="106424"/>
                      </a:lnTo>
                      <a:cubicBezTo>
                        <a:pt x="24547" y="100843"/>
                        <a:pt x="23796" y="95087"/>
                        <a:pt x="23812" y="89308"/>
                      </a:cubicBezTo>
                      <a:lnTo>
                        <a:pt x="23812" y="83355"/>
                      </a:lnTo>
                      <a:lnTo>
                        <a:pt x="5953" y="83355"/>
                      </a:lnTo>
                      <a:cubicBezTo>
                        <a:pt x="2665" y="83355"/>
                        <a:pt x="0" y="80690"/>
                        <a:pt x="0" y="77402"/>
                      </a:cubicBezTo>
                      <a:cubicBezTo>
                        <a:pt x="0" y="74114"/>
                        <a:pt x="2665" y="71449"/>
                        <a:pt x="5953" y="71449"/>
                      </a:cubicBezTo>
                      <a:lnTo>
                        <a:pt x="23812" y="71449"/>
                      </a:lnTo>
                      <a:lnTo>
                        <a:pt x="23812" y="65496"/>
                      </a:lnTo>
                      <a:cubicBezTo>
                        <a:pt x="23796" y="59717"/>
                        <a:pt x="24547" y="53962"/>
                        <a:pt x="26045" y="48381"/>
                      </a:cubicBezTo>
                      <a:lnTo>
                        <a:pt x="9525" y="41185"/>
                      </a:lnTo>
                      <a:cubicBezTo>
                        <a:pt x="7529" y="40365"/>
                        <a:pt x="6132" y="38529"/>
                        <a:pt x="5875" y="36387"/>
                      </a:cubicBezTo>
                      <a:cubicBezTo>
                        <a:pt x="5618" y="34244"/>
                        <a:pt x="6541" y="32130"/>
                        <a:pt x="8287" y="30861"/>
                      </a:cubicBezTo>
                      <a:cubicBezTo>
                        <a:pt x="10033" y="29593"/>
                        <a:pt x="12329" y="29369"/>
                        <a:pt x="14288" y="30276"/>
                      </a:cubicBezTo>
                      <a:lnTo>
                        <a:pt x="30227" y="37219"/>
                      </a:lnTo>
                      <a:cubicBezTo>
                        <a:pt x="41110" y="14475"/>
                        <a:pt x="64084" y="0"/>
                        <a:pt x="89297" y="0"/>
                      </a:cubicBezTo>
                      <a:cubicBezTo>
                        <a:pt x="114510" y="0"/>
                        <a:pt x="137484" y="14475"/>
                        <a:pt x="148367" y="37219"/>
                      </a:cubicBezTo>
                      <a:lnTo>
                        <a:pt x="164306" y="30253"/>
                      </a:lnTo>
                      <a:cubicBezTo>
                        <a:pt x="167300" y="29024"/>
                        <a:pt x="170728" y="30412"/>
                        <a:pt x="172023" y="33379"/>
                      </a:cubicBezTo>
                      <a:cubicBezTo>
                        <a:pt x="173318" y="36345"/>
                        <a:pt x="172006" y="39803"/>
                        <a:pt x="169069" y="41163"/>
                      </a:cubicBezTo>
                      <a:lnTo>
                        <a:pt x="152549" y="48418"/>
                      </a:lnTo>
                      <a:cubicBezTo>
                        <a:pt x="154047" y="53999"/>
                        <a:pt x="154798" y="59754"/>
                        <a:pt x="154781" y="65533"/>
                      </a:cubicBezTo>
                      <a:lnTo>
                        <a:pt x="154781" y="71486"/>
                      </a:lnTo>
                      <a:lnTo>
                        <a:pt x="172641" y="71486"/>
                      </a:lnTo>
                      <a:cubicBezTo>
                        <a:pt x="175928" y="71486"/>
                        <a:pt x="178594" y="74152"/>
                        <a:pt x="178594" y="77439"/>
                      </a:cubicBezTo>
                      <a:cubicBezTo>
                        <a:pt x="178594" y="80727"/>
                        <a:pt x="175928" y="83393"/>
                        <a:pt x="172641" y="83393"/>
                      </a:cubicBezTo>
                      <a:lnTo>
                        <a:pt x="154781" y="83393"/>
                      </a:lnTo>
                      <a:close/>
                      <a:moveTo>
                        <a:pt x="35719" y="71449"/>
                      </a:moveTo>
                      <a:lnTo>
                        <a:pt x="142875" y="71449"/>
                      </a:lnTo>
                      <a:lnTo>
                        <a:pt x="142875" y="65496"/>
                      </a:lnTo>
                      <a:cubicBezTo>
                        <a:pt x="142875" y="35906"/>
                        <a:pt x="118887" y="11918"/>
                        <a:pt x="89297" y="11918"/>
                      </a:cubicBezTo>
                      <a:cubicBezTo>
                        <a:pt x="59706" y="11918"/>
                        <a:pt x="35719" y="35906"/>
                        <a:pt x="35719" y="65496"/>
                      </a:cubicBezTo>
                      <a:close/>
                      <a:moveTo>
                        <a:pt x="83344" y="142544"/>
                      </a:moveTo>
                      <a:lnTo>
                        <a:pt x="83344" y="83355"/>
                      </a:lnTo>
                      <a:lnTo>
                        <a:pt x="35719" y="83355"/>
                      </a:lnTo>
                      <a:lnTo>
                        <a:pt x="35719" y="89308"/>
                      </a:lnTo>
                      <a:cubicBezTo>
                        <a:pt x="35751" y="116581"/>
                        <a:pt x="56243" y="139487"/>
                        <a:pt x="83344" y="142544"/>
                      </a:cubicBezTo>
                      <a:close/>
                      <a:moveTo>
                        <a:pt x="142875" y="89308"/>
                      </a:moveTo>
                      <a:lnTo>
                        <a:pt x="142875" y="83355"/>
                      </a:lnTo>
                      <a:lnTo>
                        <a:pt x="95250" y="83355"/>
                      </a:lnTo>
                      <a:lnTo>
                        <a:pt x="95250" y="142544"/>
                      </a:lnTo>
                      <a:cubicBezTo>
                        <a:pt x="122350" y="139487"/>
                        <a:pt x="142843" y="116581"/>
                        <a:pt x="142875" y="89308"/>
                      </a:cubicBezTo>
                      <a:close/>
                    </a:path>
                  </a:pathLst>
                </a:custGeom>
                <a:solidFill>
                  <a:srgbClr val="FF6F00"/>
                </a:solidFill>
                <a:ln>
                  <a:noFill/>
                </a:ln>
              </p:spPr>
            </p:sp>
          </p:grpSp>
          <p:sp>
            <p:nvSpPr>
              <p:cNvPr id="47" name="TextBox 47"/>
              <p:cNvSpPr txBox="1"/>
              <p:nvPr/>
            </p:nvSpPr>
            <p:spPr>
              <a:xfrm>
                <a:off x="7129462" y="1821656"/>
                <a:ext cx="282642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现象捕捉：Bug的完整触发条件和影响范围</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6667500" y="2143125"/>
              <a:ext cx="4572000" cy="383381"/>
              <a:chOff x="6667500" y="2143125"/>
              <a:chExt cx="4572000" cy="383381"/>
            </a:xfrm>
          </p:grpSpPr>
          <p:sp>
            <p:nvSpPr>
              <p:cNvPr id="49" name="Rectangle 49"/>
              <p:cNvSpPr/>
              <p:nvPr/>
            </p:nvSpPr>
            <p:spPr>
              <a:xfrm>
                <a:off x="6667500" y="2143125"/>
                <a:ext cx="4572000" cy="361950"/>
              </a:xfrm>
              <a:prstGeom prst="roundRect">
                <a:avLst>
                  <a:gd name="adj" fmla="val 15789"/>
                </a:avLst>
              </a:prstGeom>
              <a:solidFill>
                <a:srgbClr val="FF6F00">
                  <a:alpha val="6000"/>
                </a:srgbClr>
              </a:solidFill>
              <a:ln>
                <a:noFill/>
              </a:ln>
            </p:spPr>
          </p:sp>
          <p:grpSp>
            <p:nvGrpSpPr>
              <p:cNvPr id="52" name="Group 52"/>
              <p:cNvGrpSpPr/>
              <p:nvPr/>
            </p:nvGrpSpPr>
            <p:grpSpPr>
              <a:xfrm>
                <a:off x="6869088" y="2287534"/>
                <a:ext cx="162138" cy="162166"/>
                <a:chOff x="6869088" y="2287534"/>
                <a:chExt cx="162138" cy="162166"/>
              </a:xfrm>
            </p:grpSpPr>
            <p:sp>
              <p:nvSpPr>
                <p:cNvPr id="50" name="Freeform 50"/>
                <p:cNvSpPr/>
                <p:nvPr/>
              </p:nvSpPr>
              <p:spPr>
                <a:xfrm>
                  <a:off x="6881812" y="2300288"/>
                  <a:ext cx="119062" cy="119062"/>
                </a:xfrm>
                <a:custGeom>
                  <a:avLst/>
                  <a:gdLst/>
                  <a:ahLst/>
                  <a:cxnLst/>
                  <a:rect l="l" t="t" r="r" b="b"/>
                  <a:pathLst>
                    <a:path w="119062" h="119062">
                      <a:moveTo>
                        <a:pt x="119062" y="59531"/>
                      </a:moveTo>
                      <a:cubicBezTo>
                        <a:pt x="119062" y="92409"/>
                        <a:pt x="92409" y="119062"/>
                        <a:pt x="59531" y="119062"/>
                      </a:cubicBezTo>
                      <a:cubicBezTo>
                        <a:pt x="26653" y="119062"/>
                        <a:pt x="0" y="92409"/>
                        <a:pt x="0" y="59531"/>
                      </a:cubicBezTo>
                      <a:cubicBezTo>
                        <a:pt x="0" y="26653"/>
                        <a:pt x="26653" y="0"/>
                        <a:pt x="59531" y="0"/>
                      </a:cubicBezTo>
                      <a:cubicBezTo>
                        <a:pt x="92409" y="0"/>
                        <a:pt x="119062" y="26653"/>
                        <a:pt x="119062" y="59531"/>
                      </a:cubicBezTo>
                      <a:close/>
                    </a:path>
                  </a:pathLst>
                </a:custGeom>
                <a:solidFill>
                  <a:srgbClr val="FF6F00">
                    <a:alpha val="20000"/>
                  </a:srgbClr>
                </a:solidFill>
                <a:ln>
                  <a:noFill/>
                </a:ln>
              </p:spPr>
            </p:sp>
            <p:sp>
              <p:nvSpPr>
                <p:cNvPr id="51" name="Freeform 51"/>
                <p:cNvSpPr/>
                <p:nvPr/>
              </p:nvSpPr>
              <p:spPr>
                <a:xfrm>
                  <a:off x="6869088" y="2287534"/>
                  <a:ext cx="162138" cy="162166"/>
                </a:xfrm>
                <a:custGeom>
                  <a:avLst/>
                  <a:gdLst/>
                  <a:ahLst/>
                  <a:cxnLst/>
                  <a:rect l="l" t="t" r="r" b="b"/>
                  <a:pathLst>
                    <a:path w="162138" h="162166">
                      <a:moveTo>
                        <a:pt x="159812" y="151417"/>
                      </a:moveTo>
                      <a:lnTo>
                        <a:pt x="122560" y="114165"/>
                      </a:lnTo>
                      <a:cubicBezTo>
                        <a:pt x="145034" y="87211"/>
                        <a:pt x="142332" y="47348"/>
                        <a:pt x="116426" y="23674"/>
                      </a:cubicBezTo>
                      <a:cubicBezTo>
                        <a:pt x="90521" y="0"/>
                        <a:pt x="50577" y="890"/>
                        <a:pt x="25751" y="25693"/>
                      </a:cubicBezTo>
                      <a:cubicBezTo>
                        <a:pt x="925" y="50497"/>
                        <a:pt x="0" y="90441"/>
                        <a:pt x="23651" y="116367"/>
                      </a:cubicBezTo>
                      <a:cubicBezTo>
                        <a:pt x="47303" y="142294"/>
                        <a:pt x="87163" y="145031"/>
                        <a:pt x="114136" y="122581"/>
                      </a:cubicBezTo>
                      <a:lnTo>
                        <a:pt x="151388" y="159840"/>
                      </a:lnTo>
                      <a:cubicBezTo>
                        <a:pt x="153714" y="162166"/>
                        <a:pt x="157486" y="162166"/>
                        <a:pt x="159812" y="159840"/>
                      </a:cubicBezTo>
                      <a:cubicBezTo>
                        <a:pt x="162138" y="157514"/>
                        <a:pt x="162138" y="153743"/>
                        <a:pt x="159812" y="151417"/>
                      </a:cubicBezTo>
                      <a:close/>
                      <a:moveTo>
                        <a:pt x="18678" y="72285"/>
                      </a:moveTo>
                      <a:cubicBezTo>
                        <a:pt x="18678" y="42694"/>
                        <a:pt x="42666" y="18706"/>
                        <a:pt x="72256" y="18706"/>
                      </a:cubicBezTo>
                      <a:cubicBezTo>
                        <a:pt x="101847" y="18706"/>
                        <a:pt x="125834" y="42694"/>
                        <a:pt x="125834" y="72285"/>
                      </a:cubicBezTo>
                      <a:cubicBezTo>
                        <a:pt x="125834" y="101875"/>
                        <a:pt x="101847" y="125863"/>
                        <a:pt x="72256" y="125863"/>
                      </a:cubicBezTo>
                      <a:cubicBezTo>
                        <a:pt x="42679" y="125830"/>
                        <a:pt x="18711" y="101861"/>
                        <a:pt x="18678" y="72285"/>
                      </a:cubicBezTo>
                      <a:close/>
                    </a:path>
                  </a:pathLst>
                </a:custGeom>
                <a:solidFill>
                  <a:srgbClr val="FF6F00"/>
                </a:solidFill>
                <a:ln>
                  <a:noFill/>
                </a:ln>
              </p:spPr>
            </p:sp>
          </p:grpSp>
          <p:sp>
            <p:nvSpPr>
              <p:cNvPr id="53" name="TextBox 53"/>
              <p:cNvSpPr txBox="1"/>
              <p:nvPr/>
            </p:nvSpPr>
            <p:spPr>
              <a:xfrm>
                <a:off x="7129462" y="2297906"/>
                <a:ext cx="223385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根因分析：5 Why法追溯根本原因</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60" name="Group 60"/>
            <p:cNvGrpSpPr/>
            <p:nvPr/>
          </p:nvGrpSpPr>
          <p:grpSpPr>
            <a:xfrm>
              <a:off x="6667500" y="2619375"/>
              <a:ext cx="4572000" cy="383381"/>
              <a:chOff x="6667500" y="2619375"/>
              <a:chExt cx="4572000" cy="383381"/>
            </a:xfrm>
          </p:grpSpPr>
          <p:sp>
            <p:nvSpPr>
              <p:cNvPr id="55" name="Rectangle 55"/>
              <p:cNvSpPr/>
              <p:nvPr/>
            </p:nvSpPr>
            <p:spPr>
              <a:xfrm>
                <a:off x="6667500" y="2619375"/>
                <a:ext cx="4572000" cy="361950"/>
              </a:xfrm>
              <a:prstGeom prst="roundRect">
                <a:avLst>
                  <a:gd name="adj" fmla="val 15789"/>
                </a:avLst>
              </a:prstGeom>
              <a:solidFill>
                <a:srgbClr val="FF6F00">
                  <a:alpha val="6000"/>
                </a:srgbClr>
              </a:solidFill>
              <a:ln>
                <a:noFill/>
              </a:ln>
            </p:spPr>
          </p:sp>
          <p:grpSp>
            <p:nvGrpSpPr>
              <p:cNvPr id="58" name="Group 58"/>
              <p:cNvGrpSpPr/>
              <p:nvPr/>
            </p:nvGrpSpPr>
            <p:grpSpPr>
              <a:xfrm>
                <a:off x="6887766" y="2770192"/>
                <a:ext cx="143968" cy="149221"/>
                <a:chOff x="6887766" y="2770192"/>
                <a:chExt cx="143968" cy="149221"/>
              </a:xfrm>
            </p:grpSpPr>
            <p:sp>
              <p:nvSpPr>
                <p:cNvPr id="56" name="Freeform 56"/>
                <p:cNvSpPr/>
                <p:nvPr/>
              </p:nvSpPr>
              <p:spPr>
                <a:xfrm>
                  <a:off x="6893719" y="2776342"/>
                  <a:ext cx="114784" cy="113305"/>
                </a:xfrm>
                <a:custGeom>
                  <a:avLst/>
                  <a:gdLst/>
                  <a:ahLst/>
                  <a:cxnLst/>
                  <a:rect l="l" t="t" r="r" b="b"/>
                  <a:pathLst>
                    <a:path w="114784" h="113305">
                      <a:moveTo>
                        <a:pt x="0" y="29962"/>
                      </a:moveTo>
                      <a:lnTo>
                        <a:pt x="47625" y="29962"/>
                      </a:lnTo>
                      <a:lnTo>
                        <a:pt x="47625" y="113305"/>
                      </a:lnTo>
                      <a:lnTo>
                        <a:pt x="0" y="113305"/>
                      </a:lnTo>
                      <a:close/>
                      <a:moveTo>
                        <a:pt x="106144" y="4951"/>
                      </a:moveTo>
                      <a:cubicBezTo>
                        <a:pt x="105824" y="3398"/>
                        <a:pt x="104898" y="2037"/>
                        <a:pt x="103571" y="1170"/>
                      </a:cubicBezTo>
                      <a:cubicBezTo>
                        <a:pt x="102244" y="302"/>
                        <a:pt x="100626" y="0"/>
                        <a:pt x="99075" y="330"/>
                      </a:cubicBezTo>
                      <a:lnTo>
                        <a:pt x="64242" y="7771"/>
                      </a:lnTo>
                      <a:cubicBezTo>
                        <a:pt x="61018" y="8484"/>
                        <a:pt x="58974" y="11665"/>
                        <a:pt x="59665" y="14893"/>
                      </a:cubicBezTo>
                      <a:lnTo>
                        <a:pt x="68305" y="56007"/>
                      </a:lnTo>
                      <a:lnTo>
                        <a:pt x="114784" y="46020"/>
                      </a:lnTo>
                      <a:close/>
                    </a:path>
                  </a:pathLst>
                </a:custGeom>
                <a:solidFill>
                  <a:srgbClr val="FF6F00">
                    <a:alpha val="20000"/>
                  </a:srgbClr>
                </a:solidFill>
                <a:ln>
                  <a:noFill/>
                </a:ln>
              </p:spPr>
            </p:sp>
            <p:sp>
              <p:nvSpPr>
                <p:cNvPr id="57" name="Freeform 57"/>
                <p:cNvSpPr/>
                <p:nvPr/>
              </p:nvSpPr>
              <p:spPr>
                <a:xfrm>
                  <a:off x="6887766" y="2770192"/>
                  <a:ext cx="143968" cy="149221"/>
                </a:xfrm>
                <a:custGeom>
                  <a:avLst/>
                  <a:gdLst/>
                  <a:ahLst/>
                  <a:cxnLst/>
                  <a:rect l="l" t="t" r="r" b="b"/>
                  <a:pathLst>
                    <a:path w="143968" h="149221">
                      <a:moveTo>
                        <a:pt x="142615" y="127306"/>
                      </a:moveTo>
                      <a:lnTo>
                        <a:pt x="117917" y="9880"/>
                      </a:lnTo>
                      <a:cubicBezTo>
                        <a:pt x="117271" y="6779"/>
                        <a:pt x="115417" y="4062"/>
                        <a:pt x="112763" y="2332"/>
                      </a:cubicBezTo>
                      <a:cubicBezTo>
                        <a:pt x="110110" y="602"/>
                        <a:pt x="106876" y="0"/>
                        <a:pt x="103778" y="660"/>
                      </a:cubicBezTo>
                      <a:lnTo>
                        <a:pt x="68945" y="8146"/>
                      </a:lnTo>
                      <a:cubicBezTo>
                        <a:pt x="62532" y="9551"/>
                        <a:pt x="58448" y="15859"/>
                        <a:pt x="59792" y="22285"/>
                      </a:cubicBezTo>
                      <a:lnTo>
                        <a:pt x="84490" y="139710"/>
                      </a:lnTo>
                      <a:cubicBezTo>
                        <a:pt x="85624" y="145233"/>
                        <a:pt x="90476" y="149202"/>
                        <a:pt x="96113" y="149221"/>
                      </a:cubicBezTo>
                      <a:cubicBezTo>
                        <a:pt x="96959" y="149219"/>
                        <a:pt x="97802" y="149130"/>
                        <a:pt x="98628" y="148953"/>
                      </a:cubicBezTo>
                      <a:lnTo>
                        <a:pt x="133462" y="141467"/>
                      </a:lnTo>
                      <a:cubicBezTo>
                        <a:pt x="139883" y="140059"/>
                        <a:pt x="143968" y="133738"/>
                        <a:pt x="142615" y="127306"/>
                      </a:cubicBezTo>
                      <a:close/>
                      <a:moveTo>
                        <a:pt x="71438" y="19852"/>
                      </a:moveTo>
                      <a:cubicBezTo>
                        <a:pt x="71438" y="19807"/>
                        <a:pt x="71438" y="19785"/>
                        <a:pt x="71438" y="19785"/>
                      </a:cubicBezTo>
                      <a:lnTo>
                        <a:pt x="106263" y="12343"/>
                      </a:lnTo>
                      <a:lnTo>
                        <a:pt x="108741" y="24153"/>
                      </a:lnTo>
                      <a:lnTo>
                        <a:pt x="73915" y="31646"/>
                      </a:lnTo>
                      <a:close/>
                      <a:moveTo>
                        <a:pt x="76364" y="43270"/>
                      </a:moveTo>
                      <a:lnTo>
                        <a:pt x="111204" y="35791"/>
                      </a:lnTo>
                      <a:lnTo>
                        <a:pt x="113690" y="47623"/>
                      </a:lnTo>
                      <a:lnTo>
                        <a:pt x="78879" y="55109"/>
                      </a:lnTo>
                      <a:close/>
                      <a:moveTo>
                        <a:pt x="81305" y="66762"/>
                      </a:moveTo>
                      <a:lnTo>
                        <a:pt x="116145" y="59276"/>
                      </a:lnTo>
                      <a:lnTo>
                        <a:pt x="126043" y="106336"/>
                      </a:lnTo>
                      <a:lnTo>
                        <a:pt x="91202" y="113822"/>
                      </a:lnTo>
                      <a:close/>
                      <a:moveTo>
                        <a:pt x="130969" y="129828"/>
                      </a:moveTo>
                      <a:lnTo>
                        <a:pt x="96143" y="137270"/>
                      </a:lnTo>
                      <a:lnTo>
                        <a:pt x="93665" y="125460"/>
                      </a:lnTo>
                      <a:lnTo>
                        <a:pt x="128491" y="117967"/>
                      </a:lnTo>
                      <a:lnTo>
                        <a:pt x="130969" y="129761"/>
                      </a:lnTo>
                      <a:cubicBezTo>
                        <a:pt x="130969" y="129806"/>
                        <a:pt x="130969" y="129828"/>
                        <a:pt x="130969" y="129828"/>
                      </a:cubicBezTo>
                      <a:close/>
                      <a:moveTo>
                        <a:pt x="47625" y="6346"/>
                      </a:moveTo>
                      <a:lnTo>
                        <a:pt x="11906" y="6346"/>
                      </a:lnTo>
                      <a:cubicBezTo>
                        <a:pt x="5331" y="6346"/>
                        <a:pt x="0" y="11676"/>
                        <a:pt x="0" y="18252"/>
                      </a:cubicBezTo>
                      <a:lnTo>
                        <a:pt x="0" y="137314"/>
                      </a:lnTo>
                      <a:cubicBezTo>
                        <a:pt x="0" y="143890"/>
                        <a:pt x="5331" y="149221"/>
                        <a:pt x="11906" y="149221"/>
                      </a:cubicBezTo>
                      <a:lnTo>
                        <a:pt x="47625" y="149221"/>
                      </a:lnTo>
                      <a:cubicBezTo>
                        <a:pt x="54201" y="149221"/>
                        <a:pt x="59531" y="143890"/>
                        <a:pt x="59531" y="137314"/>
                      </a:cubicBezTo>
                      <a:lnTo>
                        <a:pt x="59531" y="18252"/>
                      </a:lnTo>
                      <a:cubicBezTo>
                        <a:pt x="59531" y="11676"/>
                        <a:pt x="54201" y="6346"/>
                        <a:pt x="47625" y="6346"/>
                      </a:cubicBezTo>
                      <a:close/>
                      <a:moveTo>
                        <a:pt x="11906" y="18252"/>
                      </a:moveTo>
                      <a:lnTo>
                        <a:pt x="47625" y="18252"/>
                      </a:lnTo>
                      <a:lnTo>
                        <a:pt x="47625" y="30158"/>
                      </a:lnTo>
                      <a:lnTo>
                        <a:pt x="11906" y="30158"/>
                      </a:lnTo>
                      <a:close/>
                      <a:moveTo>
                        <a:pt x="11906" y="42064"/>
                      </a:moveTo>
                      <a:lnTo>
                        <a:pt x="47625" y="42064"/>
                      </a:lnTo>
                      <a:lnTo>
                        <a:pt x="47625" y="113502"/>
                      </a:lnTo>
                      <a:lnTo>
                        <a:pt x="11906" y="113502"/>
                      </a:lnTo>
                      <a:close/>
                      <a:moveTo>
                        <a:pt x="47625" y="137314"/>
                      </a:moveTo>
                      <a:lnTo>
                        <a:pt x="11906" y="137314"/>
                      </a:lnTo>
                      <a:lnTo>
                        <a:pt x="11906" y="125408"/>
                      </a:lnTo>
                      <a:lnTo>
                        <a:pt x="47625" y="125408"/>
                      </a:lnTo>
                      <a:lnTo>
                        <a:pt x="47625" y="137314"/>
                      </a:lnTo>
                      <a:close/>
                    </a:path>
                  </a:pathLst>
                </a:custGeom>
                <a:solidFill>
                  <a:srgbClr val="FF6F00"/>
                </a:solidFill>
                <a:ln>
                  <a:noFill/>
                </a:ln>
              </p:spPr>
            </p:sp>
          </p:grpSp>
          <p:sp>
            <p:nvSpPr>
              <p:cNvPr id="59" name="TextBox 59"/>
              <p:cNvSpPr txBox="1"/>
              <p:nvPr/>
            </p:nvSpPr>
            <p:spPr>
              <a:xfrm>
                <a:off x="7129462" y="2774156"/>
                <a:ext cx="287893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教训沉淀：将根因转化为可复用的测试规范</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66" name="Group 66"/>
            <p:cNvGrpSpPr/>
            <p:nvPr/>
          </p:nvGrpSpPr>
          <p:grpSpPr>
            <a:xfrm>
              <a:off x="6667500" y="3095625"/>
              <a:ext cx="4572000" cy="383381"/>
              <a:chOff x="6667500" y="3095625"/>
              <a:chExt cx="4572000" cy="383381"/>
            </a:xfrm>
          </p:grpSpPr>
          <p:sp>
            <p:nvSpPr>
              <p:cNvPr id="61" name="Rectangle 61"/>
              <p:cNvSpPr/>
              <p:nvPr/>
            </p:nvSpPr>
            <p:spPr>
              <a:xfrm>
                <a:off x="6667500" y="3095625"/>
                <a:ext cx="4572000" cy="361950"/>
              </a:xfrm>
              <a:prstGeom prst="roundRect">
                <a:avLst>
                  <a:gd name="adj" fmla="val 15789"/>
                </a:avLst>
              </a:prstGeom>
              <a:solidFill>
                <a:srgbClr val="FF6F00">
                  <a:alpha val="6000"/>
                </a:srgbClr>
              </a:solidFill>
              <a:ln>
                <a:noFill/>
              </a:ln>
            </p:spPr>
          </p:sp>
          <p:grpSp>
            <p:nvGrpSpPr>
              <p:cNvPr id="64" name="Group 64"/>
              <p:cNvGrpSpPr/>
              <p:nvPr/>
            </p:nvGrpSpPr>
            <p:grpSpPr>
              <a:xfrm>
                <a:off x="6881812" y="3258741"/>
                <a:ext cx="142875" cy="149031"/>
                <a:chOff x="6881812" y="3258741"/>
                <a:chExt cx="142875" cy="149031"/>
              </a:xfrm>
            </p:grpSpPr>
            <p:sp>
              <p:nvSpPr>
                <p:cNvPr id="62" name="Freeform 62"/>
                <p:cNvSpPr/>
                <p:nvPr/>
              </p:nvSpPr>
              <p:spPr>
                <a:xfrm>
                  <a:off x="6887766" y="3264694"/>
                  <a:ext cx="130969" cy="137011"/>
                </a:xfrm>
                <a:custGeom>
                  <a:avLst/>
                  <a:gdLst/>
                  <a:ahLst/>
                  <a:cxnLst/>
                  <a:rect l="l" t="t" r="r" b="b"/>
                  <a:pathLst>
                    <a:path w="130969" h="137011">
                      <a:moveTo>
                        <a:pt x="130969" y="5953"/>
                      </a:moveTo>
                      <a:lnTo>
                        <a:pt x="130969" y="49686"/>
                      </a:lnTo>
                      <a:cubicBezTo>
                        <a:pt x="130969" y="112328"/>
                        <a:pt x="77904" y="133082"/>
                        <a:pt x="67315" y="136602"/>
                      </a:cubicBezTo>
                      <a:cubicBezTo>
                        <a:pt x="66129" y="137011"/>
                        <a:pt x="64840" y="137011"/>
                        <a:pt x="63654" y="136602"/>
                      </a:cubicBezTo>
                      <a:cubicBezTo>
                        <a:pt x="53065" y="133097"/>
                        <a:pt x="0" y="112365"/>
                        <a:pt x="0" y="49701"/>
                      </a:cubicBezTo>
                      <a:lnTo>
                        <a:pt x="0" y="5953"/>
                      </a:lnTo>
                      <a:cubicBezTo>
                        <a:pt x="0" y="2665"/>
                        <a:pt x="2665" y="0"/>
                        <a:pt x="5953" y="0"/>
                      </a:cubicBezTo>
                      <a:lnTo>
                        <a:pt x="125016" y="0"/>
                      </a:lnTo>
                      <a:cubicBezTo>
                        <a:pt x="128303" y="0"/>
                        <a:pt x="130969" y="2665"/>
                        <a:pt x="130969" y="5953"/>
                      </a:cubicBezTo>
                      <a:close/>
                    </a:path>
                  </a:pathLst>
                </a:custGeom>
                <a:solidFill>
                  <a:srgbClr val="FF6F00">
                    <a:alpha val="20000"/>
                  </a:srgbClr>
                </a:solidFill>
                <a:ln>
                  <a:noFill/>
                </a:ln>
              </p:spPr>
            </p:sp>
            <p:sp>
              <p:nvSpPr>
                <p:cNvPr id="63" name="Freeform 63"/>
                <p:cNvSpPr/>
                <p:nvPr/>
              </p:nvSpPr>
              <p:spPr>
                <a:xfrm>
                  <a:off x="6881812" y="3258741"/>
                  <a:ext cx="142875" cy="149031"/>
                </a:xfrm>
                <a:custGeom>
                  <a:avLst/>
                  <a:gdLst/>
                  <a:ahLst/>
                  <a:cxnLst/>
                  <a:rect l="l" t="t" r="r" b="b"/>
                  <a:pathLst>
                    <a:path w="142875" h="149031">
                      <a:moveTo>
                        <a:pt x="130969" y="0"/>
                      </a:moveTo>
                      <a:lnTo>
                        <a:pt x="11906" y="0"/>
                      </a:lnTo>
                      <a:cubicBezTo>
                        <a:pt x="5331" y="0"/>
                        <a:pt x="0" y="5331"/>
                        <a:pt x="0" y="11906"/>
                      </a:cubicBezTo>
                      <a:lnTo>
                        <a:pt x="0" y="55647"/>
                      </a:lnTo>
                      <a:cubicBezTo>
                        <a:pt x="0" y="122329"/>
                        <a:pt x="56421" y="144453"/>
                        <a:pt x="67717" y="148210"/>
                      </a:cubicBezTo>
                      <a:cubicBezTo>
                        <a:pt x="70129" y="149031"/>
                        <a:pt x="72746" y="149031"/>
                        <a:pt x="75158" y="148210"/>
                      </a:cubicBezTo>
                      <a:cubicBezTo>
                        <a:pt x="86469" y="144453"/>
                        <a:pt x="142875" y="122329"/>
                        <a:pt x="142875" y="55647"/>
                      </a:cubicBezTo>
                      <a:lnTo>
                        <a:pt x="142875" y="11906"/>
                      </a:lnTo>
                      <a:cubicBezTo>
                        <a:pt x="142875" y="5331"/>
                        <a:pt x="137544" y="0"/>
                        <a:pt x="130969" y="0"/>
                      </a:cubicBezTo>
                      <a:close/>
                      <a:moveTo>
                        <a:pt x="130969" y="55654"/>
                      </a:moveTo>
                      <a:cubicBezTo>
                        <a:pt x="130969" y="114010"/>
                        <a:pt x="81595" y="133506"/>
                        <a:pt x="71438" y="136900"/>
                      </a:cubicBezTo>
                      <a:cubicBezTo>
                        <a:pt x="61369" y="133543"/>
                        <a:pt x="11906" y="114062"/>
                        <a:pt x="11906" y="55654"/>
                      </a:cubicBezTo>
                      <a:lnTo>
                        <a:pt x="11906" y="11906"/>
                      </a:lnTo>
                      <a:lnTo>
                        <a:pt x="130969" y="11906"/>
                      </a:lnTo>
                      <a:close/>
                      <a:moveTo>
                        <a:pt x="37460" y="75649"/>
                      </a:moveTo>
                      <a:cubicBezTo>
                        <a:pt x="35134" y="73323"/>
                        <a:pt x="35134" y="69552"/>
                        <a:pt x="37460" y="67226"/>
                      </a:cubicBezTo>
                      <a:cubicBezTo>
                        <a:pt x="39786" y="64900"/>
                        <a:pt x="43558" y="64900"/>
                        <a:pt x="45884" y="67226"/>
                      </a:cubicBezTo>
                      <a:lnTo>
                        <a:pt x="59531" y="80873"/>
                      </a:lnTo>
                      <a:lnTo>
                        <a:pt x="96991" y="43413"/>
                      </a:lnTo>
                      <a:cubicBezTo>
                        <a:pt x="99317" y="41087"/>
                        <a:pt x="103089" y="41087"/>
                        <a:pt x="105415" y="43413"/>
                      </a:cubicBezTo>
                      <a:cubicBezTo>
                        <a:pt x="107741" y="45739"/>
                        <a:pt x="107741" y="49511"/>
                        <a:pt x="105415" y="51837"/>
                      </a:cubicBezTo>
                      <a:lnTo>
                        <a:pt x="63743" y="93509"/>
                      </a:lnTo>
                      <a:cubicBezTo>
                        <a:pt x="62626" y="94627"/>
                        <a:pt x="61111" y="95255"/>
                        <a:pt x="59531" y="95255"/>
                      </a:cubicBezTo>
                      <a:cubicBezTo>
                        <a:pt x="57951" y="95255"/>
                        <a:pt x="56436" y="94627"/>
                        <a:pt x="55319" y="93509"/>
                      </a:cubicBezTo>
                      <a:close/>
                    </a:path>
                  </a:pathLst>
                </a:custGeom>
                <a:solidFill>
                  <a:srgbClr val="FF6F00"/>
                </a:solidFill>
                <a:ln>
                  <a:noFill/>
                </a:ln>
              </p:spPr>
            </p:sp>
          </p:grpSp>
          <p:sp>
            <p:nvSpPr>
              <p:cNvPr id="65" name="TextBox 65"/>
              <p:cNvSpPr txBox="1"/>
              <p:nvPr/>
            </p:nvSpPr>
            <p:spPr>
              <a:xfrm>
                <a:off x="7129462" y="3250406"/>
                <a:ext cx="302895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预防措施：更新测试策略，堵住同类缺陷入口</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79" name="Group 79"/>
          <p:cNvGrpSpPr/>
          <p:nvPr/>
        </p:nvGrpSpPr>
        <p:grpSpPr>
          <a:xfrm>
            <a:off x="571500" y="4000500"/>
            <a:ext cx="11049000" cy="666750"/>
            <a:chOff x="571500" y="4000500"/>
            <a:chExt cx="11049000" cy="666750"/>
          </a:xfrm>
        </p:grpSpPr>
        <p:sp>
          <p:nvSpPr>
            <p:cNvPr id="68" name="Rectangle 68"/>
            <p:cNvSpPr/>
            <p:nvPr/>
          </p:nvSpPr>
          <p:spPr>
            <a:xfrm>
              <a:off x="571500" y="4000500"/>
              <a:ext cx="11049000" cy="666750"/>
            </a:xfrm>
            <a:prstGeom prst="roundRect">
              <a:avLst>
                <a:gd name="adj" fmla="val 17143"/>
              </a:avLst>
            </a:prstGeom>
            <a:solidFill>
              <a:srgbClr val="FFFFFF"/>
            </a:solidFill>
            <a:ln>
              <a:noFill/>
            </a:ln>
          </p:spPr>
        </p:sp>
        <p:sp>
          <p:nvSpPr>
            <p:cNvPr id="69" name="Rectangle 69"/>
            <p:cNvSpPr/>
            <p:nvPr/>
          </p:nvSpPr>
          <p:spPr>
            <a:xfrm>
              <a:off x="571500" y="4000500"/>
              <a:ext cx="57150" cy="666750"/>
            </a:xfrm>
            <a:prstGeom prst="roundRect">
              <a:avLst>
                <a:gd name="adj" fmla="val 50000"/>
              </a:avLst>
            </a:prstGeom>
            <a:gradFill>
              <a:gsLst>
                <a:gs pos="0">
                  <a:srgbClr val="00838F"/>
                </a:gs>
                <a:gs pos="100000">
                  <a:srgbClr val="1565C0"/>
                </a:gs>
              </a:gsLst>
              <a:lin ang="0" scaled="1"/>
            </a:gradFill>
            <a:ln>
              <a:noFill/>
            </a:ln>
          </p:spPr>
        </p:sp>
        <p:sp>
          <p:nvSpPr>
            <p:cNvPr id="70" name="TextBox 70"/>
            <p:cNvSpPr txBox="1"/>
            <p:nvPr/>
          </p:nvSpPr>
          <p:spPr>
            <a:xfrm>
              <a:off x="935355" y="4140518"/>
              <a:ext cx="1924526"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闭环：往前看（探索）</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1" name="TextBox 71"/>
            <p:cNvSpPr txBox="1"/>
            <p:nvPr/>
          </p:nvSpPr>
          <p:spPr>
            <a:xfrm>
              <a:off x="302133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3507105" y="4140518"/>
              <a:ext cx="79038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测试执行</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3" name="TextBox 73"/>
            <p:cNvSpPr txBox="1"/>
            <p:nvPr/>
          </p:nvSpPr>
          <p:spPr>
            <a:xfrm>
              <a:off x="483108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4" name="TextBox 74"/>
            <p:cNvSpPr txBox="1"/>
            <p:nvPr/>
          </p:nvSpPr>
          <p:spPr>
            <a:xfrm>
              <a:off x="5316855" y="4140518"/>
              <a:ext cx="135745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往后看（复盘）</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5" name="TextBox 75"/>
            <p:cNvSpPr txBox="1"/>
            <p:nvPr/>
          </p:nvSpPr>
          <p:spPr>
            <a:xfrm>
              <a:off x="740283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6" name="TextBox 76"/>
            <p:cNvSpPr txBox="1"/>
            <p:nvPr/>
          </p:nvSpPr>
          <p:spPr>
            <a:xfrm>
              <a:off x="7888605" y="4140518"/>
              <a:ext cx="79038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规范沉淀</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7" name="TextBox 77"/>
            <p:cNvSpPr txBox="1"/>
            <p:nvPr/>
          </p:nvSpPr>
          <p:spPr>
            <a:xfrm>
              <a:off x="940308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8" name="TextBox 78"/>
            <p:cNvSpPr txBox="1"/>
            <p:nvPr/>
          </p:nvSpPr>
          <p:spPr>
            <a:xfrm>
              <a:off x="9888855" y="4140518"/>
              <a:ext cx="790384" cy="274320"/>
            </a:xfrm>
            <a:prstGeom prst="rect">
              <a:avLst/>
            </a:prstGeom>
            <a:noFill/>
            <a:ln>
              <a:noFill/>
            </a:ln>
          </p:spPr>
          <p:txBody>
            <a:bodyPr wrap="none" lIns="0" tIns="0" rIns="0" bIns="0" anchor="t" anchorCtr="0">
              <a:spAutoFit/>
            </a:bodyPr>
            <a:lstStyle/>
            <a:p>
              <a:pPr algn="l"/>
              <a:r>
                <a:rPr lang="zh-CN" sz="1350" b="1" dirty="0">
                  <a:solidFill>
                    <a:srgbClr val="FF6F00"/>
                  </a:solidFill>
                  <a:latin typeface="Segoe UI" panose="020B0502040204020203"/>
                  <a:ea typeface="微软雅黑" panose="020B0503020204020204" charset="-122"/>
                  <a:cs typeface="Segoe UI" panose="020B0502040204020203"/>
                </a:rPr>
                <a:t>持续改进</a:t>
              </a:r>
              <a:endParaRPr lang="zh-CN" sz="1350" b="1" dirty="0">
                <a:solidFill>
                  <a:srgbClr val="FF6F00"/>
                </a:solidFill>
                <a:latin typeface="Segoe UI" panose="020B0502040204020203"/>
                <a:ea typeface="微软雅黑" panose="020B0503020204020204" charset="-122"/>
                <a:cs typeface="Segoe UI" panose="020B0502040204020203"/>
              </a:endParaRPr>
            </a:p>
          </p:txBody>
        </p:sp>
      </p:grpSp>
      <p:grpSp>
        <p:nvGrpSpPr>
          <p:cNvPr id="82" name="Group 82"/>
          <p:cNvGrpSpPr/>
          <p:nvPr/>
        </p:nvGrpSpPr>
        <p:grpSpPr>
          <a:xfrm>
            <a:off x="571500" y="4905375"/>
            <a:ext cx="11049000" cy="476250"/>
            <a:chOff x="571500" y="4905375"/>
            <a:chExt cx="11049000" cy="476250"/>
          </a:xfrm>
        </p:grpSpPr>
        <p:sp>
          <p:nvSpPr>
            <p:cNvPr id="80" name="Rectangle 80"/>
            <p:cNvSpPr/>
            <p:nvPr/>
          </p:nvSpPr>
          <p:spPr>
            <a:xfrm>
              <a:off x="571500" y="4905375"/>
              <a:ext cx="11049000" cy="476250"/>
            </a:xfrm>
            <a:prstGeom prst="roundRect">
              <a:avLst>
                <a:gd name="adj" fmla="val 16000"/>
              </a:avLst>
            </a:prstGeom>
            <a:solidFill>
              <a:srgbClr val="1565C0">
                <a:alpha val="6000"/>
              </a:srgbClr>
            </a:solidFill>
            <a:ln>
              <a:noFill/>
            </a:ln>
          </p:spPr>
        </p:sp>
        <p:sp>
          <p:nvSpPr>
            <p:cNvPr id="81" name="TextBox 81"/>
            <p:cNvSpPr txBox="1"/>
            <p:nvPr/>
          </p:nvSpPr>
          <p:spPr>
            <a:xfrm>
              <a:off x="3056382" y="5071110"/>
              <a:ext cx="6079236"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核心观点：只有将探索与复盘统一，将教训沉淀为规范，才能实现持续改进的闭环</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83" name="TextBox 8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84" name="图片 8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lide(fromBottom)">
                                      <p:cBhvr>
                                        <p:cTn id="7" dur="400"/>
                                        <p:tgtEl>
                                          <p:spTgt spid="38"/>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image">
                                      <p:cBhvr>
                                        <p:cTn id="11" dur="400"/>
                                        <p:tgtEl>
                                          <p:spTgt spid="6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fade">
                                      <p:cBhvr>
                                        <p:cTn id="15" dur="400"/>
                                        <p:tgtEl>
                                          <p:spTgt spid="7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fade">
                                      <p:cBhvr>
                                        <p:cTn id="1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67" grpId="0"/>
      <p:bldP spid="79" grpId="0"/>
      <p:bldP spid="8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08330" y="296545"/>
            <a:ext cx="2590800" cy="31305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AI需求分析师</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278707" y="1052989"/>
            <a:ext cx="5634585"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将资深需求工程师的方法论注入AI，实现30分钟从模糊想法到完整需求规格</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619750" cy="4000500"/>
          </a:xfrm>
          <a:prstGeom prst="roundRect">
            <a:avLst>
              <a:gd name="adj" fmla="val 2857"/>
            </a:avLst>
          </a:prstGeom>
          <a:solidFill>
            <a:srgbClr val="FFFFFF"/>
          </a:solidFill>
          <a:ln w="9525">
            <a:solidFill>
              <a:srgbClr val="CFD8DC"/>
            </a:solidFill>
          </a:ln>
        </p:spPr>
      </p:sp>
      <p:sp>
        <p:nvSpPr>
          <p:cNvPr id="11" name="Rectangle 11"/>
          <p:cNvSpPr/>
          <p:nvPr/>
        </p:nvSpPr>
        <p:spPr>
          <a:xfrm>
            <a:off x="571500" y="1428750"/>
            <a:ext cx="5619750" cy="38100"/>
          </a:xfrm>
          <a:prstGeom prst="roundRect">
            <a:avLst>
              <a:gd name="adj" fmla="val 50000"/>
            </a:avLst>
          </a:prstGeom>
          <a:solidFill>
            <a:srgbClr val="1565C0"/>
          </a:solidFill>
          <a:ln>
            <a:noFill/>
          </a:ln>
        </p:spPr>
      </p:sp>
      <p:sp>
        <p:nvSpPr>
          <p:cNvPr id="12" name="TextBox 12"/>
          <p:cNvSpPr txBox="1"/>
          <p:nvPr/>
        </p:nvSpPr>
        <p:spPr>
          <a:xfrm>
            <a:off x="788670" y="1536382"/>
            <a:ext cx="1682215"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12需求元素体系</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3" name="Rectangle 13"/>
          <p:cNvSpPr/>
          <p:nvPr/>
        </p:nvSpPr>
        <p:spPr>
          <a:xfrm>
            <a:off x="809625" y="1905000"/>
            <a:ext cx="1666875" cy="342900"/>
          </a:xfrm>
          <a:prstGeom prst="roundRect">
            <a:avLst>
              <a:gd name="adj" fmla="val 16667"/>
            </a:avLst>
          </a:prstGeom>
          <a:solidFill>
            <a:srgbClr val="1565C0">
              <a:alpha val="8000"/>
            </a:srgbClr>
          </a:solidFill>
          <a:ln>
            <a:noFill/>
          </a:ln>
        </p:spPr>
      </p:sp>
      <p:sp>
        <p:nvSpPr>
          <p:cNvPr id="14" name="TextBox 14"/>
          <p:cNvSpPr txBox="1"/>
          <p:nvPr/>
        </p:nvSpPr>
        <p:spPr>
          <a:xfrm>
            <a:off x="1082993" y="1994535"/>
            <a:ext cx="1110615"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角色（Actor）</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2619375" y="1905000"/>
            <a:ext cx="1666875" cy="342900"/>
          </a:xfrm>
          <a:prstGeom prst="roundRect">
            <a:avLst>
              <a:gd name="adj" fmla="val 16667"/>
            </a:avLst>
          </a:prstGeom>
          <a:solidFill>
            <a:srgbClr val="00838F">
              <a:alpha val="8000"/>
            </a:srgbClr>
          </a:solidFill>
          <a:ln>
            <a:noFill/>
          </a:ln>
        </p:spPr>
      </p:sp>
      <p:sp>
        <p:nvSpPr>
          <p:cNvPr id="16" name="TextBox 16"/>
          <p:cNvSpPr txBox="1"/>
          <p:nvPr/>
        </p:nvSpPr>
        <p:spPr>
          <a:xfrm>
            <a:off x="2956750" y="1994535"/>
            <a:ext cx="982599"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目标（Goal）</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4429125" y="1905000"/>
            <a:ext cx="1571625" cy="342900"/>
          </a:xfrm>
          <a:prstGeom prst="roundRect">
            <a:avLst>
              <a:gd name="adj" fmla="val 16667"/>
            </a:avLst>
          </a:prstGeom>
          <a:solidFill>
            <a:srgbClr val="FF6F00">
              <a:alpha val="8000"/>
            </a:srgbClr>
          </a:solidFill>
          <a:ln>
            <a:noFill/>
          </a:ln>
        </p:spPr>
      </p:sp>
      <p:sp>
        <p:nvSpPr>
          <p:cNvPr id="18" name="TextBox 18"/>
          <p:cNvSpPr txBox="1"/>
          <p:nvPr/>
        </p:nvSpPr>
        <p:spPr>
          <a:xfrm>
            <a:off x="4874895" y="1994535"/>
            <a:ext cx="67056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前置条件</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09625" y="2362200"/>
            <a:ext cx="1666875" cy="342900"/>
          </a:xfrm>
          <a:prstGeom prst="roundRect">
            <a:avLst>
              <a:gd name="adj" fmla="val 16667"/>
            </a:avLst>
          </a:prstGeom>
          <a:solidFill>
            <a:srgbClr val="FF6F00">
              <a:alpha val="8000"/>
            </a:srgbClr>
          </a:solidFill>
          <a:ln>
            <a:noFill/>
          </a:ln>
        </p:spPr>
      </p:sp>
      <p:sp>
        <p:nvSpPr>
          <p:cNvPr id="20" name="TextBox 20"/>
          <p:cNvSpPr txBox="1"/>
          <p:nvPr/>
        </p:nvSpPr>
        <p:spPr>
          <a:xfrm>
            <a:off x="1303020" y="2451735"/>
            <a:ext cx="67056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后置条件</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2619375" y="2362200"/>
            <a:ext cx="1666875" cy="342900"/>
          </a:xfrm>
          <a:prstGeom prst="roundRect">
            <a:avLst>
              <a:gd name="adj" fmla="val 16667"/>
            </a:avLst>
          </a:prstGeom>
          <a:solidFill>
            <a:srgbClr val="1565C0">
              <a:alpha val="8000"/>
            </a:srgbClr>
          </a:solidFill>
          <a:ln>
            <a:noFill/>
          </a:ln>
        </p:spPr>
      </p:sp>
      <p:sp>
        <p:nvSpPr>
          <p:cNvPr id="22" name="TextBox 22"/>
          <p:cNvSpPr txBox="1"/>
          <p:nvPr/>
        </p:nvSpPr>
        <p:spPr>
          <a:xfrm>
            <a:off x="3192780" y="2451735"/>
            <a:ext cx="510540"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主流程</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4429125" y="2362200"/>
            <a:ext cx="1571625" cy="342900"/>
          </a:xfrm>
          <a:prstGeom prst="roundRect">
            <a:avLst>
              <a:gd name="adj" fmla="val 16667"/>
            </a:avLst>
          </a:prstGeom>
          <a:solidFill>
            <a:srgbClr val="00838F">
              <a:alpha val="8000"/>
            </a:srgbClr>
          </a:solidFill>
          <a:ln>
            <a:noFill/>
          </a:ln>
        </p:spPr>
      </p:sp>
      <p:sp>
        <p:nvSpPr>
          <p:cNvPr id="24" name="TextBox 24"/>
          <p:cNvSpPr txBox="1"/>
          <p:nvPr/>
        </p:nvSpPr>
        <p:spPr>
          <a:xfrm>
            <a:off x="4874895" y="2451735"/>
            <a:ext cx="670560"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异常流程</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09625" y="2819400"/>
            <a:ext cx="1666875" cy="342900"/>
          </a:xfrm>
          <a:prstGeom prst="roundRect">
            <a:avLst>
              <a:gd name="adj" fmla="val 16667"/>
            </a:avLst>
          </a:prstGeom>
          <a:solidFill>
            <a:srgbClr val="00838F">
              <a:alpha val="8000"/>
            </a:srgbClr>
          </a:solidFill>
          <a:ln>
            <a:noFill/>
          </a:ln>
        </p:spPr>
      </p:sp>
      <p:sp>
        <p:nvSpPr>
          <p:cNvPr id="26" name="TextBox 26"/>
          <p:cNvSpPr txBox="1"/>
          <p:nvPr/>
        </p:nvSpPr>
        <p:spPr>
          <a:xfrm>
            <a:off x="1383030" y="2908935"/>
            <a:ext cx="510540"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数据项</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2619375" y="2819400"/>
            <a:ext cx="1666875" cy="342900"/>
          </a:xfrm>
          <a:prstGeom prst="roundRect">
            <a:avLst>
              <a:gd name="adj" fmla="val 16667"/>
            </a:avLst>
          </a:prstGeom>
          <a:solidFill>
            <a:srgbClr val="FF6F00">
              <a:alpha val="8000"/>
            </a:srgbClr>
          </a:solidFill>
          <a:ln>
            <a:noFill/>
          </a:ln>
        </p:spPr>
      </p:sp>
      <p:sp>
        <p:nvSpPr>
          <p:cNvPr id="28" name="TextBox 28"/>
          <p:cNvSpPr txBox="1"/>
          <p:nvPr/>
        </p:nvSpPr>
        <p:spPr>
          <a:xfrm>
            <a:off x="3112770" y="2908935"/>
            <a:ext cx="67056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校验规则</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4429125" y="2819400"/>
            <a:ext cx="1571625" cy="342900"/>
          </a:xfrm>
          <a:prstGeom prst="roundRect">
            <a:avLst>
              <a:gd name="adj" fmla="val 16667"/>
            </a:avLst>
          </a:prstGeom>
          <a:solidFill>
            <a:srgbClr val="1565C0">
              <a:alpha val="8000"/>
            </a:srgbClr>
          </a:solidFill>
          <a:ln>
            <a:noFill/>
          </a:ln>
        </p:spPr>
      </p:sp>
      <p:sp>
        <p:nvSpPr>
          <p:cNvPr id="30" name="TextBox 30"/>
          <p:cNvSpPr txBox="1"/>
          <p:nvPr/>
        </p:nvSpPr>
        <p:spPr>
          <a:xfrm>
            <a:off x="4874895" y="2908935"/>
            <a:ext cx="670560"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业务规则</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09625" y="3276600"/>
            <a:ext cx="1666875" cy="342900"/>
          </a:xfrm>
          <a:prstGeom prst="roundRect">
            <a:avLst>
              <a:gd name="adj" fmla="val 16667"/>
            </a:avLst>
          </a:prstGeom>
          <a:solidFill>
            <a:srgbClr val="2E7D32">
              <a:alpha val="8000"/>
            </a:srgbClr>
          </a:solidFill>
          <a:ln>
            <a:noFill/>
          </a:ln>
        </p:spPr>
      </p:sp>
      <p:sp>
        <p:nvSpPr>
          <p:cNvPr id="32" name="TextBox 32"/>
          <p:cNvSpPr txBox="1"/>
          <p:nvPr/>
        </p:nvSpPr>
        <p:spPr>
          <a:xfrm>
            <a:off x="1223010" y="3366135"/>
            <a:ext cx="830580"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非功能需求</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2619375" y="3276600"/>
            <a:ext cx="1666875" cy="342900"/>
          </a:xfrm>
          <a:prstGeom prst="roundRect">
            <a:avLst>
              <a:gd name="adj" fmla="val 16667"/>
            </a:avLst>
          </a:prstGeom>
          <a:solidFill>
            <a:srgbClr val="C62828">
              <a:alpha val="8000"/>
            </a:srgbClr>
          </a:solidFill>
          <a:ln>
            <a:noFill/>
          </a:ln>
        </p:spPr>
      </p:sp>
      <p:sp>
        <p:nvSpPr>
          <p:cNvPr id="34" name="TextBox 34"/>
          <p:cNvSpPr txBox="1"/>
          <p:nvPr/>
        </p:nvSpPr>
        <p:spPr>
          <a:xfrm>
            <a:off x="3112770" y="3366135"/>
            <a:ext cx="670560"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Segoe UI" panose="020B0502040204020203"/>
                <a:ea typeface="微软雅黑" panose="020B0503020204020204" charset="-122"/>
                <a:cs typeface="Segoe UI" panose="020B0502040204020203"/>
              </a:rPr>
              <a:t>约束条件</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4429125" y="3276600"/>
            <a:ext cx="1571625" cy="342900"/>
          </a:xfrm>
          <a:prstGeom prst="roundRect">
            <a:avLst>
              <a:gd name="adj" fmla="val 16667"/>
            </a:avLst>
          </a:prstGeom>
          <a:solidFill>
            <a:srgbClr val="1565C0">
              <a:alpha val="8000"/>
            </a:srgbClr>
          </a:solidFill>
          <a:ln>
            <a:noFill/>
          </a:ln>
        </p:spPr>
      </p:sp>
      <p:sp>
        <p:nvSpPr>
          <p:cNvPr id="36" name="TextBox 36"/>
          <p:cNvSpPr txBox="1"/>
          <p:nvPr/>
        </p:nvSpPr>
        <p:spPr>
          <a:xfrm>
            <a:off x="4874895" y="3366135"/>
            <a:ext cx="670560"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验收标准</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94385" y="3823335"/>
            <a:ext cx="2126742" cy="243840"/>
          </a:xfrm>
          <a:prstGeom prst="rect">
            <a:avLst/>
          </a:prstGeom>
          <a:noFill/>
          <a:ln>
            <a:noFill/>
          </a:ln>
        </p:spPr>
        <p:txBody>
          <a:bodyPr wrap="none" lIns="0" tIns="0" rIns="0" bIns="0" anchor="t" anchorCtr="0">
            <a:spAutoFit/>
          </a:bodyPr>
          <a:lstStyle/>
          <a:p>
            <a:pPr algn="l"/>
            <a:r>
              <a:rPr lang="zh-CN" sz="1200" i="1" dirty="0">
                <a:solidFill>
                  <a:srgbClr val="90A4AE"/>
                </a:solidFill>
                <a:latin typeface="Segoe UI" panose="020B0502040204020203"/>
                <a:ea typeface="微软雅黑" panose="020B0503020204020204" charset="-122"/>
                <a:cs typeface="Segoe UI" panose="020B0502040204020203"/>
              </a:rPr>
              <a:t>12元素构成完整的需求元模型</a:t>
            </a:r>
            <a:endParaRPr lang="zh-CN" sz="1200" i="1" dirty="0">
              <a:solidFill>
                <a:srgbClr val="90A4AE"/>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794385" y="4042410"/>
            <a:ext cx="2126742" cy="243840"/>
          </a:xfrm>
          <a:prstGeom prst="rect">
            <a:avLst/>
          </a:prstGeom>
          <a:noFill/>
          <a:ln>
            <a:noFill/>
          </a:ln>
        </p:spPr>
        <p:txBody>
          <a:bodyPr wrap="none" lIns="0" tIns="0" rIns="0" bIns="0" anchor="t" anchorCtr="0">
            <a:spAutoFit/>
          </a:bodyPr>
          <a:lstStyle/>
          <a:p>
            <a:pPr algn="l"/>
            <a:r>
              <a:rPr lang="zh-CN" sz="1200" i="1" dirty="0">
                <a:solidFill>
                  <a:srgbClr val="90A4AE"/>
                </a:solidFill>
                <a:latin typeface="Segoe UI" panose="020B0502040204020203"/>
                <a:ea typeface="微软雅黑" panose="020B0503020204020204" charset="-122"/>
                <a:cs typeface="Segoe UI" panose="020B0502040204020203"/>
              </a:rPr>
              <a:t>——每个元素精确描述一个维度</a:t>
            </a:r>
            <a:endParaRPr lang="zh-CN" sz="1200" i="1" dirty="0">
              <a:solidFill>
                <a:srgbClr val="90A4AE"/>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6381750" y="1428750"/>
            <a:ext cx="5238750" cy="4000500"/>
          </a:xfrm>
          <a:prstGeom prst="roundRect">
            <a:avLst>
              <a:gd name="adj" fmla="val 2857"/>
            </a:avLst>
          </a:prstGeom>
          <a:solidFill>
            <a:srgbClr val="FFFFFF"/>
          </a:solidFill>
          <a:ln w="9525">
            <a:solidFill>
              <a:srgbClr val="CFD8DC"/>
            </a:solidFill>
          </a:ln>
        </p:spPr>
      </p:sp>
      <p:sp>
        <p:nvSpPr>
          <p:cNvPr id="40" name="Rectangle 40"/>
          <p:cNvSpPr/>
          <p:nvPr/>
        </p:nvSpPr>
        <p:spPr>
          <a:xfrm>
            <a:off x="6381750" y="1428750"/>
            <a:ext cx="5238750" cy="38100"/>
          </a:xfrm>
          <a:prstGeom prst="roundRect">
            <a:avLst>
              <a:gd name="adj" fmla="val 50000"/>
            </a:avLst>
          </a:prstGeom>
          <a:solidFill>
            <a:srgbClr val="00838F"/>
          </a:solidFill>
          <a:ln>
            <a:noFill/>
          </a:ln>
        </p:spPr>
      </p:sp>
      <p:sp>
        <p:nvSpPr>
          <p:cNvPr id="41" name="TextBox 41"/>
          <p:cNvSpPr txBox="1"/>
          <p:nvPr/>
        </p:nvSpPr>
        <p:spPr>
          <a:xfrm>
            <a:off x="6598920" y="1536382"/>
            <a:ext cx="1428083"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三大核心能力</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6619875" y="1952625"/>
            <a:ext cx="4762500" cy="762000"/>
          </a:xfrm>
          <a:prstGeom prst="roundRect">
            <a:avLst>
              <a:gd name="adj" fmla="val 10000"/>
            </a:avLst>
          </a:prstGeom>
          <a:solidFill>
            <a:srgbClr val="F5F7FA"/>
          </a:solidFill>
          <a:ln>
            <a:noFill/>
          </a:ln>
        </p:spPr>
      </p:sp>
      <p:sp>
        <p:nvSpPr>
          <p:cNvPr id="43" name="Rectangle 43"/>
          <p:cNvSpPr/>
          <p:nvPr/>
        </p:nvSpPr>
        <p:spPr>
          <a:xfrm>
            <a:off x="6619875" y="1952625"/>
            <a:ext cx="38100" cy="762000"/>
          </a:xfrm>
          <a:prstGeom prst="roundRect">
            <a:avLst>
              <a:gd name="adj" fmla="val 50000"/>
            </a:avLst>
          </a:prstGeom>
          <a:solidFill>
            <a:srgbClr val="1565C0"/>
          </a:solidFill>
          <a:ln>
            <a:noFill/>
          </a:ln>
        </p:spPr>
      </p:sp>
      <p:grpSp>
        <p:nvGrpSpPr>
          <p:cNvPr id="46" name="Group 46"/>
          <p:cNvGrpSpPr/>
          <p:nvPr/>
        </p:nvGrpSpPr>
        <p:grpSpPr>
          <a:xfrm>
            <a:off x="6788342" y="2130904"/>
            <a:ext cx="196459" cy="170293"/>
            <a:chOff x="6788342" y="2130904"/>
            <a:chExt cx="196459" cy="170293"/>
          </a:xfrm>
        </p:grpSpPr>
        <p:sp>
          <p:nvSpPr>
            <p:cNvPr id="44" name="Freeform 44"/>
            <p:cNvSpPr/>
            <p:nvPr/>
          </p:nvSpPr>
          <p:spPr>
            <a:xfrm>
              <a:off x="6794862" y="2140744"/>
              <a:ext cx="183397" cy="150614"/>
            </a:xfrm>
            <a:custGeom>
              <a:avLst/>
              <a:gdLst/>
              <a:ahLst/>
              <a:cxnLst/>
              <a:rect l="l" t="t" r="r" b="b"/>
              <a:pathLst>
                <a:path w="183397" h="150614">
                  <a:moveTo>
                    <a:pt x="183391" y="75307"/>
                  </a:moveTo>
                  <a:cubicBezTo>
                    <a:pt x="183397" y="91962"/>
                    <a:pt x="172900" y="106811"/>
                    <a:pt x="157198" y="112363"/>
                  </a:cubicBezTo>
                  <a:lnTo>
                    <a:pt x="157198" y="112363"/>
                  </a:lnTo>
                  <a:lnTo>
                    <a:pt x="157198" y="117872"/>
                  </a:lnTo>
                  <a:cubicBezTo>
                    <a:pt x="157198" y="135955"/>
                    <a:pt x="142538" y="150614"/>
                    <a:pt x="124455" y="150614"/>
                  </a:cubicBezTo>
                  <a:cubicBezTo>
                    <a:pt x="106372" y="150614"/>
                    <a:pt x="91713" y="135955"/>
                    <a:pt x="91713" y="117872"/>
                  </a:cubicBezTo>
                  <a:cubicBezTo>
                    <a:pt x="91713" y="135955"/>
                    <a:pt x="77054" y="150614"/>
                    <a:pt x="58971" y="150614"/>
                  </a:cubicBezTo>
                  <a:cubicBezTo>
                    <a:pt x="40888" y="150614"/>
                    <a:pt x="26229" y="135955"/>
                    <a:pt x="26229" y="117872"/>
                  </a:cubicBezTo>
                  <a:lnTo>
                    <a:pt x="26229" y="112363"/>
                  </a:lnTo>
                  <a:lnTo>
                    <a:pt x="26229" y="112363"/>
                  </a:lnTo>
                  <a:cubicBezTo>
                    <a:pt x="10512" y="106823"/>
                    <a:pt x="0" y="91971"/>
                    <a:pt x="0" y="75307"/>
                  </a:cubicBezTo>
                  <a:cubicBezTo>
                    <a:pt x="0" y="58643"/>
                    <a:pt x="10512" y="43791"/>
                    <a:pt x="26229" y="38251"/>
                  </a:cubicBezTo>
                  <a:lnTo>
                    <a:pt x="26229" y="32742"/>
                  </a:lnTo>
                  <a:cubicBezTo>
                    <a:pt x="26229" y="14659"/>
                    <a:pt x="40888" y="0"/>
                    <a:pt x="58971" y="0"/>
                  </a:cubicBezTo>
                  <a:cubicBezTo>
                    <a:pt x="77054" y="0"/>
                    <a:pt x="91713" y="14659"/>
                    <a:pt x="91713" y="32742"/>
                  </a:cubicBezTo>
                  <a:cubicBezTo>
                    <a:pt x="91713" y="14659"/>
                    <a:pt x="106372" y="0"/>
                    <a:pt x="124455" y="0"/>
                  </a:cubicBezTo>
                  <a:cubicBezTo>
                    <a:pt x="142538" y="0"/>
                    <a:pt x="157198" y="14659"/>
                    <a:pt x="157198" y="32742"/>
                  </a:cubicBezTo>
                  <a:lnTo>
                    <a:pt x="157198" y="38251"/>
                  </a:lnTo>
                  <a:cubicBezTo>
                    <a:pt x="172900" y="43803"/>
                    <a:pt x="183397" y="58652"/>
                    <a:pt x="183391" y="75307"/>
                  </a:cubicBezTo>
                  <a:close/>
                </a:path>
              </a:pathLst>
            </a:custGeom>
            <a:solidFill>
              <a:srgbClr val="1565C0">
                <a:alpha val="20000"/>
              </a:srgbClr>
            </a:solidFill>
            <a:ln>
              <a:noFill/>
            </a:ln>
          </p:spPr>
        </p:sp>
        <p:sp>
          <p:nvSpPr>
            <p:cNvPr id="45" name="Freeform 45"/>
            <p:cNvSpPr/>
            <p:nvPr/>
          </p:nvSpPr>
          <p:spPr>
            <a:xfrm>
              <a:off x="6788342" y="2130904"/>
              <a:ext cx="196459" cy="170293"/>
            </a:xfrm>
            <a:custGeom>
              <a:avLst/>
              <a:gdLst/>
              <a:ahLst/>
              <a:cxnLst/>
              <a:rect l="l" t="t" r="r" b="b"/>
              <a:pathLst>
                <a:path w="196459" h="170293">
                  <a:moveTo>
                    <a:pt x="196459" y="85146"/>
                  </a:moveTo>
                  <a:cubicBezTo>
                    <a:pt x="196442" y="67443"/>
                    <a:pt x="186251" y="51326"/>
                    <a:pt x="170266" y="43719"/>
                  </a:cubicBezTo>
                  <a:lnTo>
                    <a:pt x="170266" y="42582"/>
                  </a:lnTo>
                  <a:cubicBezTo>
                    <a:pt x="170250" y="25257"/>
                    <a:pt x="158889" y="9987"/>
                    <a:pt x="142300" y="4994"/>
                  </a:cubicBezTo>
                  <a:cubicBezTo>
                    <a:pt x="125711" y="0"/>
                    <a:pt x="107809" y="6461"/>
                    <a:pt x="98233" y="20898"/>
                  </a:cubicBezTo>
                  <a:cubicBezTo>
                    <a:pt x="88656" y="6461"/>
                    <a:pt x="70754" y="0"/>
                    <a:pt x="54165" y="4994"/>
                  </a:cubicBezTo>
                  <a:cubicBezTo>
                    <a:pt x="37576" y="9987"/>
                    <a:pt x="26215" y="25257"/>
                    <a:pt x="26200" y="42582"/>
                  </a:cubicBezTo>
                  <a:lnTo>
                    <a:pt x="26200" y="43719"/>
                  </a:lnTo>
                  <a:cubicBezTo>
                    <a:pt x="10200" y="51306"/>
                    <a:pt x="0" y="67430"/>
                    <a:pt x="0" y="85138"/>
                  </a:cubicBezTo>
                  <a:cubicBezTo>
                    <a:pt x="0" y="102846"/>
                    <a:pt x="10200" y="118970"/>
                    <a:pt x="26200" y="126557"/>
                  </a:cubicBezTo>
                  <a:lnTo>
                    <a:pt x="26200" y="127711"/>
                  </a:lnTo>
                  <a:cubicBezTo>
                    <a:pt x="26215" y="145036"/>
                    <a:pt x="37576" y="160305"/>
                    <a:pt x="54165" y="165299"/>
                  </a:cubicBezTo>
                  <a:cubicBezTo>
                    <a:pt x="70754" y="170293"/>
                    <a:pt x="88656" y="163832"/>
                    <a:pt x="98233" y="149395"/>
                  </a:cubicBezTo>
                  <a:cubicBezTo>
                    <a:pt x="107809" y="163832"/>
                    <a:pt x="125711" y="170293"/>
                    <a:pt x="142300" y="165299"/>
                  </a:cubicBezTo>
                  <a:cubicBezTo>
                    <a:pt x="158889" y="160305"/>
                    <a:pt x="170250" y="145036"/>
                    <a:pt x="170266" y="127711"/>
                  </a:cubicBezTo>
                  <a:lnTo>
                    <a:pt x="170266" y="126557"/>
                  </a:lnTo>
                  <a:cubicBezTo>
                    <a:pt x="186248" y="118956"/>
                    <a:pt x="196439" y="102845"/>
                    <a:pt x="196459" y="85146"/>
                  </a:cubicBezTo>
                  <a:close/>
                  <a:moveTo>
                    <a:pt x="65491" y="153905"/>
                  </a:moveTo>
                  <a:cubicBezTo>
                    <a:pt x="52115" y="153903"/>
                    <a:pt x="40890" y="143825"/>
                    <a:pt x="39452" y="130527"/>
                  </a:cubicBezTo>
                  <a:cubicBezTo>
                    <a:pt x="41570" y="130829"/>
                    <a:pt x="43706" y="130982"/>
                    <a:pt x="45845" y="130985"/>
                  </a:cubicBezTo>
                  <a:lnTo>
                    <a:pt x="52394" y="130985"/>
                  </a:lnTo>
                  <a:cubicBezTo>
                    <a:pt x="56010" y="130985"/>
                    <a:pt x="58942" y="128054"/>
                    <a:pt x="58942" y="124437"/>
                  </a:cubicBezTo>
                  <a:cubicBezTo>
                    <a:pt x="58942" y="120820"/>
                    <a:pt x="56010" y="117889"/>
                    <a:pt x="52394" y="117889"/>
                  </a:cubicBezTo>
                  <a:lnTo>
                    <a:pt x="45845" y="117889"/>
                  </a:lnTo>
                  <a:cubicBezTo>
                    <a:pt x="29883" y="117907"/>
                    <a:pt x="16234" y="106413"/>
                    <a:pt x="13536" y="90681"/>
                  </a:cubicBezTo>
                  <a:cubicBezTo>
                    <a:pt x="10838" y="74948"/>
                    <a:pt x="19878" y="59563"/>
                    <a:pt x="34934" y="54262"/>
                  </a:cubicBezTo>
                  <a:cubicBezTo>
                    <a:pt x="37548" y="53337"/>
                    <a:pt x="39296" y="50864"/>
                    <a:pt x="39297" y="48090"/>
                  </a:cubicBezTo>
                  <a:lnTo>
                    <a:pt x="39297" y="42582"/>
                  </a:lnTo>
                  <a:cubicBezTo>
                    <a:pt x="39297" y="28115"/>
                    <a:pt x="51024" y="16388"/>
                    <a:pt x="65491" y="16388"/>
                  </a:cubicBezTo>
                  <a:cubicBezTo>
                    <a:pt x="79957" y="16388"/>
                    <a:pt x="91684" y="28115"/>
                    <a:pt x="91684" y="42582"/>
                  </a:cubicBezTo>
                  <a:lnTo>
                    <a:pt x="91684" y="98456"/>
                  </a:lnTo>
                  <a:cubicBezTo>
                    <a:pt x="84493" y="91989"/>
                    <a:pt x="75162" y="88413"/>
                    <a:pt x="65491" y="88421"/>
                  </a:cubicBezTo>
                  <a:cubicBezTo>
                    <a:pt x="61874" y="88421"/>
                    <a:pt x="58942" y="91352"/>
                    <a:pt x="58942" y="94969"/>
                  </a:cubicBezTo>
                  <a:cubicBezTo>
                    <a:pt x="58942" y="98586"/>
                    <a:pt x="61874" y="101517"/>
                    <a:pt x="65491" y="101517"/>
                  </a:cubicBezTo>
                  <a:cubicBezTo>
                    <a:pt x="79957" y="101517"/>
                    <a:pt x="91684" y="113245"/>
                    <a:pt x="91684" y="127711"/>
                  </a:cubicBezTo>
                  <a:cubicBezTo>
                    <a:pt x="91684" y="142178"/>
                    <a:pt x="79957" y="153905"/>
                    <a:pt x="65491" y="153905"/>
                  </a:cubicBezTo>
                  <a:close/>
                  <a:moveTo>
                    <a:pt x="150620" y="117889"/>
                  </a:moveTo>
                  <a:lnTo>
                    <a:pt x="144072" y="117889"/>
                  </a:lnTo>
                  <a:cubicBezTo>
                    <a:pt x="140455" y="117889"/>
                    <a:pt x="137523" y="120820"/>
                    <a:pt x="137523" y="124437"/>
                  </a:cubicBezTo>
                  <a:cubicBezTo>
                    <a:pt x="137523" y="128054"/>
                    <a:pt x="140455" y="130985"/>
                    <a:pt x="144072" y="130985"/>
                  </a:cubicBezTo>
                  <a:lnTo>
                    <a:pt x="150620" y="130985"/>
                  </a:lnTo>
                  <a:cubicBezTo>
                    <a:pt x="152759" y="130982"/>
                    <a:pt x="154895" y="130829"/>
                    <a:pt x="157013" y="130527"/>
                  </a:cubicBezTo>
                  <a:cubicBezTo>
                    <a:pt x="155497" y="144546"/>
                    <a:pt x="143155" y="154850"/>
                    <a:pt x="129091" y="153837"/>
                  </a:cubicBezTo>
                  <a:cubicBezTo>
                    <a:pt x="115026" y="152825"/>
                    <a:pt x="104287" y="140860"/>
                    <a:pt x="104794" y="126768"/>
                  </a:cubicBezTo>
                  <a:cubicBezTo>
                    <a:pt x="105302" y="112677"/>
                    <a:pt x="116874" y="101515"/>
                    <a:pt x="130975" y="101517"/>
                  </a:cubicBezTo>
                  <a:cubicBezTo>
                    <a:pt x="134591" y="101517"/>
                    <a:pt x="137523" y="98586"/>
                    <a:pt x="137523" y="94969"/>
                  </a:cubicBezTo>
                  <a:cubicBezTo>
                    <a:pt x="137523" y="91352"/>
                    <a:pt x="134591" y="88421"/>
                    <a:pt x="130975" y="88421"/>
                  </a:cubicBezTo>
                  <a:cubicBezTo>
                    <a:pt x="121303" y="88413"/>
                    <a:pt x="111972" y="91989"/>
                    <a:pt x="104781" y="98456"/>
                  </a:cubicBezTo>
                  <a:lnTo>
                    <a:pt x="104781" y="42582"/>
                  </a:lnTo>
                  <a:cubicBezTo>
                    <a:pt x="104781" y="28115"/>
                    <a:pt x="116508" y="16388"/>
                    <a:pt x="130975" y="16388"/>
                  </a:cubicBezTo>
                  <a:cubicBezTo>
                    <a:pt x="145441" y="16388"/>
                    <a:pt x="157169" y="28115"/>
                    <a:pt x="157169" y="42582"/>
                  </a:cubicBezTo>
                  <a:lnTo>
                    <a:pt x="157169" y="48090"/>
                  </a:lnTo>
                  <a:cubicBezTo>
                    <a:pt x="157169" y="50864"/>
                    <a:pt x="158917" y="53337"/>
                    <a:pt x="161532" y="54262"/>
                  </a:cubicBezTo>
                  <a:cubicBezTo>
                    <a:pt x="176588" y="59563"/>
                    <a:pt x="185628" y="74948"/>
                    <a:pt x="182930" y="90681"/>
                  </a:cubicBezTo>
                  <a:cubicBezTo>
                    <a:pt x="180232" y="106413"/>
                    <a:pt x="166582" y="117907"/>
                    <a:pt x="150620" y="117889"/>
                  </a:cubicBezTo>
                  <a:close/>
                  <a:moveTo>
                    <a:pt x="163717" y="75324"/>
                  </a:moveTo>
                  <a:cubicBezTo>
                    <a:pt x="163717" y="78940"/>
                    <a:pt x="160785" y="81872"/>
                    <a:pt x="157169" y="81872"/>
                  </a:cubicBezTo>
                  <a:lnTo>
                    <a:pt x="153894" y="81872"/>
                  </a:lnTo>
                  <a:cubicBezTo>
                    <a:pt x="137620" y="81872"/>
                    <a:pt x="124426" y="68679"/>
                    <a:pt x="124426" y="52404"/>
                  </a:cubicBezTo>
                  <a:lnTo>
                    <a:pt x="124426" y="49130"/>
                  </a:lnTo>
                  <a:cubicBezTo>
                    <a:pt x="124426" y="45513"/>
                    <a:pt x="127358" y="42582"/>
                    <a:pt x="130975" y="42582"/>
                  </a:cubicBezTo>
                  <a:cubicBezTo>
                    <a:pt x="134591" y="42582"/>
                    <a:pt x="137523" y="45513"/>
                    <a:pt x="137523" y="49130"/>
                  </a:cubicBezTo>
                  <a:lnTo>
                    <a:pt x="137523" y="52404"/>
                  </a:lnTo>
                  <a:cubicBezTo>
                    <a:pt x="137523" y="61446"/>
                    <a:pt x="144853" y="68775"/>
                    <a:pt x="153894" y="68775"/>
                  </a:cubicBezTo>
                  <a:lnTo>
                    <a:pt x="157169" y="68775"/>
                  </a:lnTo>
                  <a:cubicBezTo>
                    <a:pt x="160785" y="68775"/>
                    <a:pt x="163717" y="71707"/>
                    <a:pt x="163717" y="75324"/>
                  </a:cubicBezTo>
                  <a:close/>
                  <a:moveTo>
                    <a:pt x="42571" y="81872"/>
                  </a:moveTo>
                  <a:lnTo>
                    <a:pt x="39297" y="81872"/>
                  </a:lnTo>
                  <a:cubicBezTo>
                    <a:pt x="35680" y="81872"/>
                    <a:pt x="32748" y="78940"/>
                    <a:pt x="32748" y="75324"/>
                  </a:cubicBezTo>
                  <a:cubicBezTo>
                    <a:pt x="32748" y="71707"/>
                    <a:pt x="35680" y="68775"/>
                    <a:pt x="39297" y="68775"/>
                  </a:cubicBezTo>
                  <a:lnTo>
                    <a:pt x="42571" y="68775"/>
                  </a:lnTo>
                  <a:cubicBezTo>
                    <a:pt x="51612" y="68775"/>
                    <a:pt x="58942" y="61446"/>
                    <a:pt x="58942" y="52404"/>
                  </a:cubicBezTo>
                  <a:lnTo>
                    <a:pt x="58942" y="49130"/>
                  </a:lnTo>
                  <a:cubicBezTo>
                    <a:pt x="58942" y="45513"/>
                    <a:pt x="61874" y="42582"/>
                    <a:pt x="65491" y="42582"/>
                  </a:cubicBezTo>
                  <a:cubicBezTo>
                    <a:pt x="69107" y="42582"/>
                    <a:pt x="72039" y="45513"/>
                    <a:pt x="72039" y="49130"/>
                  </a:cubicBezTo>
                  <a:lnTo>
                    <a:pt x="72039" y="52404"/>
                  </a:lnTo>
                  <a:cubicBezTo>
                    <a:pt x="72039" y="68679"/>
                    <a:pt x="58846" y="81872"/>
                    <a:pt x="42571" y="81872"/>
                  </a:cubicBezTo>
                  <a:close/>
                </a:path>
              </a:pathLst>
            </a:custGeom>
            <a:solidFill>
              <a:srgbClr val="1565C0"/>
            </a:solidFill>
            <a:ln>
              <a:noFill/>
            </a:ln>
          </p:spPr>
        </p:sp>
      </p:grpSp>
      <p:sp>
        <p:nvSpPr>
          <p:cNvPr id="47" name="TextBox 47"/>
          <p:cNvSpPr txBox="1"/>
          <p:nvPr/>
        </p:nvSpPr>
        <p:spPr>
          <a:xfrm>
            <a:off x="7079932" y="2129314"/>
            <a:ext cx="1282041"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结构化对话引导</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795135" y="2366010"/>
            <a:ext cx="245478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VIST+AED校验，逐步澄清模糊需求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6619875" y="2838450"/>
            <a:ext cx="4762500" cy="762000"/>
          </a:xfrm>
          <a:prstGeom prst="roundRect">
            <a:avLst>
              <a:gd name="adj" fmla="val 10000"/>
            </a:avLst>
          </a:prstGeom>
          <a:solidFill>
            <a:srgbClr val="F5F7FA"/>
          </a:solidFill>
          <a:ln>
            <a:noFill/>
          </a:ln>
        </p:spPr>
      </p:sp>
      <p:sp>
        <p:nvSpPr>
          <p:cNvPr id="50" name="Rectangle 50"/>
          <p:cNvSpPr/>
          <p:nvPr/>
        </p:nvSpPr>
        <p:spPr>
          <a:xfrm>
            <a:off x="6619875" y="2838450"/>
            <a:ext cx="38100" cy="762000"/>
          </a:xfrm>
          <a:prstGeom prst="roundRect">
            <a:avLst>
              <a:gd name="adj" fmla="val 50000"/>
            </a:avLst>
          </a:prstGeom>
          <a:solidFill>
            <a:srgbClr val="00838F"/>
          </a:solidFill>
          <a:ln>
            <a:noFill/>
          </a:ln>
        </p:spPr>
      </p:sp>
      <p:grpSp>
        <p:nvGrpSpPr>
          <p:cNvPr id="53" name="Group 53"/>
          <p:cNvGrpSpPr/>
          <p:nvPr/>
        </p:nvGrpSpPr>
        <p:grpSpPr>
          <a:xfrm>
            <a:off x="6793996" y="3012540"/>
            <a:ext cx="178352" cy="178383"/>
            <a:chOff x="6793996" y="3012540"/>
            <a:chExt cx="178352" cy="178383"/>
          </a:xfrm>
        </p:grpSpPr>
        <p:sp>
          <p:nvSpPr>
            <p:cNvPr id="51" name="Freeform 51"/>
            <p:cNvSpPr/>
            <p:nvPr/>
          </p:nvSpPr>
          <p:spPr>
            <a:xfrm>
              <a:off x="6807994" y="3026569"/>
              <a:ext cx="130969" cy="130969"/>
            </a:xfrm>
            <a:custGeom>
              <a:avLst/>
              <a:gdLst/>
              <a:ahLst/>
              <a:cxnLst/>
              <a:rect l="l" t="t" r="r" b="b"/>
              <a:pathLst>
                <a:path w="130969" h="130969">
                  <a:moveTo>
                    <a:pt x="130969" y="65484"/>
                  </a:moveTo>
                  <a:cubicBezTo>
                    <a:pt x="130969" y="101650"/>
                    <a:pt x="101650" y="130969"/>
                    <a:pt x="65484" y="130969"/>
                  </a:cubicBezTo>
                  <a:cubicBezTo>
                    <a:pt x="29318" y="130969"/>
                    <a:pt x="0" y="101650"/>
                    <a:pt x="0" y="65484"/>
                  </a:cubicBezTo>
                  <a:cubicBezTo>
                    <a:pt x="0" y="29318"/>
                    <a:pt x="29318" y="0"/>
                    <a:pt x="65484" y="0"/>
                  </a:cubicBezTo>
                  <a:cubicBezTo>
                    <a:pt x="101650" y="0"/>
                    <a:pt x="130969" y="29318"/>
                    <a:pt x="130969" y="65484"/>
                  </a:cubicBezTo>
                  <a:close/>
                </a:path>
              </a:pathLst>
            </a:custGeom>
            <a:solidFill>
              <a:srgbClr val="00838F">
                <a:alpha val="20000"/>
              </a:srgbClr>
            </a:solidFill>
            <a:ln>
              <a:noFill/>
            </a:ln>
          </p:spPr>
        </p:sp>
        <p:sp>
          <p:nvSpPr>
            <p:cNvPr id="52" name="Freeform 52"/>
            <p:cNvSpPr/>
            <p:nvPr/>
          </p:nvSpPr>
          <p:spPr>
            <a:xfrm>
              <a:off x="6793996" y="3012540"/>
              <a:ext cx="178352" cy="178383"/>
            </a:xfrm>
            <a:custGeom>
              <a:avLst/>
              <a:gdLst/>
              <a:ahLst/>
              <a:cxnLst/>
              <a:rect l="l" t="t" r="r" b="b"/>
              <a:pathLst>
                <a:path w="178352" h="178383">
                  <a:moveTo>
                    <a:pt x="175793" y="166558"/>
                  </a:moveTo>
                  <a:lnTo>
                    <a:pt x="134816" y="125581"/>
                  </a:lnTo>
                  <a:cubicBezTo>
                    <a:pt x="159537" y="95932"/>
                    <a:pt x="156565" y="52083"/>
                    <a:pt x="128069" y="26042"/>
                  </a:cubicBezTo>
                  <a:cubicBezTo>
                    <a:pt x="99573" y="0"/>
                    <a:pt x="55634" y="978"/>
                    <a:pt x="28326" y="28263"/>
                  </a:cubicBezTo>
                  <a:cubicBezTo>
                    <a:pt x="1017" y="55547"/>
                    <a:pt x="0" y="99485"/>
                    <a:pt x="26016" y="128004"/>
                  </a:cubicBezTo>
                  <a:cubicBezTo>
                    <a:pt x="52033" y="156523"/>
                    <a:pt x="95879" y="159534"/>
                    <a:pt x="125550" y="134839"/>
                  </a:cubicBezTo>
                  <a:lnTo>
                    <a:pt x="166527" y="175824"/>
                  </a:lnTo>
                  <a:cubicBezTo>
                    <a:pt x="169086" y="178383"/>
                    <a:pt x="173234" y="178383"/>
                    <a:pt x="175793" y="175824"/>
                  </a:cubicBezTo>
                  <a:cubicBezTo>
                    <a:pt x="178352" y="173265"/>
                    <a:pt x="178352" y="169117"/>
                    <a:pt x="175793" y="166558"/>
                  </a:cubicBezTo>
                  <a:close/>
                  <a:moveTo>
                    <a:pt x="20546" y="79513"/>
                  </a:moveTo>
                  <a:cubicBezTo>
                    <a:pt x="20546" y="46964"/>
                    <a:pt x="46932" y="20577"/>
                    <a:pt x="79482" y="20577"/>
                  </a:cubicBezTo>
                  <a:cubicBezTo>
                    <a:pt x="112031" y="20577"/>
                    <a:pt x="138418" y="46964"/>
                    <a:pt x="138418" y="79513"/>
                  </a:cubicBezTo>
                  <a:cubicBezTo>
                    <a:pt x="138418" y="112062"/>
                    <a:pt x="112031" y="138449"/>
                    <a:pt x="79482" y="138449"/>
                  </a:cubicBezTo>
                  <a:cubicBezTo>
                    <a:pt x="46947" y="138413"/>
                    <a:pt x="20582" y="112048"/>
                    <a:pt x="20546" y="79513"/>
                  </a:cubicBezTo>
                  <a:close/>
                </a:path>
              </a:pathLst>
            </a:custGeom>
            <a:solidFill>
              <a:srgbClr val="00838F"/>
            </a:solidFill>
            <a:ln>
              <a:noFill/>
            </a:ln>
          </p:spPr>
        </p:sp>
      </p:grpSp>
      <p:sp>
        <p:nvSpPr>
          <p:cNvPr id="54" name="TextBox 54"/>
          <p:cNvSpPr txBox="1"/>
          <p:nvPr/>
        </p:nvSpPr>
        <p:spPr>
          <a:xfrm>
            <a:off x="7079932" y="3015139"/>
            <a:ext cx="1282041"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自动完备性检查</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6795135" y="3251835"/>
            <a:ext cx="324688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识别遗漏、矛盾、歧义，确保12元素全部覆盖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Rectangle 56"/>
          <p:cNvSpPr/>
          <p:nvPr/>
        </p:nvSpPr>
        <p:spPr>
          <a:xfrm>
            <a:off x="6619875" y="3724275"/>
            <a:ext cx="4762500" cy="762000"/>
          </a:xfrm>
          <a:prstGeom prst="roundRect">
            <a:avLst>
              <a:gd name="adj" fmla="val 10000"/>
            </a:avLst>
          </a:prstGeom>
          <a:solidFill>
            <a:srgbClr val="F5F7FA"/>
          </a:solidFill>
          <a:ln>
            <a:noFill/>
          </a:ln>
        </p:spPr>
      </p:sp>
      <p:sp>
        <p:nvSpPr>
          <p:cNvPr id="57" name="Rectangle 57"/>
          <p:cNvSpPr/>
          <p:nvPr/>
        </p:nvSpPr>
        <p:spPr>
          <a:xfrm>
            <a:off x="6619875" y="3724275"/>
            <a:ext cx="38100" cy="762000"/>
          </a:xfrm>
          <a:prstGeom prst="roundRect">
            <a:avLst>
              <a:gd name="adj" fmla="val 50000"/>
            </a:avLst>
          </a:prstGeom>
          <a:solidFill>
            <a:srgbClr val="FF6F00"/>
          </a:solidFill>
          <a:ln>
            <a:noFill/>
          </a:ln>
        </p:spPr>
      </p:sp>
      <p:grpSp>
        <p:nvGrpSpPr>
          <p:cNvPr id="60" name="Group 60"/>
          <p:cNvGrpSpPr/>
          <p:nvPr/>
        </p:nvGrpSpPr>
        <p:grpSpPr>
          <a:xfrm>
            <a:off x="6787843" y="3897175"/>
            <a:ext cx="177314" cy="172381"/>
            <a:chOff x="6787843" y="3897175"/>
            <a:chExt cx="177314" cy="172381"/>
          </a:xfrm>
        </p:grpSpPr>
        <p:sp>
          <p:nvSpPr>
            <p:cNvPr id="58" name="Freeform 58"/>
            <p:cNvSpPr/>
            <p:nvPr/>
          </p:nvSpPr>
          <p:spPr>
            <a:xfrm>
              <a:off x="6793261" y="3904200"/>
              <a:ext cx="165346" cy="158807"/>
            </a:xfrm>
            <a:custGeom>
              <a:avLst/>
              <a:gdLst/>
              <a:ahLst/>
              <a:cxnLst/>
              <a:rect l="l" t="t" r="r" b="b"/>
              <a:pathLst>
                <a:path w="165346" h="158807">
                  <a:moveTo>
                    <a:pt x="155524" y="119517"/>
                  </a:moveTo>
                  <a:cubicBezTo>
                    <a:pt x="158921" y="119520"/>
                    <a:pt x="162276" y="118768"/>
                    <a:pt x="165346" y="117315"/>
                  </a:cubicBezTo>
                  <a:lnTo>
                    <a:pt x="165346" y="152259"/>
                  </a:lnTo>
                  <a:cubicBezTo>
                    <a:pt x="165346" y="155875"/>
                    <a:pt x="162415" y="158807"/>
                    <a:pt x="158798" y="158807"/>
                  </a:cubicBezTo>
                  <a:lnTo>
                    <a:pt x="40926" y="158807"/>
                  </a:lnTo>
                  <a:cubicBezTo>
                    <a:pt x="37310" y="158807"/>
                    <a:pt x="34378" y="155875"/>
                    <a:pt x="34378" y="152259"/>
                  </a:cubicBezTo>
                  <a:lnTo>
                    <a:pt x="34378" y="117315"/>
                  </a:lnTo>
                  <a:cubicBezTo>
                    <a:pt x="24747" y="121871"/>
                    <a:pt x="13247" y="119191"/>
                    <a:pt x="6624" y="110846"/>
                  </a:cubicBezTo>
                  <a:cubicBezTo>
                    <a:pt x="0" y="102501"/>
                    <a:pt x="0" y="90693"/>
                    <a:pt x="6624" y="82348"/>
                  </a:cubicBezTo>
                  <a:cubicBezTo>
                    <a:pt x="13247" y="74003"/>
                    <a:pt x="24747" y="71323"/>
                    <a:pt x="34378" y="75880"/>
                  </a:cubicBezTo>
                  <a:lnTo>
                    <a:pt x="34378" y="40935"/>
                  </a:lnTo>
                  <a:cubicBezTo>
                    <a:pt x="34378" y="37319"/>
                    <a:pt x="37310" y="34387"/>
                    <a:pt x="40926" y="34387"/>
                  </a:cubicBezTo>
                  <a:lnTo>
                    <a:pt x="79144" y="34387"/>
                  </a:lnTo>
                  <a:cubicBezTo>
                    <a:pt x="74583" y="24756"/>
                    <a:pt x="77261" y="13252"/>
                    <a:pt x="85606" y="6626"/>
                  </a:cubicBezTo>
                  <a:cubicBezTo>
                    <a:pt x="93952" y="0"/>
                    <a:pt x="105764" y="0"/>
                    <a:pt x="114110" y="6626"/>
                  </a:cubicBezTo>
                  <a:cubicBezTo>
                    <a:pt x="122455" y="13252"/>
                    <a:pt x="125133" y="24756"/>
                    <a:pt x="120572" y="34387"/>
                  </a:cubicBezTo>
                  <a:lnTo>
                    <a:pt x="158798" y="34387"/>
                  </a:lnTo>
                  <a:cubicBezTo>
                    <a:pt x="162415" y="34387"/>
                    <a:pt x="165346" y="37319"/>
                    <a:pt x="165346" y="40935"/>
                  </a:cubicBezTo>
                  <a:lnTo>
                    <a:pt x="165346" y="75880"/>
                  </a:lnTo>
                  <a:cubicBezTo>
                    <a:pt x="156845" y="71857"/>
                    <a:pt x="146750" y="73437"/>
                    <a:pt x="139883" y="79863"/>
                  </a:cubicBezTo>
                  <a:cubicBezTo>
                    <a:pt x="133016" y="86289"/>
                    <a:pt x="130772" y="96258"/>
                    <a:pt x="134223" y="105007"/>
                  </a:cubicBezTo>
                  <a:cubicBezTo>
                    <a:pt x="137674" y="113756"/>
                    <a:pt x="146119" y="119508"/>
                    <a:pt x="155524" y="119517"/>
                  </a:cubicBezTo>
                  <a:close/>
                </a:path>
              </a:pathLst>
            </a:custGeom>
            <a:solidFill>
              <a:srgbClr val="FF6F00">
                <a:alpha val="20000"/>
              </a:srgbClr>
            </a:solidFill>
            <a:ln>
              <a:noFill/>
            </a:ln>
          </p:spPr>
        </p:sp>
        <p:sp>
          <p:nvSpPr>
            <p:cNvPr id="59" name="Freeform 59"/>
            <p:cNvSpPr/>
            <p:nvPr/>
          </p:nvSpPr>
          <p:spPr>
            <a:xfrm>
              <a:off x="6787843" y="3897175"/>
              <a:ext cx="177314" cy="172381"/>
            </a:xfrm>
            <a:custGeom>
              <a:avLst/>
              <a:gdLst/>
              <a:ahLst/>
              <a:cxnLst/>
              <a:rect l="l" t="t" r="r" b="b"/>
              <a:pathLst>
                <a:path w="177314" h="172381">
                  <a:moveTo>
                    <a:pt x="174260" y="118798"/>
                  </a:moveTo>
                  <a:cubicBezTo>
                    <a:pt x="172362" y="117601"/>
                    <a:pt x="169984" y="117459"/>
                    <a:pt x="167957" y="118422"/>
                  </a:cubicBezTo>
                  <a:cubicBezTo>
                    <a:pt x="161078" y="121675"/>
                    <a:pt x="152865" y="119760"/>
                    <a:pt x="148134" y="113799"/>
                  </a:cubicBezTo>
                  <a:cubicBezTo>
                    <a:pt x="143404" y="107839"/>
                    <a:pt x="143404" y="99405"/>
                    <a:pt x="148134" y="93445"/>
                  </a:cubicBezTo>
                  <a:cubicBezTo>
                    <a:pt x="152865" y="87485"/>
                    <a:pt x="161078" y="85570"/>
                    <a:pt x="167957" y="88823"/>
                  </a:cubicBezTo>
                  <a:cubicBezTo>
                    <a:pt x="169986" y="89786"/>
                    <a:pt x="172367" y="89642"/>
                    <a:pt x="174265" y="88441"/>
                  </a:cubicBezTo>
                  <a:cubicBezTo>
                    <a:pt x="176163" y="87240"/>
                    <a:pt x="177314" y="85151"/>
                    <a:pt x="177313" y="82905"/>
                  </a:cubicBezTo>
                  <a:lnTo>
                    <a:pt x="177313" y="47961"/>
                  </a:lnTo>
                  <a:cubicBezTo>
                    <a:pt x="177313" y="40727"/>
                    <a:pt x="171449" y="34864"/>
                    <a:pt x="164216" y="34864"/>
                  </a:cubicBezTo>
                  <a:lnTo>
                    <a:pt x="134568" y="34864"/>
                  </a:lnTo>
                  <a:cubicBezTo>
                    <a:pt x="134690" y="33777"/>
                    <a:pt x="134750" y="32683"/>
                    <a:pt x="134748" y="31589"/>
                  </a:cubicBezTo>
                  <a:cubicBezTo>
                    <a:pt x="134734" y="23453"/>
                    <a:pt x="131371" y="15682"/>
                    <a:pt x="125449" y="10102"/>
                  </a:cubicBezTo>
                  <a:cubicBezTo>
                    <a:pt x="117166" y="2323"/>
                    <a:pt x="105149" y="0"/>
                    <a:pt x="94563" y="4131"/>
                  </a:cubicBezTo>
                  <a:cubicBezTo>
                    <a:pt x="83977" y="8262"/>
                    <a:pt x="76710" y="18112"/>
                    <a:pt x="75886" y="29445"/>
                  </a:cubicBezTo>
                  <a:cubicBezTo>
                    <a:pt x="75760" y="31251"/>
                    <a:pt x="75798" y="33065"/>
                    <a:pt x="76000" y="34864"/>
                  </a:cubicBezTo>
                  <a:lnTo>
                    <a:pt x="46344" y="34864"/>
                  </a:lnTo>
                  <a:cubicBezTo>
                    <a:pt x="42871" y="34864"/>
                    <a:pt x="39539" y="36243"/>
                    <a:pt x="37083" y="38700"/>
                  </a:cubicBezTo>
                  <a:cubicBezTo>
                    <a:pt x="34627" y="41156"/>
                    <a:pt x="33247" y="44487"/>
                    <a:pt x="33247" y="47961"/>
                  </a:cubicBezTo>
                  <a:lnTo>
                    <a:pt x="33247" y="74334"/>
                  </a:lnTo>
                  <a:cubicBezTo>
                    <a:pt x="32160" y="74212"/>
                    <a:pt x="31067" y="74152"/>
                    <a:pt x="29973" y="74154"/>
                  </a:cubicBezTo>
                  <a:cubicBezTo>
                    <a:pt x="21839" y="74167"/>
                    <a:pt x="14070" y="77531"/>
                    <a:pt x="8494" y="83453"/>
                  </a:cubicBezTo>
                  <a:cubicBezTo>
                    <a:pt x="2877" y="89387"/>
                    <a:pt x="0" y="97402"/>
                    <a:pt x="562" y="105554"/>
                  </a:cubicBezTo>
                  <a:cubicBezTo>
                    <a:pt x="1533" y="120233"/>
                    <a:pt x="13158" y="131960"/>
                    <a:pt x="27828" y="133057"/>
                  </a:cubicBezTo>
                  <a:cubicBezTo>
                    <a:pt x="29634" y="133183"/>
                    <a:pt x="31448" y="133145"/>
                    <a:pt x="33247" y="132943"/>
                  </a:cubicBezTo>
                  <a:lnTo>
                    <a:pt x="33247" y="159284"/>
                  </a:lnTo>
                  <a:cubicBezTo>
                    <a:pt x="33247" y="166517"/>
                    <a:pt x="39111" y="172381"/>
                    <a:pt x="46344" y="172381"/>
                  </a:cubicBezTo>
                  <a:lnTo>
                    <a:pt x="164216" y="172381"/>
                  </a:lnTo>
                  <a:cubicBezTo>
                    <a:pt x="171449" y="172381"/>
                    <a:pt x="177313" y="166517"/>
                    <a:pt x="177313" y="159284"/>
                  </a:cubicBezTo>
                  <a:lnTo>
                    <a:pt x="177313" y="124340"/>
                  </a:lnTo>
                  <a:cubicBezTo>
                    <a:pt x="177314" y="122091"/>
                    <a:pt x="176161" y="119999"/>
                    <a:pt x="174260" y="118798"/>
                  </a:cubicBezTo>
                  <a:close/>
                  <a:moveTo>
                    <a:pt x="164216" y="159284"/>
                  </a:moveTo>
                  <a:lnTo>
                    <a:pt x="46344" y="159284"/>
                  </a:lnTo>
                  <a:lnTo>
                    <a:pt x="46344" y="124340"/>
                  </a:lnTo>
                  <a:cubicBezTo>
                    <a:pt x="46345" y="122094"/>
                    <a:pt x="45194" y="120004"/>
                    <a:pt x="43296" y="118803"/>
                  </a:cubicBezTo>
                  <a:cubicBezTo>
                    <a:pt x="41398" y="117603"/>
                    <a:pt x="39017" y="117459"/>
                    <a:pt x="36988" y="118422"/>
                  </a:cubicBezTo>
                  <a:cubicBezTo>
                    <a:pt x="30109" y="121675"/>
                    <a:pt x="21896" y="119760"/>
                    <a:pt x="17166" y="113799"/>
                  </a:cubicBezTo>
                  <a:cubicBezTo>
                    <a:pt x="12435" y="107839"/>
                    <a:pt x="12435" y="99405"/>
                    <a:pt x="17166" y="93445"/>
                  </a:cubicBezTo>
                  <a:cubicBezTo>
                    <a:pt x="21896" y="87485"/>
                    <a:pt x="30109" y="85570"/>
                    <a:pt x="36988" y="88823"/>
                  </a:cubicBezTo>
                  <a:cubicBezTo>
                    <a:pt x="39017" y="89786"/>
                    <a:pt x="41398" y="89642"/>
                    <a:pt x="43296" y="88441"/>
                  </a:cubicBezTo>
                  <a:cubicBezTo>
                    <a:pt x="45194" y="87240"/>
                    <a:pt x="46345" y="85151"/>
                    <a:pt x="46344" y="82905"/>
                  </a:cubicBezTo>
                  <a:lnTo>
                    <a:pt x="46344" y="47961"/>
                  </a:lnTo>
                  <a:lnTo>
                    <a:pt x="84562" y="47961"/>
                  </a:lnTo>
                  <a:cubicBezTo>
                    <a:pt x="86808" y="47961"/>
                    <a:pt x="88898" y="46811"/>
                    <a:pt x="90099" y="44913"/>
                  </a:cubicBezTo>
                  <a:cubicBezTo>
                    <a:pt x="91299" y="43015"/>
                    <a:pt x="91444" y="40634"/>
                    <a:pt x="90481" y="38604"/>
                  </a:cubicBezTo>
                  <a:cubicBezTo>
                    <a:pt x="87227" y="31726"/>
                    <a:pt x="89143" y="23512"/>
                    <a:pt x="95103" y="18782"/>
                  </a:cubicBezTo>
                  <a:cubicBezTo>
                    <a:pt x="101063" y="14052"/>
                    <a:pt x="109497" y="14052"/>
                    <a:pt x="115457" y="18782"/>
                  </a:cubicBezTo>
                  <a:cubicBezTo>
                    <a:pt x="121417" y="23512"/>
                    <a:pt x="123333" y="31726"/>
                    <a:pt x="120080" y="38604"/>
                  </a:cubicBezTo>
                  <a:cubicBezTo>
                    <a:pt x="119117" y="40634"/>
                    <a:pt x="119261" y="43015"/>
                    <a:pt x="120461" y="44913"/>
                  </a:cubicBezTo>
                  <a:cubicBezTo>
                    <a:pt x="121662" y="46811"/>
                    <a:pt x="123752" y="47961"/>
                    <a:pt x="125998" y="47961"/>
                  </a:cubicBezTo>
                  <a:lnTo>
                    <a:pt x="164216" y="47961"/>
                  </a:lnTo>
                  <a:lnTo>
                    <a:pt x="164216" y="74343"/>
                  </a:lnTo>
                  <a:cubicBezTo>
                    <a:pt x="162417" y="74136"/>
                    <a:pt x="160603" y="74098"/>
                    <a:pt x="158797" y="74228"/>
                  </a:cubicBezTo>
                  <a:cubicBezTo>
                    <a:pt x="142955" y="75350"/>
                    <a:pt x="130852" y="88824"/>
                    <a:pt x="131430" y="104695"/>
                  </a:cubicBezTo>
                  <a:cubicBezTo>
                    <a:pt x="132008" y="120566"/>
                    <a:pt x="145060" y="133124"/>
                    <a:pt x="160942" y="133090"/>
                  </a:cubicBezTo>
                  <a:cubicBezTo>
                    <a:pt x="162036" y="133092"/>
                    <a:pt x="163129" y="133032"/>
                    <a:pt x="164216" y="132910"/>
                  </a:cubicBezTo>
                  <a:close/>
                </a:path>
              </a:pathLst>
            </a:custGeom>
            <a:solidFill>
              <a:srgbClr val="FF6F00"/>
            </a:solidFill>
            <a:ln>
              <a:noFill/>
            </a:ln>
          </p:spPr>
        </p:sp>
      </p:grpSp>
      <p:sp>
        <p:nvSpPr>
          <p:cNvPr id="61" name="TextBox 61"/>
          <p:cNvSpPr txBox="1"/>
          <p:nvPr/>
        </p:nvSpPr>
        <p:spPr>
          <a:xfrm>
            <a:off x="7079932" y="3900964"/>
            <a:ext cx="916070"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CLOUD拆分</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62" name="TextBox 62"/>
          <p:cNvSpPr txBox="1"/>
          <p:nvPr/>
        </p:nvSpPr>
        <p:spPr>
          <a:xfrm>
            <a:off x="6795135" y="4137660"/>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将大需求合理拆解为独立可交付单元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3" name="Rectangle 63"/>
          <p:cNvSpPr/>
          <p:nvPr/>
        </p:nvSpPr>
        <p:spPr>
          <a:xfrm>
            <a:off x="6619875" y="4714875"/>
            <a:ext cx="4762500" cy="523875"/>
          </a:xfrm>
          <a:prstGeom prst="roundRect">
            <a:avLst>
              <a:gd name="adj" fmla="val 14545"/>
            </a:avLst>
          </a:prstGeom>
          <a:solidFill>
            <a:srgbClr val="1565C0">
              <a:alpha val="8000"/>
            </a:srgbClr>
          </a:solidFill>
          <a:ln>
            <a:noFill/>
          </a:ln>
        </p:spPr>
      </p:sp>
      <p:grpSp>
        <p:nvGrpSpPr>
          <p:cNvPr id="66" name="Group 66"/>
          <p:cNvGrpSpPr/>
          <p:nvPr/>
        </p:nvGrpSpPr>
        <p:grpSpPr>
          <a:xfrm>
            <a:off x="6821345" y="4917283"/>
            <a:ext cx="168526" cy="161477"/>
            <a:chOff x="6821345" y="4917283"/>
            <a:chExt cx="168526" cy="161477"/>
          </a:xfrm>
        </p:grpSpPr>
        <p:sp>
          <p:nvSpPr>
            <p:cNvPr id="64" name="Freeform 64"/>
            <p:cNvSpPr/>
            <p:nvPr/>
          </p:nvSpPr>
          <p:spPr>
            <a:xfrm>
              <a:off x="6827738" y="4923295"/>
              <a:ext cx="155773" cy="149113"/>
            </a:xfrm>
            <a:custGeom>
              <a:avLst/>
              <a:gdLst/>
              <a:ahLst/>
              <a:cxnLst/>
              <a:rect l="l" t="t" r="r" b="b"/>
              <a:pathLst>
                <a:path w="155773" h="149113">
                  <a:moveTo>
                    <a:pt x="119655" y="91989"/>
                  </a:moveTo>
                  <a:cubicBezTo>
                    <a:pt x="117993" y="93449"/>
                    <a:pt x="117267" y="95705"/>
                    <a:pt x="117765" y="97861"/>
                  </a:cubicBezTo>
                  <a:lnTo>
                    <a:pt x="127826" y="141423"/>
                  </a:lnTo>
                  <a:cubicBezTo>
                    <a:pt x="128369" y="143748"/>
                    <a:pt x="127470" y="146174"/>
                    <a:pt x="125542" y="147583"/>
                  </a:cubicBezTo>
                  <a:cubicBezTo>
                    <a:pt x="123613" y="148993"/>
                    <a:pt x="121029" y="149113"/>
                    <a:pt x="118978" y="147889"/>
                  </a:cubicBezTo>
                  <a:lnTo>
                    <a:pt x="80952" y="124821"/>
                  </a:lnTo>
                  <a:cubicBezTo>
                    <a:pt x="79069" y="123675"/>
                    <a:pt x="76704" y="123675"/>
                    <a:pt x="74821" y="124821"/>
                  </a:cubicBezTo>
                  <a:lnTo>
                    <a:pt x="36795" y="147889"/>
                  </a:lnTo>
                  <a:cubicBezTo>
                    <a:pt x="34744" y="149113"/>
                    <a:pt x="32160" y="148993"/>
                    <a:pt x="30231" y="147583"/>
                  </a:cubicBezTo>
                  <a:cubicBezTo>
                    <a:pt x="28303" y="146174"/>
                    <a:pt x="27404" y="143748"/>
                    <a:pt x="27947" y="141423"/>
                  </a:cubicBezTo>
                  <a:lnTo>
                    <a:pt x="38008" y="97861"/>
                  </a:lnTo>
                  <a:cubicBezTo>
                    <a:pt x="38506" y="95705"/>
                    <a:pt x="37780" y="93449"/>
                    <a:pt x="36118" y="91989"/>
                  </a:cubicBezTo>
                  <a:lnTo>
                    <a:pt x="2550" y="62707"/>
                  </a:lnTo>
                  <a:cubicBezTo>
                    <a:pt x="714" y="61147"/>
                    <a:pt x="0" y="58635"/>
                    <a:pt x="740" y="56343"/>
                  </a:cubicBezTo>
                  <a:cubicBezTo>
                    <a:pt x="1479" y="54051"/>
                    <a:pt x="3527" y="52430"/>
                    <a:pt x="5928" y="52237"/>
                  </a:cubicBezTo>
                  <a:lnTo>
                    <a:pt x="50175" y="48412"/>
                  </a:lnTo>
                  <a:cubicBezTo>
                    <a:pt x="52375" y="48216"/>
                    <a:pt x="54285" y="46818"/>
                    <a:pt x="55138" y="44781"/>
                  </a:cubicBezTo>
                  <a:lnTo>
                    <a:pt x="72425" y="3585"/>
                  </a:lnTo>
                  <a:cubicBezTo>
                    <a:pt x="73368" y="1409"/>
                    <a:pt x="75514" y="0"/>
                    <a:pt x="77887" y="0"/>
                  </a:cubicBezTo>
                  <a:cubicBezTo>
                    <a:pt x="80259" y="0"/>
                    <a:pt x="82405" y="1409"/>
                    <a:pt x="83349" y="3585"/>
                  </a:cubicBezTo>
                  <a:lnTo>
                    <a:pt x="100635" y="44781"/>
                  </a:lnTo>
                  <a:cubicBezTo>
                    <a:pt x="101488" y="46818"/>
                    <a:pt x="103398" y="48216"/>
                    <a:pt x="105598" y="48412"/>
                  </a:cubicBezTo>
                  <a:lnTo>
                    <a:pt x="149845" y="52237"/>
                  </a:lnTo>
                  <a:cubicBezTo>
                    <a:pt x="152246" y="52430"/>
                    <a:pt x="154294" y="54051"/>
                    <a:pt x="155034" y="56343"/>
                  </a:cubicBezTo>
                  <a:cubicBezTo>
                    <a:pt x="155773" y="58635"/>
                    <a:pt x="155059" y="61147"/>
                    <a:pt x="153223" y="62707"/>
                  </a:cubicBezTo>
                  <a:close/>
                </a:path>
              </a:pathLst>
            </a:custGeom>
            <a:solidFill>
              <a:srgbClr val="FF6F00">
                <a:alpha val="20000"/>
              </a:srgbClr>
            </a:solidFill>
            <a:ln>
              <a:noFill/>
            </a:ln>
          </p:spPr>
        </p:sp>
        <p:sp>
          <p:nvSpPr>
            <p:cNvPr id="65" name="Freeform 65"/>
            <p:cNvSpPr/>
            <p:nvPr/>
          </p:nvSpPr>
          <p:spPr>
            <a:xfrm>
              <a:off x="6821345" y="4917283"/>
              <a:ext cx="168526" cy="161477"/>
            </a:xfrm>
            <a:custGeom>
              <a:avLst/>
              <a:gdLst/>
              <a:ahLst/>
              <a:cxnLst/>
              <a:rect l="l" t="t" r="r" b="b"/>
              <a:pathLst>
                <a:path w="168526" h="161477">
                  <a:moveTo>
                    <a:pt x="167028" y="60490"/>
                  </a:moveTo>
                  <a:cubicBezTo>
                    <a:pt x="165554" y="55947"/>
                    <a:pt x="161509" y="52725"/>
                    <a:pt x="156751" y="52304"/>
                  </a:cubicBezTo>
                  <a:lnTo>
                    <a:pt x="112557" y="48494"/>
                  </a:lnTo>
                  <a:lnTo>
                    <a:pt x="95233" y="7299"/>
                  </a:lnTo>
                  <a:lnTo>
                    <a:pt x="95233" y="7299"/>
                  </a:lnTo>
                  <a:cubicBezTo>
                    <a:pt x="93389" y="2878"/>
                    <a:pt x="89069" y="0"/>
                    <a:pt x="84280" y="0"/>
                  </a:cubicBezTo>
                  <a:cubicBezTo>
                    <a:pt x="79490" y="0"/>
                    <a:pt x="75170" y="2878"/>
                    <a:pt x="73326" y="7299"/>
                  </a:cubicBezTo>
                  <a:lnTo>
                    <a:pt x="56054" y="48494"/>
                  </a:lnTo>
                  <a:lnTo>
                    <a:pt x="11808" y="52326"/>
                  </a:lnTo>
                  <a:cubicBezTo>
                    <a:pt x="7031" y="52728"/>
                    <a:pt x="2961" y="55955"/>
                    <a:pt x="1480" y="60514"/>
                  </a:cubicBezTo>
                  <a:cubicBezTo>
                    <a:pt x="0" y="65074"/>
                    <a:pt x="1398" y="70076"/>
                    <a:pt x="5029" y="73207"/>
                  </a:cubicBezTo>
                  <a:lnTo>
                    <a:pt x="38597" y="102541"/>
                  </a:lnTo>
                  <a:lnTo>
                    <a:pt x="28536" y="146103"/>
                  </a:lnTo>
                  <a:cubicBezTo>
                    <a:pt x="27448" y="150764"/>
                    <a:pt x="29257" y="155623"/>
                    <a:pt x="33127" y="158438"/>
                  </a:cubicBezTo>
                  <a:cubicBezTo>
                    <a:pt x="36998" y="161253"/>
                    <a:pt x="42177" y="161477"/>
                    <a:pt x="46276" y="159006"/>
                  </a:cubicBezTo>
                  <a:lnTo>
                    <a:pt x="84227" y="135938"/>
                  </a:lnTo>
                  <a:lnTo>
                    <a:pt x="122260" y="159006"/>
                  </a:lnTo>
                  <a:cubicBezTo>
                    <a:pt x="126359" y="161477"/>
                    <a:pt x="131539" y="161253"/>
                    <a:pt x="135409" y="158438"/>
                  </a:cubicBezTo>
                  <a:cubicBezTo>
                    <a:pt x="139280" y="155623"/>
                    <a:pt x="141088" y="150764"/>
                    <a:pt x="140001" y="146103"/>
                  </a:cubicBezTo>
                  <a:lnTo>
                    <a:pt x="129947" y="102496"/>
                  </a:lnTo>
                  <a:lnTo>
                    <a:pt x="163508" y="73207"/>
                  </a:lnTo>
                  <a:cubicBezTo>
                    <a:pt x="167138" y="70065"/>
                    <a:pt x="168526" y="65051"/>
                    <a:pt x="167028" y="60490"/>
                  </a:cubicBezTo>
                  <a:close/>
                  <a:moveTo>
                    <a:pt x="155702" y="64210"/>
                  </a:moveTo>
                  <a:lnTo>
                    <a:pt x="122141" y="93500"/>
                  </a:lnTo>
                  <a:cubicBezTo>
                    <a:pt x="118813" y="96395"/>
                    <a:pt x="117358" y="100894"/>
                    <a:pt x="118361" y="105190"/>
                  </a:cubicBezTo>
                  <a:lnTo>
                    <a:pt x="128444" y="148827"/>
                  </a:lnTo>
                  <a:lnTo>
                    <a:pt x="128444" y="148827"/>
                  </a:lnTo>
                  <a:lnTo>
                    <a:pt x="90441" y="125758"/>
                  </a:lnTo>
                  <a:cubicBezTo>
                    <a:pt x="86661" y="123456"/>
                    <a:pt x="81913" y="123456"/>
                    <a:pt x="78133" y="125758"/>
                  </a:cubicBezTo>
                  <a:lnTo>
                    <a:pt x="40182" y="148827"/>
                  </a:lnTo>
                  <a:lnTo>
                    <a:pt x="40182" y="148827"/>
                  </a:lnTo>
                  <a:lnTo>
                    <a:pt x="50198" y="105220"/>
                  </a:lnTo>
                  <a:cubicBezTo>
                    <a:pt x="51201" y="100924"/>
                    <a:pt x="49746" y="96425"/>
                    <a:pt x="46418" y="93530"/>
                  </a:cubicBezTo>
                  <a:lnTo>
                    <a:pt x="12842" y="64255"/>
                  </a:lnTo>
                  <a:cubicBezTo>
                    <a:pt x="12839" y="64233"/>
                    <a:pt x="12839" y="64210"/>
                    <a:pt x="12842" y="64188"/>
                  </a:cubicBezTo>
                  <a:lnTo>
                    <a:pt x="57074" y="60363"/>
                  </a:lnTo>
                  <a:cubicBezTo>
                    <a:pt x="61475" y="59975"/>
                    <a:pt x="65299" y="57182"/>
                    <a:pt x="67008" y="53108"/>
                  </a:cubicBezTo>
                  <a:lnTo>
                    <a:pt x="84280" y="11964"/>
                  </a:lnTo>
                  <a:lnTo>
                    <a:pt x="101544" y="53108"/>
                  </a:lnTo>
                  <a:cubicBezTo>
                    <a:pt x="103252" y="57182"/>
                    <a:pt x="107077" y="59975"/>
                    <a:pt x="111478" y="60363"/>
                  </a:cubicBezTo>
                  <a:lnTo>
                    <a:pt x="155717" y="64188"/>
                  </a:lnTo>
                  <a:cubicBezTo>
                    <a:pt x="155717" y="64188"/>
                    <a:pt x="155717" y="64233"/>
                    <a:pt x="155717" y="64240"/>
                  </a:cubicBezTo>
                  <a:close/>
                </a:path>
              </a:pathLst>
            </a:custGeom>
            <a:solidFill>
              <a:srgbClr val="FF6F00"/>
            </a:solidFill>
            <a:ln>
              <a:noFill/>
            </a:ln>
          </p:spPr>
        </p:sp>
      </p:grpSp>
      <p:sp>
        <p:nvSpPr>
          <p:cNvPr id="67" name="TextBox 67"/>
          <p:cNvSpPr txBox="1"/>
          <p:nvPr/>
        </p:nvSpPr>
        <p:spPr>
          <a:xfrm>
            <a:off x="7062788" y="4926806"/>
            <a:ext cx="2863929"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效果：大幅降低对专业需求工程师的依赖</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68" name="TextBox 68"/>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0" name="图片 6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71"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31825" y="252730"/>
            <a:ext cx="5584190"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Vibe Coding实战：从零构建AI需求分析师（一）</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954542" y="1052989"/>
            <a:ext cx="4282916"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五阶段Vibe Coding方法论 —— 从模糊想法到可运行的软件</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4191000"/>
          </a:xfrm>
          <a:prstGeom prst="roundRect">
            <a:avLst>
              <a:gd name="adj" fmla="val 2727"/>
            </a:avLst>
          </a:prstGeom>
          <a:solidFill>
            <a:srgbClr val="FFFFFF"/>
          </a:solidFill>
          <a:ln w="9525">
            <a:solidFill>
              <a:srgbClr val="CFD8DC"/>
            </a:solidFill>
          </a:ln>
        </p:spPr>
      </p:sp>
      <p:sp>
        <p:nvSpPr>
          <p:cNvPr id="11" name="Rectangle 11"/>
          <p:cNvSpPr/>
          <p:nvPr/>
        </p:nvSpPr>
        <p:spPr>
          <a:xfrm>
            <a:off x="857250" y="1714500"/>
            <a:ext cx="10477500" cy="619125"/>
          </a:xfrm>
          <a:prstGeom prst="roundRect">
            <a:avLst>
              <a:gd name="adj" fmla="val 12308"/>
            </a:avLst>
          </a:prstGeom>
          <a:solidFill>
            <a:srgbClr val="F5F7FA"/>
          </a:solidFill>
          <a:ln>
            <a:noFill/>
          </a:ln>
        </p:spPr>
      </p:sp>
      <p:sp>
        <p:nvSpPr>
          <p:cNvPr id="12" name="Rectangle 12"/>
          <p:cNvSpPr/>
          <p:nvPr/>
        </p:nvSpPr>
        <p:spPr>
          <a:xfrm>
            <a:off x="857250" y="1714500"/>
            <a:ext cx="619125" cy="619125"/>
          </a:xfrm>
          <a:prstGeom prst="roundRect">
            <a:avLst>
              <a:gd name="adj" fmla="val 12308"/>
            </a:avLst>
          </a:prstGeom>
          <a:solidFill>
            <a:srgbClr val="1565C0"/>
          </a:solidFill>
          <a:ln>
            <a:noFill/>
          </a:ln>
        </p:spPr>
      </p:sp>
      <p:sp>
        <p:nvSpPr>
          <p:cNvPr id="13" name="TextBox 13"/>
          <p:cNvSpPr txBox="1"/>
          <p:nvPr/>
        </p:nvSpPr>
        <p:spPr>
          <a:xfrm>
            <a:off x="1014029" y="19173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P1</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1651779" y="1879529"/>
            <a:ext cx="144336" cy="183824"/>
            <a:chOff x="1651779" y="1879529"/>
            <a:chExt cx="144336" cy="183824"/>
          </a:xfrm>
        </p:grpSpPr>
        <p:sp>
          <p:nvSpPr>
            <p:cNvPr id="14" name="Freeform 14"/>
            <p:cNvSpPr/>
            <p:nvPr/>
          </p:nvSpPr>
          <p:spPr>
            <a:xfrm>
              <a:off x="1658344" y="188612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15" name="Freeform 15"/>
            <p:cNvSpPr/>
            <p:nvPr/>
          </p:nvSpPr>
          <p:spPr>
            <a:xfrm>
              <a:off x="1651779" y="187952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17" name="TextBox 17"/>
          <p:cNvSpPr txBox="1"/>
          <p:nvPr/>
        </p:nvSpPr>
        <p:spPr>
          <a:xfrm>
            <a:off x="1885950" y="18859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想法注入</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889760" y="2137410"/>
            <a:ext cx="51031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通过与AI对话逐步注入领域方法论，让AI理解需求分析师的专业知识体系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Polygon 19"/>
          <p:cNvSpPr/>
          <p:nvPr/>
        </p:nvSpPr>
        <p:spPr>
          <a:xfrm>
            <a:off x="1162050" y="23622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20" name="TextBox 20"/>
          <p:cNvSpPr txBox="1"/>
          <p:nvPr/>
        </p:nvSpPr>
        <p:spPr>
          <a:xfrm>
            <a:off x="2703004" y="23755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857250" y="2590800"/>
            <a:ext cx="10477500" cy="619125"/>
          </a:xfrm>
          <a:prstGeom prst="roundRect">
            <a:avLst>
              <a:gd name="adj" fmla="val 12308"/>
            </a:avLst>
          </a:prstGeom>
          <a:solidFill>
            <a:srgbClr val="F5F7FA"/>
          </a:solidFill>
          <a:ln>
            <a:noFill/>
          </a:ln>
        </p:spPr>
      </p:sp>
      <p:sp>
        <p:nvSpPr>
          <p:cNvPr id="22" name="Rectangle 22"/>
          <p:cNvSpPr/>
          <p:nvPr/>
        </p:nvSpPr>
        <p:spPr>
          <a:xfrm>
            <a:off x="857250" y="2590800"/>
            <a:ext cx="619125" cy="619125"/>
          </a:xfrm>
          <a:prstGeom prst="roundRect">
            <a:avLst>
              <a:gd name="adj" fmla="val 12308"/>
            </a:avLst>
          </a:prstGeom>
          <a:solidFill>
            <a:srgbClr val="00838F"/>
          </a:solidFill>
          <a:ln>
            <a:noFill/>
          </a:ln>
        </p:spPr>
      </p:sp>
      <p:sp>
        <p:nvSpPr>
          <p:cNvPr id="23" name="TextBox 23"/>
          <p:cNvSpPr txBox="1"/>
          <p:nvPr/>
        </p:nvSpPr>
        <p:spPr>
          <a:xfrm>
            <a:off x="1014029" y="27936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P2</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26" name="Group 26"/>
          <p:cNvGrpSpPr/>
          <p:nvPr/>
        </p:nvGrpSpPr>
        <p:grpSpPr>
          <a:xfrm>
            <a:off x="1651992" y="2762844"/>
            <a:ext cx="144067" cy="170261"/>
            <a:chOff x="1651992" y="2762844"/>
            <a:chExt cx="144067" cy="170261"/>
          </a:xfrm>
        </p:grpSpPr>
        <p:sp>
          <p:nvSpPr>
            <p:cNvPr id="24" name="Freeform 24"/>
            <p:cNvSpPr/>
            <p:nvPr/>
          </p:nvSpPr>
          <p:spPr>
            <a:xfrm>
              <a:off x="1743670" y="2769394"/>
              <a:ext cx="45839" cy="45839"/>
            </a:xfrm>
            <a:custGeom>
              <a:avLst/>
              <a:gdLst/>
              <a:ahLst/>
              <a:cxnLst/>
              <a:rect l="l" t="t" r="r" b="b"/>
              <a:pathLst>
                <a:path w="45839" h="45839">
                  <a:moveTo>
                    <a:pt x="45839" y="45839"/>
                  </a:moveTo>
                  <a:lnTo>
                    <a:pt x="0" y="45839"/>
                  </a:lnTo>
                  <a:lnTo>
                    <a:pt x="0" y="0"/>
                  </a:lnTo>
                  <a:close/>
                </a:path>
              </a:pathLst>
            </a:custGeom>
            <a:solidFill>
              <a:srgbClr val="00838F">
                <a:alpha val="20000"/>
              </a:srgbClr>
            </a:solidFill>
            <a:ln>
              <a:noFill/>
            </a:ln>
          </p:spPr>
        </p:sp>
        <p:sp>
          <p:nvSpPr>
            <p:cNvPr id="25" name="Freeform 25"/>
            <p:cNvSpPr/>
            <p:nvPr/>
          </p:nvSpPr>
          <p:spPr>
            <a:xfrm>
              <a:off x="1651992" y="2762844"/>
              <a:ext cx="144067" cy="170261"/>
            </a:xfrm>
            <a:custGeom>
              <a:avLst/>
              <a:gdLst/>
              <a:ahLst/>
              <a:cxnLst/>
              <a:rect l="l" t="t" r="r" b="b"/>
              <a:pathLst>
                <a:path w="144067" h="170261">
                  <a:moveTo>
                    <a:pt x="142150" y="47756"/>
                  </a:moveTo>
                  <a:lnTo>
                    <a:pt x="96311" y="1917"/>
                  </a:lnTo>
                  <a:cubicBezTo>
                    <a:pt x="95082" y="689"/>
                    <a:pt x="93415" y="0"/>
                    <a:pt x="91678" y="1"/>
                  </a:cubicBezTo>
                  <a:lnTo>
                    <a:pt x="13097" y="1"/>
                  </a:lnTo>
                  <a:cubicBezTo>
                    <a:pt x="5864" y="1"/>
                    <a:pt x="0" y="5865"/>
                    <a:pt x="0" y="13098"/>
                  </a:cubicBezTo>
                  <a:lnTo>
                    <a:pt x="0" y="157164"/>
                  </a:lnTo>
                  <a:cubicBezTo>
                    <a:pt x="0" y="164397"/>
                    <a:pt x="5864" y="170261"/>
                    <a:pt x="13097" y="170261"/>
                  </a:cubicBezTo>
                  <a:lnTo>
                    <a:pt x="130969" y="170261"/>
                  </a:lnTo>
                  <a:cubicBezTo>
                    <a:pt x="138202" y="170261"/>
                    <a:pt x="144066" y="164397"/>
                    <a:pt x="144066" y="157164"/>
                  </a:cubicBezTo>
                  <a:lnTo>
                    <a:pt x="144066" y="52389"/>
                  </a:lnTo>
                  <a:cubicBezTo>
                    <a:pt x="144067" y="50652"/>
                    <a:pt x="143378" y="48985"/>
                    <a:pt x="142150" y="47756"/>
                  </a:cubicBezTo>
                  <a:close/>
                  <a:moveTo>
                    <a:pt x="98227" y="22356"/>
                  </a:moveTo>
                  <a:lnTo>
                    <a:pt x="121711" y="45840"/>
                  </a:lnTo>
                  <a:lnTo>
                    <a:pt x="98227" y="45840"/>
                  </a:lnTo>
                  <a:close/>
                  <a:moveTo>
                    <a:pt x="130969" y="157164"/>
                  </a:moveTo>
                  <a:lnTo>
                    <a:pt x="13097" y="157164"/>
                  </a:lnTo>
                  <a:lnTo>
                    <a:pt x="13097" y="13098"/>
                  </a:lnTo>
                  <a:lnTo>
                    <a:pt x="85130" y="13098"/>
                  </a:lnTo>
                  <a:lnTo>
                    <a:pt x="85130" y="52389"/>
                  </a:lnTo>
                  <a:cubicBezTo>
                    <a:pt x="85130" y="56005"/>
                    <a:pt x="88062" y="58937"/>
                    <a:pt x="91678" y="58937"/>
                  </a:cubicBezTo>
                  <a:lnTo>
                    <a:pt x="130969" y="58937"/>
                  </a:lnTo>
                  <a:lnTo>
                    <a:pt x="130969" y="157164"/>
                  </a:lnTo>
                  <a:close/>
                  <a:moveTo>
                    <a:pt x="104775" y="91679"/>
                  </a:moveTo>
                  <a:cubicBezTo>
                    <a:pt x="104775" y="95296"/>
                    <a:pt x="101843" y="98228"/>
                    <a:pt x="98227" y="98228"/>
                  </a:cubicBezTo>
                  <a:lnTo>
                    <a:pt x="45839" y="98228"/>
                  </a:lnTo>
                  <a:cubicBezTo>
                    <a:pt x="42222" y="98228"/>
                    <a:pt x="39291" y="95296"/>
                    <a:pt x="39291" y="91679"/>
                  </a:cubicBezTo>
                  <a:cubicBezTo>
                    <a:pt x="39291" y="88063"/>
                    <a:pt x="42222" y="85131"/>
                    <a:pt x="45839" y="85131"/>
                  </a:cubicBezTo>
                  <a:lnTo>
                    <a:pt x="98227" y="85131"/>
                  </a:lnTo>
                  <a:cubicBezTo>
                    <a:pt x="101843" y="85131"/>
                    <a:pt x="104775" y="88063"/>
                    <a:pt x="104775" y="91679"/>
                  </a:cubicBezTo>
                  <a:close/>
                  <a:moveTo>
                    <a:pt x="104775" y="117873"/>
                  </a:moveTo>
                  <a:cubicBezTo>
                    <a:pt x="104775" y="121490"/>
                    <a:pt x="101843" y="124422"/>
                    <a:pt x="98227" y="124422"/>
                  </a:cubicBezTo>
                  <a:lnTo>
                    <a:pt x="45839" y="124422"/>
                  </a:lnTo>
                  <a:cubicBezTo>
                    <a:pt x="42222" y="124422"/>
                    <a:pt x="39291" y="121490"/>
                    <a:pt x="39291" y="117873"/>
                  </a:cubicBezTo>
                  <a:cubicBezTo>
                    <a:pt x="39291" y="114257"/>
                    <a:pt x="42222" y="111325"/>
                    <a:pt x="45839" y="111325"/>
                  </a:cubicBezTo>
                  <a:lnTo>
                    <a:pt x="98227" y="111325"/>
                  </a:lnTo>
                  <a:cubicBezTo>
                    <a:pt x="101843" y="111325"/>
                    <a:pt x="104775" y="114257"/>
                    <a:pt x="104775" y="117873"/>
                  </a:cubicBezTo>
                  <a:close/>
                </a:path>
              </a:pathLst>
            </a:custGeom>
            <a:solidFill>
              <a:srgbClr val="00838F"/>
            </a:solidFill>
            <a:ln>
              <a:noFill/>
            </a:ln>
          </p:spPr>
        </p:sp>
      </p:grpSp>
      <p:sp>
        <p:nvSpPr>
          <p:cNvPr id="27" name="TextBox 27"/>
          <p:cNvSpPr txBox="1"/>
          <p:nvPr/>
        </p:nvSpPr>
        <p:spPr>
          <a:xfrm>
            <a:off x="1885950" y="2762250"/>
            <a:ext cx="920210"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Spec生成</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1889760" y="3013710"/>
            <a:ext cx="406298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基于注入的知识生成结构化Spec，作为开发的唯一真相源</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Polygon 29"/>
          <p:cNvSpPr/>
          <p:nvPr/>
        </p:nvSpPr>
        <p:spPr>
          <a:xfrm>
            <a:off x="1162050" y="32385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30" name="TextBox 30"/>
          <p:cNvSpPr txBox="1"/>
          <p:nvPr/>
        </p:nvSpPr>
        <p:spPr>
          <a:xfrm>
            <a:off x="2703004" y="32518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57250" y="3467100"/>
            <a:ext cx="10477500" cy="619125"/>
          </a:xfrm>
          <a:prstGeom prst="roundRect">
            <a:avLst>
              <a:gd name="adj" fmla="val 12308"/>
            </a:avLst>
          </a:prstGeom>
          <a:solidFill>
            <a:srgbClr val="F5F7FA"/>
          </a:solidFill>
          <a:ln>
            <a:noFill/>
          </a:ln>
        </p:spPr>
      </p:sp>
      <p:sp>
        <p:nvSpPr>
          <p:cNvPr id="32" name="Rectangle 32"/>
          <p:cNvSpPr/>
          <p:nvPr/>
        </p:nvSpPr>
        <p:spPr>
          <a:xfrm>
            <a:off x="857250" y="3467100"/>
            <a:ext cx="619125" cy="619125"/>
          </a:xfrm>
          <a:prstGeom prst="roundRect">
            <a:avLst>
              <a:gd name="adj" fmla="val 12308"/>
            </a:avLst>
          </a:prstGeom>
          <a:solidFill>
            <a:srgbClr val="FF6F00"/>
          </a:solidFill>
          <a:ln>
            <a:noFill/>
          </a:ln>
        </p:spPr>
      </p:sp>
      <p:sp>
        <p:nvSpPr>
          <p:cNvPr id="33" name="TextBox 33"/>
          <p:cNvSpPr txBox="1"/>
          <p:nvPr/>
        </p:nvSpPr>
        <p:spPr>
          <a:xfrm>
            <a:off x="1014029" y="36699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P3</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36" name="Group 36"/>
          <p:cNvGrpSpPr/>
          <p:nvPr/>
        </p:nvGrpSpPr>
        <p:grpSpPr>
          <a:xfrm>
            <a:off x="1644845" y="3639145"/>
            <a:ext cx="158385" cy="163711"/>
            <a:chOff x="1644845" y="3639145"/>
            <a:chExt cx="158385" cy="163711"/>
          </a:xfrm>
        </p:grpSpPr>
        <p:sp>
          <p:nvSpPr>
            <p:cNvPr id="34" name="Freeform 34"/>
            <p:cNvSpPr/>
            <p:nvPr/>
          </p:nvSpPr>
          <p:spPr>
            <a:xfrm>
              <a:off x="1651677" y="3742774"/>
              <a:ext cx="144671" cy="53534"/>
            </a:xfrm>
            <a:custGeom>
              <a:avLst/>
              <a:gdLst/>
              <a:ahLst/>
              <a:cxnLst/>
              <a:rect l="l" t="t" r="r" b="b"/>
              <a:pathLst>
                <a:path w="144671" h="53534">
                  <a:moveTo>
                    <a:pt x="137832" y="53533"/>
                  </a:moveTo>
                  <a:lnTo>
                    <a:pt x="6864" y="53533"/>
                  </a:lnTo>
                  <a:cubicBezTo>
                    <a:pt x="4503" y="53534"/>
                    <a:pt x="2325" y="52265"/>
                    <a:pt x="1163" y="50211"/>
                  </a:cubicBezTo>
                  <a:cubicBezTo>
                    <a:pt x="0" y="48157"/>
                    <a:pt x="33" y="45636"/>
                    <a:pt x="1248" y="43613"/>
                  </a:cubicBezTo>
                  <a:lnTo>
                    <a:pt x="26198" y="2030"/>
                  </a:lnTo>
                  <a:lnTo>
                    <a:pt x="26198" y="2030"/>
                  </a:lnTo>
                  <a:cubicBezTo>
                    <a:pt x="37027" y="0"/>
                    <a:pt x="52392" y="876"/>
                    <a:pt x="72340" y="10969"/>
                  </a:cubicBezTo>
                  <a:cubicBezTo>
                    <a:pt x="98738" y="24336"/>
                    <a:pt x="117156" y="21536"/>
                    <a:pt x="127592" y="17231"/>
                  </a:cubicBezTo>
                  <a:lnTo>
                    <a:pt x="127592" y="17231"/>
                  </a:lnTo>
                  <a:lnTo>
                    <a:pt x="143423" y="43613"/>
                  </a:lnTo>
                  <a:cubicBezTo>
                    <a:pt x="144636" y="45632"/>
                    <a:pt x="144671" y="48148"/>
                    <a:pt x="143515" y="50200"/>
                  </a:cubicBezTo>
                  <a:cubicBezTo>
                    <a:pt x="142358" y="52252"/>
                    <a:pt x="140188" y="53525"/>
                    <a:pt x="137832" y="53533"/>
                  </a:cubicBezTo>
                  <a:close/>
                </a:path>
              </a:pathLst>
            </a:custGeom>
            <a:solidFill>
              <a:srgbClr val="FF6F00">
                <a:alpha val="20000"/>
              </a:srgbClr>
            </a:solidFill>
            <a:ln>
              <a:noFill/>
            </a:ln>
          </p:spPr>
        </p:sp>
        <p:sp>
          <p:nvSpPr>
            <p:cNvPr id="35" name="Freeform 35"/>
            <p:cNvSpPr/>
            <p:nvPr/>
          </p:nvSpPr>
          <p:spPr>
            <a:xfrm>
              <a:off x="1644845" y="3639145"/>
              <a:ext cx="158385" cy="163711"/>
            </a:xfrm>
            <a:custGeom>
              <a:avLst/>
              <a:gdLst/>
              <a:ahLst/>
              <a:cxnLst/>
              <a:rect l="l" t="t" r="r" b="b"/>
              <a:pathLst>
                <a:path w="158385" h="163711">
                  <a:moveTo>
                    <a:pt x="155871" y="143877"/>
                  </a:moveTo>
                  <a:lnTo>
                    <a:pt x="105374" y="59689"/>
                  </a:lnTo>
                  <a:lnTo>
                    <a:pt x="105374" y="13097"/>
                  </a:lnTo>
                  <a:lnTo>
                    <a:pt x="111923" y="13097"/>
                  </a:lnTo>
                  <a:cubicBezTo>
                    <a:pt x="115539" y="13097"/>
                    <a:pt x="118471" y="10165"/>
                    <a:pt x="118471" y="6548"/>
                  </a:cubicBezTo>
                  <a:cubicBezTo>
                    <a:pt x="118471" y="2932"/>
                    <a:pt x="115539" y="0"/>
                    <a:pt x="111923" y="0"/>
                  </a:cubicBezTo>
                  <a:lnTo>
                    <a:pt x="46438" y="0"/>
                  </a:lnTo>
                  <a:cubicBezTo>
                    <a:pt x="42822" y="0"/>
                    <a:pt x="39890" y="2932"/>
                    <a:pt x="39890" y="6548"/>
                  </a:cubicBezTo>
                  <a:cubicBezTo>
                    <a:pt x="39890" y="10165"/>
                    <a:pt x="42822" y="13097"/>
                    <a:pt x="46438" y="13097"/>
                  </a:cubicBezTo>
                  <a:lnTo>
                    <a:pt x="52987" y="13097"/>
                  </a:lnTo>
                  <a:lnTo>
                    <a:pt x="52987" y="59689"/>
                  </a:lnTo>
                  <a:lnTo>
                    <a:pt x="2490" y="143877"/>
                  </a:lnTo>
                  <a:cubicBezTo>
                    <a:pt x="65" y="147920"/>
                    <a:pt x="0" y="152953"/>
                    <a:pt x="2319" y="157057"/>
                  </a:cubicBezTo>
                  <a:cubicBezTo>
                    <a:pt x="4637" y="161160"/>
                    <a:pt x="8982" y="163702"/>
                    <a:pt x="13696" y="163711"/>
                  </a:cubicBezTo>
                  <a:lnTo>
                    <a:pt x="144665" y="163711"/>
                  </a:lnTo>
                  <a:cubicBezTo>
                    <a:pt x="149383" y="163711"/>
                    <a:pt x="153736" y="161173"/>
                    <a:pt x="156061" y="157067"/>
                  </a:cubicBezTo>
                  <a:cubicBezTo>
                    <a:pt x="158385" y="152962"/>
                    <a:pt x="158322" y="147923"/>
                    <a:pt x="155895" y="143877"/>
                  </a:cubicBezTo>
                  <a:close/>
                  <a:moveTo>
                    <a:pt x="65150" y="64870"/>
                  </a:moveTo>
                  <a:cubicBezTo>
                    <a:pt x="65763" y="63855"/>
                    <a:pt x="66086" y="62692"/>
                    <a:pt x="66083" y="61506"/>
                  </a:cubicBezTo>
                  <a:lnTo>
                    <a:pt x="66083" y="13097"/>
                  </a:lnTo>
                  <a:lnTo>
                    <a:pt x="92277" y="13097"/>
                  </a:lnTo>
                  <a:lnTo>
                    <a:pt x="92277" y="61506"/>
                  </a:lnTo>
                  <a:cubicBezTo>
                    <a:pt x="92275" y="62692"/>
                    <a:pt x="92598" y="63855"/>
                    <a:pt x="93210" y="64870"/>
                  </a:cubicBezTo>
                  <a:lnTo>
                    <a:pt x="124496" y="117053"/>
                  </a:lnTo>
                  <a:cubicBezTo>
                    <a:pt x="114673" y="118993"/>
                    <a:pt x="100700" y="118175"/>
                    <a:pt x="82135" y="108778"/>
                  </a:cubicBezTo>
                  <a:cubicBezTo>
                    <a:pt x="69112" y="102188"/>
                    <a:pt x="56719" y="98693"/>
                    <a:pt x="45120" y="98292"/>
                  </a:cubicBezTo>
                  <a:close/>
                  <a:moveTo>
                    <a:pt x="13696" y="150614"/>
                  </a:moveTo>
                  <a:lnTo>
                    <a:pt x="37058" y="111667"/>
                  </a:lnTo>
                  <a:cubicBezTo>
                    <a:pt x="48722" y="110251"/>
                    <a:pt x="61868" y="113182"/>
                    <a:pt x="76201" y="120442"/>
                  </a:cubicBezTo>
                  <a:cubicBezTo>
                    <a:pt x="91753" y="128308"/>
                    <a:pt x="104850" y="130985"/>
                    <a:pt x="115491" y="130985"/>
                  </a:cubicBezTo>
                  <a:cubicBezTo>
                    <a:pt x="120903" y="131009"/>
                    <a:pt x="126291" y="130265"/>
                    <a:pt x="131494" y="128775"/>
                  </a:cubicBezTo>
                  <a:lnTo>
                    <a:pt x="144665" y="150614"/>
                  </a:lnTo>
                  <a:close/>
                </a:path>
              </a:pathLst>
            </a:custGeom>
            <a:solidFill>
              <a:srgbClr val="FF6F00"/>
            </a:solidFill>
            <a:ln>
              <a:noFill/>
            </a:ln>
          </p:spPr>
        </p:sp>
      </p:grpSp>
      <p:sp>
        <p:nvSpPr>
          <p:cNvPr id="37" name="TextBox 37"/>
          <p:cNvSpPr txBox="1"/>
          <p:nvPr/>
        </p:nvSpPr>
        <p:spPr>
          <a:xfrm>
            <a:off x="1885950" y="36385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技术预研</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889760" y="3890010"/>
            <a:ext cx="43270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系统性技术预研，让AI列出选项由人做决策，用实验替代猜测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Polygon 39"/>
          <p:cNvSpPr/>
          <p:nvPr/>
        </p:nvSpPr>
        <p:spPr>
          <a:xfrm>
            <a:off x="1162050" y="41148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40" name="TextBox 40"/>
          <p:cNvSpPr txBox="1"/>
          <p:nvPr/>
        </p:nvSpPr>
        <p:spPr>
          <a:xfrm>
            <a:off x="2703004" y="41281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857250" y="4343400"/>
            <a:ext cx="10477500" cy="619125"/>
          </a:xfrm>
          <a:prstGeom prst="roundRect">
            <a:avLst>
              <a:gd name="adj" fmla="val 12308"/>
            </a:avLst>
          </a:prstGeom>
          <a:solidFill>
            <a:srgbClr val="F5F7FA"/>
          </a:solidFill>
          <a:ln>
            <a:noFill/>
          </a:ln>
        </p:spPr>
      </p:sp>
      <p:sp>
        <p:nvSpPr>
          <p:cNvPr id="42" name="Rectangle 42"/>
          <p:cNvSpPr/>
          <p:nvPr/>
        </p:nvSpPr>
        <p:spPr>
          <a:xfrm>
            <a:off x="857250" y="4343400"/>
            <a:ext cx="619125" cy="619125"/>
          </a:xfrm>
          <a:prstGeom prst="roundRect">
            <a:avLst>
              <a:gd name="adj" fmla="val 12308"/>
            </a:avLst>
          </a:prstGeom>
          <a:solidFill>
            <a:srgbClr val="2E7D32"/>
          </a:solidFill>
          <a:ln>
            <a:noFill/>
          </a:ln>
        </p:spPr>
      </p:sp>
      <p:sp>
        <p:nvSpPr>
          <p:cNvPr id="43" name="TextBox 43"/>
          <p:cNvSpPr txBox="1"/>
          <p:nvPr/>
        </p:nvSpPr>
        <p:spPr>
          <a:xfrm>
            <a:off x="1014029" y="45462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P4</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46" name="Group 46"/>
          <p:cNvGrpSpPr/>
          <p:nvPr/>
        </p:nvGrpSpPr>
        <p:grpSpPr>
          <a:xfrm>
            <a:off x="1625293" y="4506775"/>
            <a:ext cx="177314" cy="172381"/>
            <a:chOff x="1625293" y="4506775"/>
            <a:chExt cx="177314" cy="172381"/>
          </a:xfrm>
        </p:grpSpPr>
        <p:sp>
          <p:nvSpPr>
            <p:cNvPr id="44" name="Freeform 44"/>
            <p:cNvSpPr/>
            <p:nvPr/>
          </p:nvSpPr>
          <p:spPr>
            <a:xfrm>
              <a:off x="1630711" y="4513800"/>
              <a:ext cx="165346" cy="158807"/>
            </a:xfrm>
            <a:custGeom>
              <a:avLst/>
              <a:gdLst/>
              <a:ahLst/>
              <a:cxnLst/>
              <a:rect l="l" t="t" r="r" b="b"/>
              <a:pathLst>
                <a:path w="165346" h="158807">
                  <a:moveTo>
                    <a:pt x="155524" y="119517"/>
                  </a:moveTo>
                  <a:cubicBezTo>
                    <a:pt x="158921" y="119520"/>
                    <a:pt x="162276" y="118768"/>
                    <a:pt x="165346" y="117315"/>
                  </a:cubicBezTo>
                  <a:lnTo>
                    <a:pt x="165346" y="152259"/>
                  </a:lnTo>
                  <a:cubicBezTo>
                    <a:pt x="165346" y="155875"/>
                    <a:pt x="162415" y="158807"/>
                    <a:pt x="158798" y="158807"/>
                  </a:cubicBezTo>
                  <a:lnTo>
                    <a:pt x="40926" y="158807"/>
                  </a:lnTo>
                  <a:cubicBezTo>
                    <a:pt x="37310" y="158807"/>
                    <a:pt x="34378" y="155875"/>
                    <a:pt x="34378" y="152259"/>
                  </a:cubicBezTo>
                  <a:lnTo>
                    <a:pt x="34378" y="117315"/>
                  </a:lnTo>
                  <a:cubicBezTo>
                    <a:pt x="24747" y="121871"/>
                    <a:pt x="13247" y="119191"/>
                    <a:pt x="6624" y="110846"/>
                  </a:cubicBezTo>
                  <a:cubicBezTo>
                    <a:pt x="0" y="102501"/>
                    <a:pt x="0" y="90693"/>
                    <a:pt x="6624" y="82348"/>
                  </a:cubicBezTo>
                  <a:cubicBezTo>
                    <a:pt x="13247" y="74003"/>
                    <a:pt x="24747" y="71323"/>
                    <a:pt x="34378" y="75880"/>
                  </a:cubicBezTo>
                  <a:lnTo>
                    <a:pt x="34378" y="40935"/>
                  </a:lnTo>
                  <a:cubicBezTo>
                    <a:pt x="34378" y="37319"/>
                    <a:pt x="37310" y="34387"/>
                    <a:pt x="40926" y="34387"/>
                  </a:cubicBezTo>
                  <a:lnTo>
                    <a:pt x="79144" y="34387"/>
                  </a:lnTo>
                  <a:cubicBezTo>
                    <a:pt x="74583" y="24756"/>
                    <a:pt x="77261" y="13252"/>
                    <a:pt x="85606" y="6626"/>
                  </a:cubicBezTo>
                  <a:cubicBezTo>
                    <a:pt x="93952" y="0"/>
                    <a:pt x="105764" y="0"/>
                    <a:pt x="114110" y="6626"/>
                  </a:cubicBezTo>
                  <a:cubicBezTo>
                    <a:pt x="122455" y="13252"/>
                    <a:pt x="125133" y="24756"/>
                    <a:pt x="120572" y="34387"/>
                  </a:cubicBezTo>
                  <a:lnTo>
                    <a:pt x="158798" y="34387"/>
                  </a:lnTo>
                  <a:cubicBezTo>
                    <a:pt x="162415" y="34387"/>
                    <a:pt x="165346" y="37319"/>
                    <a:pt x="165346" y="40935"/>
                  </a:cubicBezTo>
                  <a:lnTo>
                    <a:pt x="165346" y="75880"/>
                  </a:lnTo>
                  <a:cubicBezTo>
                    <a:pt x="156845" y="71857"/>
                    <a:pt x="146750" y="73437"/>
                    <a:pt x="139883" y="79863"/>
                  </a:cubicBezTo>
                  <a:cubicBezTo>
                    <a:pt x="133016" y="86289"/>
                    <a:pt x="130772" y="96258"/>
                    <a:pt x="134223" y="105007"/>
                  </a:cubicBezTo>
                  <a:cubicBezTo>
                    <a:pt x="137674" y="113756"/>
                    <a:pt x="146119" y="119508"/>
                    <a:pt x="155524" y="119517"/>
                  </a:cubicBezTo>
                  <a:close/>
                </a:path>
              </a:pathLst>
            </a:custGeom>
            <a:solidFill>
              <a:srgbClr val="2E7D32">
                <a:alpha val="20000"/>
              </a:srgbClr>
            </a:solidFill>
            <a:ln>
              <a:noFill/>
            </a:ln>
          </p:spPr>
        </p:sp>
        <p:sp>
          <p:nvSpPr>
            <p:cNvPr id="45" name="Freeform 45"/>
            <p:cNvSpPr/>
            <p:nvPr/>
          </p:nvSpPr>
          <p:spPr>
            <a:xfrm>
              <a:off x="1625293" y="4506775"/>
              <a:ext cx="177314" cy="172381"/>
            </a:xfrm>
            <a:custGeom>
              <a:avLst/>
              <a:gdLst/>
              <a:ahLst/>
              <a:cxnLst/>
              <a:rect l="l" t="t" r="r" b="b"/>
              <a:pathLst>
                <a:path w="177314" h="172381">
                  <a:moveTo>
                    <a:pt x="174260" y="118798"/>
                  </a:moveTo>
                  <a:cubicBezTo>
                    <a:pt x="172362" y="117601"/>
                    <a:pt x="169984" y="117459"/>
                    <a:pt x="167957" y="118422"/>
                  </a:cubicBezTo>
                  <a:cubicBezTo>
                    <a:pt x="161078" y="121675"/>
                    <a:pt x="152865" y="119760"/>
                    <a:pt x="148134" y="113799"/>
                  </a:cubicBezTo>
                  <a:cubicBezTo>
                    <a:pt x="143404" y="107839"/>
                    <a:pt x="143404" y="99405"/>
                    <a:pt x="148134" y="93445"/>
                  </a:cubicBezTo>
                  <a:cubicBezTo>
                    <a:pt x="152865" y="87485"/>
                    <a:pt x="161078" y="85570"/>
                    <a:pt x="167957" y="88823"/>
                  </a:cubicBezTo>
                  <a:cubicBezTo>
                    <a:pt x="169986" y="89786"/>
                    <a:pt x="172367" y="89642"/>
                    <a:pt x="174265" y="88441"/>
                  </a:cubicBezTo>
                  <a:cubicBezTo>
                    <a:pt x="176163" y="87240"/>
                    <a:pt x="177314" y="85151"/>
                    <a:pt x="177313" y="82905"/>
                  </a:cubicBezTo>
                  <a:lnTo>
                    <a:pt x="177313" y="47961"/>
                  </a:lnTo>
                  <a:cubicBezTo>
                    <a:pt x="177313" y="40727"/>
                    <a:pt x="171449" y="34864"/>
                    <a:pt x="164216" y="34864"/>
                  </a:cubicBezTo>
                  <a:lnTo>
                    <a:pt x="134568" y="34864"/>
                  </a:lnTo>
                  <a:cubicBezTo>
                    <a:pt x="134690" y="33777"/>
                    <a:pt x="134750" y="32683"/>
                    <a:pt x="134748" y="31589"/>
                  </a:cubicBezTo>
                  <a:cubicBezTo>
                    <a:pt x="134734" y="23453"/>
                    <a:pt x="131371" y="15682"/>
                    <a:pt x="125449" y="10102"/>
                  </a:cubicBezTo>
                  <a:cubicBezTo>
                    <a:pt x="117166" y="2323"/>
                    <a:pt x="105149" y="0"/>
                    <a:pt x="94563" y="4131"/>
                  </a:cubicBezTo>
                  <a:cubicBezTo>
                    <a:pt x="83977" y="8262"/>
                    <a:pt x="76710" y="18112"/>
                    <a:pt x="75886" y="29445"/>
                  </a:cubicBezTo>
                  <a:cubicBezTo>
                    <a:pt x="75760" y="31251"/>
                    <a:pt x="75798" y="33065"/>
                    <a:pt x="76000" y="34864"/>
                  </a:cubicBezTo>
                  <a:lnTo>
                    <a:pt x="46344" y="34864"/>
                  </a:lnTo>
                  <a:cubicBezTo>
                    <a:pt x="42871" y="34864"/>
                    <a:pt x="39539" y="36243"/>
                    <a:pt x="37083" y="38700"/>
                  </a:cubicBezTo>
                  <a:cubicBezTo>
                    <a:pt x="34627" y="41156"/>
                    <a:pt x="33247" y="44487"/>
                    <a:pt x="33247" y="47961"/>
                  </a:cubicBezTo>
                  <a:lnTo>
                    <a:pt x="33247" y="74334"/>
                  </a:lnTo>
                  <a:cubicBezTo>
                    <a:pt x="32160" y="74212"/>
                    <a:pt x="31067" y="74152"/>
                    <a:pt x="29973" y="74154"/>
                  </a:cubicBezTo>
                  <a:cubicBezTo>
                    <a:pt x="21839" y="74167"/>
                    <a:pt x="14070" y="77531"/>
                    <a:pt x="8494" y="83453"/>
                  </a:cubicBezTo>
                  <a:cubicBezTo>
                    <a:pt x="2877" y="89387"/>
                    <a:pt x="0" y="97402"/>
                    <a:pt x="562" y="105554"/>
                  </a:cubicBezTo>
                  <a:cubicBezTo>
                    <a:pt x="1533" y="120233"/>
                    <a:pt x="13158" y="131960"/>
                    <a:pt x="27828" y="133057"/>
                  </a:cubicBezTo>
                  <a:cubicBezTo>
                    <a:pt x="29634" y="133183"/>
                    <a:pt x="31448" y="133145"/>
                    <a:pt x="33247" y="132943"/>
                  </a:cubicBezTo>
                  <a:lnTo>
                    <a:pt x="33247" y="159284"/>
                  </a:lnTo>
                  <a:cubicBezTo>
                    <a:pt x="33247" y="166517"/>
                    <a:pt x="39111" y="172381"/>
                    <a:pt x="46344" y="172381"/>
                  </a:cubicBezTo>
                  <a:lnTo>
                    <a:pt x="164216" y="172381"/>
                  </a:lnTo>
                  <a:cubicBezTo>
                    <a:pt x="171449" y="172381"/>
                    <a:pt x="177313" y="166517"/>
                    <a:pt x="177313" y="159284"/>
                  </a:cubicBezTo>
                  <a:lnTo>
                    <a:pt x="177313" y="124340"/>
                  </a:lnTo>
                  <a:cubicBezTo>
                    <a:pt x="177314" y="122091"/>
                    <a:pt x="176161" y="119999"/>
                    <a:pt x="174260" y="118798"/>
                  </a:cubicBezTo>
                  <a:close/>
                  <a:moveTo>
                    <a:pt x="164216" y="159284"/>
                  </a:moveTo>
                  <a:lnTo>
                    <a:pt x="46344" y="159284"/>
                  </a:lnTo>
                  <a:lnTo>
                    <a:pt x="46344" y="124340"/>
                  </a:lnTo>
                  <a:cubicBezTo>
                    <a:pt x="46345" y="122094"/>
                    <a:pt x="45194" y="120004"/>
                    <a:pt x="43296" y="118803"/>
                  </a:cubicBezTo>
                  <a:cubicBezTo>
                    <a:pt x="41398" y="117603"/>
                    <a:pt x="39017" y="117459"/>
                    <a:pt x="36988" y="118422"/>
                  </a:cubicBezTo>
                  <a:cubicBezTo>
                    <a:pt x="30109" y="121675"/>
                    <a:pt x="21896" y="119760"/>
                    <a:pt x="17166" y="113799"/>
                  </a:cubicBezTo>
                  <a:cubicBezTo>
                    <a:pt x="12435" y="107839"/>
                    <a:pt x="12435" y="99405"/>
                    <a:pt x="17166" y="93445"/>
                  </a:cubicBezTo>
                  <a:cubicBezTo>
                    <a:pt x="21896" y="87485"/>
                    <a:pt x="30109" y="85570"/>
                    <a:pt x="36988" y="88823"/>
                  </a:cubicBezTo>
                  <a:cubicBezTo>
                    <a:pt x="39017" y="89786"/>
                    <a:pt x="41398" y="89642"/>
                    <a:pt x="43296" y="88441"/>
                  </a:cubicBezTo>
                  <a:cubicBezTo>
                    <a:pt x="45194" y="87240"/>
                    <a:pt x="46345" y="85151"/>
                    <a:pt x="46344" y="82905"/>
                  </a:cubicBezTo>
                  <a:lnTo>
                    <a:pt x="46344" y="47961"/>
                  </a:lnTo>
                  <a:lnTo>
                    <a:pt x="84562" y="47961"/>
                  </a:lnTo>
                  <a:cubicBezTo>
                    <a:pt x="86808" y="47961"/>
                    <a:pt x="88898" y="46811"/>
                    <a:pt x="90099" y="44913"/>
                  </a:cubicBezTo>
                  <a:cubicBezTo>
                    <a:pt x="91299" y="43015"/>
                    <a:pt x="91444" y="40634"/>
                    <a:pt x="90481" y="38604"/>
                  </a:cubicBezTo>
                  <a:cubicBezTo>
                    <a:pt x="87227" y="31726"/>
                    <a:pt x="89143" y="23512"/>
                    <a:pt x="95103" y="18782"/>
                  </a:cubicBezTo>
                  <a:cubicBezTo>
                    <a:pt x="101063" y="14052"/>
                    <a:pt x="109497" y="14052"/>
                    <a:pt x="115457" y="18782"/>
                  </a:cubicBezTo>
                  <a:cubicBezTo>
                    <a:pt x="121417" y="23512"/>
                    <a:pt x="123333" y="31726"/>
                    <a:pt x="120080" y="38604"/>
                  </a:cubicBezTo>
                  <a:cubicBezTo>
                    <a:pt x="119117" y="40634"/>
                    <a:pt x="119261" y="43015"/>
                    <a:pt x="120461" y="44913"/>
                  </a:cubicBezTo>
                  <a:cubicBezTo>
                    <a:pt x="121662" y="46811"/>
                    <a:pt x="123752" y="47961"/>
                    <a:pt x="125998" y="47961"/>
                  </a:cubicBezTo>
                  <a:lnTo>
                    <a:pt x="164216" y="47961"/>
                  </a:lnTo>
                  <a:lnTo>
                    <a:pt x="164216" y="74343"/>
                  </a:lnTo>
                  <a:cubicBezTo>
                    <a:pt x="162417" y="74136"/>
                    <a:pt x="160603" y="74098"/>
                    <a:pt x="158797" y="74228"/>
                  </a:cubicBezTo>
                  <a:cubicBezTo>
                    <a:pt x="142955" y="75350"/>
                    <a:pt x="130852" y="88824"/>
                    <a:pt x="131430" y="104695"/>
                  </a:cubicBezTo>
                  <a:cubicBezTo>
                    <a:pt x="132008" y="120566"/>
                    <a:pt x="145060" y="133124"/>
                    <a:pt x="160942" y="133090"/>
                  </a:cubicBezTo>
                  <a:cubicBezTo>
                    <a:pt x="162036" y="133092"/>
                    <a:pt x="163129" y="133032"/>
                    <a:pt x="164216" y="132910"/>
                  </a:cubicBezTo>
                  <a:close/>
                </a:path>
              </a:pathLst>
            </a:custGeom>
            <a:solidFill>
              <a:srgbClr val="2E7D32"/>
            </a:solidFill>
            <a:ln>
              <a:noFill/>
            </a:ln>
          </p:spPr>
        </p:sp>
      </p:grpSp>
      <p:sp>
        <p:nvSpPr>
          <p:cNvPr id="47" name="TextBox 47"/>
          <p:cNvSpPr txBox="1"/>
          <p:nvPr/>
        </p:nvSpPr>
        <p:spPr>
          <a:xfrm>
            <a:off x="1885950" y="45148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构件提取</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1889760" y="4766310"/>
            <a:ext cx="484708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从对话中提取11组复用构件（提示词模板、数据结构、校验规则等）</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Polygon 49"/>
          <p:cNvSpPr/>
          <p:nvPr/>
        </p:nvSpPr>
        <p:spPr>
          <a:xfrm>
            <a:off x="1162050" y="49911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50" name="TextBox 50"/>
          <p:cNvSpPr txBox="1"/>
          <p:nvPr/>
        </p:nvSpPr>
        <p:spPr>
          <a:xfrm>
            <a:off x="2703004" y="50044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857250" y="5219700"/>
            <a:ext cx="10477500" cy="619125"/>
          </a:xfrm>
          <a:prstGeom prst="roundRect">
            <a:avLst>
              <a:gd name="adj" fmla="val 12308"/>
            </a:avLst>
          </a:prstGeom>
          <a:solidFill>
            <a:srgbClr val="F5F7FA"/>
          </a:solidFill>
          <a:ln>
            <a:noFill/>
          </a:ln>
        </p:spPr>
      </p:sp>
      <p:sp>
        <p:nvSpPr>
          <p:cNvPr id="52" name="Rectangle 52"/>
          <p:cNvSpPr/>
          <p:nvPr/>
        </p:nvSpPr>
        <p:spPr>
          <a:xfrm>
            <a:off x="857250" y="5219700"/>
            <a:ext cx="619125" cy="619125"/>
          </a:xfrm>
          <a:prstGeom prst="roundRect">
            <a:avLst>
              <a:gd name="adj" fmla="val 12308"/>
            </a:avLst>
          </a:prstGeom>
          <a:solidFill>
            <a:srgbClr val="1565C0"/>
          </a:solidFill>
          <a:ln>
            <a:noFill/>
          </a:ln>
        </p:spPr>
      </p:sp>
      <p:sp>
        <p:nvSpPr>
          <p:cNvPr id="53" name="TextBox 53"/>
          <p:cNvSpPr txBox="1"/>
          <p:nvPr/>
        </p:nvSpPr>
        <p:spPr>
          <a:xfrm>
            <a:off x="1014029" y="54225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P5</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56" name="Group 56"/>
          <p:cNvGrpSpPr/>
          <p:nvPr/>
        </p:nvGrpSpPr>
        <p:grpSpPr>
          <a:xfrm>
            <a:off x="1645444" y="5398294"/>
            <a:ext cx="157162" cy="157162"/>
            <a:chOff x="1645444" y="5398294"/>
            <a:chExt cx="157162" cy="157162"/>
          </a:xfrm>
        </p:grpSpPr>
        <p:sp>
          <p:nvSpPr>
            <p:cNvPr id="54" name="Freeform 54"/>
            <p:cNvSpPr/>
            <p:nvPr/>
          </p:nvSpPr>
          <p:spPr>
            <a:xfrm>
              <a:off x="1651992" y="5404842"/>
              <a:ext cx="144066" cy="144066"/>
            </a:xfrm>
            <a:custGeom>
              <a:avLst/>
              <a:gdLst/>
              <a:ahLst/>
              <a:cxnLst/>
              <a:rect l="l" t="t" r="r" b="b"/>
              <a:pathLst>
                <a:path w="144066" h="144066">
                  <a:moveTo>
                    <a:pt x="137517" y="0"/>
                  </a:moveTo>
                  <a:lnTo>
                    <a:pt x="6548" y="0"/>
                  </a:lnTo>
                  <a:cubicBezTo>
                    <a:pt x="2932" y="0"/>
                    <a:pt x="0" y="2932"/>
                    <a:pt x="0" y="6548"/>
                  </a:cubicBezTo>
                  <a:lnTo>
                    <a:pt x="0" y="137517"/>
                  </a:lnTo>
                  <a:cubicBezTo>
                    <a:pt x="0" y="141134"/>
                    <a:pt x="2932" y="144066"/>
                    <a:pt x="6548" y="144066"/>
                  </a:cubicBezTo>
                  <a:lnTo>
                    <a:pt x="137517" y="144066"/>
                  </a:lnTo>
                  <a:cubicBezTo>
                    <a:pt x="141134" y="144066"/>
                    <a:pt x="144066" y="141134"/>
                    <a:pt x="144066" y="137517"/>
                  </a:cubicBezTo>
                  <a:lnTo>
                    <a:pt x="144066" y="6548"/>
                  </a:lnTo>
                  <a:cubicBezTo>
                    <a:pt x="144066" y="2932"/>
                    <a:pt x="141134" y="0"/>
                    <a:pt x="137517" y="0"/>
                  </a:cubicBezTo>
                  <a:close/>
                  <a:moveTo>
                    <a:pt x="39291" y="117872"/>
                  </a:moveTo>
                  <a:cubicBezTo>
                    <a:pt x="32057" y="117872"/>
                    <a:pt x="26194" y="112008"/>
                    <a:pt x="26194" y="104775"/>
                  </a:cubicBezTo>
                  <a:cubicBezTo>
                    <a:pt x="26194" y="97542"/>
                    <a:pt x="32057" y="91678"/>
                    <a:pt x="39291" y="91678"/>
                  </a:cubicBezTo>
                  <a:cubicBezTo>
                    <a:pt x="46524" y="91678"/>
                    <a:pt x="52388" y="97542"/>
                    <a:pt x="52388" y="104775"/>
                  </a:cubicBezTo>
                  <a:cubicBezTo>
                    <a:pt x="52388" y="112008"/>
                    <a:pt x="46524" y="117872"/>
                    <a:pt x="39291" y="117872"/>
                  </a:cubicBezTo>
                  <a:close/>
                  <a:moveTo>
                    <a:pt x="104775" y="65484"/>
                  </a:moveTo>
                  <a:cubicBezTo>
                    <a:pt x="97542" y="65484"/>
                    <a:pt x="91678" y="59621"/>
                    <a:pt x="91678" y="52388"/>
                  </a:cubicBezTo>
                  <a:cubicBezTo>
                    <a:pt x="91678" y="45154"/>
                    <a:pt x="97542" y="39291"/>
                    <a:pt x="104775" y="39291"/>
                  </a:cubicBezTo>
                  <a:cubicBezTo>
                    <a:pt x="112008" y="39291"/>
                    <a:pt x="117872" y="45154"/>
                    <a:pt x="117872" y="52388"/>
                  </a:cubicBezTo>
                  <a:cubicBezTo>
                    <a:pt x="117872" y="59621"/>
                    <a:pt x="112008" y="65484"/>
                    <a:pt x="104775" y="65484"/>
                  </a:cubicBezTo>
                  <a:close/>
                </a:path>
              </a:pathLst>
            </a:custGeom>
            <a:solidFill>
              <a:srgbClr val="1565C0">
                <a:alpha val="20000"/>
              </a:srgbClr>
            </a:solidFill>
            <a:ln>
              <a:noFill/>
            </a:ln>
          </p:spPr>
        </p:sp>
        <p:sp>
          <p:nvSpPr>
            <p:cNvPr id="55" name="Freeform 55"/>
            <p:cNvSpPr/>
            <p:nvPr/>
          </p:nvSpPr>
          <p:spPr>
            <a:xfrm>
              <a:off x="1645444" y="5398294"/>
              <a:ext cx="157162" cy="157162"/>
            </a:xfrm>
            <a:custGeom>
              <a:avLst/>
              <a:gdLst/>
              <a:ahLst/>
              <a:cxnLst/>
              <a:rect l="l" t="t" r="r" b="b"/>
              <a:pathLst>
                <a:path w="157162" h="157162">
                  <a:moveTo>
                    <a:pt x="144066" y="0"/>
                  </a:moveTo>
                  <a:lnTo>
                    <a:pt x="13097" y="0"/>
                  </a:lnTo>
                  <a:cubicBezTo>
                    <a:pt x="5864" y="0"/>
                    <a:pt x="0" y="5864"/>
                    <a:pt x="0" y="13097"/>
                  </a:cubicBezTo>
                  <a:lnTo>
                    <a:pt x="0" y="144066"/>
                  </a:lnTo>
                  <a:cubicBezTo>
                    <a:pt x="0" y="151299"/>
                    <a:pt x="5864" y="157162"/>
                    <a:pt x="13097" y="157162"/>
                  </a:cubicBezTo>
                  <a:lnTo>
                    <a:pt x="144066" y="157162"/>
                  </a:lnTo>
                  <a:cubicBezTo>
                    <a:pt x="151299" y="157162"/>
                    <a:pt x="157162" y="151299"/>
                    <a:pt x="157162" y="144066"/>
                  </a:cubicBezTo>
                  <a:lnTo>
                    <a:pt x="157162" y="13097"/>
                  </a:lnTo>
                  <a:cubicBezTo>
                    <a:pt x="157162" y="5864"/>
                    <a:pt x="151299" y="0"/>
                    <a:pt x="144066" y="0"/>
                  </a:cubicBezTo>
                  <a:close/>
                  <a:moveTo>
                    <a:pt x="45839" y="104775"/>
                  </a:moveTo>
                  <a:cubicBezTo>
                    <a:pt x="49456" y="104775"/>
                    <a:pt x="52388" y="107707"/>
                    <a:pt x="52388" y="111323"/>
                  </a:cubicBezTo>
                  <a:cubicBezTo>
                    <a:pt x="52388" y="114940"/>
                    <a:pt x="49456" y="117872"/>
                    <a:pt x="45839" y="117872"/>
                  </a:cubicBezTo>
                  <a:cubicBezTo>
                    <a:pt x="42222" y="117872"/>
                    <a:pt x="39291" y="114940"/>
                    <a:pt x="39291" y="111323"/>
                  </a:cubicBezTo>
                  <a:cubicBezTo>
                    <a:pt x="39291" y="107707"/>
                    <a:pt x="42222" y="104775"/>
                    <a:pt x="45839" y="104775"/>
                  </a:cubicBezTo>
                  <a:close/>
                  <a:moveTo>
                    <a:pt x="13097" y="13097"/>
                  </a:moveTo>
                  <a:lnTo>
                    <a:pt x="39291" y="13097"/>
                  </a:lnTo>
                  <a:lnTo>
                    <a:pt x="39291" y="92808"/>
                  </a:lnTo>
                  <a:cubicBezTo>
                    <a:pt x="30270" y="95997"/>
                    <a:pt x="24859" y="105221"/>
                    <a:pt x="26477" y="114652"/>
                  </a:cubicBezTo>
                  <a:cubicBezTo>
                    <a:pt x="28095" y="124082"/>
                    <a:pt x="36271" y="130975"/>
                    <a:pt x="45839" y="130975"/>
                  </a:cubicBezTo>
                  <a:cubicBezTo>
                    <a:pt x="55407" y="130975"/>
                    <a:pt x="63583" y="124082"/>
                    <a:pt x="65201" y="114652"/>
                  </a:cubicBezTo>
                  <a:cubicBezTo>
                    <a:pt x="66819" y="105221"/>
                    <a:pt x="61408" y="95997"/>
                    <a:pt x="52388" y="92808"/>
                  </a:cubicBezTo>
                  <a:lnTo>
                    <a:pt x="52388" y="68194"/>
                  </a:lnTo>
                  <a:lnTo>
                    <a:pt x="91678" y="107484"/>
                  </a:lnTo>
                  <a:lnTo>
                    <a:pt x="91678" y="144066"/>
                  </a:lnTo>
                  <a:lnTo>
                    <a:pt x="13097" y="144066"/>
                  </a:lnTo>
                  <a:close/>
                  <a:moveTo>
                    <a:pt x="144066" y="144066"/>
                  </a:moveTo>
                  <a:lnTo>
                    <a:pt x="104775" y="144066"/>
                  </a:lnTo>
                  <a:lnTo>
                    <a:pt x="104775" y="104775"/>
                  </a:lnTo>
                  <a:cubicBezTo>
                    <a:pt x="104776" y="103038"/>
                    <a:pt x="104087" y="101371"/>
                    <a:pt x="102860" y="100142"/>
                  </a:cubicBezTo>
                  <a:lnTo>
                    <a:pt x="52388" y="49678"/>
                  </a:lnTo>
                  <a:lnTo>
                    <a:pt x="52388" y="13097"/>
                  </a:lnTo>
                  <a:lnTo>
                    <a:pt x="78581" y="13097"/>
                  </a:lnTo>
                  <a:lnTo>
                    <a:pt x="78581" y="32742"/>
                  </a:lnTo>
                  <a:cubicBezTo>
                    <a:pt x="78580" y="34479"/>
                    <a:pt x="79269" y="36146"/>
                    <a:pt x="80497" y="37375"/>
                  </a:cubicBezTo>
                  <a:lnTo>
                    <a:pt x="93594" y="50472"/>
                  </a:lnTo>
                  <a:cubicBezTo>
                    <a:pt x="92325" y="53113"/>
                    <a:pt x="91670" y="56006"/>
                    <a:pt x="91678" y="58936"/>
                  </a:cubicBezTo>
                  <a:cubicBezTo>
                    <a:pt x="91678" y="69786"/>
                    <a:pt x="100474" y="78581"/>
                    <a:pt x="111323" y="78581"/>
                  </a:cubicBezTo>
                  <a:cubicBezTo>
                    <a:pt x="122173" y="78581"/>
                    <a:pt x="130969" y="69786"/>
                    <a:pt x="130969" y="58936"/>
                  </a:cubicBezTo>
                  <a:cubicBezTo>
                    <a:pt x="130969" y="48086"/>
                    <a:pt x="122173" y="39291"/>
                    <a:pt x="111323" y="39291"/>
                  </a:cubicBezTo>
                  <a:cubicBezTo>
                    <a:pt x="108393" y="39285"/>
                    <a:pt x="105500" y="39943"/>
                    <a:pt x="102860" y="41214"/>
                  </a:cubicBezTo>
                  <a:lnTo>
                    <a:pt x="91678" y="30033"/>
                  </a:lnTo>
                  <a:lnTo>
                    <a:pt x="91678" y="13097"/>
                  </a:lnTo>
                  <a:lnTo>
                    <a:pt x="144066" y="13097"/>
                  </a:lnTo>
                  <a:lnTo>
                    <a:pt x="144066" y="144066"/>
                  </a:lnTo>
                  <a:close/>
                  <a:moveTo>
                    <a:pt x="111323" y="52388"/>
                  </a:moveTo>
                  <a:cubicBezTo>
                    <a:pt x="114940" y="52388"/>
                    <a:pt x="117872" y="55319"/>
                    <a:pt x="117872" y="58936"/>
                  </a:cubicBezTo>
                  <a:cubicBezTo>
                    <a:pt x="117872" y="62553"/>
                    <a:pt x="114940" y="65484"/>
                    <a:pt x="111323" y="65484"/>
                  </a:cubicBezTo>
                  <a:cubicBezTo>
                    <a:pt x="107707" y="65484"/>
                    <a:pt x="104775" y="62553"/>
                    <a:pt x="104775" y="58936"/>
                  </a:cubicBezTo>
                  <a:cubicBezTo>
                    <a:pt x="104775" y="55319"/>
                    <a:pt x="107707" y="52388"/>
                    <a:pt x="111323" y="52388"/>
                  </a:cubicBezTo>
                  <a:close/>
                </a:path>
              </a:pathLst>
            </a:custGeom>
            <a:solidFill>
              <a:srgbClr val="1565C0"/>
            </a:solidFill>
            <a:ln>
              <a:noFill/>
            </a:ln>
          </p:spPr>
        </p:sp>
      </p:grpSp>
      <p:sp>
        <p:nvSpPr>
          <p:cNvPr id="57" name="TextBox 57"/>
          <p:cNvSpPr txBox="1"/>
          <p:nvPr/>
        </p:nvSpPr>
        <p:spPr>
          <a:xfrm>
            <a:off x="1885950" y="53911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模式识别</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1889760" y="5642610"/>
            <a:ext cx="612724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提取6种设计模式（双面板布局、展示-逻辑分离、事件驱动等），形成可复用架构资产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1" name="图片 6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16585" y="223520"/>
            <a:ext cx="3502025" cy="41656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Vibe Coding实战（二）</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176695" y="1052989"/>
            <a:ext cx="5838611"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"增量注入知识、让AI列出选项你做决策、Spec先行再动代码、实验替代猜测"</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4000500"/>
          </a:xfrm>
          <a:prstGeom prst="roundRect">
            <a:avLst>
              <a:gd name="adj" fmla="val 2857"/>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1565C0"/>
          </a:solidFill>
          <a:ln>
            <a:noFill/>
          </a:ln>
        </p:spPr>
      </p:sp>
      <p:grpSp>
        <p:nvGrpSpPr>
          <p:cNvPr id="14" name="Group 14"/>
          <p:cNvGrpSpPr/>
          <p:nvPr/>
        </p:nvGrpSpPr>
        <p:grpSpPr>
          <a:xfrm>
            <a:off x="853559" y="1635921"/>
            <a:ext cx="235936" cy="226067"/>
            <a:chOff x="853559" y="1635921"/>
            <a:chExt cx="235936" cy="226067"/>
          </a:xfrm>
        </p:grpSpPr>
        <p:sp>
          <p:nvSpPr>
            <p:cNvPr id="12" name="Freeform 12"/>
            <p:cNvSpPr/>
            <p:nvPr/>
          </p:nvSpPr>
          <p:spPr>
            <a:xfrm>
              <a:off x="862509" y="1644338"/>
              <a:ext cx="218082" cy="208759"/>
            </a:xfrm>
            <a:custGeom>
              <a:avLst/>
              <a:gdLst/>
              <a:ahLst/>
              <a:cxnLst/>
              <a:rect l="l" t="t" r="r" b="b"/>
              <a:pathLst>
                <a:path w="218082" h="208759">
                  <a:moveTo>
                    <a:pt x="167517" y="128785"/>
                  </a:moveTo>
                  <a:cubicBezTo>
                    <a:pt x="165190" y="130829"/>
                    <a:pt x="164174" y="133987"/>
                    <a:pt x="164871" y="137005"/>
                  </a:cubicBezTo>
                  <a:lnTo>
                    <a:pt x="178956" y="197992"/>
                  </a:lnTo>
                  <a:cubicBezTo>
                    <a:pt x="179717" y="201248"/>
                    <a:pt x="178458" y="204644"/>
                    <a:pt x="175758" y="206617"/>
                  </a:cubicBezTo>
                  <a:cubicBezTo>
                    <a:pt x="173058" y="208590"/>
                    <a:pt x="169441" y="208759"/>
                    <a:pt x="166569" y="207045"/>
                  </a:cubicBezTo>
                  <a:lnTo>
                    <a:pt x="113333" y="174749"/>
                  </a:lnTo>
                  <a:cubicBezTo>
                    <a:pt x="110697" y="173146"/>
                    <a:pt x="107386" y="173146"/>
                    <a:pt x="104749" y="174749"/>
                  </a:cubicBezTo>
                  <a:lnTo>
                    <a:pt x="51513" y="207045"/>
                  </a:lnTo>
                  <a:cubicBezTo>
                    <a:pt x="48642" y="208759"/>
                    <a:pt x="45024" y="208590"/>
                    <a:pt x="42324" y="206617"/>
                  </a:cubicBezTo>
                  <a:cubicBezTo>
                    <a:pt x="39624" y="204644"/>
                    <a:pt x="38365" y="201248"/>
                    <a:pt x="39126" y="197992"/>
                  </a:cubicBezTo>
                  <a:lnTo>
                    <a:pt x="53211" y="137005"/>
                  </a:lnTo>
                  <a:cubicBezTo>
                    <a:pt x="53909" y="133987"/>
                    <a:pt x="52892" y="130829"/>
                    <a:pt x="50565" y="128785"/>
                  </a:cubicBezTo>
                  <a:lnTo>
                    <a:pt x="3570" y="87790"/>
                  </a:lnTo>
                  <a:cubicBezTo>
                    <a:pt x="1000" y="85606"/>
                    <a:pt x="0" y="82090"/>
                    <a:pt x="1035" y="78880"/>
                  </a:cubicBezTo>
                  <a:cubicBezTo>
                    <a:pt x="2071" y="75671"/>
                    <a:pt x="4938" y="73402"/>
                    <a:pt x="8299" y="73132"/>
                  </a:cubicBezTo>
                  <a:lnTo>
                    <a:pt x="70245" y="67777"/>
                  </a:lnTo>
                  <a:cubicBezTo>
                    <a:pt x="73325" y="67503"/>
                    <a:pt x="76000" y="65546"/>
                    <a:pt x="77193" y="62693"/>
                  </a:cubicBezTo>
                  <a:lnTo>
                    <a:pt x="101394" y="5019"/>
                  </a:lnTo>
                  <a:cubicBezTo>
                    <a:pt x="102715" y="1972"/>
                    <a:pt x="105720" y="0"/>
                    <a:pt x="109041" y="0"/>
                  </a:cubicBezTo>
                  <a:cubicBezTo>
                    <a:pt x="112363" y="0"/>
                    <a:pt x="115367" y="1972"/>
                    <a:pt x="116688" y="5019"/>
                  </a:cubicBezTo>
                  <a:lnTo>
                    <a:pt x="140889" y="62693"/>
                  </a:lnTo>
                  <a:cubicBezTo>
                    <a:pt x="142083" y="65546"/>
                    <a:pt x="144758" y="67503"/>
                    <a:pt x="147838" y="67777"/>
                  </a:cubicBezTo>
                  <a:lnTo>
                    <a:pt x="209783" y="73132"/>
                  </a:lnTo>
                  <a:cubicBezTo>
                    <a:pt x="213144" y="73402"/>
                    <a:pt x="216011" y="75671"/>
                    <a:pt x="217047" y="78880"/>
                  </a:cubicBezTo>
                  <a:cubicBezTo>
                    <a:pt x="218082" y="82090"/>
                    <a:pt x="217082" y="85606"/>
                    <a:pt x="214513" y="87790"/>
                  </a:cubicBezTo>
                  <a:close/>
                </a:path>
              </a:pathLst>
            </a:custGeom>
            <a:solidFill>
              <a:srgbClr val="1565C0">
                <a:alpha val="20000"/>
              </a:srgbClr>
            </a:solidFill>
            <a:ln>
              <a:noFill/>
            </a:ln>
          </p:spPr>
        </p:sp>
        <p:sp>
          <p:nvSpPr>
            <p:cNvPr id="13" name="Freeform 13"/>
            <p:cNvSpPr/>
            <p:nvPr/>
          </p:nvSpPr>
          <p:spPr>
            <a:xfrm>
              <a:off x="853559" y="1635921"/>
              <a:ext cx="235936" cy="226067"/>
            </a:xfrm>
            <a:custGeom>
              <a:avLst/>
              <a:gdLst/>
              <a:ahLst/>
              <a:cxnLst/>
              <a:rect l="l" t="t" r="r" b="b"/>
              <a:pathLst>
                <a:path w="235936" h="226067">
                  <a:moveTo>
                    <a:pt x="233839" y="84686"/>
                  </a:moveTo>
                  <a:cubicBezTo>
                    <a:pt x="231776" y="78326"/>
                    <a:pt x="226112" y="73815"/>
                    <a:pt x="219452" y="73226"/>
                  </a:cubicBezTo>
                  <a:lnTo>
                    <a:pt x="157580" y="67892"/>
                  </a:lnTo>
                  <a:lnTo>
                    <a:pt x="133327" y="10218"/>
                  </a:lnTo>
                  <a:lnTo>
                    <a:pt x="133327" y="10218"/>
                  </a:lnTo>
                  <a:cubicBezTo>
                    <a:pt x="130745" y="4030"/>
                    <a:pt x="124696" y="0"/>
                    <a:pt x="117991" y="0"/>
                  </a:cubicBezTo>
                  <a:cubicBezTo>
                    <a:pt x="111286" y="0"/>
                    <a:pt x="105238" y="4030"/>
                    <a:pt x="102656" y="10218"/>
                  </a:cubicBezTo>
                  <a:lnTo>
                    <a:pt x="78476" y="67892"/>
                  </a:lnTo>
                  <a:lnTo>
                    <a:pt x="16531" y="73257"/>
                  </a:lnTo>
                  <a:cubicBezTo>
                    <a:pt x="9843" y="73819"/>
                    <a:pt x="4145" y="78337"/>
                    <a:pt x="2072" y="84720"/>
                  </a:cubicBezTo>
                  <a:cubicBezTo>
                    <a:pt x="0" y="91103"/>
                    <a:pt x="1958" y="98107"/>
                    <a:pt x="7040" y="102490"/>
                  </a:cubicBezTo>
                  <a:lnTo>
                    <a:pt x="54035" y="143558"/>
                  </a:lnTo>
                  <a:lnTo>
                    <a:pt x="39950" y="204544"/>
                  </a:lnTo>
                  <a:cubicBezTo>
                    <a:pt x="38428" y="211069"/>
                    <a:pt x="40960" y="217872"/>
                    <a:pt x="46378" y="221813"/>
                  </a:cubicBezTo>
                  <a:cubicBezTo>
                    <a:pt x="51797" y="225754"/>
                    <a:pt x="59048" y="226067"/>
                    <a:pt x="64787" y="222609"/>
                  </a:cubicBezTo>
                  <a:lnTo>
                    <a:pt x="117918" y="190313"/>
                  </a:lnTo>
                  <a:lnTo>
                    <a:pt x="171165" y="222609"/>
                  </a:lnTo>
                  <a:cubicBezTo>
                    <a:pt x="176903" y="226067"/>
                    <a:pt x="184155" y="225754"/>
                    <a:pt x="189573" y="221813"/>
                  </a:cubicBezTo>
                  <a:cubicBezTo>
                    <a:pt x="194992" y="217872"/>
                    <a:pt x="197524" y="211069"/>
                    <a:pt x="196001" y="204544"/>
                  </a:cubicBezTo>
                  <a:lnTo>
                    <a:pt x="181926" y="143495"/>
                  </a:lnTo>
                  <a:lnTo>
                    <a:pt x="228911" y="102490"/>
                  </a:lnTo>
                  <a:cubicBezTo>
                    <a:pt x="233993" y="98091"/>
                    <a:pt x="235936" y="91071"/>
                    <a:pt x="233839" y="84686"/>
                  </a:cubicBezTo>
                  <a:close/>
                  <a:moveTo>
                    <a:pt x="217983" y="89895"/>
                  </a:moveTo>
                  <a:lnTo>
                    <a:pt x="170998" y="130900"/>
                  </a:lnTo>
                  <a:cubicBezTo>
                    <a:pt x="166338" y="134953"/>
                    <a:pt x="164301" y="141252"/>
                    <a:pt x="165706" y="147266"/>
                  </a:cubicBezTo>
                  <a:lnTo>
                    <a:pt x="179822" y="208357"/>
                  </a:lnTo>
                  <a:lnTo>
                    <a:pt x="179822" y="208357"/>
                  </a:lnTo>
                  <a:lnTo>
                    <a:pt x="126617" y="176062"/>
                  </a:lnTo>
                  <a:cubicBezTo>
                    <a:pt x="121326" y="172839"/>
                    <a:pt x="114678" y="172839"/>
                    <a:pt x="109386" y="176062"/>
                  </a:cubicBezTo>
                  <a:lnTo>
                    <a:pt x="56254" y="208357"/>
                  </a:lnTo>
                  <a:lnTo>
                    <a:pt x="56254" y="208357"/>
                  </a:lnTo>
                  <a:lnTo>
                    <a:pt x="70277" y="147308"/>
                  </a:lnTo>
                  <a:cubicBezTo>
                    <a:pt x="71681" y="141293"/>
                    <a:pt x="69645" y="134995"/>
                    <a:pt x="64985" y="130941"/>
                  </a:cubicBezTo>
                  <a:lnTo>
                    <a:pt x="17979" y="89957"/>
                  </a:lnTo>
                  <a:cubicBezTo>
                    <a:pt x="17975" y="89926"/>
                    <a:pt x="17975" y="89894"/>
                    <a:pt x="17979" y="89863"/>
                  </a:cubicBezTo>
                  <a:lnTo>
                    <a:pt x="79903" y="84508"/>
                  </a:lnTo>
                  <a:cubicBezTo>
                    <a:pt x="86065" y="83965"/>
                    <a:pt x="91419" y="80055"/>
                    <a:pt x="93811" y="74351"/>
                  </a:cubicBezTo>
                  <a:lnTo>
                    <a:pt x="117991" y="16750"/>
                  </a:lnTo>
                  <a:lnTo>
                    <a:pt x="142161" y="74351"/>
                  </a:lnTo>
                  <a:cubicBezTo>
                    <a:pt x="144553" y="80055"/>
                    <a:pt x="149907" y="83965"/>
                    <a:pt x="156069" y="84508"/>
                  </a:cubicBezTo>
                  <a:lnTo>
                    <a:pt x="218004" y="89863"/>
                  </a:lnTo>
                  <a:cubicBezTo>
                    <a:pt x="218004" y="89863"/>
                    <a:pt x="218004" y="89926"/>
                    <a:pt x="218004" y="89936"/>
                  </a:cubicBezTo>
                  <a:close/>
                </a:path>
              </a:pathLst>
            </a:custGeom>
            <a:solidFill>
              <a:srgbClr val="1565C0"/>
            </a:solidFill>
            <a:ln>
              <a:noFill/>
            </a:ln>
          </p:spPr>
        </p:sp>
      </p:grpSp>
      <p:sp>
        <p:nvSpPr>
          <p:cNvPr id="15" name="TextBox 15"/>
          <p:cNvSpPr txBox="1"/>
          <p:nvPr/>
        </p:nvSpPr>
        <p:spPr>
          <a:xfrm>
            <a:off x="1196340" y="1634490"/>
            <a:ext cx="1053846" cy="365760"/>
          </a:xfrm>
          <a:prstGeom prst="rect">
            <a:avLst/>
          </a:prstGeom>
          <a:noFill/>
          <a:ln>
            <a:noFill/>
          </a:ln>
        </p:spPr>
        <p:txBody>
          <a:bodyPr wrap="none" lIns="0" tIns="0" rIns="0" bIns="0" anchor="t" anchorCtr="0">
            <a:spAutoFit/>
          </a:bodyPr>
          <a:lstStyle/>
          <a:p>
            <a:pPr algn="l"/>
            <a:r>
              <a:rPr lang="zh-CN" sz="1800" b="1" dirty="0">
                <a:solidFill>
                  <a:srgbClr val="1565C0"/>
                </a:solidFill>
                <a:latin typeface="Segoe UI" panose="020B0502040204020203"/>
                <a:ea typeface="微软雅黑" panose="020B0503020204020204" charset="-122"/>
                <a:cs typeface="Segoe UI" panose="020B0502040204020203"/>
              </a:rPr>
              <a:t>关键原则</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47875"/>
            <a:ext cx="4800600" cy="857250"/>
          </a:xfrm>
          <a:prstGeom prst="roundRect">
            <a:avLst>
              <a:gd name="adj" fmla="val 8889"/>
            </a:avLst>
          </a:prstGeom>
          <a:solidFill>
            <a:srgbClr val="E3F2FD"/>
          </a:solidFill>
          <a:ln>
            <a:noFill/>
          </a:ln>
        </p:spPr>
      </p:sp>
      <p:grpSp>
        <p:nvGrpSpPr>
          <p:cNvPr id="19" name="Group 19"/>
          <p:cNvGrpSpPr/>
          <p:nvPr/>
        </p:nvGrpSpPr>
        <p:grpSpPr>
          <a:xfrm>
            <a:off x="1052511" y="2281238"/>
            <a:ext cx="142877" cy="142875"/>
            <a:chOff x="1052511" y="2281238"/>
            <a:chExt cx="142877" cy="142875"/>
          </a:xfrm>
        </p:grpSpPr>
        <p:sp>
          <p:nvSpPr>
            <p:cNvPr id="17" name="Freeform 17"/>
            <p:cNvSpPr/>
            <p:nvPr/>
          </p:nvSpPr>
          <p:spPr>
            <a:xfrm>
              <a:off x="1058466" y="2293144"/>
              <a:ext cx="130969" cy="119062"/>
            </a:xfrm>
            <a:custGeom>
              <a:avLst/>
              <a:gdLst/>
              <a:ahLst/>
              <a:cxnLst/>
              <a:rect l="l" t="t" r="r" b="b"/>
              <a:pathLst>
                <a:path w="130969" h="119062">
                  <a:moveTo>
                    <a:pt x="130969" y="0"/>
                  </a:moveTo>
                  <a:lnTo>
                    <a:pt x="130969" y="35719"/>
                  </a:lnTo>
                  <a:lnTo>
                    <a:pt x="95250" y="35719"/>
                  </a:lnTo>
                  <a:close/>
                  <a:moveTo>
                    <a:pt x="0" y="119062"/>
                  </a:moveTo>
                  <a:lnTo>
                    <a:pt x="35719" y="83344"/>
                  </a:lnTo>
                  <a:lnTo>
                    <a:pt x="0" y="83344"/>
                  </a:lnTo>
                  <a:close/>
                </a:path>
              </a:pathLst>
            </a:custGeom>
            <a:solidFill>
              <a:srgbClr val="1565C0">
                <a:alpha val="20000"/>
              </a:srgbClr>
            </a:solidFill>
            <a:ln>
              <a:noFill/>
            </a:ln>
          </p:spPr>
        </p:sp>
        <p:sp>
          <p:nvSpPr>
            <p:cNvPr id="18" name="Freeform 18"/>
            <p:cNvSpPr/>
            <p:nvPr/>
          </p:nvSpPr>
          <p:spPr>
            <a:xfrm>
              <a:off x="1052511" y="2281238"/>
              <a:ext cx="142877" cy="142875"/>
            </a:xfrm>
            <a:custGeom>
              <a:avLst/>
              <a:gdLst/>
              <a:ahLst/>
              <a:cxnLst/>
              <a:rect l="l" t="t" r="r" b="b"/>
              <a:pathLst>
                <a:path w="142877" h="142875">
                  <a:moveTo>
                    <a:pt x="139201" y="6407"/>
                  </a:moveTo>
                  <a:cubicBezTo>
                    <a:pt x="136977" y="5484"/>
                    <a:pt x="134415" y="5992"/>
                    <a:pt x="132712" y="7694"/>
                  </a:cubicBezTo>
                  <a:lnTo>
                    <a:pt x="120761" y="19653"/>
                  </a:lnTo>
                  <a:cubicBezTo>
                    <a:pt x="105767" y="6772"/>
                    <a:pt x="88823" y="0"/>
                    <a:pt x="71439" y="0"/>
                  </a:cubicBezTo>
                  <a:cubicBezTo>
                    <a:pt x="39575" y="0"/>
                    <a:pt x="20406" y="18804"/>
                    <a:pt x="19603" y="19601"/>
                  </a:cubicBezTo>
                  <a:cubicBezTo>
                    <a:pt x="17276" y="21927"/>
                    <a:pt x="17276" y="25698"/>
                    <a:pt x="19603" y="28024"/>
                  </a:cubicBezTo>
                  <a:cubicBezTo>
                    <a:pt x="21929" y="30350"/>
                    <a:pt x="25700" y="30350"/>
                    <a:pt x="28026" y="28024"/>
                  </a:cubicBezTo>
                  <a:cubicBezTo>
                    <a:pt x="28183" y="27861"/>
                    <a:pt x="44449" y="11906"/>
                    <a:pt x="71439" y="11906"/>
                  </a:cubicBezTo>
                  <a:cubicBezTo>
                    <a:pt x="88681" y="11906"/>
                    <a:pt x="102634" y="19980"/>
                    <a:pt x="112308" y="28099"/>
                  </a:cubicBezTo>
                  <a:lnTo>
                    <a:pt x="96993" y="43413"/>
                  </a:lnTo>
                  <a:cubicBezTo>
                    <a:pt x="95289" y="45116"/>
                    <a:pt x="94778" y="47678"/>
                    <a:pt x="95701" y="49904"/>
                  </a:cubicBezTo>
                  <a:cubicBezTo>
                    <a:pt x="96623" y="52130"/>
                    <a:pt x="98796" y="53580"/>
                    <a:pt x="101205" y="53578"/>
                  </a:cubicBezTo>
                  <a:lnTo>
                    <a:pt x="136924" y="53578"/>
                  </a:lnTo>
                  <a:cubicBezTo>
                    <a:pt x="140212" y="53578"/>
                    <a:pt x="142877" y="50913"/>
                    <a:pt x="142877" y="47625"/>
                  </a:cubicBezTo>
                  <a:lnTo>
                    <a:pt x="142877" y="11906"/>
                  </a:lnTo>
                  <a:cubicBezTo>
                    <a:pt x="142876" y="9498"/>
                    <a:pt x="141426" y="7328"/>
                    <a:pt x="139201" y="6407"/>
                  </a:cubicBezTo>
                  <a:close/>
                  <a:moveTo>
                    <a:pt x="130971" y="41672"/>
                  </a:moveTo>
                  <a:lnTo>
                    <a:pt x="115574" y="41672"/>
                  </a:lnTo>
                  <a:lnTo>
                    <a:pt x="130971" y="26276"/>
                  </a:lnTo>
                  <a:close/>
                  <a:moveTo>
                    <a:pt x="114853" y="114851"/>
                  </a:moveTo>
                  <a:cubicBezTo>
                    <a:pt x="114696" y="115014"/>
                    <a:pt x="98429" y="130969"/>
                    <a:pt x="71439" y="130969"/>
                  </a:cubicBezTo>
                  <a:cubicBezTo>
                    <a:pt x="54198" y="130969"/>
                    <a:pt x="40245" y="122895"/>
                    <a:pt x="30571" y="114776"/>
                  </a:cubicBezTo>
                  <a:lnTo>
                    <a:pt x="45886" y="99462"/>
                  </a:lnTo>
                  <a:cubicBezTo>
                    <a:pt x="47590" y="97759"/>
                    <a:pt x="48100" y="95197"/>
                    <a:pt x="47178" y="92971"/>
                  </a:cubicBezTo>
                  <a:cubicBezTo>
                    <a:pt x="46256" y="90745"/>
                    <a:pt x="44083" y="89295"/>
                    <a:pt x="41674" y="89297"/>
                  </a:cubicBezTo>
                  <a:lnTo>
                    <a:pt x="5955" y="89297"/>
                  </a:lnTo>
                  <a:cubicBezTo>
                    <a:pt x="2667" y="89297"/>
                    <a:pt x="2" y="91962"/>
                    <a:pt x="2" y="95250"/>
                  </a:cubicBezTo>
                  <a:lnTo>
                    <a:pt x="2" y="130969"/>
                  </a:lnTo>
                  <a:cubicBezTo>
                    <a:pt x="0" y="133378"/>
                    <a:pt x="1450" y="135551"/>
                    <a:pt x="3676" y="136473"/>
                  </a:cubicBezTo>
                  <a:cubicBezTo>
                    <a:pt x="5902" y="137395"/>
                    <a:pt x="8464" y="136885"/>
                    <a:pt x="10167" y="135181"/>
                  </a:cubicBezTo>
                  <a:lnTo>
                    <a:pt x="22118" y="123222"/>
                  </a:lnTo>
                  <a:cubicBezTo>
                    <a:pt x="37112" y="136103"/>
                    <a:pt x="54056" y="142875"/>
                    <a:pt x="71439" y="142875"/>
                  </a:cubicBezTo>
                  <a:cubicBezTo>
                    <a:pt x="103303" y="142875"/>
                    <a:pt x="122473" y="124071"/>
                    <a:pt x="123276" y="123274"/>
                  </a:cubicBezTo>
                  <a:cubicBezTo>
                    <a:pt x="125602" y="120948"/>
                    <a:pt x="125602" y="117177"/>
                    <a:pt x="123276" y="114851"/>
                  </a:cubicBezTo>
                  <a:cubicBezTo>
                    <a:pt x="120950" y="112525"/>
                    <a:pt x="117179" y="112525"/>
                    <a:pt x="114853" y="114851"/>
                  </a:cubicBezTo>
                  <a:close/>
                  <a:moveTo>
                    <a:pt x="11908" y="101203"/>
                  </a:moveTo>
                  <a:lnTo>
                    <a:pt x="27304" y="101203"/>
                  </a:lnTo>
                  <a:lnTo>
                    <a:pt x="11908" y="116599"/>
                  </a:lnTo>
                  <a:close/>
                </a:path>
              </a:pathLst>
            </a:custGeom>
            <a:solidFill>
              <a:srgbClr val="1565C0"/>
            </a:solidFill>
            <a:ln>
              <a:noFill/>
            </a:ln>
          </p:spPr>
        </p:sp>
      </p:grpSp>
      <p:sp>
        <p:nvSpPr>
          <p:cNvPr id="20" name="TextBox 20"/>
          <p:cNvSpPr txBox="1"/>
          <p:nvPr/>
        </p:nvSpPr>
        <p:spPr>
          <a:xfrm>
            <a:off x="1298258" y="2291239"/>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增量注入</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14412" y="2526506"/>
            <a:ext cx="255639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不要一次把所有知识给AI，分阶段注入</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1014412" y="2717006"/>
            <a:ext cx="427410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第一阶段：领域概念 → 第二阶段：方法论 → 第三阶段：具体约束</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838200" y="3048000"/>
            <a:ext cx="4800600" cy="857250"/>
          </a:xfrm>
          <a:prstGeom prst="roundRect">
            <a:avLst>
              <a:gd name="adj" fmla="val 8889"/>
            </a:avLst>
          </a:prstGeom>
          <a:solidFill>
            <a:srgbClr val="FFF3E0"/>
          </a:solidFill>
          <a:ln>
            <a:noFill/>
          </a:ln>
        </p:spPr>
      </p:sp>
      <p:grpSp>
        <p:nvGrpSpPr>
          <p:cNvPr id="26" name="Group 26"/>
          <p:cNvGrpSpPr/>
          <p:nvPr/>
        </p:nvGrpSpPr>
        <p:grpSpPr>
          <a:xfrm>
            <a:off x="1029052" y="3293171"/>
            <a:ext cx="188507" cy="131069"/>
            <a:chOff x="1029052" y="3293171"/>
            <a:chExt cx="188507" cy="131069"/>
          </a:xfrm>
        </p:grpSpPr>
        <p:sp>
          <p:nvSpPr>
            <p:cNvPr id="24" name="Freeform 24"/>
            <p:cNvSpPr/>
            <p:nvPr/>
          </p:nvSpPr>
          <p:spPr>
            <a:xfrm>
              <a:off x="1058466" y="3299222"/>
              <a:ext cx="119062" cy="101203"/>
            </a:xfrm>
            <a:custGeom>
              <a:avLst/>
              <a:gdLst/>
              <a:ahLst/>
              <a:cxnLst/>
              <a:rect l="l" t="t" r="r" b="b"/>
              <a:pathLst>
                <a:path w="119062" h="101203">
                  <a:moveTo>
                    <a:pt x="119062" y="71438"/>
                  </a:moveTo>
                  <a:lnTo>
                    <a:pt x="89297" y="101203"/>
                  </a:lnTo>
                  <a:lnTo>
                    <a:pt x="41672" y="89297"/>
                  </a:lnTo>
                  <a:lnTo>
                    <a:pt x="0" y="59531"/>
                  </a:lnTo>
                  <a:lnTo>
                    <a:pt x="23812" y="11906"/>
                  </a:lnTo>
                  <a:lnTo>
                    <a:pt x="65484" y="0"/>
                  </a:lnTo>
                  <a:lnTo>
                    <a:pt x="107156" y="11906"/>
                  </a:lnTo>
                  <a:lnTo>
                    <a:pt x="77391" y="11906"/>
                  </a:lnTo>
                  <a:lnTo>
                    <a:pt x="43413" y="44864"/>
                  </a:lnTo>
                  <a:cubicBezTo>
                    <a:pt x="42134" y="46143"/>
                    <a:pt x="41505" y="47934"/>
                    <a:pt x="41705" y="49732"/>
                  </a:cubicBezTo>
                  <a:cubicBezTo>
                    <a:pt x="41905" y="51530"/>
                    <a:pt x="42911" y="53140"/>
                    <a:pt x="44440" y="54106"/>
                  </a:cubicBezTo>
                  <a:cubicBezTo>
                    <a:pt x="57470" y="62433"/>
                    <a:pt x="75158" y="61860"/>
                    <a:pt x="89297" y="47625"/>
                  </a:cubicBezTo>
                  <a:close/>
                </a:path>
              </a:pathLst>
            </a:custGeom>
            <a:solidFill>
              <a:srgbClr val="FF6F00">
                <a:alpha val="20000"/>
              </a:srgbClr>
            </a:solidFill>
            <a:ln>
              <a:noFill/>
            </a:ln>
          </p:spPr>
        </p:sp>
        <p:sp>
          <p:nvSpPr>
            <p:cNvPr id="25" name="Freeform 25"/>
            <p:cNvSpPr/>
            <p:nvPr/>
          </p:nvSpPr>
          <p:spPr>
            <a:xfrm>
              <a:off x="1029052" y="3293171"/>
              <a:ext cx="188507" cy="131069"/>
            </a:xfrm>
            <a:custGeom>
              <a:avLst/>
              <a:gdLst/>
              <a:ahLst/>
              <a:cxnLst/>
              <a:rect l="l" t="t" r="r" b="b"/>
              <a:pathLst>
                <a:path w="188507" h="131069">
                  <a:moveTo>
                    <a:pt x="88766" y="126557"/>
                  </a:moveTo>
                  <a:cubicBezTo>
                    <a:pt x="88104" y="129207"/>
                    <a:pt x="85723" y="131066"/>
                    <a:pt x="82992" y="131066"/>
                  </a:cubicBezTo>
                  <a:cubicBezTo>
                    <a:pt x="82490" y="131069"/>
                    <a:pt x="81990" y="131009"/>
                    <a:pt x="81503" y="130888"/>
                  </a:cubicBezTo>
                  <a:lnTo>
                    <a:pt x="57691" y="124935"/>
                  </a:lnTo>
                  <a:cubicBezTo>
                    <a:pt x="57028" y="124768"/>
                    <a:pt x="56399" y="124489"/>
                    <a:pt x="55831" y="124109"/>
                  </a:cubicBezTo>
                  <a:lnTo>
                    <a:pt x="37971" y="112202"/>
                  </a:lnTo>
                  <a:cubicBezTo>
                    <a:pt x="35236" y="110378"/>
                    <a:pt x="34498" y="106681"/>
                    <a:pt x="36323" y="103946"/>
                  </a:cubicBezTo>
                  <a:cubicBezTo>
                    <a:pt x="38148" y="101211"/>
                    <a:pt x="41844" y="100473"/>
                    <a:pt x="44579" y="102298"/>
                  </a:cubicBezTo>
                  <a:lnTo>
                    <a:pt x="61575" y="113631"/>
                  </a:lnTo>
                  <a:lnTo>
                    <a:pt x="84391" y="119339"/>
                  </a:lnTo>
                  <a:cubicBezTo>
                    <a:pt x="85930" y="119712"/>
                    <a:pt x="87258" y="120684"/>
                    <a:pt x="88079" y="122038"/>
                  </a:cubicBezTo>
                  <a:cubicBezTo>
                    <a:pt x="88900" y="123393"/>
                    <a:pt x="89148" y="125019"/>
                    <a:pt x="88766" y="126557"/>
                  </a:cubicBezTo>
                  <a:close/>
                  <a:moveTo>
                    <a:pt x="187506" y="54777"/>
                  </a:moveTo>
                  <a:cubicBezTo>
                    <a:pt x="186520" y="57774"/>
                    <a:pt x="184376" y="60252"/>
                    <a:pt x="181553" y="61660"/>
                  </a:cubicBezTo>
                  <a:lnTo>
                    <a:pt x="163932" y="70471"/>
                  </a:lnTo>
                  <a:lnTo>
                    <a:pt x="122945" y="111466"/>
                  </a:lnTo>
                  <a:cubicBezTo>
                    <a:pt x="121465" y="112944"/>
                    <a:pt x="119318" y="113537"/>
                    <a:pt x="117289" y="113028"/>
                  </a:cubicBezTo>
                  <a:lnTo>
                    <a:pt x="69664" y="101122"/>
                  </a:lnTo>
                  <a:cubicBezTo>
                    <a:pt x="68940" y="100940"/>
                    <a:pt x="68256" y="100625"/>
                    <a:pt x="67648" y="100192"/>
                  </a:cubicBezTo>
                  <a:lnTo>
                    <a:pt x="26333" y="70694"/>
                  </a:lnTo>
                  <a:lnTo>
                    <a:pt x="8265" y="61660"/>
                  </a:lnTo>
                  <a:cubicBezTo>
                    <a:pt x="2385" y="58721"/>
                    <a:pt x="0" y="51572"/>
                    <a:pt x="2937" y="45691"/>
                  </a:cubicBezTo>
                  <a:lnTo>
                    <a:pt x="21429" y="8715"/>
                  </a:lnTo>
                  <a:lnTo>
                    <a:pt x="21429" y="8715"/>
                  </a:lnTo>
                  <a:cubicBezTo>
                    <a:pt x="24368" y="2835"/>
                    <a:pt x="31517" y="450"/>
                    <a:pt x="37398" y="3387"/>
                  </a:cubicBezTo>
                  <a:lnTo>
                    <a:pt x="53814" y="11572"/>
                  </a:lnTo>
                  <a:lnTo>
                    <a:pt x="93253" y="306"/>
                  </a:lnTo>
                  <a:cubicBezTo>
                    <a:pt x="94323" y="0"/>
                    <a:pt x="95458" y="0"/>
                    <a:pt x="96528" y="306"/>
                  </a:cubicBezTo>
                  <a:lnTo>
                    <a:pt x="135967" y="11572"/>
                  </a:lnTo>
                  <a:lnTo>
                    <a:pt x="152383" y="3387"/>
                  </a:lnTo>
                  <a:cubicBezTo>
                    <a:pt x="158264" y="450"/>
                    <a:pt x="165413" y="2835"/>
                    <a:pt x="168352" y="8715"/>
                  </a:cubicBezTo>
                  <a:lnTo>
                    <a:pt x="186844" y="45691"/>
                  </a:lnTo>
                  <a:cubicBezTo>
                    <a:pt x="188269" y="48510"/>
                    <a:pt x="188507" y="51781"/>
                    <a:pt x="187506" y="54777"/>
                  </a:cubicBezTo>
                  <a:close/>
                  <a:moveTo>
                    <a:pt x="153142" y="64406"/>
                  </a:moveTo>
                  <a:lnTo>
                    <a:pt x="132894" y="23910"/>
                  </a:lnTo>
                  <a:lnTo>
                    <a:pt x="109215" y="23910"/>
                  </a:lnTo>
                  <a:lnTo>
                    <a:pt x="77039" y="55164"/>
                  </a:lnTo>
                  <a:cubicBezTo>
                    <a:pt x="86459" y="61184"/>
                    <a:pt x="101231" y="62844"/>
                    <a:pt x="114484" y="49486"/>
                  </a:cubicBezTo>
                  <a:cubicBezTo>
                    <a:pt x="116627" y="47326"/>
                    <a:pt x="120056" y="47130"/>
                    <a:pt x="122431" y="49032"/>
                  </a:cubicBezTo>
                  <a:lnTo>
                    <a:pt x="148037" y="69548"/>
                  </a:lnTo>
                  <a:close/>
                  <a:moveTo>
                    <a:pt x="13586" y="51012"/>
                  </a:moveTo>
                  <a:lnTo>
                    <a:pt x="26750" y="57597"/>
                  </a:lnTo>
                  <a:lnTo>
                    <a:pt x="45241" y="20621"/>
                  </a:lnTo>
                  <a:lnTo>
                    <a:pt x="32078" y="14035"/>
                  </a:lnTo>
                  <a:close/>
                  <a:moveTo>
                    <a:pt x="139546" y="77979"/>
                  </a:moveTo>
                  <a:lnTo>
                    <a:pt x="118926" y="61467"/>
                  </a:lnTo>
                  <a:cubicBezTo>
                    <a:pt x="104386" y="73373"/>
                    <a:pt x="85924" y="74943"/>
                    <a:pt x="70624" y="65188"/>
                  </a:cubicBezTo>
                  <a:cubicBezTo>
                    <a:pt x="67576" y="63249"/>
                    <a:pt x="65573" y="60030"/>
                    <a:pt x="65179" y="56439"/>
                  </a:cubicBezTo>
                  <a:cubicBezTo>
                    <a:pt x="64785" y="52847"/>
                    <a:pt x="66044" y="49271"/>
                    <a:pt x="68600" y="46718"/>
                  </a:cubicBezTo>
                  <a:cubicBezTo>
                    <a:pt x="68618" y="46696"/>
                    <a:pt x="68638" y="46676"/>
                    <a:pt x="68660" y="46659"/>
                  </a:cubicBezTo>
                  <a:lnTo>
                    <a:pt x="102042" y="14281"/>
                  </a:lnTo>
                  <a:lnTo>
                    <a:pt x="94898" y="12242"/>
                  </a:lnTo>
                  <a:lnTo>
                    <a:pt x="57378" y="22965"/>
                  </a:lnTo>
                  <a:lnTo>
                    <a:pt x="37011" y="63692"/>
                  </a:lnTo>
                  <a:lnTo>
                    <a:pt x="73623" y="89848"/>
                  </a:lnTo>
                  <a:lnTo>
                    <a:pt x="116887" y="100661"/>
                  </a:lnTo>
                  <a:close/>
                  <a:moveTo>
                    <a:pt x="176188" y="51012"/>
                  </a:moveTo>
                  <a:lnTo>
                    <a:pt x="157718" y="14035"/>
                  </a:lnTo>
                  <a:lnTo>
                    <a:pt x="144554" y="20621"/>
                  </a:lnTo>
                  <a:lnTo>
                    <a:pt x="163046" y="57597"/>
                  </a:lnTo>
                  <a:close/>
                </a:path>
              </a:pathLst>
            </a:custGeom>
            <a:solidFill>
              <a:srgbClr val="FF6F00"/>
            </a:solidFill>
            <a:ln>
              <a:noFill/>
            </a:ln>
          </p:spPr>
        </p:sp>
      </p:grpSp>
      <p:sp>
        <p:nvSpPr>
          <p:cNvPr id="27" name="TextBox 27"/>
          <p:cNvSpPr txBox="1"/>
          <p:nvPr/>
        </p:nvSpPr>
        <p:spPr>
          <a:xfrm>
            <a:off x="1298258" y="32913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人做决策</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1014412" y="3526631"/>
            <a:ext cx="248888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AI列出选项+优劣分析，人做最终选择</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1014412" y="3717131"/>
            <a:ext cx="3434001"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技术栈选型、架构决策、设计取舍 —— 永远由人拍板</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838200" y="4048125"/>
            <a:ext cx="4800600" cy="857250"/>
          </a:xfrm>
          <a:prstGeom prst="roundRect">
            <a:avLst>
              <a:gd name="adj" fmla="val 8889"/>
            </a:avLst>
          </a:prstGeom>
          <a:solidFill>
            <a:srgbClr val="E8F5E9"/>
          </a:solidFill>
          <a:ln>
            <a:noFill/>
          </a:ln>
        </p:spPr>
      </p:sp>
      <p:grpSp>
        <p:nvGrpSpPr>
          <p:cNvPr id="33" name="Group 33"/>
          <p:cNvGrpSpPr/>
          <p:nvPr/>
        </p:nvGrpSpPr>
        <p:grpSpPr>
          <a:xfrm>
            <a:off x="1058466" y="4275533"/>
            <a:ext cx="130970" cy="154782"/>
            <a:chOff x="1058466" y="4275533"/>
            <a:chExt cx="130970" cy="154782"/>
          </a:xfrm>
        </p:grpSpPr>
        <p:sp>
          <p:nvSpPr>
            <p:cNvPr id="31" name="Freeform 31"/>
            <p:cNvSpPr/>
            <p:nvPr/>
          </p:nvSpPr>
          <p:spPr>
            <a:xfrm>
              <a:off x="1141809" y="4281488"/>
              <a:ext cx="41672" cy="41672"/>
            </a:xfrm>
            <a:custGeom>
              <a:avLst/>
              <a:gdLst/>
              <a:ahLst/>
              <a:cxnLst/>
              <a:rect l="l" t="t" r="r" b="b"/>
              <a:pathLst>
                <a:path w="41672" h="41672">
                  <a:moveTo>
                    <a:pt x="41672" y="41672"/>
                  </a:moveTo>
                  <a:lnTo>
                    <a:pt x="0" y="41672"/>
                  </a:lnTo>
                  <a:lnTo>
                    <a:pt x="0" y="0"/>
                  </a:lnTo>
                  <a:close/>
                </a:path>
              </a:pathLst>
            </a:custGeom>
            <a:solidFill>
              <a:srgbClr val="2E7D32">
                <a:alpha val="20000"/>
              </a:srgbClr>
            </a:solidFill>
            <a:ln>
              <a:noFill/>
            </a:ln>
          </p:spPr>
        </p:sp>
        <p:sp>
          <p:nvSpPr>
            <p:cNvPr id="32" name="Freeform 32"/>
            <p:cNvSpPr/>
            <p:nvPr/>
          </p:nvSpPr>
          <p:spPr>
            <a:xfrm>
              <a:off x="1058466" y="4275533"/>
              <a:ext cx="130970" cy="154782"/>
            </a:xfrm>
            <a:custGeom>
              <a:avLst/>
              <a:gdLst/>
              <a:ahLst/>
              <a:cxnLst/>
              <a:rect l="l" t="t" r="r" b="b"/>
              <a:pathLst>
                <a:path w="130970" h="154782">
                  <a:moveTo>
                    <a:pt x="129227" y="43414"/>
                  </a:moveTo>
                  <a:lnTo>
                    <a:pt x="87556" y="1743"/>
                  </a:lnTo>
                  <a:cubicBezTo>
                    <a:pt x="86438" y="626"/>
                    <a:pt x="84923" y="0"/>
                    <a:pt x="83344" y="1"/>
                  </a:cubicBezTo>
                  <a:lnTo>
                    <a:pt x="11906" y="1"/>
                  </a:lnTo>
                  <a:cubicBezTo>
                    <a:pt x="5331" y="1"/>
                    <a:pt x="0" y="5332"/>
                    <a:pt x="0" y="11907"/>
                  </a:cubicBezTo>
                  <a:lnTo>
                    <a:pt x="0" y="142876"/>
                  </a:lnTo>
                  <a:cubicBezTo>
                    <a:pt x="0" y="149452"/>
                    <a:pt x="5331" y="154782"/>
                    <a:pt x="11906" y="154782"/>
                  </a:cubicBezTo>
                  <a:lnTo>
                    <a:pt x="119062" y="154782"/>
                  </a:lnTo>
                  <a:cubicBezTo>
                    <a:pt x="125638" y="154782"/>
                    <a:pt x="130969" y="149452"/>
                    <a:pt x="130969" y="142876"/>
                  </a:cubicBezTo>
                  <a:lnTo>
                    <a:pt x="130969" y="47626"/>
                  </a:lnTo>
                  <a:cubicBezTo>
                    <a:pt x="130970" y="46047"/>
                    <a:pt x="130344" y="44532"/>
                    <a:pt x="129227" y="43414"/>
                  </a:cubicBezTo>
                  <a:close/>
                  <a:moveTo>
                    <a:pt x="89297" y="20324"/>
                  </a:moveTo>
                  <a:lnTo>
                    <a:pt x="110646" y="41673"/>
                  </a:lnTo>
                  <a:lnTo>
                    <a:pt x="89297" y="41673"/>
                  </a:lnTo>
                  <a:close/>
                  <a:moveTo>
                    <a:pt x="119062" y="142876"/>
                  </a:moveTo>
                  <a:lnTo>
                    <a:pt x="11906" y="142876"/>
                  </a:lnTo>
                  <a:lnTo>
                    <a:pt x="11906" y="11907"/>
                  </a:lnTo>
                  <a:lnTo>
                    <a:pt x="77391" y="11907"/>
                  </a:lnTo>
                  <a:lnTo>
                    <a:pt x="77391" y="47626"/>
                  </a:lnTo>
                  <a:cubicBezTo>
                    <a:pt x="77391" y="50914"/>
                    <a:pt x="80056" y="53579"/>
                    <a:pt x="83344" y="53579"/>
                  </a:cubicBezTo>
                  <a:lnTo>
                    <a:pt x="119062" y="53579"/>
                  </a:lnTo>
                  <a:lnTo>
                    <a:pt x="119062" y="142876"/>
                  </a:lnTo>
                  <a:close/>
                  <a:moveTo>
                    <a:pt x="95250" y="83345"/>
                  </a:moveTo>
                  <a:cubicBezTo>
                    <a:pt x="95250" y="86633"/>
                    <a:pt x="92585" y="89298"/>
                    <a:pt x="89297" y="89298"/>
                  </a:cubicBezTo>
                  <a:lnTo>
                    <a:pt x="41672" y="89298"/>
                  </a:lnTo>
                  <a:cubicBezTo>
                    <a:pt x="38384" y="89298"/>
                    <a:pt x="35719" y="86633"/>
                    <a:pt x="35719" y="83345"/>
                  </a:cubicBezTo>
                  <a:cubicBezTo>
                    <a:pt x="35719" y="80057"/>
                    <a:pt x="38384" y="77392"/>
                    <a:pt x="41672" y="77392"/>
                  </a:cubicBezTo>
                  <a:lnTo>
                    <a:pt x="89297" y="77392"/>
                  </a:lnTo>
                  <a:cubicBezTo>
                    <a:pt x="92585" y="77392"/>
                    <a:pt x="95250" y="80057"/>
                    <a:pt x="95250" y="83345"/>
                  </a:cubicBezTo>
                  <a:close/>
                  <a:moveTo>
                    <a:pt x="95250" y="107157"/>
                  </a:moveTo>
                  <a:cubicBezTo>
                    <a:pt x="95250" y="110445"/>
                    <a:pt x="92585" y="113111"/>
                    <a:pt x="89297" y="113111"/>
                  </a:cubicBezTo>
                  <a:lnTo>
                    <a:pt x="41672" y="113111"/>
                  </a:lnTo>
                  <a:cubicBezTo>
                    <a:pt x="38384" y="113111"/>
                    <a:pt x="35719" y="110445"/>
                    <a:pt x="35719" y="107157"/>
                  </a:cubicBezTo>
                  <a:cubicBezTo>
                    <a:pt x="35719" y="103870"/>
                    <a:pt x="38384" y="101204"/>
                    <a:pt x="41672" y="101204"/>
                  </a:cubicBezTo>
                  <a:lnTo>
                    <a:pt x="89297" y="101204"/>
                  </a:lnTo>
                  <a:cubicBezTo>
                    <a:pt x="92585" y="101204"/>
                    <a:pt x="95250" y="103870"/>
                    <a:pt x="95250" y="107157"/>
                  </a:cubicBezTo>
                  <a:close/>
                </a:path>
              </a:pathLst>
            </a:custGeom>
            <a:solidFill>
              <a:srgbClr val="2E7D32"/>
            </a:solidFill>
            <a:ln>
              <a:noFill/>
            </a:ln>
          </p:spPr>
        </p:sp>
      </p:grpSp>
      <p:sp>
        <p:nvSpPr>
          <p:cNvPr id="34" name="TextBox 34"/>
          <p:cNvSpPr txBox="1"/>
          <p:nvPr/>
        </p:nvSpPr>
        <p:spPr>
          <a:xfrm>
            <a:off x="1298258" y="4291489"/>
            <a:ext cx="782179"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Spec先行</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1014412" y="4526756"/>
            <a:ext cx="245887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先完成完整Spec，再开始写一行代码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1014412" y="4717256"/>
            <a:ext cx="3501509"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Spec是人与AI之间的"合同"，双方以此为唯一真相源</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6286500" y="1428750"/>
            <a:ext cx="5334000" cy="4000500"/>
          </a:xfrm>
          <a:prstGeom prst="roundRect">
            <a:avLst>
              <a:gd name="adj" fmla="val 2857"/>
            </a:avLst>
          </a:prstGeom>
          <a:solidFill>
            <a:srgbClr val="FFFFFF"/>
          </a:solidFill>
          <a:ln w="9525">
            <a:solidFill>
              <a:srgbClr val="CFD8DC"/>
            </a:solidFill>
          </a:ln>
        </p:spPr>
      </p:sp>
      <p:sp>
        <p:nvSpPr>
          <p:cNvPr id="38" name="Rectangle 38"/>
          <p:cNvSpPr/>
          <p:nvPr/>
        </p:nvSpPr>
        <p:spPr>
          <a:xfrm>
            <a:off x="6286500" y="1428750"/>
            <a:ext cx="5334000" cy="38100"/>
          </a:xfrm>
          <a:prstGeom prst="roundRect">
            <a:avLst>
              <a:gd name="adj" fmla="val 50000"/>
            </a:avLst>
          </a:prstGeom>
          <a:solidFill>
            <a:srgbClr val="C62828"/>
          </a:solidFill>
          <a:ln>
            <a:noFill/>
          </a:ln>
        </p:spPr>
      </p:sp>
      <p:grpSp>
        <p:nvGrpSpPr>
          <p:cNvPr id="41" name="Group 41"/>
          <p:cNvGrpSpPr/>
          <p:nvPr/>
        </p:nvGrpSpPr>
        <p:grpSpPr>
          <a:xfrm>
            <a:off x="6568743" y="1644252"/>
            <a:ext cx="235608" cy="208455"/>
            <a:chOff x="6568743" y="1644252"/>
            <a:chExt cx="235608" cy="208455"/>
          </a:xfrm>
        </p:grpSpPr>
        <p:sp>
          <p:nvSpPr>
            <p:cNvPr id="39" name="Freeform 39"/>
            <p:cNvSpPr/>
            <p:nvPr/>
          </p:nvSpPr>
          <p:spPr>
            <a:xfrm>
              <a:off x="6574036" y="1649691"/>
              <a:ext cx="225028" cy="194587"/>
            </a:xfrm>
            <a:custGeom>
              <a:avLst/>
              <a:gdLst/>
              <a:ahLst/>
              <a:cxnLst/>
              <a:rect l="l" t="t" r="r" b="b"/>
              <a:pathLst>
                <a:path w="225028" h="194587">
                  <a:moveTo>
                    <a:pt x="203630" y="194587"/>
                  </a:moveTo>
                  <a:lnTo>
                    <a:pt x="21399" y="194587"/>
                  </a:lnTo>
                  <a:cubicBezTo>
                    <a:pt x="8251" y="194587"/>
                    <a:pt x="0" y="180825"/>
                    <a:pt x="6386" y="169677"/>
                  </a:cubicBezTo>
                  <a:lnTo>
                    <a:pt x="97502" y="11460"/>
                  </a:lnTo>
                  <a:cubicBezTo>
                    <a:pt x="104065" y="0"/>
                    <a:pt x="120963" y="0"/>
                    <a:pt x="127526" y="11460"/>
                  </a:cubicBezTo>
                  <a:lnTo>
                    <a:pt x="218642" y="169677"/>
                  </a:lnTo>
                  <a:cubicBezTo>
                    <a:pt x="225028" y="180825"/>
                    <a:pt x="216777" y="194587"/>
                    <a:pt x="203630" y="194587"/>
                  </a:cubicBezTo>
                  <a:close/>
                </a:path>
              </a:pathLst>
            </a:custGeom>
            <a:solidFill>
              <a:srgbClr val="C62828">
                <a:alpha val="20000"/>
              </a:srgbClr>
            </a:solidFill>
            <a:ln>
              <a:noFill/>
            </a:ln>
          </p:spPr>
        </p:sp>
        <p:sp>
          <p:nvSpPr>
            <p:cNvPr id="40" name="Freeform 40"/>
            <p:cNvSpPr/>
            <p:nvPr/>
          </p:nvSpPr>
          <p:spPr>
            <a:xfrm>
              <a:off x="6568743" y="1644252"/>
              <a:ext cx="235608" cy="208455"/>
            </a:xfrm>
            <a:custGeom>
              <a:avLst/>
              <a:gdLst/>
              <a:ahLst/>
              <a:cxnLst/>
              <a:rect l="l" t="t" r="r" b="b"/>
              <a:pathLst>
                <a:path w="235608" h="208455">
                  <a:moveTo>
                    <a:pt x="231155" y="170949"/>
                  </a:moveTo>
                  <a:lnTo>
                    <a:pt x="140050" y="12731"/>
                  </a:lnTo>
                  <a:lnTo>
                    <a:pt x="140050" y="12731"/>
                  </a:lnTo>
                  <a:cubicBezTo>
                    <a:pt x="135417" y="4844"/>
                    <a:pt x="126954" y="0"/>
                    <a:pt x="117807" y="0"/>
                  </a:cubicBezTo>
                  <a:cubicBezTo>
                    <a:pt x="108660" y="0"/>
                    <a:pt x="100197" y="4844"/>
                    <a:pt x="95565" y="12731"/>
                  </a:cubicBezTo>
                  <a:lnTo>
                    <a:pt x="4460" y="170949"/>
                  </a:lnTo>
                  <a:cubicBezTo>
                    <a:pt x="0" y="178583"/>
                    <a:pt x="0" y="188027"/>
                    <a:pt x="4460" y="195661"/>
                  </a:cubicBezTo>
                  <a:cubicBezTo>
                    <a:pt x="9036" y="203601"/>
                    <a:pt x="17539" y="208455"/>
                    <a:pt x="26702" y="208360"/>
                  </a:cubicBezTo>
                  <a:lnTo>
                    <a:pt x="208913" y="208360"/>
                  </a:lnTo>
                  <a:cubicBezTo>
                    <a:pt x="218069" y="208448"/>
                    <a:pt x="226562" y="203594"/>
                    <a:pt x="231134" y="195661"/>
                  </a:cubicBezTo>
                  <a:cubicBezTo>
                    <a:pt x="235600" y="188031"/>
                    <a:pt x="235608" y="178586"/>
                    <a:pt x="231155" y="170949"/>
                  </a:cubicBezTo>
                  <a:close/>
                  <a:moveTo>
                    <a:pt x="216705" y="187316"/>
                  </a:moveTo>
                  <a:cubicBezTo>
                    <a:pt x="215088" y="190074"/>
                    <a:pt x="212110" y="191747"/>
                    <a:pt x="208913" y="191691"/>
                  </a:cubicBezTo>
                  <a:lnTo>
                    <a:pt x="26702" y="191691"/>
                  </a:lnTo>
                  <a:cubicBezTo>
                    <a:pt x="23505" y="191747"/>
                    <a:pt x="20527" y="190074"/>
                    <a:pt x="18910" y="187316"/>
                  </a:cubicBezTo>
                  <a:cubicBezTo>
                    <a:pt x="17444" y="184835"/>
                    <a:pt x="17444" y="181754"/>
                    <a:pt x="18910" y="179273"/>
                  </a:cubicBezTo>
                  <a:lnTo>
                    <a:pt x="110015" y="21055"/>
                  </a:lnTo>
                  <a:cubicBezTo>
                    <a:pt x="111663" y="18313"/>
                    <a:pt x="114628" y="16635"/>
                    <a:pt x="117828" y="16635"/>
                  </a:cubicBezTo>
                  <a:cubicBezTo>
                    <a:pt x="121028" y="16635"/>
                    <a:pt x="123994" y="18313"/>
                    <a:pt x="125642" y="21055"/>
                  </a:cubicBezTo>
                  <a:lnTo>
                    <a:pt x="216747" y="179273"/>
                  </a:lnTo>
                  <a:cubicBezTo>
                    <a:pt x="218199" y="181761"/>
                    <a:pt x="218183" y="184843"/>
                    <a:pt x="216705" y="187316"/>
                  </a:cubicBezTo>
                  <a:close/>
                  <a:moveTo>
                    <a:pt x="109473" y="125016"/>
                  </a:moveTo>
                  <a:lnTo>
                    <a:pt x="109473" y="83344"/>
                  </a:lnTo>
                  <a:cubicBezTo>
                    <a:pt x="109473" y="78741"/>
                    <a:pt x="113204" y="75010"/>
                    <a:pt x="117807" y="75010"/>
                  </a:cubicBezTo>
                  <a:cubicBezTo>
                    <a:pt x="122410" y="75010"/>
                    <a:pt x="126142" y="78741"/>
                    <a:pt x="126142" y="83344"/>
                  </a:cubicBezTo>
                  <a:lnTo>
                    <a:pt x="126142" y="125016"/>
                  </a:lnTo>
                  <a:cubicBezTo>
                    <a:pt x="126142" y="129619"/>
                    <a:pt x="122410" y="133351"/>
                    <a:pt x="117807" y="133351"/>
                  </a:cubicBezTo>
                  <a:cubicBezTo>
                    <a:pt x="113204" y="133351"/>
                    <a:pt x="109473" y="129619"/>
                    <a:pt x="109473" y="125016"/>
                  </a:cubicBezTo>
                  <a:close/>
                  <a:moveTo>
                    <a:pt x="130309" y="162521"/>
                  </a:moveTo>
                  <a:cubicBezTo>
                    <a:pt x="130309" y="169425"/>
                    <a:pt x="124712" y="175023"/>
                    <a:pt x="117807" y="175023"/>
                  </a:cubicBezTo>
                  <a:cubicBezTo>
                    <a:pt x="110903" y="175023"/>
                    <a:pt x="105306" y="169425"/>
                    <a:pt x="105306" y="162521"/>
                  </a:cubicBezTo>
                  <a:cubicBezTo>
                    <a:pt x="105306" y="155617"/>
                    <a:pt x="110903" y="150019"/>
                    <a:pt x="117807" y="150019"/>
                  </a:cubicBezTo>
                  <a:cubicBezTo>
                    <a:pt x="124712" y="150019"/>
                    <a:pt x="130309" y="155617"/>
                    <a:pt x="130309" y="162521"/>
                  </a:cubicBezTo>
                  <a:close/>
                </a:path>
              </a:pathLst>
            </a:custGeom>
            <a:solidFill>
              <a:srgbClr val="C62828"/>
            </a:solidFill>
            <a:ln>
              <a:noFill/>
            </a:ln>
          </p:spPr>
        </p:sp>
      </p:grpSp>
      <p:sp>
        <p:nvSpPr>
          <p:cNvPr id="42" name="TextBox 42"/>
          <p:cNvSpPr txBox="1"/>
          <p:nvPr/>
        </p:nvSpPr>
        <p:spPr>
          <a:xfrm>
            <a:off x="6911340" y="1634490"/>
            <a:ext cx="1053846" cy="365760"/>
          </a:xfrm>
          <a:prstGeom prst="rect">
            <a:avLst/>
          </a:prstGeom>
          <a:noFill/>
          <a:ln>
            <a:noFill/>
          </a:ln>
        </p:spPr>
        <p:txBody>
          <a:bodyPr wrap="none" lIns="0" tIns="0" rIns="0" bIns="0" anchor="t" anchorCtr="0">
            <a:spAutoFit/>
          </a:bodyPr>
          <a:lstStyle/>
          <a:p>
            <a:pPr algn="l"/>
            <a:r>
              <a:rPr lang="zh-CN" sz="1800" b="1" dirty="0">
                <a:solidFill>
                  <a:srgbClr val="C62828"/>
                </a:solidFill>
                <a:latin typeface="Segoe UI" panose="020B0502040204020203"/>
                <a:ea typeface="微软雅黑" panose="020B0503020204020204" charset="-122"/>
                <a:cs typeface="Segoe UI" panose="020B0502040204020203"/>
              </a:rPr>
              <a:t>避坑指南</a:t>
            </a:r>
            <a:endParaRPr lang="zh-CN" sz="1800" b="1" dirty="0">
              <a:solidFill>
                <a:srgbClr val="C62828"/>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6553200" y="2047875"/>
            <a:ext cx="4800600" cy="857250"/>
          </a:xfrm>
          <a:prstGeom prst="roundRect">
            <a:avLst>
              <a:gd name="adj" fmla="val 8889"/>
            </a:avLst>
          </a:prstGeom>
          <a:solidFill>
            <a:srgbClr val="FFEBEE"/>
          </a:solidFill>
          <a:ln>
            <a:noFill/>
          </a:ln>
        </p:spPr>
      </p:sp>
      <p:sp>
        <p:nvSpPr>
          <p:cNvPr id="44" name="TextBox 44"/>
          <p:cNvSpPr txBox="1"/>
          <p:nvPr/>
        </p:nvSpPr>
        <p:spPr>
          <a:xfrm>
            <a:off x="6727508" y="2148364"/>
            <a:ext cx="1433785"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坑1 跳过技术预研</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6729412" y="2402681"/>
            <a:ext cx="227885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不要在技术栈未确认时直接写代码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6729412" y="2621756"/>
            <a:ext cx="306645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用实验替代猜测：让AI写小demo验证关键假设</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6553200" y="3048000"/>
            <a:ext cx="4800600" cy="857250"/>
          </a:xfrm>
          <a:prstGeom prst="roundRect">
            <a:avLst>
              <a:gd name="adj" fmla="val 8889"/>
            </a:avLst>
          </a:prstGeom>
          <a:solidFill>
            <a:srgbClr val="FFEBEE"/>
          </a:solidFill>
          <a:ln>
            <a:noFill/>
          </a:ln>
        </p:spPr>
      </p:sp>
      <p:sp>
        <p:nvSpPr>
          <p:cNvPr id="48" name="TextBox 48"/>
          <p:cNvSpPr txBox="1"/>
          <p:nvPr/>
        </p:nvSpPr>
        <p:spPr>
          <a:xfrm>
            <a:off x="6727508" y="3148489"/>
            <a:ext cx="1826534"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坑2 Spec未完成先编码</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6729412" y="3402806"/>
            <a:ext cx="200882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不要在Spec未完成时开始编码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6729412" y="3621881"/>
            <a:ext cx="3103959"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Spec不完整=返工隐患。宁可多花1小时写Spec</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6553200" y="4048125"/>
            <a:ext cx="4800600" cy="857250"/>
          </a:xfrm>
          <a:prstGeom prst="roundRect">
            <a:avLst>
              <a:gd name="adj" fmla="val 8889"/>
            </a:avLst>
          </a:prstGeom>
          <a:solidFill>
            <a:srgbClr val="FFEBEE"/>
          </a:solidFill>
          <a:ln>
            <a:noFill/>
          </a:ln>
        </p:spPr>
      </p:sp>
      <p:sp>
        <p:nvSpPr>
          <p:cNvPr id="52" name="TextBox 52"/>
          <p:cNvSpPr txBox="1"/>
          <p:nvPr/>
        </p:nvSpPr>
        <p:spPr>
          <a:xfrm>
            <a:off x="6727508" y="4148614"/>
            <a:ext cx="1585529"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坑3 让AI做架构决策</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6729412" y="4402931"/>
            <a:ext cx="225635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不要让AI替你做出重要的架构决策</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4" name="TextBox 54"/>
          <p:cNvSpPr txBox="1"/>
          <p:nvPr/>
        </p:nvSpPr>
        <p:spPr>
          <a:xfrm>
            <a:off x="6729412" y="4622006"/>
            <a:ext cx="315646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AI善于列出选项、善于执行，但不善于权衡取舍</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5" name="Rectangle 55"/>
          <p:cNvSpPr/>
          <p:nvPr/>
        </p:nvSpPr>
        <p:spPr>
          <a:xfrm>
            <a:off x="571500" y="5715000"/>
            <a:ext cx="11049000" cy="476250"/>
          </a:xfrm>
          <a:prstGeom prst="roundRect">
            <a:avLst>
              <a:gd name="adj" fmla="val 16000"/>
            </a:avLst>
          </a:prstGeom>
          <a:solidFill>
            <a:srgbClr val="1565C0">
              <a:alpha val="6000"/>
            </a:srgbClr>
          </a:solidFill>
          <a:ln>
            <a:noFill/>
          </a:ln>
        </p:spPr>
      </p:sp>
      <p:grpSp>
        <p:nvGrpSpPr>
          <p:cNvPr id="58" name="Group 58"/>
          <p:cNvGrpSpPr/>
          <p:nvPr/>
        </p:nvGrpSpPr>
        <p:grpSpPr>
          <a:xfrm>
            <a:off x="813579" y="5860979"/>
            <a:ext cx="144336" cy="183824"/>
            <a:chOff x="813579" y="5860979"/>
            <a:chExt cx="144336" cy="183824"/>
          </a:xfrm>
        </p:grpSpPr>
        <p:sp>
          <p:nvSpPr>
            <p:cNvPr id="56" name="Freeform 56"/>
            <p:cNvSpPr/>
            <p:nvPr/>
          </p:nvSpPr>
          <p:spPr>
            <a:xfrm>
              <a:off x="820144" y="586757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57" name="Freeform 57"/>
            <p:cNvSpPr/>
            <p:nvPr/>
          </p:nvSpPr>
          <p:spPr>
            <a:xfrm>
              <a:off x="813579" y="586097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59" name="TextBox 59"/>
          <p:cNvSpPr txBox="1"/>
          <p:nvPr/>
        </p:nvSpPr>
        <p:spPr>
          <a:xfrm>
            <a:off x="1071562" y="5898356"/>
            <a:ext cx="722197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核心心法：Vibe Coding的本质是通过结构化对话将人的认知逐步"迁移"到AI中 —— 每次对话都是一次知识蒸馏</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2" name="图片 6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3"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94690" y="243840"/>
            <a:ext cx="2127250" cy="39624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本章小结</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Rectangle 9"/>
          <p:cNvSpPr/>
          <p:nvPr/>
        </p:nvSpPr>
        <p:spPr>
          <a:xfrm>
            <a:off x="5334000" y="1333500"/>
            <a:ext cx="1524000" cy="342900"/>
          </a:xfrm>
          <a:prstGeom prst="roundRect">
            <a:avLst>
              <a:gd name="adj" fmla="val 50000"/>
            </a:avLst>
          </a:prstGeom>
          <a:solidFill>
            <a:srgbClr val="1565C0"/>
          </a:solidFill>
          <a:ln>
            <a:noFill/>
          </a:ln>
        </p:spPr>
      </p:sp>
      <p:sp>
        <p:nvSpPr>
          <p:cNvPr id="10" name="TextBox 10"/>
          <p:cNvSpPr txBox="1"/>
          <p:nvPr/>
        </p:nvSpPr>
        <p:spPr>
          <a:xfrm>
            <a:off x="5383473" y="1432560"/>
            <a:ext cx="142505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第三章 需求与设计</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1143000" y="1905000"/>
            <a:ext cx="9906000" cy="3333750"/>
          </a:xfrm>
          <a:prstGeom prst="roundRect">
            <a:avLst>
              <a:gd name="adj" fmla="val 4571"/>
            </a:avLst>
          </a:prstGeom>
          <a:solidFill>
            <a:srgbClr val="FFFFFF"/>
          </a:solidFill>
          <a:ln w="9525">
            <a:solidFill>
              <a:srgbClr val="CFD8DC"/>
            </a:solidFill>
          </a:ln>
        </p:spPr>
      </p:sp>
      <p:sp>
        <p:nvSpPr>
          <p:cNvPr id="12" name="Rectangle 12"/>
          <p:cNvSpPr/>
          <p:nvPr/>
        </p:nvSpPr>
        <p:spPr>
          <a:xfrm>
            <a:off x="1143000" y="1905000"/>
            <a:ext cx="9906000" cy="47625"/>
          </a:xfrm>
          <a:prstGeom prst="roundRect">
            <a:avLst>
              <a:gd name="adj" fmla="val 50000"/>
            </a:avLst>
          </a:prstGeom>
          <a:gradFill>
            <a:gsLst>
              <a:gs pos="0">
                <a:srgbClr val="1565C0"/>
              </a:gs>
              <a:gs pos="100000">
                <a:srgbClr val="00838F"/>
              </a:gs>
            </a:gsLst>
            <a:lin ang="0" scaled="1"/>
          </a:gradFill>
          <a:ln>
            <a:noFill/>
          </a:ln>
        </p:spPr>
      </p:sp>
      <p:sp>
        <p:nvSpPr>
          <p:cNvPr id="13" name="TextBox 13"/>
          <p:cNvSpPr txBox="1"/>
          <p:nvPr/>
        </p:nvSpPr>
        <p:spPr>
          <a:xfrm>
            <a:off x="5525167" y="2123122"/>
            <a:ext cx="1141667" cy="396240"/>
          </a:xfrm>
          <a:prstGeom prst="rect">
            <a:avLst/>
          </a:prstGeom>
          <a:noFill/>
          <a:ln>
            <a:noFill/>
          </a:ln>
        </p:spPr>
        <p:txBody>
          <a:bodyPr wrap="none" lIns="0" tIns="0" rIns="0" bIns="0" anchor="t" anchorCtr="0">
            <a:spAutoFit/>
          </a:bodyPr>
          <a:lstStyle/>
          <a:p>
            <a:pPr algn="ctr"/>
            <a:r>
              <a:rPr lang="zh-CN" sz="1950" b="1" dirty="0">
                <a:solidFill>
                  <a:srgbClr val="263238"/>
                </a:solidFill>
                <a:latin typeface="Segoe UI" panose="020B0502040204020203"/>
                <a:ea typeface="微软雅黑" panose="020B0503020204020204" charset="-122"/>
                <a:cs typeface="Segoe UI" panose="020B0502040204020203"/>
              </a:rPr>
              <a:t>核心认知</a:t>
            </a:r>
            <a:endParaRPr lang="zh-CN" sz="1950" b="1" dirty="0">
              <a:solidFill>
                <a:srgbClr val="263238"/>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5143500" y="2457450"/>
            <a:ext cx="1905000" cy="19050"/>
          </a:xfrm>
          <a:prstGeom prst="roundRect">
            <a:avLst>
              <a:gd name="adj" fmla="val 50000"/>
            </a:avLst>
          </a:prstGeom>
          <a:solidFill>
            <a:srgbClr val="1565C0">
              <a:alpha val="30000"/>
            </a:srgbClr>
          </a:solidFill>
          <a:ln>
            <a:noFill/>
          </a:ln>
        </p:spPr>
      </p:sp>
      <p:sp>
        <p:nvSpPr>
          <p:cNvPr id="15" name="TextBox 15"/>
          <p:cNvSpPr txBox="1"/>
          <p:nvPr/>
        </p:nvSpPr>
        <p:spPr>
          <a:xfrm>
            <a:off x="1697355" y="2664142"/>
            <a:ext cx="4813887"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Segoe UI" panose="020B0502040204020203"/>
                <a:ea typeface="微软雅黑" panose="020B0503020204020204" charset="-122"/>
                <a:cs typeface="Segoe UI" panose="020B0502040204020203"/>
              </a:rPr>
              <a:t>AI无法主动追问模糊需求 —— 模糊的输入必然产生模糊的输出</a:t>
            </a:r>
            <a:endParaRPr lang="zh-CN" sz="1350"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5661684" y="3027998"/>
            <a:ext cx="868632" cy="396240"/>
          </a:xfrm>
          <a:prstGeom prst="rect">
            <a:avLst/>
          </a:prstGeom>
          <a:noFill/>
          <a:ln>
            <a:noFill/>
          </a:ln>
        </p:spPr>
        <p:txBody>
          <a:bodyPr wrap="none" lIns="0" tIns="0" rIns="0" bIns="0" anchor="t" anchorCtr="0">
            <a:spAutoFit/>
          </a:bodyPr>
          <a:lstStyle/>
          <a:p>
            <a:pPr algn="ctr"/>
            <a:r>
              <a:rPr lang="zh-CN" sz="1950" b="1" dirty="0">
                <a:solidFill>
                  <a:srgbClr val="263238"/>
                </a:solidFill>
                <a:latin typeface="Segoe UI" panose="020B0502040204020203"/>
                <a:ea typeface="微软雅黑" panose="020B0503020204020204" charset="-122"/>
                <a:cs typeface="Segoe UI" panose="020B0502040204020203"/>
              </a:rPr>
              <a:t>方法论</a:t>
            </a:r>
            <a:endParaRPr lang="zh-CN" sz="1950" b="1" dirty="0">
              <a:solidFill>
                <a:srgbClr val="26323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5143500" y="3362325"/>
            <a:ext cx="1905000" cy="19050"/>
          </a:xfrm>
          <a:prstGeom prst="roundRect">
            <a:avLst>
              <a:gd name="adj" fmla="val 50000"/>
            </a:avLst>
          </a:prstGeom>
          <a:solidFill>
            <a:srgbClr val="00838F">
              <a:alpha val="30000"/>
            </a:srgbClr>
          </a:solidFill>
          <a:ln>
            <a:noFill/>
          </a:ln>
        </p:spPr>
      </p:sp>
      <p:sp>
        <p:nvSpPr>
          <p:cNvPr id="18" name="TextBox 18"/>
          <p:cNvSpPr txBox="1"/>
          <p:nvPr/>
        </p:nvSpPr>
        <p:spPr>
          <a:xfrm>
            <a:off x="1697355" y="3521392"/>
            <a:ext cx="3184684"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Segoe UI" panose="020B0502040204020203"/>
                <a:ea typeface="微软雅黑" panose="020B0503020204020204" charset="-122"/>
                <a:cs typeface="Segoe UI" panose="020B0502040204020203"/>
              </a:rPr>
              <a:t>四大核心原则 + 五步转化法 + Spec先行</a:t>
            </a:r>
            <a:endParaRPr lang="zh-CN" sz="1350" dirty="0">
              <a:solidFill>
                <a:srgbClr val="263238"/>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5525167" y="3885248"/>
            <a:ext cx="1141667" cy="396240"/>
          </a:xfrm>
          <a:prstGeom prst="rect">
            <a:avLst/>
          </a:prstGeom>
          <a:noFill/>
          <a:ln>
            <a:noFill/>
          </a:ln>
        </p:spPr>
        <p:txBody>
          <a:bodyPr wrap="none" lIns="0" tIns="0" rIns="0" bIns="0" anchor="t" anchorCtr="0">
            <a:spAutoFit/>
          </a:bodyPr>
          <a:lstStyle/>
          <a:p>
            <a:pPr algn="ctr"/>
            <a:r>
              <a:rPr lang="zh-CN" sz="1950" b="1" dirty="0">
                <a:solidFill>
                  <a:srgbClr val="263238"/>
                </a:solidFill>
                <a:latin typeface="Segoe UI" panose="020B0502040204020203"/>
                <a:ea typeface="微软雅黑" panose="020B0503020204020204" charset="-122"/>
                <a:cs typeface="Segoe UI" panose="020B0502040204020203"/>
              </a:rPr>
              <a:t>工具支撑</a:t>
            </a:r>
            <a:endParaRPr lang="zh-CN" sz="1950" b="1" dirty="0">
              <a:solidFill>
                <a:srgbClr val="263238"/>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5143500" y="4219575"/>
            <a:ext cx="1905000" cy="19050"/>
          </a:xfrm>
          <a:prstGeom prst="roundRect">
            <a:avLst>
              <a:gd name="adj" fmla="val 50000"/>
            </a:avLst>
          </a:prstGeom>
          <a:solidFill>
            <a:srgbClr val="FF6F00">
              <a:alpha val="30000"/>
            </a:srgbClr>
          </a:solidFill>
          <a:ln>
            <a:noFill/>
          </a:ln>
        </p:spPr>
      </p:sp>
      <p:sp>
        <p:nvSpPr>
          <p:cNvPr id="21" name="TextBox 21"/>
          <p:cNvSpPr txBox="1"/>
          <p:nvPr/>
        </p:nvSpPr>
        <p:spPr>
          <a:xfrm>
            <a:off x="1697355" y="4378642"/>
            <a:ext cx="396778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Segoe UI" panose="020B0502040204020203"/>
                <a:ea typeface="微软雅黑" panose="020B0503020204020204" charset="-122"/>
                <a:cs typeface="Segoe UI" panose="020B0502040204020203"/>
              </a:rPr>
              <a:t>AI需求分析师、结构化需求模板、去模糊化检查单</a:t>
            </a:r>
            <a:endParaRPr lang="zh-CN" sz="1350" dirty="0">
              <a:solidFill>
                <a:srgbClr val="263238"/>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1143000" y="5524500"/>
            <a:ext cx="9906000" cy="523875"/>
          </a:xfrm>
          <a:prstGeom prst="roundRect">
            <a:avLst>
              <a:gd name="adj" fmla="val 18182"/>
            </a:avLst>
          </a:prstGeom>
          <a:solidFill>
            <a:srgbClr val="1565C0">
              <a:alpha val="8000"/>
            </a:srgbClr>
          </a:solidFill>
          <a:ln>
            <a:noFill/>
          </a:ln>
        </p:spPr>
      </p:sp>
      <p:grpSp>
        <p:nvGrpSpPr>
          <p:cNvPr id="25" name="Group 25"/>
          <p:cNvGrpSpPr/>
          <p:nvPr/>
        </p:nvGrpSpPr>
        <p:grpSpPr>
          <a:xfrm>
            <a:off x="1394290" y="5738814"/>
            <a:ext cx="202231" cy="193772"/>
            <a:chOff x="1394290" y="5738814"/>
            <a:chExt cx="202231" cy="193772"/>
          </a:xfrm>
        </p:grpSpPr>
        <p:sp>
          <p:nvSpPr>
            <p:cNvPr id="23" name="Freeform 23"/>
            <p:cNvSpPr/>
            <p:nvPr/>
          </p:nvSpPr>
          <p:spPr>
            <a:xfrm>
              <a:off x="1401961" y="5746029"/>
              <a:ext cx="186928" cy="178936"/>
            </a:xfrm>
            <a:custGeom>
              <a:avLst/>
              <a:gdLst/>
              <a:ahLst/>
              <a:cxnLst/>
              <a:rect l="l" t="t" r="r" b="b"/>
              <a:pathLst>
                <a:path w="186928" h="178936">
                  <a:moveTo>
                    <a:pt x="143586" y="110387"/>
                  </a:moveTo>
                  <a:cubicBezTo>
                    <a:pt x="141591" y="112139"/>
                    <a:pt x="140720" y="114846"/>
                    <a:pt x="141318" y="117433"/>
                  </a:cubicBezTo>
                  <a:lnTo>
                    <a:pt x="153391" y="169707"/>
                  </a:lnTo>
                  <a:cubicBezTo>
                    <a:pt x="154043" y="172498"/>
                    <a:pt x="152964" y="175409"/>
                    <a:pt x="150650" y="177100"/>
                  </a:cubicBezTo>
                  <a:cubicBezTo>
                    <a:pt x="148336" y="178791"/>
                    <a:pt x="145235" y="178936"/>
                    <a:pt x="142774" y="177467"/>
                  </a:cubicBezTo>
                  <a:lnTo>
                    <a:pt x="97143" y="149785"/>
                  </a:lnTo>
                  <a:cubicBezTo>
                    <a:pt x="94883" y="148411"/>
                    <a:pt x="92045" y="148411"/>
                    <a:pt x="89785" y="149785"/>
                  </a:cubicBezTo>
                  <a:lnTo>
                    <a:pt x="44154" y="177467"/>
                  </a:lnTo>
                  <a:cubicBezTo>
                    <a:pt x="41693" y="178936"/>
                    <a:pt x="38592" y="178791"/>
                    <a:pt x="36278" y="177100"/>
                  </a:cubicBezTo>
                  <a:cubicBezTo>
                    <a:pt x="33964" y="175409"/>
                    <a:pt x="32885" y="172498"/>
                    <a:pt x="33537" y="169707"/>
                  </a:cubicBezTo>
                  <a:lnTo>
                    <a:pt x="45610" y="117433"/>
                  </a:lnTo>
                  <a:cubicBezTo>
                    <a:pt x="46208" y="114846"/>
                    <a:pt x="45336" y="112139"/>
                    <a:pt x="43342" y="110387"/>
                  </a:cubicBezTo>
                  <a:lnTo>
                    <a:pt x="3060" y="75249"/>
                  </a:lnTo>
                  <a:cubicBezTo>
                    <a:pt x="857" y="73377"/>
                    <a:pt x="0" y="70362"/>
                    <a:pt x="888" y="67612"/>
                  </a:cubicBezTo>
                  <a:cubicBezTo>
                    <a:pt x="1775" y="64861"/>
                    <a:pt x="4233" y="62916"/>
                    <a:pt x="7114" y="62685"/>
                  </a:cubicBezTo>
                  <a:lnTo>
                    <a:pt x="60210" y="58095"/>
                  </a:lnTo>
                  <a:cubicBezTo>
                    <a:pt x="62850" y="57860"/>
                    <a:pt x="65143" y="56182"/>
                    <a:pt x="66166" y="53737"/>
                  </a:cubicBezTo>
                  <a:lnTo>
                    <a:pt x="86909" y="4302"/>
                  </a:lnTo>
                  <a:cubicBezTo>
                    <a:pt x="88042" y="1690"/>
                    <a:pt x="90617" y="0"/>
                    <a:pt x="93464" y="0"/>
                  </a:cubicBezTo>
                  <a:cubicBezTo>
                    <a:pt x="96311" y="0"/>
                    <a:pt x="98886" y="1690"/>
                    <a:pt x="100018" y="4302"/>
                  </a:cubicBezTo>
                  <a:lnTo>
                    <a:pt x="120762" y="53737"/>
                  </a:lnTo>
                  <a:cubicBezTo>
                    <a:pt x="121785" y="56182"/>
                    <a:pt x="124078" y="57860"/>
                    <a:pt x="126718" y="58095"/>
                  </a:cubicBezTo>
                  <a:lnTo>
                    <a:pt x="179814" y="62685"/>
                  </a:lnTo>
                  <a:cubicBezTo>
                    <a:pt x="182695" y="62916"/>
                    <a:pt x="185153" y="64861"/>
                    <a:pt x="186040" y="67612"/>
                  </a:cubicBezTo>
                  <a:cubicBezTo>
                    <a:pt x="186928" y="70362"/>
                    <a:pt x="186070" y="73377"/>
                    <a:pt x="183868" y="75249"/>
                  </a:cubicBezTo>
                  <a:close/>
                </a:path>
              </a:pathLst>
            </a:custGeom>
            <a:solidFill>
              <a:srgbClr val="FF6F00">
                <a:alpha val="20000"/>
              </a:srgbClr>
            </a:solidFill>
            <a:ln>
              <a:noFill/>
            </a:ln>
          </p:spPr>
        </p:sp>
        <p:sp>
          <p:nvSpPr>
            <p:cNvPr id="24" name="Freeform 24"/>
            <p:cNvSpPr/>
            <p:nvPr/>
          </p:nvSpPr>
          <p:spPr>
            <a:xfrm>
              <a:off x="1394290" y="5738814"/>
              <a:ext cx="202231" cy="193772"/>
            </a:xfrm>
            <a:custGeom>
              <a:avLst/>
              <a:gdLst/>
              <a:ahLst/>
              <a:cxnLst/>
              <a:rect l="l" t="t" r="r" b="b"/>
              <a:pathLst>
                <a:path w="202231" h="193772">
                  <a:moveTo>
                    <a:pt x="200434" y="72588"/>
                  </a:moveTo>
                  <a:cubicBezTo>
                    <a:pt x="198665" y="67137"/>
                    <a:pt x="193810" y="63270"/>
                    <a:pt x="188102" y="62765"/>
                  </a:cubicBezTo>
                  <a:lnTo>
                    <a:pt x="135068" y="58193"/>
                  </a:lnTo>
                  <a:lnTo>
                    <a:pt x="114280" y="8758"/>
                  </a:lnTo>
                  <a:lnTo>
                    <a:pt x="114280" y="8758"/>
                  </a:lnTo>
                  <a:cubicBezTo>
                    <a:pt x="112067" y="3454"/>
                    <a:pt x="106883" y="0"/>
                    <a:pt x="101135" y="0"/>
                  </a:cubicBezTo>
                  <a:cubicBezTo>
                    <a:pt x="95388" y="0"/>
                    <a:pt x="90204" y="3454"/>
                    <a:pt x="87991" y="8758"/>
                  </a:cubicBezTo>
                  <a:lnTo>
                    <a:pt x="67265" y="58193"/>
                  </a:lnTo>
                  <a:lnTo>
                    <a:pt x="14169" y="62792"/>
                  </a:lnTo>
                  <a:cubicBezTo>
                    <a:pt x="8437" y="63273"/>
                    <a:pt x="3553" y="67146"/>
                    <a:pt x="1776" y="72617"/>
                  </a:cubicBezTo>
                  <a:cubicBezTo>
                    <a:pt x="0" y="78089"/>
                    <a:pt x="1678" y="84091"/>
                    <a:pt x="6034" y="87848"/>
                  </a:cubicBezTo>
                  <a:lnTo>
                    <a:pt x="46316" y="123049"/>
                  </a:lnTo>
                  <a:lnTo>
                    <a:pt x="34243" y="175324"/>
                  </a:lnTo>
                  <a:cubicBezTo>
                    <a:pt x="32938" y="180916"/>
                    <a:pt x="35108" y="186747"/>
                    <a:pt x="39753" y="190125"/>
                  </a:cubicBezTo>
                  <a:cubicBezTo>
                    <a:pt x="44397" y="193503"/>
                    <a:pt x="50613" y="193772"/>
                    <a:pt x="55532" y="190808"/>
                  </a:cubicBezTo>
                  <a:lnTo>
                    <a:pt x="101073" y="163126"/>
                  </a:lnTo>
                  <a:lnTo>
                    <a:pt x="146713" y="190808"/>
                  </a:lnTo>
                  <a:cubicBezTo>
                    <a:pt x="151631" y="193772"/>
                    <a:pt x="157847" y="193503"/>
                    <a:pt x="162491" y="190125"/>
                  </a:cubicBezTo>
                  <a:cubicBezTo>
                    <a:pt x="167136" y="186747"/>
                    <a:pt x="169306" y="180916"/>
                    <a:pt x="168001" y="175324"/>
                  </a:cubicBezTo>
                  <a:lnTo>
                    <a:pt x="155937" y="122996"/>
                  </a:lnTo>
                  <a:lnTo>
                    <a:pt x="196210" y="87848"/>
                  </a:lnTo>
                  <a:cubicBezTo>
                    <a:pt x="200566" y="84078"/>
                    <a:pt x="202231" y="78061"/>
                    <a:pt x="200434" y="72588"/>
                  </a:cubicBezTo>
                  <a:close/>
                  <a:moveTo>
                    <a:pt x="186843" y="77052"/>
                  </a:moveTo>
                  <a:lnTo>
                    <a:pt x="146570" y="112200"/>
                  </a:lnTo>
                  <a:cubicBezTo>
                    <a:pt x="142575" y="115674"/>
                    <a:pt x="140830" y="121073"/>
                    <a:pt x="142033" y="126228"/>
                  </a:cubicBezTo>
                  <a:lnTo>
                    <a:pt x="154133" y="178592"/>
                  </a:lnTo>
                  <a:lnTo>
                    <a:pt x="154133" y="178592"/>
                  </a:lnTo>
                  <a:lnTo>
                    <a:pt x="108529" y="150910"/>
                  </a:lnTo>
                  <a:cubicBezTo>
                    <a:pt x="103993" y="148148"/>
                    <a:pt x="98295" y="148148"/>
                    <a:pt x="93759" y="150910"/>
                  </a:cubicBezTo>
                  <a:lnTo>
                    <a:pt x="48218" y="178592"/>
                  </a:lnTo>
                  <a:lnTo>
                    <a:pt x="48218" y="178592"/>
                  </a:lnTo>
                  <a:lnTo>
                    <a:pt x="60237" y="126264"/>
                  </a:lnTo>
                  <a:cubicBezTo>
                    <a:pt x="61441" y="121109"/>
                    <a:pt x="59696" y="115710"/>
                    <a:pt x="55701" y="112235"/>
                  </a:cubicBezTo>
                  <a:lnTo>
                    <a:pt x="15410" y="77106"/>
                  </a:lnTo>
                  <a:cubicBezTo>
                    <a:pt x="15407" y="77079"/>
                    <a:pt x="15407" y="77052"/>
                    <a:pt x="15410" y="77026"/>
                  </a:cubicBezTo>
                  <a:lnTo>
                    <a:pt x="68488" y="72436"/>
                  </a:lnTo>
                  <a:cubicBezTo>
                    <a:pt x="73770" y="71970"/>
                    <a:pt x="78359" y="68619"/>
                    <a:pt x="80410" y="63729"/>
                  </a:cubicBezTo>
                  <a:lnTo>
                    <a:pt x="101135" y="14357"/>
                  </a:lnTo>
                  <a:lnTo>
                    <a:pt x="121852" y="63729"/>
                  </a:lnTo>
                  <a:cubicBezTo>
                    <a:pt x="123903" y="68619"/>
                    <a:pt x="128492" y="71970"/>
                    <a:pt x="133773" y="72436"/>
                  </a:cubicBezTo>
                  <a:lnTo>
                    <a:pt x="186860" y="77026"/>
                  </a:lnTo>
                  <a:cubicBezTo>
                    <a:pt x="186860" y="77026"/>
                    <a:pt x="186860" y="77079"/>
                    <a:pt x="186860" y="77088"/>
                  </a:cubicBezTo>
                  <a:close/>
                </a:path>
              </a:pathLst>
            </a:custGeom>
            <a:solidFill>
              <a:srgbClr val="FF6F00"/>
            </a:solidFill>
            <a:ln>
              <a:noFill/>
            </a:ln>
          </p:spPr>
        </p:sp>
      </p:grpSp>
      <p:sp>
        <p:nvSpPr>
          <p:cNvPr id="26" name="TextBox 26"/>
          <p:cNvSpPr txBox="1"/>
          <p:nvPr/>
        </p:nvSpPr>
        <p:spPr>
          <a:xfrm>
            <a:off x="1697355" y="5712142"/>
            <a:ext cx="438183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关键行动：把需求工程能力提升为团队的核心竞争力</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29"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Rectangle 3"/>
          <p:cNvSpPr/>
          <p:nvPr/>
        </p:nvSpPr>
        <p:spPr>
          <a:xfrm>
            <a:off x="-381000" y="-381000"/>
            <a:ext cx="1905000" cy="1905000"/>
          </a:xfrm>
          <a:prstGeom prst="roundRect">
            <a:avLst>
              <a:gd name="adj" fmla="val 6000"/>
            </a:avLst>
          </a:prstGeom>
          <a:solidFill>
            <a:srgbClr val="FFFFFF">
              <a:alpha val="4000"/>
            </a:srgbClr>
          </a:solidFill>
          <a:ln>
            <a:noFill/>
          </a:ln>
        </p:spPr>
      </p:sp>
      <p:sp>
        <p:nvSpPr>
          <p:cNvPr id="4" name="Rectangle 4"/>
          <p:cNvSpPr/>
          <p:nvPr/>
        </p:nvSpPr>
        <p:spPr>
          <a:xfrm>
            <a:off x="11239500" y="5905500"/>
            <a:ext cx="1524000" cy="1524000"/>
          </a:xfrm>
          <a:prstGeom prst="roundRect">
            <a:avLst>
              <a:gd name="adj" fmla="val 7500"/>
            </a:avLst>
          </a:prstGeom>
          <a:solidFill>
            <a:srgbClr val="FFFFFF">
              <a:alpha val="4000"/>
            </a:srgbClr>
          </a:solidFill>
          <a:ln>
            <a:noFill/>
          </a:ln>
        </p:spPr>
      </p:sp>
      <p:sp>
        <p:nvSpPr>
          <p:cNvPr id="5" name="Rectangle 5"/>
          <p:cNvSpPr/>
          <p:nvPr/>
        </p:nvSpPr>
        <p:spPr>
          <a:xfrm>
            <a:off x="9525000" y="-571500"/>
            <a:ext cx="2857500" cy="2857500"/>
          </a:xfrm>
          <a:prstGeom prst="roundRect">
            <a:avLst>
              <a:gd name="adj" fmla="val 50000"/>
            </a:avLst>
          </a:prstGeom>
          <a:solidFill>
            <a:srgbClr val="FFFFFF">
              <a:alpha val="3000"/>
            </a:srgbClr>
          </a:solidFill>
          <a:ln>
            <a:noFill/>
          </a:ln>
        </p:spPr>
      </p:sp>
      <p:sp>
        <p:nvSpPr>
          <p:cNvPr id="6" name="Ellipse 6"/>
          <p:cNvSpPr/>
          <p:nvPr/>
        </p:nvSpPr>
        <p:spPr>
          <a:xfrm>
            <a:off x="4191000" y="1905000"/>
            <a:ext cx="3810000" cy="3810000"/>
          </a:xfrm>
          <a:prstGeom prst="ellipse">
            <a:avLst/>
          </a:prstGeom>
          <a:solidFill>
            <a:srgbClr val="FFFFFF">
              <a:alpha val="2000"/>
            </a:srgbClr>
          </a:solidFill>
          <a:ln>
            <a:noFill/>
          </a:ln>
        </p:spPr>
      </p:sp>
      <p:sp>
        <p:nvSpPr>
          <p:cNvPr id="10" name="TextBox 10"/>
          <p:cNvSpPr txBox="1"/>
          <p:nvPr/>
        </p:nvSpPr>
        <p:spPr>
          <a:xfrm>
            <a:off x="571500" y="3168015"/>
            <a:ext cx="1099566"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Segoe UI" panose="020B0502040204020203"/>
                <a:ea typeface="微软雅黑" panose="020B0503020204020204" charset="-122"/>
                <a:cs typeface="Segoe UI" panose="020B0502040204020203"/>
              </a:rPr>
              <a:t>编码</a:t>
            </a:r>
            <a:endParaRPr lang="zh-CN" sz="3600" b="1" dirty="0">
              <a:solidFill>
                <a:srgbClr val="FFFFFF"/>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592455" y="3917632"/>
            <a:ext cx="3342322" cy="335280"/>
          </a:xfrm>
          <a:prstGeom prst="rect">
            <a:avLst/>
          </a:prstGeom>
          <a:noFill/>
          <a:ln>
            <a:noFill/>
          </a:ln>
        </p:spPr>
        <p:txBody>
          <a:bodyPr wrap="none" lIns="0" tIns="0" rIns="0" bIns="0" anchor="t" anchorCtr="0">
            <a:spAutoFit/>
          </a:bodyPr>
          <a:lstStyle/>
          <a:p>
            <a:pPr algn="ctr"/>
            <a:r>
              <a:rPr lang="zh-CN" sz="1650" dirty="0">
                <a:solidFill>
                  <a:srgbClr val="FFFFFF">
                    <a:alphaMod val="85000"/>
                  </a:srgbClr>
                </a:solidFill>
                <a:latin typeface="Segoe UI" panose="020B0502040204020203"/>
                <a:ea typeface="微软雅黑" panose="020B0503020204020204" charset="-122"/>
                <a:cs typeface="Segoe UI" panose="020B0502040204020203"/>
              </a:rPr>
              <a:t>人机协作编码的最佳实践与方法论</a:t>
            </a:r>
            <a:endParaRPr lang="zh-CN" sz="1650"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599122" y="4641056"/>
            <a:ext cx="4070390" cy="259080"/>
          </a:xfrm>
          <a:prstGeom prst="rect">
            <a:avLst/>
          </a:prstGeom>
          <a:noFill/>
          <a:ln>
            <a:noFill/>
          </a:ln>
        </p:spPr>
        <p:txBody>
          <a:bodyPr wrap="none" lIns="0" tIns="0" rIns="0" bIns="0" anchor="t" anchorCtr="0">
            <a:spAutoFit/>
          </a:bodyPr>
          <a:lstStyle/>
          <a:p>
            <a:pPr algn="ctr"/>
            <a:r>
              <a:rPr lang="zh-CN" sz="1275" dirty="0">
                <a:solidFill>
                  <a:srgbClr val="FFFFFF">
                    <a:alphaMod val="65000"/>
                  </a:srgbClr>
                </a:solidFill>
                <a:latin typeface="Segoe UI" panose="020B0502040204020203"/>
                <a:ea typeface="微软雅黑" panose="020B0503020204020204" charset="-122"/>
                <a:cs typeface="Segoe UI" panose="020B0502040204020203"/>
              </a:rPr>
              <a:t>AI编码不是"让AI写代码"，而是"人与AI高效协作编码"</a:t>
            </a:r>
            <a:endParaRPr lang="zh-CN" sz="1275" dirty="0">
              <a:solidFill>
                <a:srgbClr val="FFFFFF">
                  <a:alphaMod val="65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14411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40000"/>
                  </a:srgbClr>
                </a:solidFill>
                <a:latin typeface="Segoe UI" panose="020B0502040204020203"/>
                <a:ea typeface="微软雅黑" panose="020B0503020204020204" charset="-122"/>
                <a:cs typeface="Segoe UI" panose="020B0502040204020203"/>
              </a:rPr>
              <a:t>34</a:t>
            </a:r>
            <a:endParaRPr lang="zh-CN" sz="1125" dirty="0">
              <a:solidFill>
                <a:srgbClr val="FFFFFF">
                  <a:alphaMod val="4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2135" y="182245"/>
            <a:ext cx="3201035" cy="45783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AI编码的"喜新厌旧"</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219200" y="1052989"/>
            <a:ext cx="5753600"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AI天生"喜新厌旧" —— 面对全新需求表现极好，一旦涉及历史代码就极易出错</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619750" cy="4286250"/>
          </a:xfrm>
          <a:prstGeom prst="roundRect">
            <a:avLst>
              <a:gd name="adj" fmla="val 2667"/>
            </a:avLst>
          </a:prstGeom>
          <a:solidFill>
            <a:srgbClr val="FFFFFF"/>
          </a:solidFill>
          <a:ln w="9525">
            <a:solidFill>
              <a:srgbClr val="CFD8DC"/>
            </a:solidFill>
          </a:ln>
        </p:spPr>
      </p:sp>
      <p:sp>
        <p:nvSpPr>
          <p:cNvPr id="11" name="Rectangle 11"/>
          <p:cNvSpPr/>
          <p:nvPr/>
        </p:nvSpPr>
        <p:spPr>
          <a:xfrm>
            <a:off x="571500" y="1428750"/>
            <a:ext cx="5619750" cy="38100"/>
          </a:xfrm>
          <a:prstGeom prst="roundRect">
            <a:avLst>
              <a:gd name="adj" fmla="val 50000"/>
            </a:avLst>
          </a:prstGeom>
          <a:solidFill>
            <a:srgbClr val="1565C0"/>
          </a:solidFill>
          <a:ln>
            <a:noFill/>
          </a:ln>
        </p:spPr>
      </p:sp>
      <p:sp>
        <p:nvSpPr>
          <p:cNvPr id="12" name="TextBox 12"/>
          <p:cNvSpPr txBox="1"/>
          <p:nvPr/>
        </p:nvSpPr>
        <p:spPr>
          <a:xfrm>
            <a:off x="788670" y="1536382"/>
            <a:ext cx="3241660"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AI表现曲线：随依赖复杂度递减</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3" name="Rectangle 13"/>
          <p:cNvSpPr/>
          <p:nvPr/>
        </p:nvSpPr>
        <p:spPr>
          <a:xfrm>
            <a:off x="809625" y="2000250"/>
            <a:ext cx="5143500" cy="381000"/>
          </a:xfrm>
          <a:prstGeom prst="roundRect">
            <a:avLst>
              <a:gd name="adj" fmla="val 15000"/>
            </a:avLst>
          </a:prstGeom>
          <a:solidFill>
            <a:srgbClr val="E8F5E9"/>
          </a:solidFill>
          <a:ln>
            <a:noFill/>
          </a:ln>
        </p:spPr>
      </p:sp>
      <p:grpSp>
        <p:nvGrpSpPr>
          <p:cNvPr id="16" name="Group 16"/>
          <p:cNvGrpSpPr/>
          <p:nvPr/>
        </p:nvGrpSpPr>
        <p:grpSpPr>
          <a:xfrm>
            <a:off x="973474" y="2128676"/>
            <a:ext cx="129501" cy="150776"/>
            <a:chOff x="973474" y="2128676"/>
            <a:chExt cx="129501" cy="150776"/>
          </a:xfrm>
        </p:grpSpPr>
        <p:sp>
          <p:nvSpPr>
            <p:cNvPr id="14" name="Freeform 14"/>
            <p:cNvSpPr/>
            <p:nvPr/>
          </p:nvSpPr>
          <p:spPr>
            <a:xfrm>
              <a:off x="979055" y="2198354"/>
              <a:ext cx="118340" cy="70689"/>
            </a:xfrm>
            <a:custGeom>
              <a:avLst/>
              <a:gdLst/>
              <a:ahLst/>
              <a:cxnLst/>
              <a:rect l="l" t="t" r="r" b="b"/>
              <a:pathLst>
                <a:path w="118340" h="70689">
                  <a:moveTo>
                    <a:pt x="36942" y="54308"/>
                  </a:moveTo>
                  <a:lnTo>
                    <a:pt x="17219" y="69203"/>
                  </a:lnTo>
                  <a:cubicBezTo>
                    <a:pt x="15774" y="70359"/>
                    <a:pt x="13836" y="70689"/>
                    <a:pt x="12090" y="70074"/>
                  </a:cubicBezTo>
                  <a:cubicBezTo>
                    <a:pt x="10345" y="69460"/>
                    <a:pt x="9041" y="67989"/>
                    <a:pt x="8639" y="66182"/>
                  </a:cubicBezTo>
                  <a:lnTo>
                    <a:pt x="362" y="28925"/>
                  </a:lnTo>
                  <a:cubicBezTo>
                    <a:pt x="0" y="27305"/>
                    <a:pt x="411" y="25608"/>
                    <a:pt x="1473" y="24331"/>
                  </a:cubicBezTo>
                  <a:lnTo>
                    <a:pt x="21773" y="0"/>
                  </a:lnTo>
                  <a:cubicBezTo>
                    <a:pt x="20996" y="15631"/>
                    <a:pt x="24813" y="33835"/>
                    <a:pt x="36942" y="54308"/>
                  </a:cubicBezTo>
                  <a:close/>
                  <a:moveTo>
                    <a:pt x="116867" y="24331"/>
                  </a:moveTo>
                  <a:lnTo>
                    <a:pt x="96568" y="0"/>
                  </a:lnTo>
                  <a:cubicBezTo>
                    <a:pt x="97378" y="15631"/>
                    <a:pt x="93527" y="33835"/>
                    <a:pt x="81398" y="54308"/>
                  </a:cubicBezTo>
                  <a:lnTo>
                    <a:pt x="101122" y="69203"/>
                  </a:lnTo>
                  <a:cubicBezTo>
                    <a:pt x="102566" y="70359"/>
                    <a:pt x="104505" y="70689"/>
                    <a:pt x="106250" y="70074"/>
                  </a:cubicBezTo>
                  <a:cubicBezTo>
                    <a:pt x="107995" y="69460"/>
                    <a:pt x="109300" y="67989"/>
                    <a:pt x="109701" y="66182"/>
                  </a:cubicBezTo>
                  <a:lnTo>
                    <a:pt x="117979" y="28925"/>
                  </a:lnTo>
                  <a:cubicBezTo>
                    <a:pt x="118340" y="27305"/>
                    <a:pt x="117930" y="25608"/>
                    <a:pt x="116867" y="24331"/>
                  </a:cubicBezTo>
                  <a:close/>
                </a:path>
              </a:pathLst>
            </a:custGeom>
            <a:solidFill>
              <a:srgbClr val="2E7D32">
                <a:alpha val="20000"/>
              </a:srgbClr>
            </a:solidFill>
            <a:ln>
              <a:noFill/>
            </a:ln>
          </p:spPr>
        </p:sp>
        <p:sp>
          <p:nvSpPr>
            <p:cNvPr id="15" name="Freeform 15"/>
            <p:cNvSpPr/>
            <p:nvPr/>
          </p:nvSpPr>
          <p:spPr>
            <a:xfrm>
              <a:off x="973474" y="2128676"/>
              <a:ext cx="129501" cy="150776"/>
            </a:xfrm>
            <a:custGeom>
              <a:avLst/>
              <a:gdLst/>
              <a:ahLst/>
              <a:cxnLst/>
              <a:rect l="l" t="t" r="r" b="b"/>
              <a:pathLst>
                <a:path w="129501" h="150776">
                  <a:moveTo>
                    <a:pt x="80824" y="145418"/>
                  </a:moveTo>
                  <a:cubicBezTo>
                    <a:pt x="80824" y="148377"/>
                    <a:pt x="78425" y="150776"/>
                    <a:pt x="75466" y="150776"/>
                  </a:cubicBezTo>
                  <a:lnTo>
                    <a:pt x="54035" y="150776"/>
                  </a:lnTo>
                  <a:cubicBezTo>
                    <a:pt x="51076" y="150776"/>
                    <a:pt x="48677" y="148377"/>
                    <a:pt x="48677" y="145418"/>
                  </a:cubicBezTo>
                  <a:cubicBezTo>
                    <a:pt x="48677" y="142459"/>
                    <a:pt x="51076" y="140060"/>
                    <a:pt x="54035" y="140060"/>
                  </a:cubicBezTo>
                  <a:lnTo>
                    <a:pt x="75466" y="140060"/>
                  </a:lnTo>
                  <a:cubicBezTo>
                    <a:pt x="78425" y="140060"/>
                    <a:pt x="80824" y="142459"/>
                    <a:pt x="80824" y="145418"/>
                  </a:cubicBezTo>
                  <a:close/>
                  <a:moveTo>
                    <a:pt x="64751" y="70408"/>
                  </a:moveTo>
                  <a:cubicBezTo>
                    <a:pt x="69189" y="70408"/>
                    <a:pt x="72787" y="66810"/>
                    <a:pt x="72787" y="62372"/>
                  </a:cubicBezTo>
                  <a:cubicBezTo>
                    <a:pt x="72787" y="57933"/>
                    <a:pt x="69189" y="54335"/>
                    <a:pt x="64751" y="54335"/>
                  </a:cubicBezTo>
                  <a:cubicBezTo>
                    <a:pt x="60312" y="54335"/>
                    <a:pt x="56714" y="57933"/>
                    <a:pt x="56714" y="62372"/>
                  </a:cubicBezTo>
                  <a:cubicBezTo>
                    <a:pt x="56714" y="66810"/>
                    <a:pt x="60312" y="70408"/>
                    <a:pt x="64751" y="70408"/>
                  </a:cubicBezTo>
                  <a:close/>
                  <a:moveTo>
                    <a:pt x="128790" y="99762"/>
                  </a:moveTo>
                  <a:lnTo>
                    <a:pt x="120512" y="137019"/>
                  </a:lnTo>
                  <a:cubicBezTo>
                    <a:pt x="119714" y="140616"/>
                    <a:pt x="117124" y="143550"/>
                    <a:pt x="113655" y="144789"/>
                  </a:cubicBezTo>
                  <a:cubicBezTo>
                    <a:pt x="110186" y="146028"/>
                    <a:pt x="106323" y="145398"/>
                    <a:pt x="103427" y="143121"/>
                  </a:cubicBezTo>
                  <a:lnTo>
                    <a:pt x="85184" y="129344"/>
                  </a:lnTo>
                  <a:lnTo>
                    <a:pt x="44331" y="129344"/>
                  </a:lnTo>
                  <a:lnTo>
                    <a:pt x="26074" y="143121"/>
                  </a:lnTo>
                  <a:cubicBezTo>
                    <a:pt x="23178" y="145398"/>
                    <a:pt x="19316" y="146028"/>
                    <a:pt x="15847" y="144789"/>
                  </a:cubicBezTo>
                  <a:cubicBezTo>
                    <a:pt x="12377" y="143550"/>
                    <a:pt x="9788" y="140616"/>
                    <a:pt x="8989" y="137019"/>
                  </a:cubicBezTo>
                  <a:lnTo>
                    <a:pt x="711" y="99762"/>
                  </a:lnTo>
                  <a:cubicBezTo>
                    <a:pt x="0" y="96523"/>
                    <a:pt x="820" y="93136"/>
                    <a:pt x="2935" y="90580"/>
                  </a:cubicBezTo>
                  <a:lnTo>
                    <a:pt x="22062" y="67636"/>
                  </a:lnTo>
                  <a:cubicBezTo>
                    <a:pt x="22704" y="59203"/>
                    <a:pt x="24640" y="50920"/>
                    <a:pt x="27802" y="43077"/>
                  </a:cubicBezTo>
                  <a:cubicBezTo>
                    <a:pt x="36441" y="21418"/>
                    <a:pt x="51912" y="7829"/>
                    <a:pt x="58187" y="2994"/>
                  </a:cubicBezTo>
                  <a:cubicBezTo>
                    <a:pt x="62051" y="0"/>
                    <a:pt x="67451" y="0"/>
                    <a:pt x="71314" y="2994"/>
                  </a:cubicBezTo>
                  <a:cubicBezTo>
                    <a:pt x="77569" y="7829"/>
                    <a:pt x="93060" y="21418"/>
                    <a:pt x="101700" y="43077"/>
                  </a:cubicBezTo>
                  <a:cubicBezTo>
                    <a:pt x="104861" y="50920"/>
                    <a:pt x="106797" y="59203"/>
                    <a:pt x="107439" y="67636"/>
                  </a:cubicBezTo>
                  <a:lnTo>
                    <a:pt x="126567" y="90580"/>
                  </a:lnTo>
                  <a:cubicBezTo>
                    <a:pt x="128681" y="93136"/>
                    <a:pt x="129501" y="96523"/>
                    <a:pt x="128790" y="99762"/>
                  </a:cubicBezTo>
                  <a:close/>
                  <a:moveTo>
                    <a:pt x="45617" y="118629"/>
                  </a:moveTo>
                  <a:lnTo>
                    <a:pt x="83885" y="118629"/>
                  </a:lnTo>
                  <a:cubicBezTo>
                    <a:pt x="98029" y="93487"/>
                    <a:pt x="100675" y="69417"/>
                    <a:pt x="91747" y="47048"/>
                  </a:cubicBezTo>
                  <a:cubicBezTo>
                    <a:pt x="83871" y="27305"/>
                    <a:pt x="69097" y="14821"/>
                    <a:pt x="64751" y="11472"/>
                  </a:cubicBezTo>
                  <a:cubicBezTo>
                    <a:pt x="60391" y="14821"/>
                    <a:pt x="45617" y="27305"/>
                    <a:pt x="37741" y="47048"/>
                  </a:cubicBezTo>
                  <a:cubicBezTo>
                    <a:pt x="28827" y="69417"/>
                    <a:pt x="31472" y="93487"/>
                    <a:pt x="45617" y="118629"/>
                  </a:cubicBezTo>
                  <a:close/>
                  <a:moveTo>
                    <a:pt x="35571" y="122547"/>
                  </a:moveTo>
                  <a:cubicBezTo>
                    <a:pt x="28360" y="109442"/>
                    <a:pt x="23984" y="96563"/>
                    <a:pt x="22444" y="83910"/>
                  </a:cubicBezTo>
                  <a:lnTo>
                    <a:pt x="11173" y="97438"/>
                  </a:lnTo>
                  <a:lnTo>
                    <a:pt x="19450" y="134702"/>
                  </a:lnTo>
                  <a:lnTo>
                    <a:pt x="19571" y="134615"/>
                  </a:lnTo>
                  <a:close/>
                  <a:moveTo>
                    <a:pt x="118329" y="97438"/>
                  </a:moveTo>
                  <a:lnTo>
                    <a:pt x="107057" y="83910"/>
                  </a:lnTo>
                  <a:cubicBezTo>
                    <a:pt x="105530" y="96537"/>
                    <a:pt x="101164" y="109415"/>
                    <a:pt x="93958" y="122547"/>
                  </a:cubicBezTo>
                  <a:lnTo>
                    <a:pt x="109930" y="134602"/>
                  </a:lnTo>
                  <a:lnTo>
                    <a:pt x="110051" y="134689"/>
                  </a:lnTo>
                  <a:close/>
                </a:path>
              </a:pathLst>
            </a:custGeom>
            <a:solidFill>
              <a:srgbClr val="2E7D32"/>
            </a:solidFill>
            <a:ln>
              <a:noFill/>
            </a:ln>
          </p:spPr>
        </p:sp>
      </p:grpSp>
      <p:sp>
        <p:nvSpPr>
          <p:cNvPr id="17" name="TextBox 17"/>
          <p:cNvSpPr txBox="1"/>
          <p:nvPr/>
        </p:nvSpPr>
        <p:spPr>
          <a:xfrm>
            <a:off x="1175385" y="2118360"/>
            <a:ext cx="190391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全新独立需求 → 表现优秀</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733425" y="2471738"/>
            <a:ext cx="222171" cy="457200"/>
          </a:xfrm>
          <a:prstGeom prst="rect">
            <a:avLst/>
          </a:prstGeom>
          <a:noFill/>
          <a:ln>
            <a:noFill/>
          </a:ln>
        </p:spPr>
        <p:txBody>
          <a:bodyPr wrap="none" lIns="0" tIns="0" rIns="0" bIns="0" anchor="t" anchorCtr="0">
            <a:spAutoFit/>
          </a:bodyPr>
          <a:lstStyle/>
          <a:p>
            <a:pPr algn="l"/>
            <a:r>
              <a:rPr lang="zh-CN" sz="2250" dirty="0">
                <a:solidFill>
                  <a:srgbClr val="CFD8DC"/>
                </a:solidFill>
                <a:latin typeface="Segoe UI" panose="020B0502040204020203"/>
                <a:ea typeface="微软雅黑" panose="020B0503020204020204" charset="-122"/>
                <a:cs typeface="Segoe UI" panose="020B0502040204020203"/>
              </a:rPr>
              <a:t>▼</a:t>
            </a:r>
            <a:endParaRPr lang="zh-CN" sz="2250" dirty="0">
              <a:solidFill>
                <a:srgbClr val="CFD8DC"/>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09625" y="2857500"/>
            <a:ext cx="5143500" cy="381000"/>
          </a:xfrm>
          <a:prstGeom prst="roundRect">
            <a:avLst>
              <a:gd name="adj" fmla="val 15000"/>
            </a:avLst>
          </a:prstGeom>
          <a:solidFill>
            <a:srgbClr val="FFF3E0"/>
          </a:solidFill>
          <a:ln>
            <a:noFill/>
          </a:ln>
        </p:spPr>
      </p:sp>
      <p:grpSp>
        <p:nvGrpSpPr>
          <p:cNvPr id="22" name="Group 22"/>
          <p:cNvGrpSpPr/>
          <p:nvPr/>
        </p:nvGrpSpPr>
        <p:grpSpPr>
          <a:xfrm>
            <a:off x="962689" y="3013470"/>
            <a:ext cx="150547" cy="96969"/>
            <a:chOff x="962689" y="3013470"/>
            <a:chExt cx="150547" cy="96969"/>
          </a:xfrm>
        </p:grpSpPr>
        <p:sp>
          <p:nvSpPr>
            <p:cNvPr id="20" name="Freeform 20"/>
            <p:cNvSpPr/>
            <p:nvPr/>
          </p:nvSpPr>
          <p:spPr>
            <a:xfrm>
              <a:off x="1065014" y="3018830"/>
              <a:ext cx="42862" cy="42862"/>
            </a:xfrm>
            <a:custGeom>
              <a:avLst/>
              <a:gdLst/>
              <a:ahLst/>
              <a:cxnLst/>
              <a:rect l="l" t="t" r="r" b="b"/>
              <a:pathLst>
                <a:path w="42862" h="42862">
                  <a:moveTo>
                    <a:pt x="42862" y="0"/>
                  </a:moveTo>
                  <a:lnTo>
                    <a:pt x="42862" y="42862"/>
                  </a:lnTo>
                  <a:lnTo>
                    <a:pt x="0" y="0"/>
                  </a:lnTo>
                  <a:close/>
                </a:path>
              </a:pathLst>
            </a:custGeom>
            <a:solidFill>
              <a:srgbClr val="FF6F00">
                <a:alpha val="20000"/>
              </a:srgbClr>
            </a:solidFill>
            <a:ln>
              <a:noFill/>
            </a:ln>
          </p:spPr>
        </p:sp>
        <p:sp>
          <p:nvSpPr>
            <p:cNvPr id="21" name="Freeform 21"/>
            <p:cNvSpPr/>
            <p:nvPr/>
          </p:nvSpPr>
          <p:spPr>
            <a:xfrm>
              <a:off x="962689" y="3013470"/>
              <a:ext cx="150547" cy="96969"/>
            </a:xfrm>
            <a:custGeom>
              <a:avLst/>
              <a:gdLst/>
              <a:ahLst/>
              <a:cxnLst/>
              <a:rect l="l" t="t" r="r" b="b"/>
              <a:pathLst>
                <a:path w="150547" h="96969">
                  <a:moveTo>
                    <a:pt x="145187" y="2"/>
                  </a:moveTo>
                  <a:lnTo>
                    <a:pt x="102325" y="2"/>
                  </a:lnTo>
                  <a:cubicBezTo>
                    <a:pt x="100156" y="0"/>
                    <a:pt x="98201" y="1305"/>
                    <a:pt x="97371" y="3309"/>
                  </a:cubicBezTo>
                  <a:cubicBezTo>
                    <a:pt x="96541" y="5312"/>
                    <a:pt x="97000" y="7618"/>
                    <a:pt x="98534" y="9150"/>
                  </a:cubicBezTo>
                  <a:lnTo>
                    <a:pt x="116181" y="26791"/>
                  </a:lnTo>
                  <a:lnTo>
                    <a:pt x="80894" y="62079"/>
                  </a:lnTo>
                  <a:lnTo>
                    <a:pt x="57895" y="39074"/>
                  </a:lnTo>
                  <a:cubicBezTo>
                    <a:pt x="56890" y="38067"/>
                    <a:pt x="55526" y="37502"/>
                    <a:pt x="54104" y="37502"/>
                  </a:cubicBezTo>
                  <a:cubicBezTo>
                    <a:pt x="52682" y="37502"/>
                    <a:pt x="51319" y="38067"/>
                    <a:pt x="50314" y="39074"/>
                  </a:cubicBezTo>
                  <a:lnTo>
                    <a:pt x="2094" y="87294"/>
                  </a:lnTo>
                  <a:cubicBezTo>
                    <a:pt x="0" y="89387"/>
                    <a:pt x="0" y="92782"/>
                    <a:pt x="2094" y="94875"/>
                  </a:cubicBezTo>
                  <a:cubicBezTo>
                    <a:pt x="4187" y="96969"/>
                    <a:pt x="7581" y="96969"/>
                    <a:pt x="9675" y="94875"/>
                  </a:cubicBezTo>
                  <a:lnTo>
                    <a:pt x="54104" y="50439"/>
                  </a:lnTo>
                  <a:lnTo>
                    <a:pt x="77103" y="73444"/>
                  </a:lnTo>
                  <a:cubicBezTo>
                    <a:pt x="78108" y="74450"/>
                    <a:pt x="79472" y="75015"/>
                    <a:pt x="80894" y="75015"/>
                  </a:cubicBezTo>
                  <a:cubicBezTo>
                    <a:pt x="82316" y="75015"/>
                    <a:pt x="83679" y="74450"/>
                    <a:pt x="84684" y="73444"/>
                  </a:cubicBezTo>
                  <a:lnTo>
                    <a:pt x="123756" y="34365"/>
                  </a:lnTo>
                  <a:lnTo>
                    <a:pt x="141397" y="52013"/>
                  </a:lnTo>
                  <a:cubicBezTo>
                    <a:pt x="142929" y="53547"/>
                    <a:pt x="145235" y="54006"/>
                    <a:pt x="147238" y="53176"/>
                  </a:cubicBezTo>
                  <a:cubicBezTo>
                    <a:pt x="149241" y="52346"/>
                    <a:pt x="150547" y="50390"/>
                    <a:pt x="150545" y="48222"/>
                  </a:cubicBezTo>
                  <a:lnTo>
                    <a:pt x="150545" y="5360"/>
                  </a:lnTo>
                  <a:cubicBezTo>
                    <a:pt x="150545" y="2400"/>
                    <a:pt x="148146" y="2"/>
                    <a:pt x="145187" y="2"/>
                  </a:cubicBezTo>
                  <a:close/>
                  <a:moveTo>
                    <a:pt x="139829" y="35290"/>
                  </a:moveTo>
                  <a:lnTo>
                    <a:pt x="115257" y="10717"/>
                  </a:lnTo>
                  <a:lnTo>
                    <a:pt x="139829" y="10717"/>
                  </a:lnTo>
                  <a:close/>
                </a:path>
              </a:pathLst>
            </a:custGeom>
            <a:solidFill>
              <a:srgbClr val="FF6F00"/>
            </a:solidFill>
            <a:ln>
              <a:noFill/>
            </a:ln>
          </p:spPr>
        </p:sp>
      </p:grpSp>
      <p:sp>
        <p:nvSpPr>
          <p:cNvPr id="23" name="TextBox 23"/>
          <p:cNvSpPr txBox="1"/>
          <p:nvPr/>
        </p:nvSpPr>
        <p:spPr>
          <a:xfrm>
            <a:off x="1175385" y="2975610"/>
            <a:ext cx="1735893"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有少量依赖 → 表现下降</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33425" y="3328988"/>
            <a:ext cx="222171" cy="457200"/>
          </a:xfrm>
          <a:prstGeom prst="rect">
            <a:avLst/>
          </a:prstGeom>
          <a:noFill/>
          <a:ln>
            <a:noFill/>
          </a:ln>
        </p:spPr>
        <p:txBody>
          <a:bodyPr wrap="none" lIns="0" tIns="0" rIns="0" bIns="0" anchor="t" anchorCtr="0">
            <a:spAutoFit/>
          </a:bodyPr>
          <a:lstStyle/>
          <a:p>
            <a:pPr algn="l"/>
            <a:r>
              <a:rPr lang="zh-CN" sz="2250" dirty="0">
                <a:solidFill>
                  <a:srgbClr val="CFD8DC"/>
                </a:solidFill>
                <a:latin typeface="Segoe UI" panose="020B0502040204020203"/>
                <a:ea typeface="微软雅黑" panose="020B0503020204020204" charset="-122"/>
                <a:cs typeface="Segoe UI" panose="020B0502040204020203"/>
              </a:rPr>
              <a:t>▼</a:t>
            </a:r>
            <a:endParaRPr lang="zh-CN" sz="2250" dirty="0">
              <a:solidFill>
                <a:srgbClr val="CFD8DC"/>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09625" y="3714750"/>
            <a:ext cx="5143500" cy="381000"/>
          </a:xfrm>
          <a:prstGeom prst="roundRect">
            <a:avLst>
              <a:gd name="adj" fmla="val 15000"/>
            </a:avLst>
          </a:prstGeom>
          <a:solidFill>
            <a:srgbClr val="FFEBEE"/>
          </a:solidFill>
          <a:ln>
            <a:noFill/>
          </a:ln>
        </p:spPr>
      </p:sp>
      <p:grpSp>
        <p:nvGrpSpPr>
          <p:cNvPr id="28" name="Group 28"/>
          <p:cNvGrpSpPr/>
          <p:nvPr/>
        </p:nvGrpSpPr>
        <p:grpSpPr>
          <a:xfrm>
            <a:off x="962492" y="3854648"/>
            <a:ext cx="151463" cy="134007"/>
            <a:chOff x="962492" y="3854648"/>
            <a:chExt cx="151463" cy="134007"/>
          </a:xfrm>
        </p:grpSpPr>
        <p:sp>
          <p:nvSpPr>
            <p:cNvPr id="26" name="Freeform 26"/>
            <p:cNvSpPr/>
            <p:nvPr/>
          </p:nvSpPr>
          <p:spPr>
            <a:xfrm>
              <a:off x="965895" y="3858144"/>
              <a:ext cx="144661" cy="125092"/>
            </a:xfrm>
            <a:custGeom>
              <a:avLst/>
              <a:gdLst/>
              <a:ahLst/>
              <a:cxnLst/>
              <a:rect l="l" t="t" r="r" b="b"/>
              <a:pathLst>
                <a:path w="144661" h="125092">
                  <a:moveTo>
                    <a:pt x="130905" y="125092"/>
                  </a:moveTo>
                  <a:lnTo>
                    <a:pt x="13756" y="125092"/>
                  </a:lnTo>
                  <a:cubicBezTo>
                    <a:pt x="5304" y="125092"/>
                    <a:pt x="0" y="116244"/>
                    <a:pt x="4105" y="109078"/>
                  </a:cubicBezTo>
                  <a:lnTo>
                    <a:pt x="62680" y="7367"/>
                  </a:lnTo>
                  <a:cubicBezTo>
                    <a:pt x="66899" y="0"/>
                    <a:pt x="77762" y="0"/>
                    <a:pt x="81981" y="7367"/>
                  </a:cubicBezTo>
                  <a:lnTo>
                    <a:pt x="140556" y="109078"/>
                  </a:lnTo>
                  <a:cubicBezTo>
                    <a:pt x="144661" y="116244"/>
                    <a:pt x="139357" y="125092"/>
                    <a:pt x="130905" y="125092"/>
                  </a:cubicBezTo>
                  <a:close/>
                </a:path>
              </a:pathLst>
            </a:custGeom>
            <a:solidFill>
              <a:srgbClr val="C62828">
                <a:alpha val="20000"/>
              </a:srgbClr>
            </a:solidFill>
            <a:ln>
              <a:noFill/>
            </a:ln>
          </p:spPr>
        </p:sp>
        <p:sp>
          <p:nvSpPr>
            <p:cNvPr id="27" name="Freeform 27"/>
            <p:cNvSpPr/>
            <p:nvPr/>
          </p:nvSpPr>
          <p:spPr>
            <a:xfrm>
              <a:off x="962492" y="3854648"/>
              <a:ext cx="151463" cy="134007"/>
            </a:xfrm>
            <a:custGeom>
              <a:avLst/>
              <a:gdLst/>
              <a:ahLst/>
              <a:cxnLst/>
              <a:rect l="l" t="t" r="r" b="b"/>
              <a:pathLst>
                <a:path w="151463" h="134007">
                  <a:moveTo>
                    <a:pt x="148600" y="109896"/>
                  </a:moveTo>
                  <a:lnTo>
                    <a:pt x="90032" y="8184"/>
                  </a:lnTo>
                  <a:lnTo>
                    <a:pt x="90032" y="8184"/>
                  </a:lnTo>
                  <a:cubicBezTo>
                    <a:pt x="87054" y="3114"/>
                    <a:pt x="81614" y="0"/>
                    <a:pt x="75733" y="0"/>
                  </a:cubicBezTo>
                  <a:cubicBezTo>
                    <a:pt x="69853" y="0"/>
                    <a:pt x="64413" y="3114"/>
                    <a:pt x="61435" y="8184"/>
                  </a:cubicBezTo>
                  <a:lnTo>
                    <a:pt x="2867" y="109896"/>
                  </a:lnTo>
                  <a:cubicBezTo>
                    <a:pt x="0" y="114803"/>
                    <a:pt x="0" y="120875"/>
                    <a:pt x="2867" y="125782"/>
                  </a:cubicBezTo>
                  <a:cubicBezTo>
                    <a:pt x="5809" y="130886"/>
                    <a:pt x="11275" y="134007"/>
                    <a:pt x="17166" y="133946"/>
                  </a:cubicBezTo>
                  <a:lnTo>
                    <a:pt x="134301" y="133946"/>
                  </a:lnTo>
                  <a:cubicBezTo>
                    <a:pt x="140187" y="134002"/>
                    <a:pt x="145647" y="130882"/>
                    <a:pt x="148586" y="125782"/>
                  </a:cubicBezTo>
                  <a:cubicBezTo>
                    <a:pt x="151457" y="120877"/>
                    <a:pt x="151463" y="114806"/>
                    <a:pt x="148600" y="109896"/>
                  </a:cubicBezTo>
                  <a:close/>
                  <a:moveTo>
                    <a:pt x="139310" y="120417"/>
                  </a:moveTo>
                  <a:cubicBezTo>
                    <a:pt x="138271" y="122191"/>
                    <a:pt x="136356" y="123266"/>
                    <a:pt x="134301" y="123230"/>
                  </a:cubicBezTo>
                  <a:lnTo>
                    <a:pt x="17166" y="123230"/>
                  </a:lnTo>
                  <a:cubicBezTo>
                    <a:pt x="15111" y="123266"/>
                    <a:pt x="13196" y="122191"/>
                    <a:pt x="12156" y="120417"/>
                  </a:cubicBezTo>
                  <a:cubicBezTo>
                    <a:pt x="11214" y="118823"/>
                    <a:pt x="11214" y="116842"/>
                    <a:pt x="12156" y="115247"/>
                  </a:cubicBezTo>
                  <a:lnTo>
                    <a:pt x="70724" y="13536"/>
                  </a:lnTo>
                  <a:cubicBezTo>
                    <a:pt x="71783" y="11772"/>
                    <a:pt x="73690" y="10694"/>
                    <a:pt x="75747" y="10694"/>
                  </a:cubicBezTo>
                  <a:cubicBezTo>
                    <a:pt x="77804" y="10694"/>
                    <a:pt x="79710" y="11772"/>
                    <a:pt x="80770" y="13536"/>
                  </a:cubicBezTo>
                  <a:lnTo>
                    <a:pt x="139337" y="115247"/>
                  </a:lnTo>
                  <a:cubicBezTo>
                    <a:pt x="140271" y="116847"/>
                    <a:pt x="140261" y="118827"/>
                    <a:pt x="139310" y="120417"/>
                  </a:cubicBezTo>
                  <a:close/>
                  <a:moveTo>
                    <a:pt x="70376" y="80368"/>
                  </a:moveTo>
                  <a:lnTo>
                    <a:pt x="70376" y="53579"/>
                  </a:lnTo>
                  <a:cubicBezTo>
                    <a:pt x="70376" y="50620"/>
                    <a:pt x="72774" y="48221"/>
                    <a:pt x="75733" y="48221"/>
                  </a:cubicBezTo>
                  <a:cubicBezTo>
                    <a:pt x="78692" y="48221"/>
                    <a:pt x="81091" y="50620"/>
                    <a:pt x="81091" y="53579"/>
                  </a:cubicBezTo>
                  <a:lnTo>
                    <a:pt x="81091" y="80368"/>
                  </a:lnTo>
                  <a:cubicBezTo>
                    <a:pt x="81091" y="83327"/>
                    <a:pt x="78692" y="85725"/>
                    <a:pt x="75733" y="85725"/>
                  </a:cubicBezTo>
                  <a:cubicBezTo>
                    <a:pt x="72774" y="85725"/>
                    <a:pt x="70376" y="83327"/>
                    <a:pt x="70376" y="80368"/>
                  </a:cubicBezTo>
                  <a:close/>
                  <a:moveTo>
                    <a:pt x="83770" y="104478"/>
                  </a:moveTo>
                  <a:cubicBezTo>
                    <a:pt x="83770" y="108916"/>
                    <a:pt x="80172" y="112515"/>
                    <a:pt x="75733" y="112515"/>
                  </a:cubicBezTo>
                  <a:cubicBezTo>
                    <a:pt x="71295" y="112515"/>
                    <a:pt x="67697" y="108916"/>
                    <a:pt x="67697" y="104478"/>
                  </a:cubicBezTo>
                  <a:cubicBezTo>
                    <a:pt x="67697" y="100039"/>
                    <a:pt x="71295" y="96441"/>
                    <a:pt x="75733" y="96441"/>
                  </a:cubicBezTo>
                  <a:cubicBezTo>
                    <a:pt x="80172" y="96441"/>
                    <a:pt x="83770" y="100039"/>
                    <a:pt x="83770" y="104478"/>
                  </a:cubicBezTo>
                  <a:close/>
                </a:path>
              </a:pathLst>
            </a:custGeom>
            <a:solidFill>
              <a:srgbClr val="C62828"/>
            </a:solidFill>
            <a:ln>
              <a:noFill/>
            </a:ln>
          </p:spPr>
        </p:sp>
      </p:grpSp>
      <p:sp>
        <p:nvSpPr>
          <p:cNvPr id="29" name="TextBox 29"/>
          <p:cNvSpPr txBox="1"/>
          <p:nvPr/>
        </p:nvSpPr>
        <p:spPr>
          <a:xfrm>
            <a:off x="1175385" y="3832860"/>
            <a:ext cx="1567872"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多模块接口 → 易出错</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33425" y="4186238"/>
            <a:ext cx="222171" cy="457200"/>
          </a:xfrm>
          <a:prstGeom prst="rect">
            <a:avLst/>
          </a:prstGeom>
          <a:noFill/>
          <a:ln>
            <a:noFill/>
          </a:ln>
        </p:spPr>
        <p:txBody>
          <a:bodyPr wrap="none" lIns="0" tIns="0" rIns="0" bIns="0" anchor="t" anchorCtr="0">
            <a:spAutoFit/>
          </a:bodyPr>
          <a:lstStyle/>
          <a:p>
            <a:pPr algn="l"/>
            <a:r>
              <a:rPr lang="zh-CN" sz="2250" dirty="0">
                <a:solidFill>
                  <a:srgbClr val="CFD8DC"/>
                </a:solidFill>
                <a:latin typeface="Segoe UI" panose="020B0502040204020203"/>
                <a:ea typeface="微软雅黑" panose="020B0503020204020204" charset="-122"/>
                <a:cs typeface="Segoe UI" panose="020B0502040204020203"/>
              </a:rPr>
              <a:t>▼</a:t>
            </a:r>
            <a:endParaRPr lang="zh-CN" sz="2250" dirty="0">
              <a:solidFill>
                <a:srgbClr val="CFD8DC"/>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09625" y="4572000"/>
            <a:ext cx="5143500" cy="381000"/>
          </a:xfrm>
          <a:prstGeom prst="roundRect">
            <a:avLst>
              <a:gd name="adj" fmla="val 15000"/>
            </a:avLst>
          </a:prstGeom>
          <a:solidFill>
            <a:srgbClr val="B71C1C">
              <a:alpha val="10000"/>
            </a:srgbClr>
          </a:solidFill>
          <a:ln>
            <a:noFill/>
          </a:ln>
        </p:spPr>
      </p:sp>
      <p:sp>
        <p:nvSpPr>
          <p:cNvPr id="32" name="TextBox 32"/>
          <p:cNvSpPr txBox="1"/>
          <p:nvPr/>
        </p:nvSpPr>
        <p:spPr>
          <a:xfrm>
            <a:off x="1175385" y="4690110"/>
            <a:ext cx="1903914"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历史遗留代码 → 越改越乱</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6381750" y="1428750"/>
            <a:ext cx="5238750" cy="4286250"/>
          </a:xfrm>
          <a:prstGeom prst="roundRect">
            <a:avLst>
              <a:gd name="adj" fmla="val 2667"/>
            </a:avLst>
          </a:prstGeom>
          <a:solidFill>
            <a:srgbClr val="FFFFFF"/>
          </a:solidFill>
          <a:ln w="9525">
            <a:solidFill>
              <a:srgbClr val="CFD8DC"/>
            </a:solidFill>
          </a:ln>
        </p:spPr>
      </p:sp>
      <p:sp>
        <p:nvSpPr>
          <p:cNvPr id="34" name="Rectangle 34"/>
          <p:cNvSpPr/>
          <p:nvPr/>
        </p:nvSpPr>
        <p:spPr>
          <a:xfrm>
            <a:off x="6381750" y="1428750"/>
            <a:ext cx="5238750" cy="38100"/>
          </a:xfrm>
          <a:prstGeom prst="roundRect">
            <a:avLst>
              <a:gd name="adj" fmla="val 50000"/>
            </a:avLst>
          </a:prstGeom>
          <a:solidFill>
            <a:srgbClr val="00838F"/>
          </a:solidFill>
          <a:ln>
            <a:noFill/>
          </a:ln>
        </p:spPr>
      </p:sp>
      <p:sp>
        <p:nvSpPr>
          <p:cNvPr id="35" name="TextBox 35"/>
          <p:cNvSpPr txBox="1"/>
          <p:nvPr/>
        </p:nvSpPr>
        <p:spPr>
          <a:xfrm>
            <a:off x="6646545" y="1536382"/>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三大对策</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6" name="Rectangle 36"/>
          <p:cNvSpPr/>
          <p:nvPr/>
        </p:nvSpPr>
        <p:spPr>
          <a:xfrm>
            <a:off x="6667500" y="1952625"/>
            <a:ext cx="4667250" cy="904875"/>
          </a:xfrm>
          <a:prstGeom prst="roundRect">
            <a:avLst>
              <a:gd name="adj" fmla="val 8421"/>
            </a:avLst>
          </a:prstGeom>
          <a:solidFill>
            <a:srgbClr val="E3F2FD"/>
          </a:solidFill>
          <a:ln>
            <a:noFill/>
          </a:ln>
        </p:spPr>
      </p:sp>
      <p:grpSp>
        <p:nvGrpSpPr>
          <p:cNvPr id="39" name="Group 39"/>
          <p:cNvGrpSpPr/>
          <p:nvPr/>
        </p:nvGrpSpPr>
        <p:grpSpPr>
          <a:xfrm>
            <a:off x="6839337" y="2182308"/>
            <a:ext cx="207358" cy="144176"/>
            <a:chOff x="6839337" y="2182308"/>
            <a:chExt cx="207358" cy="144176"/>
          </a:xfrm>
        </p:grpSpPr>
        <p:sp>
          <p:nvSpPr>
            <p:cNvPr id="37" name="Freeform 37"/>
            <p:cNvSpPr/>
            <p:nvPr/>
          </p:nvSpPr>
          <p:spPr>
            <a:xfrm>
              <a:off x="6871692" y="2188964"/>
              <a:ext cx="130969" cy="111323"/>
            </a:xfrm>
            <a:custGeom>
              <a:avLst/>
              <a:gdLst/>
              <a:ahLst/>
              <a:cxnLst/>
              <a:rect l="l" t="t" r="r" b="b"/>
              <a:pathLst>
                <a:path w="130969" h="111323">
                  <a:moveTo>
                    <a:pt x="130969" y="78581"/>
                  </a:moveTo>
                  <a:lnTo>
                    <a:pt x="98227" y="111323"/>
                  </a:lnTo>
                  <a:lnTo>
                    <a:pt x="45839" y="98227"/>
                  </a:lnTo>
                  <a:lnTo>
                    <a:pt x="0" y="65484"/>
                  </a:lnTo>
                  <a:lnTo>
                    <a:pt x="26194" y="13097"/>
                  </a:lnTo>
                  <a:lnTo>
                    <a:pt x="72033" y="0"/>
                  </a:lnTo>
                  <a:lnTo>
                    <a:pt x="117872" y="13097"/>
                  </a:lnTo>
                  <a:lnTo>
                    <a:pt x="85130" y="13097"/>
                  </a:lnTo>
                  <a:lnTo>
                    <a:pt x="47754" y="49351"/>
                  </a:lnTo>
                  <a:cubicBezTo>
                    <a:pt x="46347" y="50757"/>
                    <a:pt x="45656" y="52728"/>
                    <a:pt x="45875" y="54705"/>
                  </a:cubicBezTo>
                  <a:cubicBezTo>
                    <a:pt x="46095" y="56683"/>
                    <a:pt x="47202" y="58454"/>
                    <a:pt x="48884" y="59517"/>
                  </a:cubicBezTo>
                  <a:cubicBezTo>
                    <a:pt x="63217" y="68677"/>
                    <a:pt x="82674" y="68046"/>
                    <a:pt x="98227" y="52388"/>
                  </a:cubicBezTo>
                  <a:close/>
                </a:path>
              </a:pathLst>
            </a:custGeom>
            <a:solidFill>
              <a:srgbClr val="1565C0">
                <a:alpha val="20000"/>
              </a:srgbClr>
            </a:solidFill>
            <a:ln>
              <a:noFill/>
            </a:ln>
          </p:spPr>
        </p:sp>
        <p:sp>
          <p:nvSpPr>
            <p:cNvPr id="38" name="Freeform 38"/>
            <p:cNvSpPr/>
            <p:nvPr/>
          </p:nvSpPr>
          <p:spPr>
            <a:xfrm>
              <a:off x="6839337" y="2182308"/>
              <a:ext cx="207358" cy="144176"/>
            </a:xfrm>
            <a:custGeom>
              <a:avLst/>
              <a:gdLst/>
              <a:ahLst/>
              <a:cxnLst/>
              <a:rect l="l" t="t" r="r" b="b"/>
              <a:pathLst>
                <a:path w="207358" h="144176">
                  <a:moveTo>
                    <a:pt x="97643" y="139213"/>
                  </a:moveTo>
                  <a:cubicBezTo>
                    <a:pt x="96914" y="142128"/>
                    <a:pt x="94295" y="144173"/>
                    <a:pt x="91291" y="144173"/>
                  </a:cubicBezTo>
                  <a:cubicBezTo>
                    <a:pt x="90739" y="144176"/>
                    <a:pt x="90189" y="144110"/>
                    <a:pt x="89654" y="143977"/>
                  </a:cubicBezTo>
                  <a:lnTo>
                    <a:pt x="63460" y="137428"/>
                  </a:lnTo>
                  <a:cubicBezTo>
                    <a:pt x="62731" y="137245"/>
                    <a:pt x="62039" y="136938"/>
                    <a:pt x="61414" y="136520"/>
                  </a:cubicBezTo>
                  <a:lnTo>
                    <a:pt x="41768" y="123423"/>
                  </a:lnTo>
                  <a:cubicBezTo>
                    <a:pt x="38760" y="121415"/>
                    <a:pt x="37948" y="117349"/>
                    <a:pt x="39955" y="114341"/>
                  </a:cubicBezTo>
                  <a:cubicBezTo>
                    <a:pt x="41962" y="111332"/>
                    <a:pt x="46029" y="110521"/>
                    <a:pt x="49037" y="112528"/>
                  </a:cubicBezTo>
                  <a:lnTo>
                    <a:pt x="67733" y="124994"/>
                  </a:lnTo>
                  <a:lnTo>
                    <a:pt x="92830" y="131273"/>
                  </a:lnTo>
                  <a:cubicBezTo>
                    <a:pt x="94523" y="131683"/>
                    <a:pt x="95983" y="132752"/>
                    <a:pt x="96887" y="134242"/>
                  </a:cubicBezTo>
                  <a:cubicBezTo>
                    <a:pt x="97790" y="135732"/>
                    <a:pt x="98062" y="137521"/>
                    <a:pt x="97643" y="139213"/>
                  </a:cubicBezTo>
                  <a:close/>
                  <a:moveTo>
                    <a:pt x="206257" y="60255"/>
                  </a:moveTo>
                  <a:cubicBezTo>
                    <a:pt x="205172" y="63551"/>
                    <a:pt x="202814" y="66277"/>
                    <a:pt x="199708" y="67826"/>
                  </a:cubicBezTo>
                  <a:lnTo>
                    <a:pt x="180325" y="77518"/>
                  </a:lnTo>
                  <a:lnTo>
                    <a:pt x="135239" y="122612"/>
                  </a:lnTo>
                  <a:cubicBezTo>
                    <a:pt x="133611" y="124238"/>
                    <a:pt x="131250" y="124891"/>
                    <a:pt x="129018" y="124331"/>
                  </a:cubicBezTo>
                  <a:lnTo>
                    <a:pt x="76631" y="111234"/>
                  </a:lnTo>
                  <a:cubicBezTo>
                    <a:pt x="75834" y="111034"/>
                    <a:pt x="75082" y="110687"/>
                    <a:pt x="74412" y="110211"/>
                  </a:cubicBezTo>
                  <a:lnTo>
                    <a:pt x="28966" y="77764"/>
                  </a:lnTo>
                  <a:lnTo>
                    <a:pt x="9092" y="67826"/>
                  </a:lnTo>
                  <a:cubicBezTo>
                    <a:pt x="2624" y="64593"/>
                    <a:pt x="0" y="56730"/>
                    <a:pt x="3231" y="50260"/>
                  </a:cubicBezTo>
                  <a:lnTo>
                    <a:pt x="23572" y="9586"/>
                  </a:lnTo>
                  <a:lnTo>
                    <a:pt x="23572" y="9586"/>
                  </a:lnTo>
                  <a:cubicBezTo>
                    <a:pt x="26805" y="3118"/>
                    <a:pt x="34669" y="495"/>
                    <a:pt x="41138" y="3725"/>
                  </a:cubicBezTo>
                  <a:lnTo>
                    <a:pt x="59195" y="12730"/>
                  </a:lnTo>
                  <a:lnTo>
                    <a:pt x="102579" y="337"/>
                  </a:lnTo>
                  <a:cubicBezTo>
                    <a:pt x="103756" y="0"/>
                    <a:pt x="105003" y="0"/>
                    <a:pt x="106180" y="337"/>
                  </a:cubicBezTo>
                  <a:lnTo>
                    <a:pt x="149564" y="12730"/>
                  </a:lnTo>
                  <a:lnTo>
                    <a:pt x="167621" y="3725"/>
                  </a:lnTo>
                  <a:cubicBezTo>
                    <a:pt x="174090" y="495"/>
                    <a:pt x="181954" y="3118"/>
                    <a:pt x="185187" y="9586"/>
                  </a:cubicBezTo>
                  <a:lnTo>
                    <a:pt x="205528" y="50260"/>
                  </a:lnTo>
                  <a:cubicBezTo>
                    <a:pt x="207095" y="53361"/>
                    <a:pt x="207358" y="56960"/>
                    <a:pt x="206257" y="60255"/>
                  </a:cubicBezTo>
                  <a:close/>
                  <a:moveTo>
                    <a:pt x="168456" y="70847"/>
                  </a:moveTo>
                  <a:lnTo>
                    <a:pt x="146183" y="26301"/>
                  </a:lnTo>
                  <a:lnTo>
                    <a:pt x="120137" y="26301"/>
                  </a:lnTo>
                  <a:lnTo>
                    <a:pt x="84742" y="60680"/>
                  </a:lnTo>
                  <a:cubicBezTo>
                    <a:pt x="95105" y="67303"/>
                    <a:pt x="111354" y="69128"/>
                    <a:pt x="125932" y="54435"/>
                  </a:cubicBezTo>
                  <a:cubicBezTo>
                    <a:pt x="128290" y="52058"/>
                    <a:pt x="132061" y="51843"/>
                    <a:pt x="134674" y="53936"/>
                  </a:cubicBezTo>
                  <a:lnTo>
                    <a:pt x="162841" y="76503"/>
                  </a:lnTo>
                  <a:close/>
                  <a:moveTo>
                    <a:pt x="14944" y="56113"/>
                  </a:moveTo>
                  <a:lnTo>
                    <a:pt x="29425" y="63357"/>
                  </a:lnTo>
                  <a:lnTo>
                    <a:pt x="49766" y="22683"/>
                  </a:lnTo>
                  <a:lnTo>
                    <a:pt x="35285" y="15439"/>
                  </a:lnTo>
                  <a:close/>
                  <a:moveTo>
                    <a:pt x="153501" y="85777"/>
                  </a:moveTo>
                  <a:lnTo>
                    <a:pt x="130819" y="67614"/>
                  </a:lnTo>
                  <a:cubicBezTo>
                    <a:pt x="114824" y="80711"/>
                    <a:pt x="94516" y="82438"/>
                    <a:pt x="77687" y="71706"/>
                  </a:cubicBezTo>
                  <a:cubicBezTo>
                    <a:pt x="74333" y="69573"/>
                    <a:pt x="72130" y="66033"/>
                    <a:pt x="71697" y="62083"/>
                  </a:cubicBezTo>
                  <a:cubicBezTo>
                    <a:pt x="71264" y="58132"/>
                    <a:pt x="72648" y="54199"/>
                    <a:pt x="75460" y="51390"/>
                  </a:cubicBezTo>
                  <a:cubicBezTo>
                    <a:pt x="75480" y="51366"/>
                    <a:pt x="75502" y="51344"/>
                    <a:pt x="75526" y="51324"/>
                  </a:cubicBezTo>
                  <a:lnTo>
                    <a:pt x="112246" y="15709"/>
                  </a:lnTo>
                  <a:lnTo>
                    <a:pt x="104388" y="13466"/>
                  </a:lnTo>
                  <a:lnTo>
                    <a:pt x="63116" y="25262"/>
                  </a:lnTo>
                  <a:lnTo>
                    <a:pt x="40712" y="70061"/>
                  </a:lnTo>
                  <a:lnTo>
                    <a:pt x="80985" y="98833"/>
                  </a:lnTo>
                  <a:lnTo>
                    <a:pt x="128576" y="110727"/>
                  </a:lnTo>
                  <a:close/>
                  <a:moveTo>
                    <a:pt x="193807" y="56113"/>
                  </a:moveTo>
                  <a:lnTo>
                    <a:pt x="173490" y="15439"/>
                  </a:lnTo>
                  <a:lnTo>
                    <a:pt x="159010" y="22683"/>
                  </a:lnTo>
                  <a:lnTo>
                    <a:pt x="179351" y="63357"/>
                  </a:lnTo>
                  <a:close/>
                </a:path>
              </a:pathLst>
            </a:custGeom>
            <a:solidFill>
              <a:srgbClr val="1565C0"/>
            </a:solidFill>
            <a:ln>
              <a:noFill/>
            </a:ln>
          </p:spPr>
        </p:sp>
      </p:grpSp>
      <p:sp>
        <p:nvSpPr>
          <p:cNvPr id="40" name="TextBox 40"/>
          <p:cNvSpPr txBox="1"/>
          <p:nvPr/>
        </p:nvSpPr>
        <p:spPr>
          <a:xfrm>
            <a:off x="7127558" y="2167414"/>
            <a:ext cx="996405"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1. 契约先行</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6823710" y="2423160"/>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在开始编码前定义清晰的接口契约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6824662" y="2621756"/>
            <a:ext cx="299894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输入/输出/异常条件 —— 显式化所有隐性约束</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6667500" y="3000375"/>
            <a:ext cx="4667250" cy="904875"/>
          </a:xfrm>
          <a:prstGeom prst="roundRect">
            <a:avLst>
              <a:gd name="adj" fmla="val 8421"/>
            </a:avLst>
          </a:prstGeom>
          <a:solidFill>
            <a:srgbClr val="E8F5E9"/>
          </a:solidFill>
          <a:ln>
            <a:noFill/>
          </a:ln>
        </p:spPr>
      </p:sp>
      <p:grpSp>
        <p:nvGrpSpPr>
          <p:cNvPr id="46" name="Group 46"/>
          <p:cNvGrpSpPr/>
          <p:nvPr/>
        </p:nvGrpSpPr>
        <p:grpSpPr>
          <a:xfrm>
            <a:off x="6865144" y="3223617"/>
            <a:ext cx="157162" cy="163934"/>
            <a:chOff x="6865144" y="3223617"/>
            <a:chExt cx="157162" cy="163934"/>
          </a:xfrm>
        </p:grpSpPr>
        <p:sp>
          <p:nvSpPr>
            <p:cNvPr id="44" name="Freeform 44"/>
            <p:cNvSpPr/>
            <p:nvPr/>
          </p:nvSpPr>
          <p:spPr>
            <a:xfrm>
              <a:off x="6871692" y="3230166"/>
              <a:ext cx="144066" cy="150712"/>
            </a:xfrm>
            <a:custGeom>
              <a:avLst/>
              <a:gdLst/>
              <a:ahLst/>
              <a:cxnLst/>
              <a:rect l="l" t="t" r="r" b="b"/>
              <a:pathLst>
                <a:path w="144066" h="150712">
                  <a:moveTo>
                    <a:pt x="144066" y="6548"/>
                  </a:moveTo>
                  <a:lnTo>
                    <a:pt x="144066" y="54655"/>
                  </a:lnTo>
                  <a:cubicBezTo>
                    <a:pt x="144066" y="123561"/>
                    <a:pt x="85694" y="146390"/>
                    <a:pt x="74046" y="150262"/>
                  </a:cubicBezTo>
                  <a:cubicBezTo>
                    <a:pt x="72742" y="150712"/>
                    <a:pt x="71324" y="150712"/>
                    <a:pt x="70019" y="150262"/>
                  </a:cubicBezTo>
                  <a:cubicBezTo>
                    <a:pt x="58371" y="146407"/>
                    <a:pt x="0" y="123602"/>
                    <a:pt x="0" y="54671"/>
                  </a:cubicBezTo>
                  <a:lnTo>
                    <a:pt x="0" y="6548"/>
                  </a:lnTo>
                  <a:cubicBezTo>
                    <a:pt x="0" y="2932"/>
                    <a:pt x="2932" y="0"/>
                    <a:pt x="6548" y="0"/>
                  </a:cubicBezTo>
                  <a:lnTo>
                    <a:pt x="137517" y="0"/>
                  </a:lnTo>
                  <a:cubicBezTo>
                    <a:pt x="141134" y="0"/>
                    <a:pt x="144066" y="2932"/>
                    <a:pt x="144066" y="6548"/>
                  </a:cubicBezTo>
                  <a:close/>
                </a:path>
              </a:pathLst>
            </a:custGeom>
            <a:solidFill>
              <a:srgbClr val="2E7D32">
                <a:alpha val="20000"/>
              </a:srgbClr>
            </a:solidFill>
            <a:ln>
              <a:noFill/>
            </a:ln>
          </p:spPr>
        </p:sp>
        <p:sp>
          <p:nvSpPr>
            <p:cNvPr id="45" name="Freeform 45"/>
            <p:cNvSpPr/>
            <p:nvPr/>
          </p:nvSpPr>
          <p:spPr>
            <a:xfrm>
              <a:off x="6865144" y="3223617"/>
              <a:ext cx="157162" cy="163934"/>
            </a:xfrm>
            <a:custGeom>
              <a:avLst/>
              <a:gdLst/>
              <a:ahLst/>
              <a:cxnLst/>
              <a:rect l="l" t="t" r="r" b="b"/>
              <a:pathLst>
                <a:path w="157162" h="163934">
                  <a:moveTo>
                    <a:pt x="144066" y="0"/>
                  </a:moveTo>
                  <a:lnTo>
                    <a:pt x="13097" y="0"/>
                  </a:lnTo>
                  <a:cubicBezTo>
                    <a:pt x="5864" y="0"/>
                    <a:pt x="0" y="5864"/>
                    <a:pt x="0" y="13097"/>
                  </a:cubicBezTo>
                  <a:lnTo>
                    <a:pt x="0" y="61212"/>
                  </a:lnTo>
                  <a:cubicBezTo>
                    <a:pt x="0" y="134562"/>
                    <a:pt x="62063" y="158898"/>
                    <a:pt x="74488" y="163032"/>
                  </a:cubicBezTo>
                  <a:cubicBezTo>
                    <a:pt x="77142" y="163934"/>
                    <a:pt x="80020" y="163934"/>
                    <a:pt x="82674" y="163032"/>
                  </a:cubicBezTo>
                  <a:cubicBezTo>
                    <a:pt x="95116" y="158898"/>
                    <a:pt x="157162" y="134562"/>
                    <a:pt x="157162" y="61212"/>
                  </a:cubicBezTo>
                  <a:lnTo>
                    <a:pt x="157162" y="13097"/>
                  </a:lnTo>
                  <a:cubicBezTo>
                    <a:pt x="157162" y="5864"/>
                    <a:pt x="151299" y="0"/>
                    <a:pt x="144066" y="0"/>
                  </a:cubicBezTo>
                  <a:close/>
                  <a:moveTo>
                    <a:pt x="144066" y="61220"/>
                  </a:moveTo>
                  <a:cubicBezTo>
                    <a:pt x="144066" y="125411"/>
                    <a:pt x="89755" y="146857"/>
                    <a:pt x="78581" y="150590"/>
                  </a:cubicBezTo>
                  <a:cubicBezTo>
                    <a:pt x="67506" y="146898"/>
                    <a:pt x="13097" y="125468"/>
                    <a:pt x="13097" y="61220"/>
                  </a:cubicBezTo>
                  <a:lnTo>
                    <a:pt x="13097" y="13097"/>
                  </a:lnTo>
                  <a:lnTo>
                    <a:pt x="144066" y="13097"/>
                  </a:lnTo>
                  <a:close/>
                  <a:moveTo>
                    <a:pt x="41206" y="83214"/>
                  </a:moveTo>
                  <a:cubicBezTo>
                    <a:pt x="38647" y="80656"/>
                    <a:pt x="38647" y="76507"/>
                    <a:pt x="41206" y="73948"/>
                  </a:cubicBezTo>
                  <a:cubicBezTo>
                    <a:pt x="43765" y="71389"/>
                    <a:pt x="47913" y="71389"/>
                    <a:pt x="50472" y="73948"/>
                  </a:cubicBezTo>
                  <a:lnTo>
                    <a:pt x="65484" y="88961"/>
                  </a:lnTo>
                  <a:lnTo>
                    <a:pt x="106690" y="47754"/>
                  </a:lnTo>
                  <a:cubicBezTo>
                    <a:pt x="109249" y="45196"/>
                    <a:pt x="113398" y="45196"/>
                    <a:pt x="115956" y="47754"/>
                  </a:cubicBezTo>
                  <a:cubicBezTo>
                    <a:pt x="118515" y="50313"/>
                    <a:pt x="118515" y="54462"/>
                    <a:pt x="115956" y="57021"/>
                  </a:cubicBezTo>
                  <a:lnTo>
                    <a:pt x="70117" y="102860"/>
                  </a:lnTo>
                  <a:cubicBezTo>
                    <a:pt x="68889" y="104089"/>
                    <a:pt x="67222" y="104780"/>
                    <a:pt x="65484" y="104780"/>
                  </a:cubicBezTo>
                  <a:cubicBezTo>
                    <a:pt x="63746" y="104780"/>
                    <a:pt x="62080" y="104089"/>
                    <a:pt x="60851" y="102860"/>
                  </a:cubicBezTo>
                  <a:close/>
                </a:path>
              </a:pathLst>
            </a:custGeom>
            <a:solidFill>
              <a:srgbClr val="2E7D32"/>
            </a:solidFill>
            <a:ln>
              <a:noFill/>
            </a:ln>
          </p:spPr>
        </p:sp>
      </p:grpSp>
      <p:sp>
        <p:nvSpPr>
          <p:cNvPr id="47" name="TextBox 47"/>
          <p:cNvSpPr txBox="1"/>
          <p:nvPr/>
        </p:nvSpPr>
        <p:spPr>
          <a:xfrm>
            <a:off x="7127558" y="3215164"/>
            <a:ext cx="1531972"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2. 回归测试护城河</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823710" y="34709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每次变更都跑完整回归测试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6824662" y="3669506"/>
            <a:ext cx="2721412"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自动化的安全网，让AI的"健忘"无处遁形</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0" name="Rectangle 50"/>
          <p:cNvSpPr/>
          <p:nvPr/>
        </p:nvSpPr>
        <p:spPr>
          <a:xfrm>
            <a:off x="6667500" y="4048125"/>
            <a:ext cx="4667250" cy="904875"/>
          </a:xfrm>
          <a:prstGeom prst="roundRect">
            <a:avLst>
              <a:gd name="adj" fmla="val 8421"/>
            </a:avLst>
          </a:prstGeom>
          <a:solidFill>
            <a:srgbClr val="FFF3E0"/>
          </a:solidFill>
          <a:ln>
            <a:noFill/>
          </a:ln>
        </p:spPr>
      </p:sp>
      <p:grpSp>
        <p:nvGrpSpPr>
          <p:cNvPr id="53" name="Group 53"/>
          <p:cNvGrpSpPr/>
          <p:nvPr/>
        </p:nvGrpSpPr>
        <p:grpSpPr>
          <a:xfrm>
            <a:off x="6857732" y="4251425"/>
            <a:ext cx="172032" cy="183949"/>
            <a:chOff x="6857732" y="4251425"/>
            <a:chExt cx="172032" cy="183949"/>
          </a:xfrm>
        </p:grpSpPr>
        <p:sp>
          <p:nvSpPr>
            <p:cNvPr id="51" name="Freeform 51"/>
            <p:cNvSpPr/>
            <p:nvPr/>
          </p:nvSpPr>
          <p:spPr>
            <a:xfrm>
              <a:off x="6865144" y="4258270"/>
              <a:ext cx="157162" cy="91678"/>
            </a:xfrm>
            <a:custGeom>
              <a:avLst/>
              <a:gdLst/>
              <a:ahLst/>
              <a:cxnLst/>
              <a:rect l="l" t="t" r="r" b="b"/>
              <a:pathLst>
                <a:path w="157162" h="91678">
                  <a:moveTo>
                    <a:pt x="157162" y="45839"/>
                  </a:moveTo>
                  <a:lnTo>
                    <a:pt x="78581" y="91678"/>
                  </a:lnTo>
                  <a:lnTo>
                    <a:pt x="0" y="45839"/>
                  </a:lnTo>
                  <a:lnTo>
                    <a:pt x="78581" y="0"/>
                  </a:lnTo>
                  <a:close/>
                </a:path>
              </a:pathLst>
            </a:custGeom>
            <a:solidFill>
              <a:srgbClr val="FF6F00">
                <a:alpha val="20000"/>
              </a:srgbClr>
            </a:solidFill>
            <a:ln>
              <a:noFill/>
            </a:ln>
          </p:spPr>
        </p:sp>
        <p:sp>
          <p:nvSpPr>
            <p:cNvPr id="52" name="Freeform 52"/>
            <p:cNvSpPr/>
            <p:nvPr/>
          </p:nvSpPr>
          <p:spPr>
            <a:xfrm>
              <a:off x="6857732" y="4251425"/>
              <a:ext cx="172032" cy="183949"/>
            </a:xfrm>
            <a:custGeom>
              <a:avLst/>
              <a:gdLst/>
              <a:ahLst/>
              <a:cxnLst/>
              <a:rect l="l" t="t" r="r" b="b"/>
              <a:pathLst>
                <a:path w="172032" h="183949">
                  <a:moveTo>
                    <a:pt x="170231" y="127991"/>
                  </a:moveTo>
                  <a:cubicBezTo>
                    <a:pt x="172032" y="131116"/>
                    <a:pt x="170967" y="135109"/>
                    <a:pt x="167849" y="136922"/>
                  </a:cubicBezTo>
                  <a:lnTo>
                    <a:pt x="89268" y="182761"/>
                  </a:lnTo>
                  <a:cubicBezTo>
                    <a:pt x="87229" y="183949"/>
                    <a:pt x="84709" y="183949"/>
                    <a:pt x="82670" y="182761"/>
                  </a:cubicBezTo>
                  <a:lnTo>
                    <a:pt x="4089" y="136922"/>
                  </a:lnTo>
                  <a:cubicBezTo>
                    <a:pt x="1018" y="135076"/>
                    <a:pt x="0" y="131105"/>
                    <a:pt x="1805" y="128009"/>
                  </a:cubicBezTo>
                  <a:cubicBezTo>
                    <a:pt x="3610" y="124914"/>
                    <a:pt x="7568" y="123845"/>
                    <a:pt x="10686" y="125609"/>
                  </a:cubicBezTo>
                  <a:lnTo>
                    <a:pt x="85993" y="169525"/>
                  </a:lnTo>
                  <a:lnTo>
                    <a:pt x="161301" y="125609"/>
                  </a:lnTo>
                  <a:cubicBezTo>
                    <a:pt x="164425" y="123808"/>
                    <a:pt x="168418" y="124873"/>
                    <a:pt x="170231" y="127991"/>
                  </a:cubicBezTo>
                  <a:close/>
                  <a:moveTo>
                    <a:pt x="161301" y="86318"/>
                  </a:moveTo>
                  <a:lnTo>
                    <a:pt x="85993" y="130234"/>
                  </a:lnTo>
                  <a:lnTo>
                    <a:pt x="10686" y="86318"/>
                  </a:lnTo>
                  <a:cubicBezTo>
                    <a:pt x="7592" y="84778"/>
                    <a:pt x="3832" y="85908"/>
                    <a:pt x="2100" y="88900"/>
                  </a:cubicBezTo>
                  <a:cubicBezTo>
                    <a:pt x="368" y="91892"/>
                    <a:pt x="1261" y="95715"/>
                    <a:pt x="4138" y="97631"/>
                  </a:cubicBezTo>
                  <a:lnTo>
                    <a:pt x="82719" y="143470"/>
                  </a:lnTo>
                  <a:cubicBezTo>
                    <a:pt x="84758" y="144659"/>
                    <a:pt x="87278" y="144659"/>
                    <a:pt x="89317" y="143470"/>
                  </a:cubicBezTo>
                  <a:lnTo>
                    <a:pt x="167898" y="97631"/>
                  </a:lnTo>
                  <a:cubicBezTo>
                    <a:pt x="169952" y="96469"/>
                    <a:pt x="171222" y="94291"/>
                    <a:pt x="171222" y="91931"/>
                  </a:cubicBezTo>
                  <a:cubicBezTo>
                    <a:pt x="171222" y="89571"/>
                    <a:pt x="169952" y="87394"/>
                    <a:pt x="167898" y="86232"/>
                  </a:cubicBezTo>
                  <a:cubicBezTo>
                    <a:pt x="165844" y="85070"/>
                    <a:pt x="163323" y="85103"/>
                    <a:pt x="161301" y="86318"/>
                  </a:cubicBezTo>
                  <a:close/>
                  <a:moveTo>
                    <a:pt x="864" y="52684"/>
                  </a:moveTo>
                  <a:cubicBezTo>
                    <a:pt x="869" y="50350"/>
                    <a:pt x="2117" y="48195"/>
                    <a:pt x="4138" y="47028"/>
                  </a:cubicBezTo>
                  <a:lnTo>
                    <a:pt x="82719" y="1189"/>
                  </a:lnTo>
                  <a:cubicBezTo>
                    <a:pt x="84758" y="0"/>
                    <a:pt x="87278" y="0"/>
                    <a:pt x="89317" y="1189"/>
                  </a:cubicBezTo>
                  <a:lnTo>
                    <a:pt x="167898" y="47028"/>
                  </a:lnTo>
                  <a:cubicBezTo>
                    <a:pt x="169910" y="48201"/>
                    <a:pt x="171147" y="50355"/>
                    <a:pt x="171147" y="52684"/>
                  </a:cubicBezTo>
                  <a:cubicBezTo>
                    <a:pt x="171147" y="55013"/>
                    <a:pt x="169910" y="57167"/>
                    <a:pt x="167898" y="58340"/>
                  </a:cubicBezTo>
                  <a:lnTo>
                    <a:pt x="89317" y="104179"/>
                  </a:lnTo>
                  <a:cubicBezTo>
                    <a:pt x="87278" y="105368"/>
                    <a:pt x="84758" y="105368"/>
                    <a:pt x="82719" y="104179"/>
                  </a:cubicBezTo>
                  <a:lnTo>
                    <a:pt x="4138" y="58340"/>
                  </a:lnTo>
                  <a:cubicBezTo>
                    <a:pt x="2117" y="57173"/>
                    <a:pt x="869" y="55018"/>
                    <a:pt x="864" y="52684"/>
                  </a:cubicBezTo>
                  <a:close/>
                  <a:moveTo>
                    <a:pt x="20411" y="52684"/>
                  </a:moveTo>
                  <a:lnTo>
                    <a:pt x="85993" y="90943"/>
                  </a:lnTo>
                  <a:lnTo>
                    <a:pt x="151576" y="52684"/>
                  </a:lnTo>
                  <a:lnTo>
                    <a:pt x="85993" y="14425"/>
                  </a:lnTo>
                  <a:close/>
                </a:path>
              </a:pathLst>
            </a:custGeom>
            <a:solidFill>
              <a:srgbClr val="FF6F00"/>
            </a:solidFill>
            <a:ln>
              <a:noFill/>
            </a:ln>
          </p:spPr>
        </p:sp>
      </p:grpSp>
      <p:sp>
        <p:nvSpPr>
          <p:cNvPr id="54" name="TextBox 54"/>
          <p:cNvSpPr txBox="1"/>
          <p:nvPr/>
        </p:nvSpPr>
        <p:spPr>
          <a:xfrm>
            <a:off x="7127558" y="4262914"/>
            <a:ext cx="1174928"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3. 原子化提交</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6823710" y="451866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每次只提交一个独立的功能变更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6824662" y="4717256"/>
            <a:ext cx="227135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变更越小，AI"翻车"的影响面越小</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7" name="Rectangle 57"/>
          <p:cNvSpPr/>
          <p:nvPr/>
        </p:nvSpPr>
        <p:spPr>
          <a:xfrm>
            <a:off x="6667500" y="5143500"/>
            <a:ext cx="4667250" cy="428625"/>
          </a:xfrm>
          <a:prstGeom prst="roundRect">
            <a:avLst>
              <a:gd name="adj" fmla="val 17778"/>
            </a:avLst>
          </a:prstGeom>
          <a:solidFill>
            <a:srgbClr val="1565C0"/>
          </a:solidFill>
          <a:ln>
            <a:noFill/>
          </a:ln>
        </p:spPr>
      </p:sp>
      <p:sp>
        <p:nvSpPr>
          <p:cNvPr id="58" name="TextBox 58"/>
          <p:cNvSpPr txBox="1"/>
          <p:nvPr/>
        </p:nvSpPr>
        <p:spPr>
          <a:xfrm>
            <a:off x="6877221" y="5290185"/>
            <a:ext cx="424780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最优策略：不是"先随便写再慢慢改"，而是力争一次成功</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1" name="图片 6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25145" y="214630"/>
            <a:ext cx="4011930" cy="4254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AI编程要小步快跑，步步为营</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057680" y="1052989"/>
            <a:ext cx="6076640"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把复杂需求拆解为小到可验证的任务 —— 人类定流程、拆任务，AI做执行、写代码</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3619500"/>
          </a:xfrm>
          <a:prstGeom prst="roundRect">
            <a:avLst>
              <a:gd name="adj" fmla="val 3158"/>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C62828"/>
          </a:solidFill>
          <a:ln>
            <a:noFill/>
          </a:ln>
        </p:spPr>
      </p:sp>
      <p:grpSp>
        <p:nvGrpSpPr>
          <p:cNvPr id="14" name="Group 14"/>
          <p:cNvGrpSpPr/>
          <p:nvPr/>
        </p:nvGrpSpPr>
        <p:grpSpPr>
          <a:xfrm>
            <a:off x="853743" y="1644252"/>
            <a:ext cx="235608" cy="208455"/>
            <a:chOff x="853743" y="1644252"/>
            <a:chExt cx="235608" cy="208455"/>
          </a:xfrm>
        </p:grpSpPr>
        <p:sp>
          <p:nvSpPr>
            <p:cNvPr id="12" name="Freeform 12"/>
            <p:cNvSpPr/>
            <p:nvPr/>
          </p:nvSpPr>
          <p:spPr>
            <a:xfrm>
              <a:off x="859036" y="1649691"/>
              <a:ext cx="225028" cy="194587"/>
            </a:xfrm>
            <a:custGeom>
              <a:avLst/>
              <a:gdLst/>
              <a:ahLst/>
              <a:cxnLst/>
              <a:rect l="l" t="t" r="r" b="b"/>
              <a:pathLst>
                <a:path w="225028" h="194587">
                  <a:moveTo>
                    <a:pt x="203630" y="194587"/>
                  </a:moveTo>
                  <a:lnTo>
                    <a:pt x="21399" y="194587"/>
                  </a:lnTo>
                  <a:cubicBezTo>
                    <a:pt x="8251" y="194587"/>
                    <a:pt x="0" y="180825"/>
                    <a:pt x="6386" y="169677"/>
                  </a:cubicBezTo>
                  <a:lnTo>
                    <a:pt x="97502" y="11460"/>
                  </a:lnTo>
                  <a:cubicBezTo>
                    <a:pt x="104065" y="0"/>
                    <a:pt x="120963" y="0"/>
                    <a:pt x="127526" y="11460"/>
                  </a:cubicBezTo>
                  <a:lnTo>
                    <a:pt x="218642" y="169677"/>
                  </a:lnTo>
                  <a:cubicBezTo>
                    <a:pt x="225028" y="180825"/>
                    <a:pt x="216777" y="194587"/>
                    <a:pt x="203630" y="194587"/>
                  </a:cubicBezTo>
                  <a:close/>
                </a:path>
              </a:pathLst>
            </a:custGeom>
            <a:solidFill>
              <a:srgbClr val="C62828">
                <a:alpha val="20000"/>
              </a:srgbClr>
            </a:solidFill>
            <a:ln>
              <a:noFill/>
            </a:ln>
          </p:spPr>
        </p:sp>
        <p:sp>
          <p:nvSpPr>
            <p:cNvPr id="13" name="Freeform 13"/>
            <p:cNvSpPr/>
            <p:nvPr/>
          </p:nvSpPr>
          <p:spPr>
            <a:xfrm>
              <a:off x="853743" y="1644252"/>
              <a:ext cx="235608" cy="208455"/>
            </a:xfrm>
            <a:custGeom>
              <a:avLst/>
              <a:gdLst/>
              <a:ahLst/>
              <a:cxnLst/>
              <a:rect l="l" t="t" r="r" b="b"/>
              <a:pathLst>
                <a:path w="235608" h="208455">
                  <a:moveTo>
                    <a:pt x="231155" y="170949"/>
                  </a:moveTo>
                  <a:lnTo>
                    <a:pt x="140050" y="12731"/>
                  </a:lnTo>
                  <a:lnTo>
                    <a:pt x="140050" y="12731"/>
                  </a:lnTo>
                  <a:cubicBezTo>
                    <a:pt x="135417" y="4844"/>
                    <a:pt x="126954" y="0"/>
                    <a:pt x="117807" y="0"/>
                  </a:cubicBezTo>
                  <a:cubicBezTo>
                    <a:pt x="108660" y="0"/>
                    <a:pt x="100197" y="4844"/>
                    <a:pt x="95565" y="12731"/>
                  </a:cubicBezTo>
                  <a:lnTo>
                    <a:pt x="4460" y="170949"/>
                  </a:lnTo>
                  <a:cubicBezTo>
                    <a:pt x="0" y="178583"/>
                    <a:pt x="0" y="188027"/>
                    <a:pt x="4460" y="195661"/>
                  </a:cubicBezTo>
                  <a:cubicBezTo>
                    <a:pt x="9036" y="203601"/>
                    <a:pt x="17539" y="208455"/>
                    <a:pt x="26702" y="208360"/>
                  </a:cubicBezTo>
                  <a:lnTo>
                    <a:pt x="208913" y="208360"/>
                  </a:lnTo>
                  <a:cubicBezTo>
                    <a:pt x="218069" y="208448"/>
                    <a:pt x="226562" y="203594"/>
                    <a:pt x="231134" y="195661"/>
                  </a:cubicBezTo>
                  <a:cubicBezTo>
                    <a:pt x="235600" y="188031"/>
                    <a:pt x="235608" y="178586"/>
                    <a:pt x="231155" y="170949"/>
                  </a:cubicBezTo>
                  <a:close/>
                  <a:moveTo>
                    <a:pt x="216705" y="187316"/>
                  </a:moveTo>
                  <a:cubicBezTo>
                    <a:pt x="215088" y="190074"/>
                    <a:pt x="212110" y="191747"/>
                    <a:pt x="208913" y="191691"/>
                  </a:cubicBezTo>
                  <a:lnTo>
                    <a:pt x="26702" y="191691"/>
                  </a:lnTo>
                  <a:cubicBezTo>
                    <a:pt x="23505" y="191747"/>
                    <a:pt x="20527" y="190074"/>
                    <a:pt x="18910" y="187316"/>
                  </a:cubicBezTo>
                  <a:cubicBezTo>
                    <a:pt x="17444" y="184835"/>
                    <a:pt x="17444" y="181754"/>
                    <a:pt x="18910" y="179273"/>
                  </a:cubicBezTo>
                  <a:lnTo>
                    <a:pt x="110015" y="21055"/>
                  </a:lnTo>
                  <a:cubicBezTo>
                    <a:pt x="111663" y="18313"/>
                    <a:pt x="114628" y="16635"/>
                    <a:pt x="117828" y="16635"/>
                  </a:cubicBezTo>
                  <a:cubicBezTo>
                    <a:pt x="121028" y="16635"/>
                    <a:pt x="123994" y="18313"/>
                    <a:pt x="125642" y="21055"/>
                  </a:cubicBezTo>
                  <a:lnTo>
                    <a:pt x="216747" y="179273"/>
                  </a:lnTo>
                  <a:cubicBezTo>
                    <a:pt x="218199" y="181761"/>
                    <a:pt x="218183" y="184843"/>
                    <a:pt x="216705" y="187316"/>
                  </a:cubicBezTo>
                  <a:close/>
                  <a:moveTo>
                    <a:pt x="109473" y="125016"/>
                  </a:moveTo>
                  <a:lnTo>
                    <a:pt x="109473" y="83344"/>
                  </a:lnTo>
                  <a:cubicBezTo>
                    <a:pt x="109473" y="78741"/>
                    <a:pt x="113204" y="75010"/>
                    <a:pt x="117807" y="75010"/>
                  </a:cubicBezTo>
                  <a:cubicBezTo>
                    <a:pt x="122410" y="75010"/>
                    <a:pt x="126142" y="78741"/>
                    <a:pt x="126142" y="83344"/>
                  </a:cubicBezTo>
                  <a:lnTo>
                    <a:pt x="126142" y="125016"/>
                  </a:lnTo>
                  <a:cubicBezTo>
                    <a:pt x="126142" y="129619"/>
                    <a:pt x="122410" y="133351"/>
                    <a:pt x="117807" y="133351"/>
                  </a:cubicBezTo>
                  <a:cubicBezTo>
                    <a:pt x="113204" y="133351"/>
                    <a:pt x="109473" y="129619"/>
                    <a:pt x="109473" y="125016"/>
                  </a:cubicBezTo>
                  <a:close/>
                  <a:moveTo>
                    <a:pt x="130309" y="162521"/>
                  </a:moveTo>
                  <a:cubicBezTo>
                    <a:pt x="130309" y="169425"/>
                    <a:pt x="124712" y="175023"/>
                    <a:pt x="117807" y="175023"/>
                  </a:cubicBezTo>
                  <a:cubicBezTo>
                    <a:pt x="110903" y="175023"/>
                    <a:pt x="105306" y="169425"/>
                    <a:pt x="105306" y="162521"/>
                  </a:cubicBezTo>
                  <a:cubicBezTo>
                    <a:pt x="105306" y="155617"/>
                    <a:pt x="110903" y="150019"/>
                    <a:pt x="117807" y="150019"/>
                  </a:cubicBezTo>
                  <a:cubicBezTo>
                    <a:pt x="124712" y="150019"/>
                    <a:pt x="130309" y="155617"/>
                    <a:pt x="130309" y="162521"/>
                  </a:cubicBezTo>
                  <a:close/>
                </a:path>
              </a:pathLst>
            </a:custGeom>
            <a:solidFill>
              <a:srgbClr val="C62828"/>
            </a:solidFill>
            <a:ln>
              <a:noFill/>
            </a:ln>
          </p:spPr>
        </p:sp>
      </p:grpSp>
      <p:sp>
        <p:nvSpPr>
          <p:cNvPr id="15" name="TextBox 15"/>
          <p:cNvSpPr txBox="1"/>
          <p:nvPr/>
        </p:nvSpPr>
        <p:spPr>
          <a:xfrm>
            <a:off x="1196340" y="1634490"/>
            <a:ext cx="3536356" cy="365760"/>
          </a:xfrm>
          <a:prstGeom prst="rect">
            <a:avLst/>
          </a:prstGeom>
          <a:noFill/>
          <a:ln>
            <a:noFill/>
          </a:ln>
        </p:spPr>
        <p:txBody>
          <a:bodyPr wrap="none" lIns="0" tIns="0" rIns="0" bIns="0" anchor="t" anchorCtr="0">
            <a:spAutoFit/>
          </a:bodyPr>
          <a:lstStyle/>
          <a:p>
            <a:pPr algn="l"/>
            <a:r>
              <a:rPr lang="zh-CN" sz="1800" b="1" dirty="0">
                <a:solidFill>
                  <a:srgbClr val="C62828"/>
                </a:solidFill>
                <a:latin typeface="Segoe UI" panose="020B0502040204020203"/>
                <a:ea typeface="微软雅黑" panose="020B0503020204020204" charset="-122"/>
                <a:cs typeface="Segoe UI" panose="020B0502040204020203"/>
              </a:rPr>
              <a:t>为什么大需求直接给AI注定失败</a:t>
            </a:r>
            <a:endParaRPr lang="zh-CN" sz="1800" b="1" dirty="0">
              <a:solidFill>
                <a:srgbClr val="C6282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95500"/>
            <a:ext cx="4800600" cy="571500"/>
          </a:xfrm>
          <a:prstGeom prst="roundRect">
            <a:avLst>
              <a:gd name="adj" fmla="val 10000"/>
            </a:avLst>
          </a:prstGeom>
          <a:solidFill>
            <a:srgbClr val="FFEBEE"/>
          </a:solidFill>
          <a:ln>
            <a:noFill/>
          </a:ln>
        </p:spPr>
      </p:sp>
      <p:sp>
        <p:nvSpPr>
          <p:cNvPr id="17" name="TextBox 17"/>
          <p:cNvSpPr txBox="1"/>
          <p:nvPr/>
        </p:nvSpPr>
        <p:spPr>
          <a:xfrm>
            <a:off x="976312" y="22121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原因1</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509712" y="2212181"/>
            <a:ext cx="431161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AI是语言模型而非逻辑引擎 —— 无法自主规划复杂任务的执行顺序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38200" y="2781300"/>
            <a:ext cx="4800600" cy="571500"/>
          </a:xfrm>
          <a:prstGeom prst="roundRect">
            <a:avLst>
              <a:gd name="adj" fmla="val 10000"/>
            </a:avLst>
          </a:prstGeom>
          <a:solidFill>
            <a:srgbClr val="FFEBEE"/>
          </a:solidFill>
          <a:ln>
            <a:noFill/>
          </a:ln>
        </p:spPr>
      </p:sp>
      <p:sp>
        <p:nvSpPr>
          <p:cNvPr id="20" name="TextBox 20"/>
          <p:cNvSpPr txBox="1"/>
          <p:nvPr/>
        </p:nvSpPr>
        <p:spPr>
          <a:xfrm>
            <a:off x="976312" y="28979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原因2</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509712" y="2897981"/>
            <a:ext cx="401157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AI缺乏真实执行环境 —— 无法通过运行代码来验证自己的输出</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38200" y="3467100"/>
            <a:ext cx="4800600" cy="571500"/>
          </a:xfrm>
          <a:prstGeom prst="roundRect">
            <a:avLst>
              <a:gd name="adj" fmla="val 10000"/>
            </a:avLst>
          </a:prstGeom>
          <a:solidFill>
            <a:srgbClr val="FFEBEE"/>
          </a:solidFill>
          <a:ln>
            <a:noFill/>
          </a:ln>
        </p:spPr>
      </p:sp>
      <p:sp>
        <p:nvSpPr>
          <p:cNvPr id="23" name="TextBox 23"/>
          <p:cNvSpPr txBox="1"/>
          <p:nvPr/>
        </p:nvSpPr>
        <p:spPr>
          <a:xfrm>
            <a:off x="976312" y="35837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原因3</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1509712" y="3583781"/>
            <a:ext cx="29839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上下文窗口限制 —— 超过窗口的内容会被遗忘</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38200" y="4152900"/>
            <a:ext cx="4800600" cy="571500"/>
          </a:xfrm>
          <a:prstGeom prst="roundRect">
            <a:avLst>
              <a:gd name="adj" fmla="val 10000"/>
            </a:avLst>
          </a:prstGeom>
          <a:solidFill>
            <a:srgbClr val="FFEBEE"/>
          </a:solidFill>
          <a:ln>
            <a:noFill/>
          </a:ln>
        </p:spPr>
      </p:sp>
      <p:sp>
        <p:nvSpPr>
          <p:cNvPr id="26" name="TextBox 26"/>
          <p:cNvSpPr txBox="1"/>
          <p:nvPr/>
        </p:nvSpPr>
        <p:spPr>
          <a:xfrm>
            <a:off x="976312" y="42695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原因4</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1509712" y="4269581"/>
            <a:ext cx="417659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训练数据"平均化"陷阱 —— AI倾向给出最常见而非最合适的方案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286500" y="1428750"/>
            <a:ext cx="5334000" cy="3619500"/>
          </a:xfrm>
          <a:prstGeom prst="roundRect">
            <a:avLst>
              <a:gd name="adj" fmla="val 3158"/>
            </a:avLst>
          </a:prstGeom>
          <a:solidFill>
            <a:srgbClr val="FFFFFF"/>
          </a:solidFill>
          <a:ln w="9525">
            <a:solidFill>
              <a:srgbClr val="CFD8DC"/>
            </a:solidFill>
          </a:ln>
        </p:spPr>
      </p:sp>
      <p:sp>
        <p:nvSpPr>
          <p:cNvPr id="29" name="Rectangle 29"/>
          <p:cNvSpPr/>
          <p:nvPr/>
        </p:nvSpPr>
        <p:spPr>
          <a:xfrm>
            <a:off x="6286500" y="1428750"/>
            <a:ext cx="5334000" cy="38100"/>
          </a:xfrm>
          <a:prstGeom prst="roundRect">
            <a:avLst>
              <a:gd name="adj" fmla="val 50000"/>
            </a:avLst>
          </a:prstGeom>
          <a:solidFill>
            <a:srgbClr val="2E7D32"/>
          </a:solidFill>
          <a:ln>
            <a:noFill/>
          </a:ln>
        </p:spPr>
      </p:sp>
      <p:grpSp>
        <p:nvGrpSpPr>
          <p:cNvPr id="32" name="Group 32"/>
          <p:cNvGrpSpPr/>
          <p:nvPr/>
        </p:nvGrpSpPr>
        <p:grpSpPr>
          <a:xfrm>
            <a:off x="6578203" y="1644253"/>
            <a:ext cx="216694" cy="216694"/>
            <a:chOff x="6578203" y="1644253"/>
            <a:chExt cx="216694" cy="216694"/>
          </a:xfrm>
        </p:grpSpPr>
        <p:sp>
          <p:nvSpPr>
            <p:cNvPr id="30" name="Freeform 30"/>
            <p:cNvSpPr/>
            <p:nvPr/>
          </p:nvSpPr>
          <p:spPr>
            <a:xfrm>
              <a:off x="6586538" y="1652588"/>
              <a:ext cx="200025" cy="200025"/>
            </a:xfrm>
            <a:custGeom>
              <a:avLst/>
              <a:gdLst/>
              <a:ahLst/>
              <a:cxnLst/>
              <a:rect l="l" t="t" r="r" b="b"/>
              <a:pathLst>
                <a:path w="200025" h="200025">
                  <a:moveTo>
                    <a:pt x="200025" y="100012"/>
                  </a:moveTo>
                  <a:cubicBezTo>
                    <a:pt x="200025" y="155248"/>
                    <a:pt x="155248" y="200025"/>
                    <a:pt x="100012" y="200025"/>
                  </a:cubicBezTo>
                  <a:cubicBezTo>
                    <a:pt x="44777" y="200025"/>
                    <a:pt x="0" y="155248"/>
                    <a:pt x="0" y="100012"/>
                  </a:cubicBezTo>
                  <a:cubicBezTo>
                    <a:pt x="0" y="44777"/>
                    <a:pt x="44777" y="0"/>
                    <a:pt x="100012" y="0"/>
                  </a:cubicBezTo>
                  <a:cubicBezTo>
                    <a:pt x="155248" y="0"/>
                    <a:pt x="200025" y="44777"/>
                    <a:pt x="200025" y="100012"/>
                  </a:cubicBezTo>
                  <a:close/>
                </a:path>
              </a:pathLst>
            </a:custGeom>
            <a:solidFill>
              <a:srgbClr val="2E7D32">
                <a:alpha val="20000"/>
              </a:srgbClr>
            </a:solidFill>
            <a:ln>
              <a:noFill/>
            </a:ln>
          </p:spPr>
        </p:sp>
        <p:sp>
          <p:nvSpPr>
            <p:cNvPr id="31" name="Freeform 31"/>
            <p:cNvSpPr/>
            <p:nvPr/>
          </p:nvSpPr>
          <p:spPr>
            <a:xfrm>
              <a:off x="6578203" y="1644253"/>
              <a:ext cx="216694" cy="216694"/>
            </a:xfrm>
            <a:custGeom>
              <a:avLst/>
              <a:gdLst/>
              <a:ahLst/>
              <a:cxnLst/>
              <a:rect l="l" t="t" r="r" b="b"/>
              <a:pathLst>
                <a:path w="216694" h="216694">
                  <a:moveTo>
                    <a:pt x="155915" y="77447"/>
                  </a:moveTo>
                  <a:cubicBezTo>
                    <a:pt x="157480" y="79010"/>
                    <a:pt x="158360" y="81132"/>
                    <a:pt x="158360" y="83344"/>
                  </a:cubicBezTo>
                  <a:cubicBezTo>
                    <a:pt x="158360" y="85556"/>
                    <a:pt x="157480" y="87677"/>
                    <a:pt x="155915" y="89240"/>
                  </a:cubicBezTo>
                  <a:lnTo>
                    <a:pt x="97575" y="147581"/>
                  </a:lnTo>
                  <a:cubicBezTo>
                    <a:pt x="96011" y="149146"/>
                    <a:pt x="93890" y="150025"/>
                    <a:pt x="91678" y="150025"/>
                  </a:cubicBezTo>
                  <a:cubicBezTo>
                    <a:pt x="89466" y="150025"/>
                    <a:pt x="87345" y="149146"/>
                    <a:pt x="85782" y="147581"/>
                  </a:cubicBezTo>
                  <a:lnTo>
                    <a:pt x="60778" y="122578"/>
                  </a:lnTo>
                  <a:cubicBezTo>
                    <a:pt x="57522" y="119321"/>
                    <a:pt x="57522" y="114041"/>
                    <a:pt x="60778" y="110785"/>
                  </a:cubicBezTo>
                  <a:cubicBezTo>
                    <a:pt x="64035" y="107528"/>
                    <a:pt x="69315" y="107528"/>
                    <a:pt x="72572" y="110785"/>
                  </a:cubicBezTo>
                  <a:lnTo>
                    <a:pt x="91678" y="129902"/>
                  </a:lnTo>
                  <a:lnTo>
                    <a:pt x="144122" y="77447"/>
                  </a:lnTo>
                  <a:cubicBezTo>
                    <a:pt x="145685" y="75882"/>
                    <a:pt x="147807" y="75003"/>
                    <a:pt x="150019" y="75003"/>
                  </a:cubicBezTo>
                  <a:cubicBezTo>
                    <a:pt x="152231" y="75003"/>
                    <a:pt x="154352" y="75882"/>
                    <a:pt x="155915" y="77447"/>
                  </a:cubicBezTo>
                  <a:close/>
                  <a:moveTo>
                    <a:pt x="216694" y="108347"/>
                  </a:moveTo>
                  <a:cubicBezTo>
                    <a:pt x="216694" y="168185"/>
                    <a:pt x="168185" y="216694"/>
                    <a:pt x="108347" y="216694"/>
                  </a:cubicBezTo>
                  <a:cubicBezTo>
                    <a:pt x="48509" y="216694"/>
                    <a:pt x="0" y="168185"/>
                    <a:pt x="0" y="108347"/>
                  </a:cubicBezTo>
                  <a:cubicBezTo>
                    <a:pt x="0" y="48509"/>
                    <a:pt x="48509" y="0"/>
                    <a:pt x="108347" y="0"/>
                  </a:cubicBezTo>
                  <a:cubicBezTo>
                    <a:pt x="168159" y="63"/>
                    <a:pt x="216631" y="48535"/>
                    <a:pt x="216694" y="108347"/>
                  </a:cubicBezTo>
                  <a:close/>
                  <a:moveTo>
                    <a:pt x="200025" y="108347"/>
                  </a:moveTo>
                  <a:cubicBezTo>
                    <a:pt x="200025" y="57714"/>
                    <a:pt x="158979" y="16669"/>
                    <a:pt x="108347" y="16669"/>
                  </a:cubicBezTo>
                  <a:cubicBezTo>
                    <a:pt x="57714" y="16669"/>
                    <a:pt x="16669" y="57714"/>
                    <a:pt x="16669" y="108347"/>
                  </a:cubicBezTo>
                  <a:cubicBezTo>
                    <a:pt x="16669" y="158979"/>
                    <a:pt x="57714" y="200025"/>
                    <a:pt x="108347" y="200025"/>
                  </a:cubicBezTo>
                  <a:cubicBezTo>
                    <a:pt x="158956" y="199968"/>
                    <a:pt x="199968" y="158956"/>
                    <a:pt x="200025" y="108347"/>
                  </a:cubicBezTo>
                  <a:close/>
                </a:path>
              </a:pathLst>
            </a:custGeom>
            <a:solidFill>
              <a:srgbClr val="2E7D32"/>
            </a:solidFill>
            <a:ln>
              <a:noFill/>
            </a:ln>
          </p:spPr>
        </p:sp>
      </p:grpSp>
      <p:sp>
        <p:nvSpPr>
          <p:cNvPr id="33" name="TextBox 33"/>
          <p:cNvSpPr txBox="1"/>
          <p:nvPr/>
        </p:nvSpPr>
        <p:spPr>
          <a:xfrm>
            <a:off x="6911340" y="1634490"/>
            <a:ext cx="2314004" cy="365760"/>
          </a:xfrm>
          <a:prstGeom prst="rect">
            <a:avLst/>
          </a:prstGeom>
          <a:noFill/>
          <a:ln>
            <a:noFill/>
          </a:ln>
        </p:spPr>
        <p:txBody>
          <a:bodyPr wrap="none" lIns="0" tIns="0" rIns="0" bIns="0" anchor="t" anchorCtr="0">
            <a:spAutoFit/>
          </a:bodyPr>
          <a:lstStyle/>
          <a:p>
            <a:pPr algn="l"/>
            <a:r>
              <a:rPr lang="zh-CN" sz="1800" b="1" dirty="0">
                <a:solidFill>
                  <a:srgbClr val="2E7D32"/>
                </a:solidFill>
                <a:latin typeface="Segoe UI" panose="020B0502040204020203"/>
                <a:ea typeface="微软雅黑" panose="020B0503020204020204" charset="-122"/>
                <a:cs typeface="Segoe UI" panose="020B0502040204020203"/>
              </a:rPr>
              <a:t>正确方法：小步快跑</a:t>
            </a:r>
            <a:endParaRPr lang="zh-CN" sz="1800" b="1" dirty="0">
              <a:solidFill>
                <a:srgbClr val="2E7D32"/>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667500" y="2095500"/>
            <a:ext cx="4572000" cy="476250"/>
          </a:xfrm>
          <a:prstGeom prst="roundRect">
            <a:avLst>
              <a:gd name="adj" fmla="val 16000"/>
            </a:avLst>
          </a:prstGeom>
          <a:solidFill>
            <a:srgbClr val="1565C0"/>
          </a:solidFill>
          <a:ln>
            <a:noFill/>
          </a:ln>
        </p:spPr>
      </p:sp>
      <p:sp>
        <p:nvSpPr>
          <p:cNvPr id="35" name="TextBox 35"/>
          <p:cNvSpPr txBox="1"/>
          <p:nvPr/>
        </p:nvSpPr>
        <p:spPr>
          <a:xfrm>
            <a:off x="8580263" y="2253139"/>
            <a:ext cx="74647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复杂需求</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893272" y="2615565"/>
            <a:ext cx="1929956" cy="365760"/>
          </a:xfrm>
          <a:prstGeom prst="rect">
            <a:avLst/>
          </a:prstGeom>
          <a:noFill/>
          <a:ln>
            <a:noFill/>
          </a:ln>
        </p:spPr>
        <p:txBody>
          <a:bodyPr wrap="none" lIns="0" tIns="0" rIns="0" bIns="0" anchor="t" anchorCtr="0">
            <a:spAutoFit/>
          </a:bodyPr>
          <a:lstStyle/>
          <a:p>
            <a:pPr algn="ctr"/>
            <a:r>
              <a:rPr lang="zh-CN" sz="1800" dirty="0">
                <a:solidFill>
                  <a:srgbClr val="1565C0"/>
                </a:solidFill>
                <a:latin typeface="Segoe UI" panose="020B0502040204020203"/>
                <a:ea typeface="微软雅黑" panose="020B0503020204020204" charset="-122"/>
                <a:cs typeface="Segoe UI" panose="020B0502040204020203"/>
              </a:rPr>
              <a:t>▼ 拆解为独立任务</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6667500" y="3000375"/>
            <a:ext cx="4572000" cy="381000"/>
          </a:xfrm>
          <a:prstGeom prst="roundRect">
            <a:avLst>
              <a:gd name="adj" fmla="val 20000"/>
            </a:avLst>
          </a:prstGeom>
          <a:solidFill>
            <a:srgbClr val="00838F">
              <a:alpha val="10000"/>
            </a:srgbClr>
          </a:solidFill>
          <a:ln>
            <a:noFill/>
          </a:ln>
        </p:spPr>
      </p:sp>
      <p:sp>
        <p:nvSpPr>
          <p:cNvPr id="38" name="TextBox 38"/>
          <p:cNvSpPr txBox="1"/>
          <p:nvPr/>
        </p:nvSpPr>
        <p:spPr>
          <a:xfrm>
            <a:off x="7750112" y="3118485"/>
            <a:ext cx="2406777"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任务1 → 执行 → 测试验证 ✓ → 提交</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6667500" y="3476625"/>
            <a:ext cx="4572000" cy="381000"/>
          </a:xfrm>
          <a:prstGeom prst="roundRect">
            <a:avLst>
              <a:gd name="adj" fmla="val 20000"/>
            </a:avLst>
          </a:prstGeom>
          <a:solidFill>
            <a:srgbClr val="FF6F00">
              <a:alpha val="10000"/>
            </a:srgbClr>
          </a:solidFill>
          <a:ln>
            <a:noFill/>
          </a:ln>
        </p:spPr>
      </p:sp>
      <p:sp>
        <p:nvSpPr>
          <p:cNvPr id="40" name="TextBox 40"/>
          <p:cNvSpPr txBox="1"/>
          <p:nvPr/>
        </p:nvSpPr>
        <p:spPr>
          <a:xfrm>
            <a:off x="7750112" y="3594735"/>
            <a:ext cx="2406777"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任务2 → 执行 → 测试验证 ✓ → 提交</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6667500" y="3952875"/>
            <a:ext cx="4572000" cy="381000"/>
          </a:xfrm>
          <a:prstGeom prst="roundRect">
            <a:avLst>
              <a:gd name="adj" fmla="val 20000"/>
            </a:avLst>
          </a:prstGeom>
          <a:solidFill>
            <a:srgbClr val="2E7D32">
              <a:alpha val="10000"/>
            </a:srgbClr>
          </a:solidFill>
          <a:ln>
            <a:noFill/>
          </a:ln>
        </p:spPr>
      </p:sp>
      <p:sp>
        <p:nvSpPr>
          <p:cNvPr id="42" name="TextBox 42"/>
          <p:cNvSpPr txBox="1"/>
          <p:nvPr/>
        </p:nvSpPr>
        <p:spPr>
          <a:xfrm>
            <a:off x="7750112" y="4070985"/>
            <a:ext cx="2406777"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任务N → 执行 → 测试验证 ✓ → 提交</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6667500" y="4524375"/>
            <a:ext cx="4572000" cy="476250"/>
          </a:xfrm>
          <a:prstGeom prst="roundRect">
            <a:avLst>
              <a:gd name="adj" fmla="val 16000"/>
            </a:avLst>
          </a:prstGeom>
          <a:solidFill>
            <a:srgbClr val="1565C0"/>
          </a:solidFill>
          <a:ln>
            <a:noFill/>
          </a:ln>
        </p:spPr>
      </p:sp>
      <p:sp>
        <p:nvSpPr>
          <p:cNvPr id="44" name="TextBox 44"/>
          <p:cNvSpPr txBox="1"/>
          <p:nvPr/>
        </p:nvSpPr>
        <p:spPr>
          <a:xfrm>
            <a:off x="8401741" y="4682014"/>
            <a:ext cx="110351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累积完整系统</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571500" y="5524500"/>
            <a:ext cx="11049000" cy="523875"/>
          </a:xfrm>
          <a:prstGeom prst="roundRect">
            <a:avLst>
              <a:gd name="adj" fmla="val 14545"/>
            </a:avLst>
          </a:prstGeom>
          <a:solidFill>
            <a:srgbClr val="1565C0">
              <a:alpha val="6000"/>
            </a:srgbClr>
          </a:solidFill>
          <a:ln>
            <a:noFill/>
          </a:ln>
        </p:spPr>
      </p:sp>
      <p:grpSp>
        <p:nvGrpSpPr>
          <p:cNvPr id="48" name="Group 48"/>
          <p:cNvGrpSpPr/>
          <p:nvPr/>
        </p:nvGrpSpPr>
        <p:grpSpPr>
          <a:xfrm>
            <a:off x="810622" y="5736006"/>
            <a:ext cx="131214" cy="167113"/>
            <a:chOff x="810622" y="5736006"/>
            <a:chExt cx="131214" cy="167113"/>
          </a:xfrm>
        </p:grpSpPr>
        <p:sp>
          <p:nvSpPr>
            <p:cNvPr id="46" name="Freeform 46"/>
            <p:cNvSpPr/>
            <p:nvPr/>
          </p:nvSpPr>
          <p:spPr>
            <a:xfrm>
              <a:off x="816590" y="5741997"/>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1565C0">
                <a:alpha val="20000"/>
              </a:srgbClr>
            </a:solidFill>
            <a:ln>
              <a:noFill/>
            </a:ln>
          </p:spPr>
        </p:sp>
        <p:sp>
          <p:nvSpPr>
            <p:cNvPr id="47" name="Freeform 47"/>
            <p:cNvSpPr/>
            <p:nvPr/>
          </p:nvSpPr>
          <p:spPr>
            <a:xfrm>
              <a:off x="810622" y="5736006"/>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1565C0"/>
            </a:solidFill>
            <a:ln>
              <a:noFill/>
            </a:ln>
          </p:spPr>
        </p:sp>
      </p:grpSp>
      <p:sp>
        <p:nvSpPr>
          <p:cNvPr id="49" name="TextBox 49"/>
          <p:cNvSpPr txBox="1"/>
          <p:nvPr/>
        </p:nvSpPr>
        <p:spPr>
          <a:xfrm>
            <a:off x="1052512" y="5726906"/>
            <a:ext cx="571428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核心原则：每个任务确认后才继续下一步 —— 不是"等一下再改"，而是"对了再往下走"</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2" name="图片 5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3"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93420" y="252730"/>
            <a:ext cx="3806825"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与AI结对调试bug的防坑指南</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597497" y="1052989"/>
            <a:ext cx="4997006"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AI调试的默认行为是"看到现象 → 给出最熟悉的解"而非"定位根因"</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5061585"/>
          </a:xfrm>
          <a:prstGeom prst="roundRect">
            <a:avLst>
              <a:gd name="adj" fmla="val 2667"/>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C62828"/>
          </a:solidFill>
          <a:ln>
            <a:noFill/>
          </a:ln>
        </p:spPr>
      </p:sp>
      <p:grpSp>
        <p:nvGrpSpPr>
          <p:cNvPr id="14" name="Group 14"/>
          <p:cNvGrpSpPr/>
          <p:nvPr/>
        </p:nvGrpSpPr>
        <p:grpSpPr>
          <a:xfrm>
            <a:off x="871538" y="1660922"/>
            <a:ext cx="200025" cy="208643"/>
            <a:chOff x="871538" y="1660922"/>
            <a:chExt cx="200025" cy="208643"/>
          </a:xfrm>
        </p:grpSpPr>
        <p:sp>
          <p:nvSpPr>
            <p:cNvPr id="12" name="Freeform 12"/>
            <p:cNvSpPr/>
            <p:nvPr/>
          </p:nvSpPr>
          <p:spPr>
            <a:xfrm>
              <a:off x="879872" y="1669256"/>
              <a:ext cx="183356" cy="191816"/>
            </a:xfrm>
            <a:custGeom>
              <a:avLst/>
              <a:gdLst/>
              <a:ahLst/>
              <a:cxnLst/>
              <a:rect l="l" t="t" r="r" b="b"/>
              <a:pathLst>
                <a:path w="183356" h="191816">
                  <a:moveTo>
                    <a:pt x="183356" y="8334"/>
                  </a:moveTo>
                  <a:lnTo>
                    <a:pt x="183356" y="69561"/>
                  </a:lnTo>
                  <a:cubicBezTo>
                    <a:pt x="183356" y="157259"/>
                    <a:pt x="109066" y="186315"/>
                    <a:pt x="94241" y="191243"/>
                  </a:cubicBezTo>
                  <a:cubicBezTo>
                    <a:pt x="92580" y="191816"/>
                    <a:pt x="90776" y="191816"/>
                    <a:pt x="89115" y="191243"/>
                  </a:cubicBezTo>
                  <a:cubicBezTo>
                    <a:pt x="74291" y="186336"/>
                    <a:pt x="0" y="157311"/>
                    <a:pt x="0" y="69582"/>
                  </a:cubicBezTo>
                  <a:lnTo>
                    <a:pt x="0" y="8334"/>
                  </a:lnTo>
                  <a:cubicBezTo>
                    <a:pt x="0" y="3731"/>
                    <a:pt x="3731" y="0"/>
                    <a:pt x="8334" y="0"/>
                  </a:cubicBezTo>
                  <a:lnTo>
                    <a:pt x="175022" y="0"/>
                  </a:lnTo>
                  <a:cubicBezTo>
                    <a:pt x="179625" y="0"/>
                    <a:pt x="183356" y="3731"/>
                    <a:pt x="183356" y="8334"/>
                  </a:cubicBezTo>
                  <a:close/>
                </a:path>
              </a:pathLst>
            </a:custGeom>
            <a:solidFill>
              <a:srgbClr val="C62828">
                <a:alpha val="20000"/>
              </a:srgbClr>
            </a:solidFill>
            <a:ln>
              <a:noFill/>
            </a:ln>
          </p:spPr>
        </p:sp>
        <p:sp>
          <p:nvSpPr>
            <p:cNvPr id="13" name="Freeform 13"/>
            <p:cNvSpPr/>
            <p:nvPr/>
          </p:nvSpPr>
          <p:spPr>
            <a:xfrm>
              <a:off x="871538" y="1660922"/>
              <a:ext cx="200025" cy="208643"/>
            </a:xfrm>
            <a:custGeom>
              <a:avLst/>
              <a:gdLst/>
              <a:ahLst/>
              <a:cxnLst/>
              <a:rect l="l" t="t" r="r" b="b"/>
              <a:pathLst>
                <a:path w="200025" h="208643">
                  <a:moveTo>
                    <a:pt x="183356" y="0"/>
                  </a:moveTo>
                  <a:lnTo>
                    <a:pt x="16669" y="0"/>
                  </a:lnTo>
                  <a:cubicBezTo>
                    <a:pt x="7463" y="0"/>
                    <a:pt x="0" y="7463"/>
                    <a:pt x="0" y="16669"/>
                  </a:cubicBezTo>
                  <a:lnTo>
                    <a:pt x="0" y="77906"/>
                  </a:lnTo>
                  <a:cubicBezTo>
                    <a:pt x="0" y="171261"/>
                    <a:pt x="78989" y="202234"/>
                    <a:pt x="94804" y="207495"/>
                  </a:cubicBezTo>
                  <a:cubicBezTo>
                    <a:pt x="98181" y="208643"/>
                    <a:pt x="101844" y="208643"/>
                    <a:pt x="105221" y="207495"/>
                  </a:cubicBezTo>
                  <a:cubicBezTo>
                    <a:pt x="121057" y="202234"/>
                    <a:pt x="200025" y="171261"/>
                    <a:pt x="200025" y="77906"/>
                  </a:cubicBezTo>
                  <a:lnTo>
                    <a:pt x="200025" y="16669"/>
                  </a:lnTo>
                  <a:cubicBezTo>
                    <a:pt x="200025" y="7463"/>
                    <a:pt x="192562" y="0"/>
                    <a:pt x="183356" y="0"/>
                  </a:cubicBezTo>
                  <a:close/>
                  <a:moveTo>
                    <a:pt x="183356" y="77916"/>
                  </a:moveTo>
                  <a:cubicBezTo>
                    <a:pt x="183356" y="159614"/>
                    <a:pt x="114233" y="186909"/>
                    <a:pt x="100012" y="191659"/>
                  </a:cubicBezTo>
                  <a:cubicBezTo>
                    <a:pt x="85917" y="186961"/>
                    <a:pt x="16669" y="159687"/>
                    <a:pt x="16669" y="77916"/>
                  </a:cubicBezTo>
                  <a:lnTo>
                    <a:pt x="16669" y="16669"/>
                  </a:lnTo>
                  <a:lnTo>
                    <a:pt x="183356" y="16669"/>
                  </a:lnTo>
                  <a:close/>
                  <a:moveTo>
                    <a:pt x="52444" y="105909"/>
                  </a:moveTo>
                  <a:cubicBezTo>
                    <a:pt x="49187" y="102652"/>
                    <a:pt x="49187" y="97373"/>
                    <a:pt x="52444" y="94116"/>
                  </a:cubicBezTo>
                  <a:cubicBezTo>
                    <a:pt x="55701" y="90859"/>
                    <a:pt x="60981" y="90859"/>
                    <a:pt x="64237" y="94116"/>
                  </a:cubicBezTo>
                  <a:lnTo>
                    <a:pt x="83344" y="113222"/>
                  </a:lnTo>
                  <a:lnTo>
                    <a:pt x="135788" y="60778"/>
                  </a:lnTo>
                  <a:cubicBezTo>
                    <a:pt x="139044" y="57522"/>
                    <a:pt x="144324" y="57522"/>
                    <a:pt x="147581" y="60778"/>
                  </a:cubicBezTo>
                  <a:cubicBezTo>
                    <a:pt x="150838" y="64035"/>
                    <a:pt x="150838" y="69315"/>
                    <a:pt x="147581" y="72572"/>
                  </a:cubicBezTo>
                  <a:lnTo>
                    <a:pt x="89240" y="130912"/>
                  </a:lnTo>
                  <a:cubicBezTo>
                    <a:pt x="87677" y="132477"/>
                    <a:pt x="85556" y="133357"/>
                    <a:pt x="83344" y="133357"/>
                  </a:cubicBezTo>
                  <a:cubicBezTo>
                    <a:pt x="81132" y="133357"/>
                    <a:pt x="79010" y="132477"/>
                    <a:pt x="77447" y="130912"/>
                  </a:cubicBezTo>
                  <a:close/>
                </a:path>
              </a:pathLst>
            </a:custGeom>
            <a:solidFill>
              <a:srgbClr val="C62828"/>
            </a:solidFill>
            <a:ln>
              <a:noFill/>
            </a:ln>
          </p:spPr>
        </p:sp>
      </p:grpSp>
      <p:sp>
        <p:nvSpPr>
          <p:cNvPr id="15" name="TextBox 15"/>
          <p:cNvSpPr txBox="1"/>
          <p:nvPr/>
        </p:nvSpPr>
        <p:spPr>
          <a:xfrm>
            <a:off x="1198245" y="1650682"/>
            <a:ext cx="1324120" cy="335280"/>
          </a:xfrm>
          <a:prstGeom prst="rect">
            <a:avLst/>
          </a:prstGeom>
          <a:noFill/>
          <a:ln>
            <a:noFill/>
          </a:ln>
        </p:spPr>
        <p:txBody>
          <a:bodyPr wrap="none" lIns="0" tIns="0" rIns="0" bIns="0" anchor="t" anchorCtr="0">
            <a:spAutoFit/>
          </a:bodyPr>
          <a:lstStyle/>
          <a:p>
            <a:pPr algn="l"/>
            <a:r>
              <a:rPr lang="zh-CN" sz="1650" b="1" dirty="0">
                <a:solidFill>
                  <a:srgbClr val="C62828"/>
                </a:solidFill>
                <a:latin typeface="Segoe UI" panose="020B0502040204020203"/>
                <a:ea typeface="微软雅黑" panose="020B0503020204020204" charset="-122"/>
                <a:cs typeface="Segoe UI" panose="020B0502040204020203"/>
              </a:rPr>
              <a:t>9大防坑原则</a:t>
            </a:r>
            <a:endParaRPr lang="zh-CN" sz="1650" b="1" dirty="0">
              <a:solidFill>
                <a:srgbClr val="C6282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47875"/>
            <a:ext cx="4800600" cy="342900"/>
          </a:xfrm>
          <a:prstGeom prst="roundRect">
            <a:avLst>
              <a:gd name="adj" fmla="val 16667"/>
            </a:avLst>
          </a:prstGeom>
          <a:solidFill>
            <a:srgbClr val="FFEBEE"/>
          </a:solidFill>
          <a:ln>
            <a:noFill/>
          </a:ln>
        </p:spPr>
      </p:sp>
      <p:sp>
        <p:nvSpPr>
          <p:cNvPr id="17" name="TextBox 17"/>
          <p:cNvSpPr txBox="1"/>
          <p:nvPr/>
        </p:nvSpPr>
        <p:spPr>
          <a:xfrm>
            <a:off x="975360" y="2146935"/>
            <a:ext cx="3910965"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1. 根因验证：AI给修复前，先确认它找到了真正的根因</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38200" y="2476500"/>
            <a:ext cx="4800600" cy="342900"/>
          </a:xfrm>
          <a:prstGeom prst="roundRect">
            <a:avLst>
              <a:gd name="adj" fmla="val 16667"/>
            </a:avLst>
          </a:prstGeom>
          <a:solidFill>
            <a:srgbClr val="FFEBEE"/>
          </a:solidFill>
          <a:ln>
            <a:noFill/>
          </a:ln>
        </p:spPr>
      </p:sp>
      <p:sp>
        <p:nvSpPr>
          <p:cNvPr id="19" name="TextBox 19"/>
          <p:cNvSpPr txBox="1"/>
          <p:nvPr/>
        </p:nvSpPr>
        <p:spPr>
          <a:xfrm>
            <a:off x="975360" y="2575560"/>
            <a:ext cx="4070985"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2. 权宜之计识别：警惕AI为了快速修复而牺牲架构完整性</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838200" y="2905125"/>
            <a:ext cx="4800600" cy="342900"/>
          </a:xfrm>
          <a:prstGeom prst="roundRect">
            <a:avLst>
              <a:gd name="adj" fmla="val 16667"/>
            </a:avLst>
          </a:prstGeom>
          <a:solidFill>
            <a:srgbClr val="FFEBEE"/>
          </a:solidFill>
          <a:ln>
            <a:noFill/>
          </a:ln>
        </p:spPr>
      </p:sp>
      <p:sp>
        <p:nvSpPr>
          <p:cNvPr id="21" name="TextBox 21"/>
          <p:cNvSpPr txBox="1"/>
          <p:nvPr/>
        </p:nvSpPr>
        <p:spPr>
          <a:xfrm>
            <a:off x="975360" y="3004185"/>
            <a:ext cx="3806952"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3. 初心保持：排查时不被B/C问题分散注意力而忘记A</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38200" y="3333750"/>
            <a:ext cx="4800600" cy="342900"/>
          </a:xfrm>
          <a:prstGeom prst="roundRect">
            <a:avLst>
              <a:gd name="adj" fmla="val 16667"/>
            </a:avLst>
          </a:prstGeom>
          <a:solidFill>
            <a:srgbClr val="FFEBEE"/>
          </a:solidFill>
          <a:ln>
            <a:noFill/>
          </a:ln>
        </p:spPr>
      </p:sp>
      <p:sp>
        <p:nvSpPr>
          <p:cNvPr id="23" name="TextBox 23"/>
          <p:cNvSpPr txBox="1"/>
          <p:nvPr/>
        </p:nvSpPr>
        <p:spPr>
          <a:xfrm>
            <a:off x="975360" y="3432810"/>
            <a:ext cx="3430905"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4. 全链路留痕：每次LLM调用记录提示词和输出</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838200" y="3762375"/>
            <a:ext cx="4800600" cy="342900"/>
          </a:xfrm>
          <a:prstGeom prst="roundRect">
            <a:avLst>
              <a:gd name="adj" fmla="val 16667"/>
            </a:avLst>
          </a:prstGeom>
          <a:solidFill>
            <a:srgbClr val="FFEBEE"/>
          </a:solidFill>
          <a:ln>
            <a:noFill/>
          </a:ln>
        </p:spPr>
      </p:sp>
      <p:sp>
        <p:nvSpPr>
          <p:cNvPr id="25" name="TextBox 25"/>
          <p:cNvSpPr txBox="1"/>
          <p:nvPr/>
        </p:nvSpPr>
        <p:spPr>
          <a:xfrm>
            <a:off x="975360" y="3861435"/>
            <a:ext cx="345490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5. 全域自查：修完一个位置后主动检查类似位置</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838200" y="4191000"/>
            <a:ext cx="4800600" cy="342900"/>
          </a:xfrm>
          <a:prstGeom prst="roundRect">
            <a:avLst>
              <a:gd name="adj" fmla="val 16667"/>
            </a:avLst>
          </a:prstGeom>
          <a:solidFill>
            <a:srgbClr val="FFEBEE"/>
          </a:solidFill>
          <a:ln>
            <a:noFill/>
          </a:ln>
        </p:spPr>
      </p:sp>
      <p:sp>
        <p:nvSpPr>
          <p:cNvPr id="27" name="TextBox 27"/>
          <p:cNvSpPr txBox="1"/>
          <p:nvPr/>
        </p:nvSpPr>
        <p:spPr>
          <a:xfrm>
            <a:off x="975360" y="4290060"/>
            <a:ext cx="409498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6. 最小修复法：每次只改一处，立即验证，不要批量修复</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838200" y="4619625"/>
            <a:ext cx="4800600" cy="342900"/>
          </a:xfrm>
          <a:prstGeom prst="roundRect">
            <a:avLst>
              <a:gd name="adj" fmla="val 16667"/>
            </a:avLst>
          </a:prstGeom>
          <a:solidFill>
            <a:srgbClr val="FFEBEE"/>
          </a:solidFill>
          <a:ln>
            <a:noFill/>
          </a:ln>
        </p:spPr>
      </p:sp>
      <p:sp>
        <p:nvSpPr>
          <p:cNvPr id="29" name="TextBox 29"/>
          <p:cNvSpPr txBox="1"/>
          <p:nvPr/>
        </p:nvSpPr>
        <p:spPr>
          <a:xfrm>
            <a:off x="975360" y="4718685"/>
            <a:ext cx="329488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7. 回归测试验证：每次修复后必须跑完整回归</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838200" y="5048250"/>
            <a:ext cx="4800600" cy="342900"/>
          </a:xfrm>
          <a:prstGeom prst="roundRect">
            <a:avLst>
              <a:gd name="adj" fmla="val 16667"/>
            </a:avLst>
          </a:prstGeom>
          <a:solidFill>
            <a:srgbClr val="FFEBEE"/>
          </a:solidFill>
          <a:ln>
            <a:noFill/>
          </a:ln>
        </p:spPr>
      </p:sp>
      <p:sp>
        <p:nvSpPr>
          <p:cNvPr id="31" name="TextBox 31"/>
          <p:cNvSpPr txBox="1"/>
          <p:nvPr/>
        </p:nvSpPr>
        <p:spPr>
          <a:xfrm>
            <a:off x="975360" y="5147310"/>
            <a:ext cx="3718941"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8. 上下文隔离：不要用同一个对话窗口调试多个Bug</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838200" y="5476875"/>
            <a:ext cx="4800600" cy="342900"/>
          </a:xfrm>
          <a:prstGeom prst="roundRect">
            <a:avLst>
              <a:gd name="adj" fmla="val 16667"/>
            </a:avLst>
          </a:prstGeom>
          <a:solidFill>
            <a:srgbClr val="FFEBEE"/>
          </a:solidFill>
          <a:ln>
            <a:noFill/>
          </a:ln>
        </p:spPr>
      </p:sp>
      <p:sp>
        <p:nvSpPr>
          <p:cNvPr id="33" name="TextBox 33"/>
          <p:cNvSpPr txBox="1"/>
          <p:nvPr/>
        </p:nvSpPr>
        <p:spPr>
          <a:xfrm>
            <a:off x="975360" y="5575935"/>
            <a:ext cx="377494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9. 知识沉淀：修复完成后把教训写入Skill和测试规范</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286500" y="1428750"/>
            <a:ext cx="5334000" cy="5033010"/>
          </a:xfrm>
          <a:prstGeom prst="roundRect">
            <a:avLst>
              <a:gd name="adj" fmla="val 2667"/>
            </a:avLst>
          </a:prstGeom>
          <a:solidFill>
            <a:srgbClr val="FFFFFF"/>
          </a:solidFill>
          <a:ln w="9525">
            <a:solidFill>
              <a:srgbClr val="CFD8DC"/>
            </a:solidFill>
          </a:ln>
        </p:spPr>
      </p:sp>
      <p:sp>
        <p:nvSpPr>
          <p:cNvPr id="35" name="Rectangle 35"/>
          <p:cNvSpPr/>
          <p:nvPr/>
        </p:nvSpPr>
        <p:spPr>
          <a:xfrm>
            <a:off x="6286500" y="1428750"/>
            <a:ext cx="5334000" cy="38100"/>
          </a:xfrm>
          <a:prstGeom prst="roundRect">
            <a:avLst>
              <a:gd name="adj" fmla="val 50000"/>
            </a:avLst>
          </a:prstGeom>
          <a:solidFill>
            <a:srgbClr val="2E7D32"/>
          </a:solidFill>
          <a:ln>
            <a:noFill/>
          </a:ln>
        </p:spPr>
      </p:sp>
      <p:grpSp>
        <p:nvGrpSpPr>
          <p:cNvPr id="38" name="Group 38"/>
          <p:cNvGrpSpPr/>
          <p:nvPr/>
        </p:nvGrpSpPr>
        <p:grpSpPr>
          <a:xfrm>
            <a:off x="6586535" y="1652588"/>
            <a:ext cx="200028" cy="200025"/>
            <a:chOff x="6586535" y="1652588"/>
            <a:chExt cx="200028" cy="200025"/>
          </a:xfrm>
        </p:grpSpPr>
        <p:sp>
          <p:nvSpPr>
            <p:cNvPr id="36" name="Freeform 36"/>
            <p:cNvSpPr/>
            <p:nvPr/>
          </p:nvSpPr>
          <p:spPr>
            <a:xfrm>
              <a:off x="6594872" y="1669256"/>
              <a:ext cx="183356" cy="166688"/>
            </a:xfrm>
            <a:custGeom>
              <a:avLst/>
              <a:gdLst/>
              <a:ahLst/>
              <a:cxnLst/>
              <a:rect l="l" t="t" r="r" b="b"/>
              <a:pathLst>
                <a:path w="183356" h="166688">
                  <a:moveTo>
                    <a:pt x="183356" y="0"/>
                  </a:moveTo>
                  <a:lnTo>
                    <a:pt x="183356" y="50006"/>
                  </a:lnTo>
                  <a:lnTo>
                    <a:pt x="133350" y="50006"/>
                  </a:lnTo>
                  <a:close/>
                  <a:moveTo>
                    <a:pt x="0" y="166688"/>
                  </a:moveTo>
                  <a:lnTo>
                    <a:pt x="50006" y="116681"/>
                  </a:lnTo>
                  <a:lnTo>
                    <a:pt x="0" y="116681"/>
                  </a:lnTo>
                  <a:close/>
                </a:path>
              </a:pathLst>
            </a:custGeom>
            <a:solidFill>
              <a:srgbClr val="2E7D32">
                <a:alpha val="20000"/>
              </a:srgbClr>
            </a:solidFill>
            <a:ln>
              <a:noFill/>
            </a:ln>
          </p:spPr>
        </p:sp>
        <p:sp>
          <p:nvSpPr>
            <p:cNvPr id="37" name="Freeform 37"/>
            <p:cNvSpPr/>
            <p:nvPr/>
          </p:nvSpPr>
          <p:spPr>
            <a:xfrm>
              <a:off x="6586535" y="1652588"/>
              <a:ext cx="200028" cy="200025"/>
            </a:xfrm>
            <a:custGeom>
              <a:avLst/>
              <a:gdLst/>
              <a:ahLst/>
              <a:cxnLst/>
              <a:rect l="l" t="t" r="r" b="b"/>
              <a:pathLst>
                <a:path w="200028" h="200025">
                  <a:moveTo>
                    <a:pt x="194881" y="8970"/>
                  </a:moveTo>
                  <a:cubicBezTo>
                    <a:pt x="191767" y="7678"/>
                    <a:pt x="188182" y="8389"/>
                    <a:pt x="185797" y="10772"/>
                  </a:cubicBezTo>
                  <a:lnTo>
                    <a:pt x="169065" y="27514"/>
                  </a:lnTo>
                  <a:cubicBezTo>
                    <a:pt x="148073" y="9480"/>
                    <a:pt x="124352" y="0"/>
                    <a:pt x="100015" y="0"/>
                  </a:cubicBezTo>
                  <a:cubicBezTo>
                    <a:pt x="55405" y="0"/>
                    <a:pt x="28569" y="26326"/>
                    <a:pt x="27444" y="27441"/>
                  </a:cubicBezTo>
                  <a:cubicBezTo>
                    <a:pt x="24187" y="30698"/>
                    <a:pt x="24187" y="35977"/>
                    <a:pt x="27444" y="39234"/>
                  </a:cubicBezTo>
                  <a:cubicBezTo>
                    <a:pt x="30700" y="42491"/>
                    <a:pt x="35980" y="42491"/>
                    <a:pt x="39237" y="39234"/>
                  </a:cubicBezTo>
                  <a:cubicBezTo>
                    <a:pt x="39456" y="39005"/>
                    <a:pt x="62229" y="16669"/>
                    <a:pt x="100015" y="16669"/>
                  </a:cubicBezTo>
                  <a:cubicBezTo>
                    <a:pt x="124154" y="16669"/>
                    <a:pt x="143687" y="27972"/>
                    <a:pt x="157231" y="39338"/>
                  </a:cubicBezTo>
                  <a:lnTo>
                    <a:pt x="135790" y="60778"/>
                  </a:lnTo>
                  <a:cubicBezTo>
                    <a:pt x="133404" y="63162"/>
                    <a:pt x="132690" y="66749"/>
                    <a:pt x="133981" y="69865"/>
                  </a:cubicBezTo>
                  <a:cubicBezTo>
                    <a:pt x="135272" y="72981"/>
                    <a:pt x="138314" y="75012"/>
                    <a:pt x="141687" y="75009"/>
                  </a:cubicBezTo>
                  <a:lnTo>
                    <a:pt x="191693" y="75009"/>
                  </a:lnTo>
                  <a:cubicBezTo>
                    <a:pt x="196296" y="75009"/>
                    <a:pt x="200028" y="71278"/>
                    <a:pt x="200028" y="66675"/>
                  </a:cubicBezTo>
                  <a:lnTo>
                    <a:pt x="200028" y="16669"/>
                  </a:lnTo>
                  <a:cubicBezTo>
                    <a:pt x="200027" y="13298"/>
                    <a:pt x="197996" y="10259"/>
                    <a:pt x="194881" y="8970"/>
                  </a:cubicBezTo>
                  <a:close/>
                  <a:moveTo>
                    <a:pt x="183359" y="58341"/>
                  </a:moveTo>
                  <a:lnTo>
                    <a:pt x="161804" y="58341"/>
                  </a:lnTo>
                  <a:lnTo>
                    <a:pt x="183359" y="36786"/>
                  </a:lnTo>
                  <a:close/>
                  <a:moveTo>
                    <a:pt x="160794" y="160791"/>
                  </a:moveTo>
                  <a:cubicBezTo>
                    <a:pt x="160575" y="161020"/>
                    <a:pt x="137801" y="183356"/>
                    <a:pt x="100015" y="183356"/>
                  </a:cubicBezTo>
                  <a:cubicBezTo>
                    <a:pt x="75877" y="183356"/>
                    <a:pt x="56343" y="172053"/>
                    <a:pt x="42800" y="160687"/>
                  </a:cubicBezTo>
                  <a:lnTo>
                    <a:pt x="64240" y="139247"/>
                  </a:lnTo>
                  <a:cubicBezTo>
                    <a:pt x="66626" y="136863"/>
                    <a:pt x="67341" y="133276"/>
                    <a:pt x="66049" y="130160"/>
                  </a:cubicBezTo>
                  <a:cubicBezTo>
                    <a:pt x="64758" y="127044"/>
                    <a:pt x="61716" y="125013"/>
                    <a:pt x="58343" y="125016"/>
                  </a:cubicBezTo>
                  <a:lnTo>
                    <a:pt x="8337" y="125016"/>
                  </a:lnTo>
                  <a:cubicBezTo>
                    <a:pt x="3734" y="125016"/>
                    <a:pt x="3" y="128747"/>
                    <a:pt x="3" y="133350"/>
                  </a:cubicBezTo>
                  <a:lnTo>
                    <a:pt x="3" y="183356"/>
                  </a:lnTo>
                  <a:cubicBezTo>
                    <a:pt x="0" y="186729"/>
                    <a:pt x="2031" y="189771"/>
                    <a:pt x="5147" y="191062"/>
                  </a:cubicBezTo>
                  <a:cubicBezTo>
                    <a:pt x="8263" y="192354"/>
                    <a:pt x="11850" y="191639"/>
                    <a:pt x="14234" y="189253"/>
                  </a:cubicBezTo>
                  <a:lnTo>
                    <a:pt x="30965" y="172511"/>
                  </a:lnTo>
                  <a:cubicBezTo>
                    <a:pt x="51957" y="190545"/>
                    <a:pt x="75679" y="200025"/>
                    <a:pt x="100015" y="200025"/>
                  </a:cubicBezTo>
                  <a:cubicBezTo>
                    <a:pt x="144625" y="200025"/>
                    <a:pt x="171462" y="173699"/>
                    <a:pt x="172587" y="172584"/>
                  </a:cubicBezTo>
                  <a:cubicBezTo>
                    <a:pt x="175843" y="169327"/>
                    <a:pt x="175843" y="164048"/>
                    <a:pt x="172587" y="160791"/>
                  </a:cubicBezTo>
                  <a:cubicBezTo>
                    <a:pt x="169330" y="157534"/>
                    <a:pt x="164050" y="157534"/>
                    <a:pt x="160794" y="160791"/>
                  </a:cubicBezTo>
                  <a:close/>
                  <a:moveTo>
                    <a:pt x="16671" y="141684"/>
                  </a:moveTo>
                  <a:lnTo>
                    <a:pt x="38226" y="141684"/>
                  </a:lnTo>
                  <a:lnTo>
                    <a:pt x="16671" y="163239"/>
                  </a:lnTo>
                  <a:close/>
                </a:path>
              </a:pathLst>
            </a:custGeom>
            <a:solidFill>
              <a:srgbClr val="2E7D32"/>
            </a:solidFill>
            <a:ln>
              <a:noFill/>
            </a:ln>
          </p:spPr>
        </p:sp>
      </p:grpSp>
      <p:sp>
        <p:nvSpPr>
          <p:cNvPr id="39" name="TextBox 39"/>
          <p:cNvSpPr txBox="1"/>
          <p:nvPr/>
        </p:nvSpPr>
        <p:spPr>
          <a:xfrm>
            <a:off x="6913245" y="1650682"/>
            <a:ext cx="1786178"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Segoe UI" panose="020B0502040204020203"/>
                <a:ea typeface="微软雅黑" panose="020B0503020204020204" charset="-122"/>
                <a:cs typeface="Segoe UI" panose="020B0502040204020203"/>
              </a:rPr>
              <a:t>6步标准调试流程</a:t>
            </a:r>
            <a:endParaRPr lang="zh-CN" sz="1650" b="1" dirty="0">
              <a:solidFill>
                <a:srgbClr val="2E7D32"/>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6572250" y="2095500"/>
            <a:ext cx="4762500" cy="428625"/>
          </a:xfrm>
          <a:prstGeom prst="roundRect">
            <a:avLst>
              <a:gd name="adj" fmla="val 17778"/>
            </a:avLst>
          </a:prstGeom>
          <a:solidFill>
            <a:srgbClr val="E8F5E9"/>
          </a:solidFill>
          <a:ln>
            <a:noFill/>
          </a:ln>
        </p:spPr>
      </p:sp>
      <p:grpSp>
        <p:nvGrpSpPr>
          <p:cNvPr id="43" name="Group 43"/>
          <p:cNvGrpSpPr/>
          <p:nvPr/>
        </p:nvGrpSpPr>
        <p:grpSpPr>
          <a:xfrm>
            <a:off x="6768108" y="2254438"/>
            <a:ext cx="160734" cy="139324"/>
            <a:chOff x="6768108" y="2254438"/>
            <a:chExt cx="160734" cy="139324"/>
          </a:xfrm>
        </p:grpSpPr>
        <p:sp>
          <p:nvSpPr>
            <p:cNvPr id="41" name="Freeform 41"/>
            <p:cNvSpPr/>
            <p:nvPr/>
          </p:nvSpPr>
          <p:spPr>
            <a:xfrm>
              <a:off x="6794897" y="2324100"/>
              <a:ext cx="107156" cy="64294"/>
            </a:xfrm>
            <a:custGeom>
              <a:avLst/>
              <a:gdLst/>
              <a:ahLst/>
              <a:cxnLst/>
              <a:rect l="l" t="t" r="r" b="b"/>
              <a:pathLst>
                <a:path w="107156" h="64294">
                  <a:moveTo>
                    <a:pt x="107156" y="0"/>
                  </a:moveTo>
                  <a:lnTo>
                    <a:pt x="107156" y="10716"/>
                  </a:lnTo>
                  <a:cubicBezTo>
                    <a:pt x="107156" y="40306"/>
                    <a:pt x="83169" y="64294"/>
                    <a:pt x="53578" y="64294"/>
                  </a:cubicBezTo>
                  <a:cubicBezTo>
                    <a:pt x="23988" y="64294"/>
                    <a:pt x="0" y="40306"/>
                    <a:pt x="0" y="10716"/>
                  </a:cubicBezTo>
                  <a:lnTo>
                    <a:pt x="0" y="0"/>
                  </a:lnTo>
                  <a:close/>
                </a:path>
              </a:pathLst>
            </a:custGeom>
            <a:solidFill>
              <a:srgbClr val="2E7D32">
                <a:alpha val="20000"/>
              </a:srgbClr>
            </a:solidFill>
            <a:ln>
              <a:noFill/>
            </a:ln>
          </p:spPr>
        </p:sp>
        <p:sp>
          <p:nvSpPr>
            <p:cNvPr id="42" name="Freeform 42"/>
            <p:cNvSpPr/>
            <p:nvPr/>
          </p:nvSpPr>
          <p:spPr>
            <a:xfrm>
              <a:off x="6768108" y="2254438"/>
              <a:ext cx="160734" cy="139324"/>
            </a:xfrm>
            <a:custGeom>
              <a:avLst/>
              <a:gdLst/>
              <a:ahLst/>
              <a:cxnLst/>
              <a:rect l="l" t="t" r="r" b="b"/>
              <a:pathLst>
                <a:path w="160734" h="139324">
                  <a:moveTo>
                    <a:pt x="91083" y="45552"/>
                  </a:moveTo>
                  <a:cubicBezTo>
                    <a:pt x="91083" y="41113"/>
                    <a:pt x="94681" y="37515"/>
                    <a:pt x="99120" y="37515"/>
                  </a:cubicBezTo>
                  <a:cubicBezTo>
                    <a:pt x="103558" y="37515"/>
                    <a:pt x="107156" y="41113"/>
                    <a:pt x="107156" y="45552"/>
                  </a:cubicBezTo>
                  <a:cubicBezTo>
                    <a:pt x="107156" y="49990"/>
                    <a:pt x="103558" y="53589"/>
                    <a:pt x="99120" y="53589"/>
                  </a:cubicBezTo>
                  <a:cubicBezTo>
                    <a:pt x="94681" y="53589"/>
                    <a:pt x="91083" y="49990"/>
                    <a:pt x="91083" y="45552"/>
                  </a:cubicBezTo>
                  <a:close/>
                  <a:moveTo>
                    <a:pt x="61615" y="37515"/>
                  </a:moveTo>
                  <a:cubicBezTo>
                    <a:pt x="57176" y="37515"/>
                    <a:pt x="53578" y="41113"/>
                    <a:pt x="53578" y="45552"/>
                  </a:cubicBezTo>
                  <a:cubicBezTo>
                    <a:pt x="53578" y="49990"/>
                    <a:pt x="57176" y="53589"/>
                    <a:pt x="61615" y="53589"/>
                  </a:cubicBezTo>
                  <a:cubicBezTo>
                    <a:pt x="66053" y="53589"/>
                    <a:pt x="69652" y="49990"/>
                    <a:pt x="69652" y="45552"/>
                  </a:cubicBezTo>
                  <a:cubicBezTo>
                    <a:pt x="69652" y="41113"/>
                    <a:pt x="66053" y="37515"/>
                    <a:pt x="61615" y="37515"/>
                  </a:cubicBezTo>
                  <a:close/>
                  <a:moveTo>
                    <a:pt x="139303" y="80378"/>
                  </a:moveTo>
                  <a:cubicBezTo>
                    <a:pt x="139318" y="85578"/>
                    <a:pt x="138642" y="90758"/>
                    <a:pt x="137294" y="95781"/>
                  </a:cubicBezTo>
                  <a:lnTo>
                    <a:pt x="152189" y="102291"/>
                  </a:lnTo>
                  <a:cubicBezTo>
                    <a:pt x="154474" y="103332"/>
                    <a:pt x="155730" y="105821"/>
                    <a:pt x="155209" y="108278"/>
                  </a:cubicBezTo>
                  <a:cubicBezTo>
                    <a:pt x="154688" y="110735"/>
                    <a:pt x="152530" y="112501"/>
                    <a:pt x="150019" y="112525"/>
                  </a:cubicBezTo>
                  <a:cubicBezTo>
                    <a:pt x="149281" y="112526"/>
                    <a:pt x="148551" y="112373"/>
                    <a:pt x="147876" y="112076"/>
                  </a:cubicBezTo>
                  <a:lnTo>
                    <a:pt x="133530" y="105827"/>
                  </a:lnTo>
                  <a:cubicBezTo>
                    <a:pt x="123735" y="126296"/>
                    <a:pt x="103059" y="139324"/>
                    <a:pt x="80367" y="139324"/>
                  </a:cubicBezTo>
                  <a:cubicBezTo>
                    <a:pt x="57675" y="139324"/>
                    <a:pt x="36999" y="126296"/>
                    <a:pt x="27204" y="105827"/>
                  </a:cubicBezTo>
                  <a:lnTo>
                    <a:pt x="12859" y="112076"/>
                  </a:lnTo>
                  <a:cubicBezTo>
                    <a:pt x="12184" y="112373"/>
                    <a:pt x="11453" y="112526"/>
                    <a:pt x="10716" y="112525"/>
                  </a:cubicBezTo>
                  <a:cubicBezTo>
                    <a:pt x="8180" y="112523"/>
                    <a:pt x="5992" y="110744"/>
                    <a:pt x="5474" y="108261"/>
                  </a:cubicBezTo>
                  <a:cubicBezTo>
                    <a:pt x="4956" y="105779"/>
                    <a:pt x="6249" y="103273"/>
                    <a:pt x="8572" y="102258"/>
                  </a:cubicBezTo>
                  <a:lnTo>
                    <a:pt x="23440" y="95781"/>
                  </a:lnTo>
                  <a:cubicBezTo>
                    <a:pt x="22092" y="90758"/>
                    <a:pt x="21417" y="85578"/>
                    <a:pt x="21431" y="80378"/>
                  </a:cubicBezTo>
                  <a:lnTo>
                    <a:pt x="21431" y="75020"/>
                  </a:lnTo>
                  <a:lnTo>
                    <a:pt x="5358" y="75020"/>
                  </a:lnTo>
                  <a:cubicBezTo>
                    <a:pt x="2399" y="75020"/>
                    <a:pt x="0" y="72621"/>
                    <a:pt x="0" y="69662"/>
                  </a:cubicBezTo>
                  <a:cubicBezTo>
                    <a:pt x="0" y="66703"/>
                    <a:pt x="2399" y="64304"/>
                    <a:pt x="5358" y="64304"/>
                  </a:cubicBezTo>
                  <a:lnTo>
                    <a:pt x="21431" y="64304"/>
                  </a:lnTo>
                  <a:lnTo>
                    <a:pt x="21431" y="58946"/>
                  </a:lnTo>
                  <a:cubicBezTo>
                    <a:pt x="21417" y="53746"/>
                    <a:pt x="22092" y="48566"/>
                    <a:pt x="23440" y="43543"/>
                  </a:cubicBezTo>
                  <a:lnTo>
                    <a:pt x="8572" y="37066"/>
                  </a:lnTo>
                  <a:cubicBezTo>
                    <a:pt x="6776" y="36329"/>
                    <a:pt x="5519" y="34676"/>
                    <a:pt x="5288" y="32748"/>
                  </a:cubicBezTo>
                  <a:cubicBezTo>
                    <a:pt x="5056" y="30819"/>
                    <a:pt x="5887" y="28917"/>
                    <a:pt x="7459" y="27775"/>
                  </a:cubicBezTo>
                  <a:cubicBezTo>
                    <a:pt x="9030" y="26634"/>
                    <a:pt x="11096" y="26432"/>
                    <a:pt x="12859" y="27248"/>
                  </a:cubicBezTo>
                  <a:lnTo>
                    <a:pt x="27204" y="33497"/>
                  </a:lnTo>
                  <a:cubicBezTo>
                    <a:pt x="36999" y="13028"/>
                    <a:pt x="57675" y="0"/>
                    <a:pt x="80367" y="0"/>
                  </a:cubicBezTo>
                  <a:cubicBezTo>
                    <a:pt x="103059" y="0"/>
                    <a:pt x="123735" y="13028"/>
                    <a:pt x="133530" y="33497"/>
                  </a:cubicBezTo>
                  <a:lnTo>
                    <a:pt x="147876" y="27228"/>
                  </a:lnTo>
                  <a:cubicBezTo>
                    <a:pt x="150570" y="26122"/>
                    <a:pt x="153655" y="27371"/>
                    <a:pt x="154821" y="30041"/>
                  </a:cubicBezTo>
                  <a:cubicBezTo>
                    <a:pt x="155986" y="32711"/>
                    <a:pt x="154805" y="35822"/>
                    <a:pt x="152162" y="37046"/>
                  </a:cubicBezTo>
                  <a:lnTo>
                    <a:pt x="137294" y="43576"/>
                  </a:lnTo>
                  <a:cubicBezTo>
                    <a:pt x="138642" y="48599"/>
                    <a:pt x="139318" y="53779"/>
                    <a:pt x="139303" y="58980"/>
                  </a:cubicBezTo>
                  <a:lnTo>
                    <a:pt x="139303" y="64338"/>
                  </a:lnTo>
                  <a:lnTo>
                    <a:pt x="155377" y="64338"/>
                  </a:lnTo>
                  <a:cubicBezTo>
                    <a:pt x="158336" y="64338"/>
                    <a:pt x="160734" y="66736"/>
                    <a:pt x="160734" y="69695"/>
                  </a:cubicBezTo>
                  <a:cubicBezTo>
                    <a:pt x="160734" y="72655"/>
                    <a:pt x="158336" y="75053"/>
                    <a:pt x="155377" y="75053"/>
                  </a:cubicBezTo>
                  <a:lnTo>
                    <a:pt x="139303" y="75053"/>
                  </a:lnTo>
                  <a:close/>
                  <a:moveTo>
                    <a:pt x="32147" y="64304"/>
                  </a:moveTo>
                  <a:lnTo>
                    <a:pt x="128588" y="64304"/>
                  </a:lnTo>
                  <a:lnTo>
                    <a:pt x="128588" y="58946"/>
                  </a:lnTo>
                  <a:cubicBezTo>
                    <a:pt x="128588" y="32315"/>
                    <a:pt x="106999" y="10726"/>
                    <a:pt x="80367" y="10726"/>
                  </a:cubicBezTo>
                  <a:cubicBezTo>
                    <a:pt x="53736" y="10726"/>
                    <a:pt x="32147" y="32315"/>
                    <a:pt x="32147" y="58946"/>
                  </a:cubicBezTo>
                  <a:close/>
                  <a:moveTo>
                    <a:pt x="75009" y="128290"/>
                  </a:moveTo>
                  <a:lnTo>
                    <a:pt x="75009" y="75020"/>
                  </a:lnTo>
                  <a:lnTo>
                    <a:pt x="32147" y="75020"/>
                  </a:lnTo>
                  <a:lnTo>
                    <a:pt x="32147" y="80378"/>
                  </a:lnTo>
                  <a:cubicBezTo>
                    <a:pt x="32176" y="104923"/>
                    <a:pt x="50619" y="125538"/>
                    <a:pt x="75009" y="128290"/>
                  </a:cubicBezTo>
                  <a:close/>
                  <a:moveTo>
                    <a:pt x="128588" y="80378"/>
                  </a:moveTo>
                  <a:lnTo>
                    <a:pt x="128588" y="75020"/>
                  </a:lnTo>
                  <a:lnTo>
                    <a:pt x="85725" y="75020"/>
                  </a:lnTo>
                  <a:lnTo>
                    <a:pt x="85725" y="128290"/>
                  </a:lnTo>
                  <a:cubicBezTo>
                    <a:pt x="110115" y="125538"/>
                    <a:pt x="128558" y="104923"/>
                    <a:pt x="128588" y="80378"/>
                  </a:cubicBezTo>
                  <a:close/>
                </a:path>
              </a:pathLst>
            </a:custGeom>
            <a:solidFill>
              <a:srgbClr val="2E7D32"/>
            </a:solidFill>
            <a:ln>
              <a:noFill/>
            </a:ln>
          </p:spPr>
        </p:sp>
      </p:grpSp>
      <p:sp>
        <p:nvSpPr>
          <p:cNvPr id="44" name="TextBox 44"/>
          <p:cNvSpPr txBox="1"/>
          <p:nvPr/>
        </p:nvSpPr>
        <p:spPr>
          <a:xfrm>
            <a:off x="7033260" y="2242185"/>
            <a:ext cx="102180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Step 1: 复现</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366760" y="2242185"/>
            <a:ext cx="237477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稳定复现Bug，记录最少复现步骤</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6498193" y="2524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6572250" y="2857500"/>
            <a:ext cx="4762500" cy="428625"/>
          </a:xfrm>
          <a:prstGeom prst="roundRect">
            <a:avLst>
              <a:gd name="adj" fmla="val 17778"/>
            </a:avLst>
          </a:prstGeom>
          <a:solidFill>
            <a:srgbClr val="E0F7FA"/>
          </a:solidFill>
          <a:ln>
            <a:noFill/>
          </a:ln>
        </p:spPr>
      </p:sp>
      <p:grpSp>
        <p:nvGrpSpPr>
          <p:cNvPr id="50" name="Group 50"/>
          <p:cNvGrpSpPr/>
          <p:nvPr/>
        </p:nvGrpSpPr>
        <p:grpSpPr>
          <a:xfrm>
            <a:off x="6789539" y="3016447"/>
            <a:ext cx="117873" cy="139304"/>
            <a:chOff x="6789539" y="3016447"/>
            <a:chExt cx="117873" cy="139304"/>
          </a:xfrm>
        </p:grpSpPr>
        <p:sp>
          <p:nvSpPr>
            <p:cNvPr id="48" name="Freeform 48"/>
            <p:cNvSpPr/>
            <p:nvPr/>
          </p:nvSpPr>
          <p:spPr>
            <a:xfrm>
              <a:off x="6864548" y="3021806"/>
              <a:ext cx="37505" cy="37505"/>
            </a:xfrm>
            <a:custGeom>
              <a:avLst/>
              <a:gdLst/>
              <a:ahLst/>
              <a:cxnLst/>
              <a:rect l="l" t="t" r="r" b="b"/>
              <a:pathLst>
                <a:path w="37505" h="37505">
                  <a:moveTo>
                    <a:pt x="37505" y="37505"/>
                  </a:moveTo>
                  <a:lnTo>
                    <a:pt x="0" y="37505"/>
                  </a:lnTo>
                  <a:lnTo>
                    <a:pt x="0" y="0"/>
                  </a:lnTo>
                  <a:close/>
                </a:path>
              </a:pathLst>
            </a:custGeom>
            <a:solidFill>
              <a:srgbClr val="00838F">
                <a:alpha val="20000"/>
              </a:srgbClr>
            </a:solidFill>
            <a:ln>
              <a:noFill/>
            </a:ln>
          </p:spPr>
        </p:sp>
        <p:sp>
          <p:nvSpPr>
            <p:cNvPr id="49" name="Freeform 49"/>
            <p:cNvSpPr/>
            <p:nvPr/>
          </p:nvSpPr>
          <p:spPr>
            <a:xfrm>
              <a:off x="6789539" y="3016447"/>
              <a:ext cx="117873" cy="139304"/>
            </a:xfrm>
            <a:custGeom>
              <a:avLst/>
              <a:gdLst/>
              <a:ahLst/>
              <a:cxnLst/>
              <a:rect l="l" t="t" r="r" b="b"/>
              <a:pathLst>
                <a:path w="117873" h="139304">
                  <a:moveTo>
                    <a:pt x="116305" y="39073"/>
                  </a:moveTo>
                  <a:lnTo>
                    <a:pt x="78800" y="1568"/>
                  </a:lnTo>
                  <a:cubicBezTo>
                    <a:pt x="77794" y="564"/>
                    <a:pt x="76431" y="0"/>
                    <a:pt x="75009" y="1"/>
                  </a:cubicBezTo>
                  <a:lnTo>
                    <a:pt x="10716" y="1"/>
                  </a:lnTo>
                  <a:cubicBezTo>
                    <a:pt x="4798" y="1"/>
                    <a:pt x="0" y="4799"/>
                    <a:pt x="0" y="10717"/>
                  </a:cubicBezTo>
                  <a:lnTo>
                    <a:pt x="0" y="128589"/>
                  </a:lnTo>
                  <a:cubicBezTo>
                    <a:pt x="0" y="134507"/>
                    <a:pt x="4798" y="139304"/>
                    <a:pt x="10716" y="139304"/>
                  </a:cubicBezTo>
                  <a:lnTo>
                    <a:pt x="107156" y="139304"/>
                  </a:lnTo>
                  <a:cubicBezTo>
                    <a:pt x="113074" y="139304"/>
                    <a:pt x="117872" y="134507"/>
                    <a:pt x="117872" y="128589"/>
                  </a:cubicBezTo>
                  <a:lnTo>
                    <a:pt x="117872" y="42864"/>
                  </a:lnTo>
                  <a:cubicBezTo>
                    <a:pt x="117873" y="41442"/>
                    <a:pt x="117309" y="40079"/>
                    <a:pt x="116305" y="39073"/>
                  </a:cubicBezTo>
                  <a:close/>
                  <a:moveTo>
                    <a:pt x="80367" y="18291"/>
                  </a:moveTo>
                  <a:lnTo>
                    <a:pt x="99582" y="37506"/>
                  </a:lnTo>
                  <a:lnTo>
                    <a:pt x="80367" y="37506"/>
                  </a:lnTo>
                  <a:close/>
                  <a:moveTo>
                    <a:pt x="107156" y="128589"/>
                  </a:moveTo>
                  <a:lnTo>
                    <a:pt x="10716" y="128589"/>
                  </a:lnTo>
                  <a:lnTo>
                    <a:pt x="10716" y="10717"/>
                  </a:lnTo>
                  <a:lnTo>
                    <a:pt x="69652" y="10717"/>
                  </a:lnTo>
                  <a:lnTo>
                    <a:pt x="69652" y="42864"/>
                  </a:lnTo>
                  <a:cubicBezTo>
                    <a:pt x="69652" y="45823"/>
                    <a:pt x="72050" y="48221"/>
                    <a:pt x="75009" y="48221"/>
                  </a:cubicBezTo>
                  <a:lnTo>
                    <a:pt x="107156" y="48221"/>
                  </a:lnTo>
                  <a:lnTo>
                    <a:pt x="107156" y="128589"/>
                  </a:lnTo>
                  <a:close/>
                  <a:moveTo>
                    <a:pt x="85725" y="75010"/>
                  </a:moveTo>
                  <a:cubicBezTo>
                    <a:pt x="85725" y="77970"/>
                    <a:pt x="83326" y="80368"/>
                    <a:pt x="80367" y="80368"/>
                  </a:cubicBezTo>
                  <a:lnTo>
                    <a:pt x="37505" y="80368"/>
                  </a:lnTo>
                  <a:cubicBezTo>
                    <a:pt x="34546" y="80368"/>
                    <a:pt x="32147" y="77970"/>
                    <a:pt x="32147" y="75010"/>
                  </a:cubicBezTo>
                  <a:cubicBezTo>
                    <a:pt x="32147" y="72051"/>
                    <a:pt x="34546" y="69653"/>
                    <a:pt x="37505" y="69653"/>
                  </a:cubicBezTo>
                  <a:lnTo>
                    <a:pt x="80367" y="69653"/>
                  </a:lnTo>
                  <a:cubicBezTo>
                    <a:pt x="83326" y="69653"/>
                    <a:pt x="85725" y="72051"/>
                    <a:pt x="85725" y="75010"/>
                  </a:cubicBezTo>
                  <a:close/>
                  <a:moveTo>
                    <a:pt x="85725" y="96442"/>
                  </a:moveTo>
                  <a:cubicBezTo>
                    <a:pt x="85725" y="99401"/>
                    <a:pt x="83326" y="101800"/>
                    <a:pt x="80367" y="101800"/>
                  </a:cubicBezTo>
                  <a:lnTo>
                    <a:pt x="37505" y="101800"/>
                  </a:lnTo>
                  <a:cubicBezTo>
                    <a:pt x="34546" y="101800"/>
                    <a:pt x="32147" y="99401"/>
                    <a:pt x="32147" y="96442"/>
                  </a:cubicBezTo>
                  <a:cubicBezTo>
                    <a:pt x="32147" y="93483"/>
                    <a:pt x="34546" y="91084"/>
                    <a:pt x="37505" y="91084"/>
                  </a:cubicBezTo>
                  <a:lnTo>
                    <a:pt x="80367" y="91084"/>
                  </a:lnTo>
                  <a:cubicBezTo>
                    <a:pt x="83326" y="91084"/>
                    <a:pt x="85725" y="93483"/>
                    <a:pt x="85725" y="96442"/>
                  </a:cubicBezTo>
                  <a:close/>
                </a:path>
              </a:pathLst>
            </a:custGeom>
            <a:solidFill>
              <a:srgbClr val="00838F"/>
            </a:solidFill>
            <a:ln>
              <a:noFill/>
            </a:ln>
          </p:spPr>
        </p:sp>
      </p:grpSp>
      <p:sp>
        <p:nvSpPr>
          <p:cNvPr id="51" name="TextBox 51"/>
          <p:cNvSpPr txBox="1"/>
          <p:nvPr/>
        </p:nvSpPr>
        <p:spPr>
          <a:xfrm>
            <a:off x="7033260" y="3004185"/>
            <a:ext cx="1357846"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Step 2: 日志收集</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8366760" y="300418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收集错误日志、堆栈跟踪、输入数据</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6498193" y="3286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6572250" y="3619500"/>
            <a:ext cx="4762500" cy="428625"/>
          </a:xfrm>
          <a:prstGeom prst="roundRect">
            <a:avLst>
              <a:gd name="adj" fmla="val 17778"/>
            </a:avLst>
          </a:prstGeom>
          <a:solidFill>
            <a:srgbClr val="FFF3E0"/>
          </a:solidFill>
          <a:ln>
            <a:noFill/>
          </a:ln>
        </p:spPr>
      </p:sp>
      <p:grpSp>
        <p:nvGrpSpPr>
          <p:cNvPr id="57" name="Group 57"/>
          <p:cNvGrpSpPr/>
          <p:nvPr/>
        </p:nvGrpSpPr>
        <p:grpSpPr>
          <a:xfrm>
            <a:off x="6768103" y="3775756"/>
            <a:ext cx="160739" cy="139330"/>
            <a:chOff x="6768103" y="3775756"/>
            <a:chExt cx="160739" cy="139330"/>
          </a:xfrm>
        </p:grpSpPr>
        <p:sp>
          <p:nvSpPr>
            <p:cNvPr id="55" name="Freeform 55"/>
            <p:cNvSpPr/>
            <p:nvPr/>
          </p:nvSpPr>
          <p:spPr>
            <a:xfrm>
              <a:off x="6773437" y="3783806"/>
              <a:ext cx="150052" cy="123230"/>
            </a:xfrm>
            <a:custGeom>
              <a:avLst/>
              <a:gdLst/>
              <a:ahLst/>
              <a:cxnLst/>
              <a:rect l="l" t="t" r="r" b="b"/>
              <a:pathLst>
                <a:path w="150052" h="123230">
                  <a:moveTo>
                    <a:pt x="150048" y="61615"/>
                  </a:moveTo>
                  <a:cubicBezTo>
                    <a:pt x="150052" y="75242"/>
                    <a:pt x="141464" y="87391"/>
                    <a:pt x="128616" y="91933"/>
                  </a:cubicBezTo>
                  <a:lnTo>
                    <a:pt x="128616" y="91933"/>
                  </a:lnTo>
                  <a:lnTo>
                    <a:pt x="128616" y="96441"/>
                  </a:lnTo>
                  <a:cubicBezTo>
                    <a:pt x="128616" y="111236"/>
                    <a:pt x="116622" y="123230"/>
                    <a:pt x="101827" y="123230"/>
                  </a:cubicBezTo>
                  <a:cubicBezTo>
                    <a:pt x="87032" y="123230"/>
                    <a:pt x="75038" y="111236"/>
                    <a:pt x="75038" y="96441"/>
                  </a:cubicBezTo>
                  <a:cubicBezTo>
                    <a:pt x="75038" y="111236"/>
                    <a:pt x="63044" y="123230"/>
                    <a:pt x="48249" y="123230"/>
                  </a:cubicBezTo>
                  <a:cubicBezTo>
                    <a:pt x="33454" y="123230"/>
                    <a:pt x="21460" y="111236"/>
                    <a:pt x="21460" y="96441"/>
                  </a:cubicBezTo>
                  <a:lnTo>
                    <a:pt x="21460" y="91933"/>
                  </a:lnTo>
                  <a:lnTo>
                    <a:pt x="21460" y="91933"/>
                  </a:lnTo>
                  <a:cubicBezTo>
                    <a:pt x="8601" y="87401"/>
                    <a:pt x="0" y="75249"/>
                    <a:pt x="0" y="61615"/>
                  </a:cubicBezTo>
                  <a:cubicBezTo>
                    <a:pt x="0" y="47980"/>
                    <a:pt x="8601" y="35829"/>
                    <a:pt x="21460" y="31296"/>
                  </a:cubicBezTo>
                  <a:lnTo>
                    <a:pt x="21460" y="26789"/>
                  </a:lnTo>
                  <a:cubicBezTo>
                    <a:pt x="21460" y="11994"/>
                    <a:pt x="33454" y="0"/>
                    <a:pt x="48249" y="0"/>
                  </a:cubicBezTo>
                  <a:cubicBezTo>
                    <a:pt x="63044" y="0"/>
                    <a:pt x="75038" y="11994"/>
                    <a:pt x="75038" y="26789"/>
                  </a:cubicBezTo>
                  <a:cubicBezTo>
                    <a:pt x="75038" y="11994"/>
                    <a:pt x="87032" y="0"/>
                    <a:pt x="101827" y="0"/>
                  </a:cubicBezTo>
                  <a:cubicBezTo>
                    <a:pt x="116622" y="0"/>
                    <a:pt x="128616" y="11994"/>
                    <a:pt x="128616" y="26789"/>
                  </a:cubicBezTo>
                  <a:lnTo>
                    <a:pt x="128616" y="31296"/>
                  </a:lnTo>
                  <a:cubicBezTo>
                    <a:pt x="141464" y="35839"/>
                    <a:pt x="150052" y="47988"/>
                    <a:pt x="150048" y="61615"/>
                  </a:cubicBezTo>
                  <a:close/>
                </a:path>
              </a:pathLst>
            </a:custGeom>
            <a:solidFill>
              <a:srgbClr val="FF6F00">
                <a:alpha val="20000"/>
              </a:srgbClr>
            </a:solidFill>
            <a:ln>
              <a:noFill/>
            </a:ln>
          </p:spPr>
        </p:sp>
        <p:sp>
          <p:nvSpPr>
            <p:cNvPr id="56" name="Freeform 56"/>
            <p:cNvSpPr/>
            <p:nvPr/>
          </p:nvSpPr>
          <p:spPr>
            <a:xfrm>
              <a:off x="6768103" y="3775756"/>
              <a:ext cx="160739" cy="139330"/>
            </a:xfrm>
            <a:custGeom>
              <a:avLst/>
              <a:gdLst/>
              <a:ahLst/>
              <a:cxnLst/>
              <a:rect l="l" t="t" r="r" b="b"/>
              <a:pathLst>
                <a:path w="160739" h="139330">
                  <a:moveTo>
                    <a:pt x="160739" y="69665"/>
                  </a:moveTo>
                  <a:cubicBezTo>
                    <a:pt x="160725" y="55181"/>
                    <a:pt x="152387" y="41994"/>
                    <a:pt x="139308" y="35770"/>
                  </a:cubicBezTo>
                  <a:lnTo>
                    <a:pt x="139308" y="34839"/>
                  </a:lnTo>
                  <a:cubicBezTo>
                    <a:pt x="139295" y="20665"/>
                    <a:pt x="130000" y="8172"/>
                    <a:pt x="116428" y="4086"/>
                  </a:cubicBezTo>
                  <a:cubicBezTo>
                    <a:pt x="102855" y="0"/>
                    <a:pt x="88207" y="5286"/>
                    <a:pt x="80372" y="17098"/>
                  </a:cubicBezTo>
                  <a:cubicBezTo>
                    <a:pt x="72537" y="5286"/>
                    <a:pt x="57890" y="0"/>
                    <a:pt x="44317" y="4086"/>
                  </a:cubicBezTo>
                  <a:cubicBezTo>
                    <a:pt x="30744" y="8172"/>
                    <a:pt x="21449" y="20665"/>
                    <a:pt x="21436" y="34839"/>
                  </a:cubicBezTo>
                  <a:lnTo>
                    <a:pt x="21436" y="35770"/>
                  </a:lnTo>
                  <a:cubicBezTo>
                    <a:pt x="8345" y="41978"/>
                    <a:pt x="0" y="55170"/>
                    <a:pt x="0" y="69659"/>
                  </a:cubicBezTo>
                  <a:cubicBezTo>
                    <a:pt x="0" y="84147"/>
                    <a:pt x="8345" y="97339"/>
                    <a:pt x="21436" y="103547"/>
                  </a:cubicBezTo>
                  <a:lnTo>
                    <a:pt x="21436" y="104491"/>
                  </a:lnTo>
                  <a:cubicBezTo>
                    <a:pt x="21449" y="118666"/>
                    <a:pt x="30744" y="131159"/>
                    <a:pt x="44317" y="135245"/>
                  </a:cubicBezTo>
                  <a:cubicBezTo>
                    <a:pt x="57890" y="139330"/>
                    <a:pt x="72537" y="134044"/>
                    <a:pt x="80372" y="122232"/>
                  </a:cubicBezTo>
                  <a:cubicBezTo>
                    <a:pt x="88207" y="134044"/>
                    <a:pt x="102855" y="139330"/>
                    <a:pt x="116428" y="135245"/>
                  </a:cubicBezTo>
                  <a:cubicBezTo>
                    <a:pt x="130000" y="131159"/>
                    <a:pt x="139295" y="118666"/>
                    <a:pt x="139308" y="104491"/>
                  </a:cubicBezTo>
                  <a:lnTo>
                    <a:pt x="139308" y="103547"/>
                  </a:lnTo>
                  <a:cubicBezTo>
                    <a:pt x="152385" y="97327"/>
                    <a:pt x="160723" y="84146"/>
                    <a:pt x="160739" y="69665"/>
                  </a:cubicBezTo>
                  <a:close/>
                  <a:moveTo>
                    <a:pt x="53583" y="125922"/>
                  </a:moveTo>
                  <a:cubicBezTo>
                    <a:pt x="42640" y="125921"/>
                    <a:pt x="33456" y="117675"/>
                    <a:pt x="32279" y="106795"/>
                  </a:cubicBezTo>
                  <a:cubicBezTo>
                    <a:pt x="34012" y="107042"/>
                    <a:pt x="35760" y="107167"/>
                    <a:pt x="37510" y="107170"/>
                  </a:cubicBezTo>
                  <a:lnTo>
                    <a:pt x="42868" y="107170"/>
                  </a:lnTo>
                  <a:cubicBezTo>
                    <a:pt x="45827" y="107170"/>
                    <a:pt x="48225" y="104771"/>
                    <a:pt x="48225" y="101812"/>
                  </a:cubicBezTo>
                  <a:cubicBezTo>
                    <a:pt x="48225" y="98853"/>
                    <a:pt x="45827" y="96454"/>
                    <a:pt x="42868" y="96454"/>
                  </a:cubicBezTo>
                  <a:lnTo>
                    <a:pt x="37510" y="96454"/>
                  </a:lnTo>
                  <a:cubicBezTo>
                    <a:pt x="24450" y="96470"/>
                    <a:pt x="13282" y="87065"/>
                    <a:pt x="11075" y="74193"/>
                  </a:cubicBezTo>
                  <a:cubicBezTo>
                    <a:pt x="8867" y="61321"/>
                    <a:pt x="16264" y="48733"/>
                    <a:pt x="28582" y="44396"/>
                  </a:cubicBezTo>
                  <a:cubicBezTo>
                    <a:pt x="30721" y="43639"/>
                    <a:pt x="32152" y="41616"/>
                    <a:pt x="32152" y="39347"/>
                  </a:cubicBezTo>
                  <a:lnTo>
                    <a:pt x="32152" y="34839"/>
                  </a:lnTo>
                  <a:cubicBezTo>
                    <a:pt x="32152" y="23003"/>
                    <a:pt x="41747" y="13408"/>
                    <a:pt x="53583" y="13408"/>
                  </a:cubicBezTo>
                  <a:cubicBezTo>
                    <a:pt x="65419" y="13408"/>
                    <a:pt x="75014" y="23003"/>
                    <a:pt x="75014" y="34839"/>
                  </a:cubicBezTo>
                  <a:lnTo>
                    <a:pt x="75014" y="80555"/>
                  </a:lnTo>
                  <a:cubicBezTo>
                    <a:pt x="69131" y="75263"/>
                    <a:pt x="61496" y="72338"/>
                    <a:pt x="53583" y="72344"/>
                  </a:cubicBezTo>
                  <a:cubicBezTo>
                    <a:pt x="50624" y="72344"/>
                    <a:pt x="48225" y="74743"/>
                    <a:pt x="48225" y="77702"/>
                  </a:cubicBezTo>
                  <a:cubicBezTo>
                    <a:pt x="48225" y="80661"/>
                    <a:pt x="50624" y="83060"/>
                    <a:pt x="53583" y="83060"/>
                  </a:cubicBezTo>
                  <a:cubicBezTo>
                    <a:pt x="65419" y="83060"/>
                    <a:pt x="75014" y="92655"/>
                    <a:pt x="75014" y="104491"/>
                  </a:cubicBezTo>
                  <a:cubicBezTo>
                    <a:pt x="75014" y="116327"/>
                    <a:pt x="65419" y="125922"/>
                    <a:pt x="53583" y="125922"/>
                  </a:cubicBezTo>
                  <a:close/>
                  <a:moveTo>
                    <a:pt x="123235" y="96454"/>
                  </a:moveTo>
                  <a:lnTo>
                    <a:pt x="117877" y="96454"/>
                  </a:lnTo>
                  <a:cubicBezTo>
                    <a:pt x="114918" y="96454"/>
                    <a:pt x="112519" y="98853"/>
                    <a:pt x="112519" y="101812"/>
                  </a:cubicBezTo>
                  <a:cubicBezTo>
                    <a:pt x="112519" y="104771"/>
                    <a:pt x="114918" y="107170"/>
                    <a:pt x="117877" y="107170"/>
                  </a:cubicBezTo>
                  <a:lnTo>
                    <a:pt x="123235" y="107170"/>
                  </a:lnTo>
                  <a:cubicBezTo>
                    <a:pt x="124985" y="107167"/>
                    <a:pt x="126733" y="107042"/>
                    <a:pt x="128465" y="106795"/>
                  </a:cubicBezTo>
                  <a:cubicBezTo>
                    <a:pt x="127225" y="118265"/>
                    <a:pt x="117127" y="126695"/>
                    <a:pt x="105620" y="125867"/>
                  </a:cubicBezTo>
                  <a:cubicBezTo>
                    <a:pt x="94112" y="125039"/>
                    <a:pt x="85326" y="115249"/>
                    <a:pt x="85741" y="103720"/>
                  </a:cubicBezTo>
                  <a:cubicBezTo>
                    <a:pt x="86156" y="92190"/>
                    <a:pt x="95624" y="83058"/>
                    <a:pt x="107161" y="83060"/>
                  </a:cubicBezTo>
                  <a:cubicBezTo>
                    <a:pt x="110120" y="83060"/>
                    <a:pt x="112519" y="80661"/>
                    <a:pt x="112519" y="77702"/>
                  </a:cubicBezTo>
                  <a:cubicBezTo>
                    <a:pt x="112519" y="74743"/>
                    <a:pt x="110120" y="72344"/>
                    <a:pt x="107161" y="72344"/>
                  </a:cubicBezTo>
                  <a:cubicBezTo>
                    <a:pt x="99248" y="72338"/>
                    <a:pt x="91613" y="75263"/>
                    <a:pt x="85730" y="80555"/>
                  </a:cubicBezTo>
                  <a:lnTo>
                    <a:pt x="85730" y="34839"/>
                  </a:lnTo>
                  <a:cubicBezTo>
                    <a:pt x="85730" y="23003"/>
                    <a:pt x="95325" y="13408"/>
                    <a:pt x="107161" y="13408"/>
                  </a:cubicBezTo>
                  <a:cubicBezTo>
                    <a:pt x="118997" y="13408"/>
                    <a:pt x="128593" y="23003"/>
                    <a:pt x="128593" y="34839"/>
                  </a:cubicBezTo>
                  <a:lnTo>
                    <a:pt x="128593" y="39347"/>
                  </a:lnTo>
                  <a:cubicBezTo>
                    <a:pt x="128593" y="41616"/>
                    <a:pt x="130023" y="43639"/>
                    <a:pt x="132162" y="44396"/>
                  </a:cubicBezTo>
                  <a:cubicBezTo>
                    <a:pt x="144481" y="48733"/>
                    <a:pt x="151877" y="61321"/>
                    <a:pt x="149670" y="74193"/>
                  </a:cubicBezTo>
                  <a:cubicBezTo>
                    <a:pt x="147462" y="87065"/>
                    <a:pt x="136295" y="96470"/>
                    <a:pt x="123235" y="96454"/>
                  </a:cubicBezTo>
                  <a:close/>
                  <a:moveTo>
                    <a:pt x="133950" y="61628"/>
                  </a:moveTo>
                  <a:cubicBezTo>
                    <a:pt x="133950" y="64588"/>
                    <a:pt x="131552" y="66986"/>
                    <a:pt x="128593" y="66986"/>
                  </a:cubicBezTo>
                  <a:lnTo>
                    <a:pt x="125914" y="66986"/>
                  </a:lnTo>
                  <a:cubicBezTo>
                    <a:pt x="112598" y="66986"/>
                    <a:pt x="101803" y="56192"/>
                    <a:pt x="101803" y="42876"/>
                  </a:cubicBezTo>
                  <a:lnTo>
                    <a:pt x="101803" y="40197"/>
                  </a:lnTo>
                  <a:cubicBezTo>
                    <a:pt x="101803" y="37238"/>
                    <a:pt x="104202" y="34839"/>
                    <a:pt x="107161" y="34839"/>
                  </a:cubicBezTo>
                  <a:cubicBezTo>
                    <a:pt x="110120" y="34839"/>
                    <a:pt x="112519" y="37238"/>
                    <a:pt x="112519" y="40197"/>
                  </a:cubicBezTo>
                  <a:lnTo>
                    <a:pt x="112519" y="42876"/>
                  </a:lnTo>
                  <a:cubicBezTo>
                    <a:pt x="112519" y="50274"/>
                    <a:pt x="118516" y="56271"/>
                    <a:pt x="125914" y="56271"/>
                  </a:cubicBezTo>
                  <a:lnTo>
                    <a:pt x="128593" y="56271"/>
                  </a:lnTo>
                  <a:cubicBezTo>
                    <a:pt x="131552" y="56271"/>
                    <a:pt x="133950" y="58669"/>
                    <a:pt x="133950" y="61628"/>
                  </a:cubicBezTo>
                  <a:close/>
                  <a:moveTo>
                    <a:pt x="34831" y="66986"/>
                  </a:moveTo>
                  <a:lnTo>
                    <a:pt x="32152" y="66986"/>
                  </a:lnTo>
                  <a:cubicBezTo>
                    <a:pt x="29193" y="66986"/>
                    <a:pt x="26794" y="64588"/>
                    <a:pt x="26794" y="61628"/>
                  </a:cubicBezTo>
                  <a:cubicBezTo>
                    <a:pt x="26794" y="58669"/>
                    <a:pt x="29193" y="56271"/>
                    <a:pt x="32152" y="56271"/>
                  </a:cubicBezTo>
                  <a:lnTo>
                    <a:pt x="34831" y="56271"/>
                  </a:lnTo>
                  <a:cubicBezTo>
                    <a:pt x="42228" y="56271"/>
                    <a:pt x="48225" y="50274"/>
                    <a:pt x="48225" y="42876"/>
                  </a:cubicBezTo>
                  <a:lnTo>
                    <a:pt x="48225" y="40197"/>
                  </a:lnTo>
                  <a:cubicBezTo>
                    <a:pt x="48225" y="37238"/>
                    <a:pt x="50624" y="34839"/>
                    <a:pt x="53583" y="34839"/>
                  </a:cubicBezTo>
                  <a:cubicBezTo>
                    <a:pt x="56542" y="34839"/>
                    <a:pt x="58941" y="37238"/>
                    <a:pt x="58941" y="40197"/>
                  </a:cubicBezTo>
                  <a:lnTo>
                    <a:pt x="58941" y="42876"/>
                  </a:lnTo>
                  <a:cubicBezTo>
                    <a:pt x="58941" y="56192"/>
                    <a:pt x="48146" y="66986"/>
                    <a:pt x="34831" y="66986"/>
                  </a:cubicBezTo>
                  <a:close/>
                </a:path>
              </a:pathLst>
            </a:custGeom>
            <a:solidFill>
              <a:srgbClr val="FF6F00"/>
            </a:solidFill>
            <a:ln>
              <a:noFill/>
            </a:ln>
          </p:spPr>
        </p:sp>
      </p:grpSp>
      <p:sp>
        <p:nvSpPr>
          <p:cNvPr id="58" name="TextBox 58"/>
          <p:cNvSpPr txBox="1"/>
          <p:nvPr/>
        </p:nvSpPr>
        <p:spPr>
          <a:xfrm>
            <a:off x="7033260" y="3766185"/>
            <a:ext cx="1357846"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Step 3: 假设生成</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8366760" y="3766185"/>
            <a:ext cx="24067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人列可能原因，AI提供分析和补充</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6498193" y="4048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61" name="Rectangle 61"/>
          <p:cNvSpPr/>
          <p:nvPr/>
        </p:nvSpPr>
        <p:spPr>
          <a:xfrm>
            <a:off x="6572250" y="4381500"/>
            <a:ext cx="4762500" cy="428625"/>
          </a:xfrm>
          <a:prstGeom prst="roundRect">
            <a:avLst>
              <a:gd name="adj" fmla="val 17778"/>
            </a:avLst>
          </a:prstGeom>
          <a:solidFill>
            <a:srgbClr val="E3F2FD"/>
          </a:solidFill>
          <a:ln>
            <a:noFill/>
          </a:ln>
        </p:spPr>
      </p:sp>
      <p:grpSp>
        <p:nvGrpSpPr>
          <p:cNvPr id="64" name="Group 64"/>
          <p:cNvGrpSpPr/>
          <p:nvPr/>
        </p:nvGrpSpPr>
        <p:grpSpPr>
          <a:xfrm>
            <a:off x="6772729" y="4534328"/>
            <a:ext cx="145924" cy="145950"/>
            <a:chOff x="6772729" y="4534328"/>
            <a:chExt cx="145924" cy="145950"/>
          </a:xfrm>
        </p:grpSpPr>
        <p:sp>
          <p:nvSpPr>
            <p:cNvPr id="62" name="Freeform 62"/>
            <p:cNvSpPr/>
            <p:nvPr/>
          </p:nvSpPr>
          <p:spPr>
            <a:xfrm>
              <a:off x="6784181" y="4545806"/>
              <a:ext cx="107156" cy="107156"/>
            </a:xfrm>
            <a:custGeom>
              <a:avLst/>
              <a:gdLst/>
              <a:ahLst/>
              <a:cxnLst/>
              <a:rect l="l" t="t" r="r" b="b"/>
              <a:pathLst>
                <a:path w="107156" h="107156">
                  <a:moveTo>
                    <a:pt x="107156" y="53578"/>
                  </a:moveTo>
                  <a:cubicBezTo>
                    <a:pt x="107156" y="83169"/>
                    <a:pt x="83169" y="107156"/>
                    <a:pt x="53578" y="107156"/>
                  </a:cubicBezTo>
                  <a:cubicBezTo>
                    <a:pt x="23988" y="107156"/>
                    <a:pt x="0" y="83169"/>
                    <a:pt x="0" y="53578"/>
                  </a:cubicBezTo>
                  <a:cubicBezTo>
                    <a:pt x="0" y="23988"/>
                    <a:pt x="23988" y="0"/>
                    <a:pt x="53578" y="0"/>
                  </a:cubicBezTo>
                  <a:cubicBezTo>
                    <a:pt x="83169" y="0"/>
                    <a:pt x="107156" y="23988"/>
                    <a:pt x="107156" y="53578"/>
                  </a:cubicBezTo>
                  <a:close/>
                </a:path>
              </a:pathLst>
            </a:custGeom>
            <a:solidFill>
              <a:srgbClr val="1565C0">
                <a:alpha val="20000"/>
              </a:srgbClr>
            </a:solidFill>
            <a:ln>
              <a:noFill/>
            </a:ln>
          </p:spPr>
        </p:sp>
        <p:sp>
          <p:nvSpPr>
            <p:cNvPr id="63" name="Freeform 63"/>
            <p:cNvSpPr/>
            <p:nvPr/>
          </p:nvSpPr>
          <p:spPr>
            <a:xfrm>
              <a:off x="6772729" y="4534328"/>
              <a:ext cx="145924" cy="145950"/>
            </a:xfrm>
            <a:custGeom>
              <a:avLst/>
              <a:gdLst/>
              <a:ahLst/>
              <a:cxnLst/>
              <a:rect l="l" t="t" r="r" b="b"/>
              <a:pathLst>
                <a:path w="145924" h="145950">
                  <a:moveTo>
                    <a:pt x="143831" y="136275"/>
                  </a:moveTo>
                  <a:lnTo>
                    <a:pt x="110304" y="102748"/>
                  </a:lnTo>
                  <a:cubicBezTo>
                    <a:pt x="130530" y="78490"/>
                    <a:pt x="128099" y="42614"/>
                    <a:pt x="104784" y="21307"/>
                  </a:cubicBezTo>
                  <a:cubicBezTo>
                    <a:pt x="81469" y="0"/>
                    <a:pt x="45519" y="801"/>
                    <a:pt x="23176" y="23124"/>
                  </a:cubicBezTo>
                  <a:cubicBezTo>
                    <a:pt x="832" y="45448"/>
                    <a:pt x="0" y="81397"/>
                    <a:pt x="21286" y="104731"/>
                  </a:cubicBezTo>
                  <a:cubicBezTo>
                    <a:pt x="42572" y="128064"/>
                    <a:pt x="78447" y="130528"/>
                    <a:pt x="102723" y="110323"/>
                  </a:cubicBezTo>
                  <a:lnTo>
                    <a:pt x="136249" y="143856"/>
                  </a:lnTo>
                  <a:cubicBezTo>
                    <a:pt x="138343" y="145950"/>
                    <a:pt x="141737" y="145950"/>
                    <a:pt x="143831" y="143856"/>
                  </a:cubicBezTo>
                  <a:cubicBezTo>
                    <a:pt x="145924" y="141763"/>
                    <a:pt x="145924" y="138368"/>
                    <a:pt x="143831" y="136275"/>
                  </a:cubicBezTo>
                  <a:close/>
                  <a:moveTo>
                    <a:pt x="16810" y="65056"/>
                  </a:moveTo>
                  <a:cubicBezTo>
                    <a:pt x="16810" y="38425"/>
                    <a:pt x="38399" y="16836"/>
                    <a:pt x="65031" y="16836"/>
                  </a:cubicBezTo>
                  <a:cubicBezTo>
                    <a:pt x="91662" y="16836"/>
                    <a:pt x="113251" y="38425"/>
                    <a:pt x="113251" y="65056"/>
                  </a:cubicBezTo>
                  <a:cubicBezTo>
                    <a:pt x="113251" y="91687"/>
                    <a:pt x="91662" y="113276"/>
                    <a:pt x="65031" y="113276"/>
                  </a:cubicBezTo>
                  <a:cubicBezTo>
                    <a:pt x="38412" y="113247"/>
                    <a:pt x="16840" y="91675"/>
                    <a:pt x="16810" y="65056"/>
                  </a:cubicBezTo>
                  <a:close/>
                </a:path>
              </a:pathLst>
            </a:custGeom>
            <a:solidFill>
              <a:srgbClr val="1565C0"/>
            </a:solidFill>
            <a:ln>
              <a:noFill/>
            </a:ln>
          </p:spPr>
        </p:sp>
      </p:grpSp>
      <p:sp>
        <p:nvSpPr>
          <p:cNvPr id="65" name="TextBox 65"/>
          <p:cNvSpPr txBox="1"/>
          <p:nvPr/>
        </p:nvSpPr>
        <p:spPr>
          <a:xfrm>
            <a:off x="7033260" y="4528185"/>
            <a:ext cx="135784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Step 4: 根因定位</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8366760" y="4528185"/>
            <a:ext cx="32308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用最小实验验证每个假设，定位到精确代码行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7" name="TextBox 67"/>
          <p:cNvSpPr txBox="1"/>
          <p:nvPr/>
        </p:nvSpPr>
        <p:spPr>
          <a:xfrm>
            <a:off x="6498193" y="4810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68" name="Rectangle 68"/>
          <p:cNvSpPr/>
          <p:nvPr/>
        </p:nvSpPr>
        <p:spPr>
          <a:xfrm>
            <a:off x="6572250" y="5143500"/>
            <a:ext cx="4762500" cy="428625"/>
          </a:xfrm>
          <a:prstGeom prst="roundRect">
            <a:avLst>
              <a:gd name="adj" fmla="val 17778"/>
            </a:avLst>
          </a:prstGeom>
          <a:solidFill>
            <a:srgbClr val="E8F5E9"/>
          </a:solidFill>
          <a:ln>
            <a:noFill/>
          </a:ln>
        </p:spPr>
      </p:sp>
      <p:grpSp>
        <p:nvGrpSpPr>
          <p:cNvPr id="71" name="Group 71"/>
          <p:cNvGrpSpPr/>
          <p:nvPr/>
        </p:nvGrpSpPr>
        <p:grpSpPr>
          <a:xfrm>
            <a:off x="6776722" y="5299944"/>
            <a:ext cx="141421" cy="143916"/>
            <a:chOff x="6776722" y="5299944"/>
            <a:chExt cx="141421" cy="143916"/>
          </a:xfrm>
        </p:grpSpPr>
        <p:sp>
          <p:nvSpPr>
            <p:cNvPr id="69" name="Freeform 69"/>
            <p:cNvSpPr/>
            <p:nvPr/>
          </p:nvSpPr>
          <p:spPr>
            <a:xfrm>
              <a:off x="6782581" y="5304120"/>
              <a:ext cx="130195" cy="133874"/>
            </a:xfrm>
            <a:custGeom>
              <a:avLst/>
              <a:gdLst/>
              <a:ahLst/>
              <a:cxnLst/>
              <a:rect l="l" t="t" r="r" b="b"/>
              <a:pathLst>
                <a:path w="130195" h="133874">
                  <a:moveTo>
                    <a:pt x="130187" y="46549"/>
                  </a:moveTo>
                  <a:cubicBezTo>
                    <a:pt x="130182" y="61714"/>
                    <a:pt x="122163" y="75747"/>
                    <a:pt x="109101" y="83451"/>
                  </a:cubicBezTo>
                  <a:cubicBezTo>
                    <a:pt x="96039" y="91156"/>
                    <a:pt x="79879" y="91385"/>
                    <a:pt x="66604" y="84053"/>
                  </a:cubicBezTo>
                  <a:lnTo>
                    <a:pt x="29059" y="127586"/>
                  </a:lnTo>
                  <a:cubicBezTo>
                    <a:pt x="22771" y="133874"/>
                    <a:pt x="12576" y="133874"/>
                    <a:pt x="6288" y="127586"/>
                  </a:cubicBezTo>
                  <a:cubicBezTo>
                    <a:pt x="0" y="121298"/>
                    <a:pt x="0" y="111103"/>
                    <a:pt x="6288" y="104815"/>
                  </a:cubicBezTo>
                  <a:lnTo>
                    <a:pt x="49820" y="67270"/>
                  </a:lnTo>
                  <a:cubicBezTo>
                    <a:pt x="41043" y="51387"/>
                    <a:pt x="43220" y="31697"/>
                    <a:pt x="55255" y="18114"/>
                  </a:cubicBezTo>
                  <a:cubicBezTo>
                    <a:pt x="67289" y="4532"/>
                    <a:pt x="86573" y="0"/>
                    <a:pt x="103398" y="6800"/>
                  </a:cubicBezTo>
                  <a:lnTo>
                    <a:pt x="76609" y="35833"/>
                  </a:lnTo>
                  <a:lnTo>
                    <a:pt x="80400" y="53474"/>
                  </a:lnTo>
                  <a:lnTo>
                    <a:pt x="98040" y="57264"/>
                  </a:lnTo>
                  <a:lnTo>
                    <a:pt x="127073" y="30475"/>
                  </a:lnTo>
                  <a:cubicBezTo>
                    <a:pt x="129138" y="35582"/>
                    <a:pt x="130195" y="41040"/>
                    <a:pt x="130187" y="46549"/>
                  </a:cubicBezTo>
                  <a:close/>
                </a:path>
              </a:pathLst>
            </a:custGeom>
            <a:solidFill>
              <a:srgbClr val="2E7D32">
                <a:alpha val="20000"/>
              </a:srgbClr>
            </a:solidFill>
            <a:ln>
              <a:noFill/>
            </a:ln>
          </p:spPr>
        </p:sp>
        <p:sp>
          <p:nvSpPr>
            <p:cNvPr id="70" name="Freeform 70"/>
            <p:cNvSpPr/>
            <p:nvPr/>
          </p:nvSpPr>
          <p:spPr>
            <a:xfrm>
              <a:off x="6776722" y="5299944"/>
              <a:ext cx="141421" cy="143916"/>
            </a:xfrm>
            <a:custGeom>
              <a:avLst/>
              <a:gdLst/>
              <a:ahLst/>
              <a:cxnLst/>
              <a:rect l="l" t="t" r="r" b="b"/>
              <a:pathLst>
                <a:path w="141421" h="143916">
                  <a:moveTo>
                    <a:pt x="137895" y="32642"/>
                  </a:moveTo>
                  <a:cubicBezTo>
                    <a:pt x="137236" y="31011"/>
                    <a:pt x="135818" y="29808"/>
                    <a:pt x="134101" y="29423"/>
                  </a:cubicBezTo>
                  <a:cubicBezTo>
                    <a:pt x="132385" y="29038"/>
                    <a:pt x="130589" y="29520"/>
                    <a:pt x="129296" y="30713"/>
                  </a:cubicBezTo>
                  <a:lnTo>
                    <a:pt x="102306" y="55620"/>
                  </a:lnTo>
                  <a:lnTo>
                    <a:pt x="90767" y="53142"/>
                  </a:lnTo>
                  <a:lnTo>
                    <a:pt x="88289" y="41603"/>
                  </a:lnTo>
                  <a:lnTo>
                    <a:pt x="113196" y="14613"/>
                  </a:lnTo>
                  <a:cubicBezTo>
                    <a:pt x="114389" y="13320"/>
                    <a:pt x="114871" y="11524"/>
                    <a:pt x="114486" y="9807"/>
                  </a:cubicBezTo>
                  <a:cubicBezTo>
                    <a:pt x="114101" y="8091"/>
                    <a:pt x="112898" y="6673"/>
                    <a:pt x="111267" y="6013"/>
                  </a:cubicBezTo>
                  <a:cubicBezTo>
                    <a:pt x="96402" y="0"/>
                    <a:pt x="79520" y="1770"/>
                    <a:pt x="66225" y="10735"/>
                  </a:cubicBezTo>
                  <a:cubicBezTo>
                    <a:pt x="52930" y="19701"/>
                    <a:pt x="44961" y="34689"/>
                    <a:pt x="44964" y="50724"/>
                  </a:cubicBezTo>
                  <a:cubicBezTo>
                    <a:pt x="44956" y="57393"/>
                    <a:pt x="46324" y="63991"/>
                    <a:pt x="48983" y="70106"/>
                  </a:cubicBezTo>
                  <a:lnTo>
                    <a:pt x="8658" y="104972"/>
                  </a:lnTo>
                  <a:cubicBezTo>
                    <a:pt x="8558" y="105052"/>
                    <a:pt x="8464" y="105146"/>
                    <a:pt x="8370" y="105233"/>
                  </a:cubicBezTo>
                  <a:cubicBezTo>
                    <a:pt x="0" y="113604"/>
                    <a:pt x="0" y="127175"/>
                    <a:pt x="8370" y="135545"/>
                  </a:cubicBezTo>
                  <a:cubicBezTo>
                    <a:pt x="16741" y="143916"/>
                    <a:pt x="30312" y="143916"/>
                    <a:pt x="38682" y="135545"/>
                  </a:cubicBezTo>
                  <a:cubicBezTo>
                    <a:pt x="38769" y="135458"/>
                    <a:pt x="38863" y="135358"/>
                    <a:pt x="38943" y="135264"/>
                  </a:cubicBezTo>
                  <a:lnTo>
                    <a:pt x="73803" y="94926"/>
                  </a:lnTo>
                  <a:cubicBezTo>
                    <a:pt x="88721" y="101475"/>
                    <a:pt x="105937" y="100047"/>
                    <a:pt x="119573" y="91131"/>
                  </a:cubicBezTo>
                  <a:cubicBezTo>
                    <a:pt x="133209" y="82215"/>
                    <a:pt x="141421" y="67017"/>
                    <a:pt x="141405" y="50724"/>
                  </a:cubicBezTo>
                  <a:cubicBezTo>
                    <a:pt x="141415" y="44527"/>
                    <a:pt x="140224" y="38386"/>
                    <a:pt x="137895" y="32642"/>
                  </a:cubicBezTo>
                  <a:close/>
                  <a:moveTo>
                    <a:pt x="93185" y="88229"/>
                  </a:moveTo>
                  <a:cubicBezTo>
                    <a:pt x="86843" y="88220"/>
                    <a:pt x="80606" y="86608"/>
                    <a:pt x="75055" y="83541"/>
                  </a:cubicBezTo>
                  <a:cubicBezTo>
                    <a:pt x="72839" y="82316"/>
                    <a:pt x="70068" y="82811"/>
                    <a:pt x="68411" y="84726"/>
                  </a:cubicBezTo>
                  <a:lnTo>
                    <a:pt x="30974" y="128084"/>
                  </a:lnTo>
                  <a:cubicBezTo>
                    <a:pt x="26761" y="132087"/>
                    <a:pt x="20125" y="132002"/>
                    <a:pt x="16016" y="127893"/>
                  </a:cubicBezTo>
                  <a:cubicBezTo>
                    <a:pt x="11907" y="123784"/>
                    <a:pt x="11822" y="117148"/>
                    <a:pt x="15824" y="112935"/>
                  </a:cubicBezTo>
                  <a:lnTo>
                    <a:pt x="59149" y="75504"/>
                  </a:lnTo>
                  <a:cubicBezTo>
                    <a:pt x="61068" y="73847"/>
                    <a:pt x="61563" y="71072"/>
                    <a:pt x="60334" y="68854"/>
                  </a:cubicBezTo>
                  <a:cubicBezTo>
                    <a:pt x="53365" y="56248"/>
                    <a:pt x="54230" y="40764"/>
                    <a:pt x="62562" y="29014"/>
                  </a:cubicBezTo>
                  <a:cubicBezTo>
                    <a:pt x="70893" y="17264"/>
                    <a:pt x="85218" y="11323"/>
                    <a:pt x="99420" y="13729"/>
                  </a:cubicBezTo>
                  <a:lnTo>
                    <a:pt x="78524" y="36372"/>
                  </a:lnTo>
                  <a:cubicBezTo>
                    <a:pt x="77344" y="37652"/>
                    <a:pt x="76860" y="39425"/>
                    <a:pt x="77225" y="41127"/>
                  </a:cubicBezTo>
                  <a:lnTo>
                    <a:pt x="81016" y="58761"/>
                  </a:lnTo>
                  <a:cubicBezTo>
                    <a:pt x="81458" y="60821"/>
                    <a:pt x="83068" y="62430"/>
                    <a:pt x="85128" y="62873"/>
                  </a:cubicBezTo>
                  <a:lnTo>
                    <a:pt x="102775" y="66664"/>
                  </a:lnTo>
                  <a:cubicBezTo>
                    <a:pt x="104477" y="67029"/>
                    <a:pt x="106250" y="66544"/>
                    <a:pt x="107530" y="65364"/>
                  </a:cubicBezTo>
                  <a:lnTo>
                    <a:pt x="130174" y="44469"/>
                  </a:lnTo>
                  <a:cubicBezTo>
                    <a:pt x="132001" y="55354"/>
                    <a:pt x="128946" y="66492"/>
                    <a:pt x="121820" y="74921"/>
                  </a:cubicBezTo>
                  <a:cubicBezTo>
                    <a:pt x="114695" y="83351"/>
                    <a:pt x="104222" y="88218"/>
                    <a:pt x="93185" y="88229"/>
                  </a:cubicBezTo>
                  <a:close/>
                </a:path>
              </a:pathLst>
            </a:custGeom>
            <a:solidFill>
              <a:srgbClr val="2E7D32"/>
            </a:solidFill>
            <a:ln>
              <a:noFill/>
            </a:ln>
          </p:spPr>
        </p:sp>
      </p:grpSp>
      <p:sp>
        <p:nvSpPr>
          <p:cNvPr id="72" name="TextBox 72"/>
          <p:cNvSpPr txBox="1"/>
          <p:nvPr/>
        </p:nvSpPr>
        <p:spPr>
          <a:xfrm>
            <a:off x="7033260" y="5290185"/>
            <a:ext cx="102180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Step 5: 修复</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73" name="TextBox 73"/>
          <p:cNvSpPr txBox="1"/>
          <p:nvPr/>
        </p:nvSpPr>
        <p:spPr>
          <a:xfrm>
            <a:off x="8366760" y="5290185"/>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人确认修复方案，AI执行，只改最少代码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4" name="TextBox 74"/>
          <p:cNvSpPr txBox="1"/>
          <p:nvPr/>
        </p:nvSpPr>
        <p:spPr>
          <a:xfrm>
            <a:off x="6498193" y="5572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75" name="Rectangle 75"/>
          <p:cNvSpPr/>
          <p:nvPr/>
        </p:nvSpPr>
        <p:spPr>
          <a:xfrm>
            <a:off x="6572250" y="5905500"/>
            <a:ext cx="4762500" cy="428625"/>
          </a:xfrm>
          <a:prstGeom prst="roundRect">
            <a:avLst>
              <a:gd name="adj" fmla="val 17778"/>
            </a:avLst>
          </a:prstGeom>
          <a:solidFill>
            <a:srgbClr val="1565C0">
              <a:alpha val="10000"/>
            </a:srgbClr>
          </a:solidFill>
          <a:ln>
            <a:noFill/>
          </a:ln>
        </p:spPr>
      </p:sp>
      <p:grpSp>
        <p:nvGrpSpPr>
          <p:cNvPr id="78" name="Group 78"/>
          <p:cNvGrpSpPr/>
          <p:nvPr/>
        </p:nvGrpSpPr>
        <p:grpSpPr>
          <a:xfrm>
            <a:off x="6778823" y="6064448"/>
            <a:ext cx="139303" cy="139303"/>
            <a:chOff x="6778823" y="6064448"/>
            <a:chExt cx="139303" cy="139303"/>
          </a:xfrm>
        </p:grpSpPr>
        <p:sp>
          <p:nvSpPr>
            <p:cNvPr id="76" name="Freeform 76"/>
            <p:cNvSpPr/>
            <p:nvPr/>
          </p:nvSpPr>
          <p:spPr>
            <a:xfrm>
              <a:off x="6784181" y="606980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1565C0">
                <a:alpha val="20000"/>
              </a:srgbClr>
            </a:solidFill>
            <a:ln>
              <a:noFill/>
            </a:ln>
          </p:spPr>
        </p:sp>
        <p:sp>
          <p:nvSpPr>
            <p:cNvPr id="77" name="Freeform 77"/>
            <p:cNvSpPr/>
            <p:nvPr/>
          </p:nvSpPr>
          <p:spPr>
            <a:xfrm>
              <a:off x="6778823" y="6064448"/>
              <a:ext cx="139303" cy="139303"/>
            </a:xfrm>
            <a:custGeom>
              <a:avLst/>
              <a:gdLst/>
              <a:ahLst/>
              <a:cxnLst/>
              <a:rect l="l" t="t" r="r" b="b"/>
              <a:pathLst>
                <a:path w="139303" h="139303">
                  <a:moveTo>
                    <a:pt x="100231" y="49787"/>
                  </a:moveTo>
                  <a:cubicBezTo>
                    <a:pt x="101237" y="50792"/>
                    <a:pt x="101803" y="52156"/>
                    <a:pt x="101803" y="53578"/>
                  </a:cubicBezTo>
                  <a:cubicBezTo>
                    <a:pt x="101803" y="55000"/>
                    <a:pt x="101237" y="56364"/>
                    <a:pt x="100231" y="57369"/>
                  </a:cubicBezTo>
                  <a:lnTo>
                    <a:pt x="62727" y="94873"/>
                  </a:lnTo>
                  <a:cubicBezTo>
                    <a:pt x="61722" y="95880"/>
                    <a:pt x="60358" y="96445"/>
                    <a:pt x="58936" y="96445"/>
                  </a:cubicBezTo>
                  <a:cubicBezTo>
                    <a:pt x="57514" y="96445"/>
                    <a:pt x="56150" y="95880"/>
                    <a:pt x="55145" y="94873"/>
                  </a:cubicBezTo>
                  <a:lnTo>
                    <a:pt x="39072" y="78800"/>
                  </a:lnTo>
                  <a:cubicBezTo>
                    <a:pt x="36978" y="76707"/>
                    <a:pt x="36978" y="73312"/>
                    <a:pt x="39072" y="71219"/>
                  </a:cubicBezTo>
                  <a:cubicBezTo>
                    <a:pt x="41165" y="69125"/>
                    <a:pt x="44560" y="69125"/>
                    <a:pt x="46653" y="71219"/>
                  </a:cubicBezTo>
                  <a:lnTo>
                    <a:pt x="58936" y="83508"/>
                  </a:lnTo>
                  <a:lnTo>
                    <a:pt x="92650" y="49787"/>
                  </a:lnTo>
                  <a:cubicBezTo>
                    <a:pt x="93655" y="48781"/>
                    <a:pt x="95019" y="48216"/>
                    <a:pt x="96441" y="48216"/>
                  </a:cubicBezTo>
                  <a:cubicBezTo>
                    <a:pt x="97863" y="48216"/>
                    <a:pt x="99226" y="48781"/>
                    <a:pt x="100231" y="49787"/>
                  </a:cubicBezTo>
                  <a:close/>
                  <a:moveTo>
                    <a:pt x="139303" y="69652"/>
                  </a:moveTo>
                  <a:cubicBezTo>
                    <a:pt x="139303" y="108119"/>
                    <a:pt x="108119" y="139303"/>
                    <a:pt x="69652" y="139303"/>
                  </a:cubicBezTo>
                  <a:cubicBezTo>
                    <a:pt x="31184" y="139303"/>
                    <a:pt x="0" y="108119"/>
                    <a:pt x="0" y="69652"/>
                  </a:cubicBezTo>
                  <a:cubicBezTo>
                    <a:pt x="0" y="31184"/>
                    <a:pt x="31184" y="0"/>
                    <a:pt x="69652" y="0"/>
                  </a:cubicBezTo>
                  <a:cubicBezTo>
                    <a:pt x="108102" y="41"/>
                    <a:pt x="139263" y="31201"/>
                    <a:pt x="139303" y="69652"/>
                  </a:cubicBezTo>
                  <a:close/>
                  <a:moveTo>
                    <a:pt x="128588" y="69652"/>
                  </a:moveTo>
                  <a:cubicBezTo>
                    <a:pt x="128588" y="37102"/>
                    <a:pt x="102201" y="10716"/>
                    <a:pt x="69652" y="10716"/>
                  </a:cubicBezTo>
                  <a:cubicBezTo>
                    <a:pt x="37102" y="10716"/>
                    <a:pt x="10716" y="37102"/>
                    <a:pt x="10716" y="69652"/>
                  </a:cubicBezTo>
                  <a:cubicBezTo>
                    <a:pt x="10716" y="102201"/>
                    <a:pt x="37102" y="128588"/>
                    <a:pt x="69652" y="128588"/>
                  </a:cubicBezTo>
                  <a:cubicBezTo>
                    <a:pt x="102186" y="128551"/>
                    <a:pt x="128551" y="102186"/>
                    <a:pt x="128588" y="69652"/>
                  </a:cubicBezTo>
                  <a:close/>
                </a:path>
              </a:pathLst>
            </a:custGeom>
            <a:solidFill>
              <a:srgbClr val="1565C0"/>
            </a:solidFill>
            <a:ln>
              <a:noFill/>
            </a:ln>
          </p:spPr>
        </p:sp>
      </p:grpSp>
      <p:sp>
        <p:nvSpPr>
          <p:cNvPr id="79" name="TextBox 79"/>
          <p:cNvSpPr txBox="1"/>
          <p:nvPr/>
        </p:nvSpPr>
        <p:spPr>
          <a:xfrm>
            <a:off x="7033260" y="6052185"/>
            <a:ext cx="135784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Step 6: 回归验证</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80" name="TextBox 80"/>
          <p:cNvSpPr txBox="1"/>
          <p:nvPr/>
        </p:nvSpPr>
        <p:spPr>
          <a:xfrm>
            <a:off x="8366760" y="6052185"/>
            <a:ext cx="292684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全量回归测试+全域自查+添加新测试用例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81" name="TextBox 8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83" name="图片 8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84"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06730" y="283845"/>
            <a:ext cx="3016250" cy="47815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案例：第7个字符的陷阱</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720763" y="1052989"/>
            <a:ext cx="4750475"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应对隐性契约与硬编码 —— 一个Excel自动化程序的6轮调试教训</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11049000" cy="4572000"/>
          </a:xfrm>
          <a:prstGeom prst="roundRect">
            <a:avLst>
              <a:gd name="adj" fmla="val 2500"/>
            </a:avLst>
          </a:prstGeom>
          <a:solidFill>
            <a:srgbClr val="FFFFFF"/>
          </a:solidFill>
          <a:ln w="9525">
            <a:solidFill>
              <a:srgbClr val="CFD8DC"/>
            </a:solidFill>
          </a:ln>
        </p:spPr>
      </p:sp>
      <p:sp>
        <p:nvSpPr>
          <p:cNvPr id="11" name="Rectangle 11"/>
          <p:cNvSpPr/>
          <p:nvPr/>
        </p:nvSpPr>
        <p:spPr>
          <a:xfrm>
            <a:off x="809625" y="1666875"/>
            <a:ext cx="10572750" cy="857250"/>
          </a:xfrm>
          <a:prstGeom prst="roundRect">
            <a:avLst>
              <a:gd name="adj" fmla="val 8889"/>
            </a:avLst>
          </a:prstGeom>
          <a:solidFill>
            <a:srgbClr val="FFEBEE"/>
          </a:solidFill>
          <a:ln>
            <a:noFill/>
          </a:ln>
        </p:spPr>
      </p:sp>
      <p:grpSp>
        <p:nvGrpSpPr>
          <p:cNvPr id="14" name="Group 14"/>
          <p:cNvGrpSpPr/>
          <p:nvPr/>
        </p:nvGrpSpPr>
        <p:grpSpPr>
          <a:xfrm>
            <a:off x="1054894" y="1897842"/>
            <a:ext cx="214312" cy="185765"/>
            <a:chOff x="1054894" y="1897842"/>
            <a:chExt cx="214312" cy="185765"/>
          </a:xfrm>
        </p:grpSpPr>
        <p:sp>
          <p:nvSpPr>
            <p:cNvPr id="12" name="Freeform 12"/>
            <p:cNvSpPr/>
            <p:nvPr/>
          </p:nvSpPr>
          <p:spPr>
            <a:xfrm>
              <a:off x="1090612" y="1990725"/>
              <a:ext cx="142875" cy="85725"/>
            </a:xfrm>
            <a:custGeom>
              <a:avLst/>
              <a:gdLst/>
              <a:ahLst/>
              <a:cxnLst/>
              <a:rect l="l" t="t" r="r" b="b"/>
              <a:pathLst>
                <a:path w="142875" h="85725">
                  <a:moveTo>
                    <a:pt x="142875" y="0"/>
                  </a:moveTo>
                  <a:lnTo>
                    <a:pt x="142875" y="14288"/>
                  </a:lnTo>
                  <a:cubicBezTo>
                    <a:pt x="142875" y="53741"/>
                    <a:pt x="110891" y="85725"/>
                    <a:pt x="71438" y="85725"/>
                  </a:cubicBezTo>
                  <a:cubicBezTo>
                    <a:pt x="31984" y="85725"/>
                    <a:pt x="0" y="53741"/>
                    <a:pt x="0" y="14288"/>
                  </a:cubicBezTo>
                  <a:lnTo>
                    <a:pt x="0" y="0"/>
                  </a:lnTo>
                  <a:close/>
                </a:path>
              </a:pathLst>
            </a:custGeom>
            <a:solidFill>
              <a:srgbClr val="C62828">
                <a:alpha val="20000"/>
              </a:srgbClr>
            </a:solidFill>
            <a:ln>
              <a:noFill/>
            </a:ln>
          </p:spPr>
        </p:sp>
        <p:sp>
          <p:nvSpPr>
            <p:cNvPr id="13" name="Freeform 13"/>
            <p:cNvSpPr/>
            <p:nvPr/>
          </p:nvSpPr>
          <p:spPr>
            <a:xfrm>
              <a:off x="1054894" y="1897842"/>
              <a:ext cx="214312" cy="185765"/>
            </a:xfrm>
            <a:custGeom>
              <a:avLst/>
              <a:gdLst/>
              <a:ahLst/>
              <a:cxnLst/>
              <a:rect l="l" t="t" r="r" b="b"/>
              <a:pathLst>
                <a:path w="214312" h="185765">
                  <a:moveTo>
                    <a:pt x="121444" y="60736"/>
                  </a:moveTo>
                  <a:cubicBezTo>
                    <a:pt x="121444" y="54818"/>
                    <a:pt x="126241" y="50020"/>
                    <a:pt x="132159" y="50020"/>
                  </a:cubicBezTo>
                  <a:cubicBezTo>
                    <a:pt x="138077" y="50020"/>
                    <a:pt x="142875" y="54818"/>
                    <a:pt x="142875" y="60736"/>
                  </a:cubicBezTo>
                  <a:cubicBezTo>
                    <a:pt x="142875" y="66654"/>
                    <a:pt x="138077" y="71451"/>
                    <a:pt x="132159" y="71451"/>
                  </a:cubicBezTo>
                  <a:cubicBezTo>
                    <a:pt x="126241" y="71451"/>
                    <a:pt x="121444" y="66654"/>
                    <a:pt x="121444" y="60736"/>
                  </a:cubicBezTo>
                  <a:close/>
                  <a:moveTo>
                    <a:pt x="82153" y="50020"/>
                  </a:moveTo>
                  <a:cubicBezTo>
                    <a:pt x="76235" y="50020"/>
                    <a:pt x="71438" y="54818"/>
                    <a:pt x="71438" y="60736"/>
                  </a:cubicBezTo>
                  <a:cubicBezTo>
                    <a:pt x="71438" y="66654"/>
                    <a:pt x="76235" y="71451"/>
                    <a:pt x="82153" y="71451"/>
                  </a:cubicBezTo>
                  <a:cubicBezTo>
                    <a:pt x="88071" y="71451"/>
                    <a:pt x="92869" y="66654"/>
                    <a:pt x="92869" y="60736"/>
                  </a:cubicBezTo>
                  <a:cubicBezTo>
                    <a:pt x="92869" y="54818"/>
                    <a:pt x="88071" y="50020"/>
                    <a:pt x="82153" y="50020"/>
                  </a:cubicBezTo>
                  <a:close/>
                  <a:moveTo>
                    <a:pt x="185738" y="107170"/>
                  </a:moveTo>
                  <a:cubicBezTo>
                    <a:pt x="185757" y="114105"/>
                    <a:pt x="184856" y="121011"/>
                    <a:pt x="183059" y="127708"/>
                  </a:cubicBezTo>
                  <a:lnTo>
                    <a:pt x="202918" y="136388"/>
                  </a:lnTo>
                  <a:cubicBezTo>
                    <a:pt x="205966" y="137776"/>
                    <a:pt x="207640" y="141095"/>
                    <a:pt x="206945" y="144371"/>
                  </a:cubicBezTo>
                  <a:cubicBezTo>
                    <a:pt x="206251" y="147647"/>
                    <a:pt x="203374" y="150001"/>
                    <a:pt x="200025" y="150033"/>
                  </a:cubicBezTo>
                  <a:cubicBezTo>
                    <a:pt x="199041" y="150035"/>
                    <a:pt x="198068" y="149831"/>
                    <a:pt x="197167" y="149434"/>
                  </a:cubicBezTo>
                  <a:lnTo>
                    <a:pt x="178040" y="141103"/>
                  </a:lnTo>
                  <a:cubicBezTo>
                    <a:pt x="164980" y="168395"/>
                    <a:pt x="137412" y="185765"/>
                    <a:pt x="107156" y="185765"/>
                  </a:cubicBezTo>
                  <a:cubicBezTo>
                    <a:pt x="76901" y="185765"/>
                    <a:pt x="49332" y="168395"/>
                    <a:pt x="36272" y="141103"/>
                  </a:cubicBezTo>
                  <a:lnTo>
                    <a:pt x="17145" y="149434"/>
                  </a:lnTo>
                  <a:cubicBezTo>
                    <a:pt x="16245" y="149831"/>
                    <a:pt x="15271" y="150035"/>
                    <a:pt x="14288" y="150033"/>
                  </a:cubicBezTo>
                  <a:cubicBezTo>
                    <a:pt x="10906" y="150031"/>
                    <a:pt x="7990" y="147658"/>
                    <a:pt x="7299" y="144349"/>
                  </a:cubicBezTo>
                  <a:cubicBezTo>
                    <a:pt x="6608" y="141039"/>
                    <a:pt x="8332" y="137698"/>
                    <a:pt x="11430" y="136343"/>
                  </a:cubicBezTo>
                  <a:lnTo>
                    <a:pt x="31254" y="127708"/>
                  </a:lnTo>
                  <a:cubicBezTo>
                    <a:pt x="29456" y="121011"/>
                    <a:pt x="28555" y="114105"/>
                    <a:pt x="28575" y="107170"/>
                  </a:cubicBezTo>
                  <a:lnTo>
                    <a:pt x="28575" y="100026"/>
                  </a:lnTo>
                  <a:lnTo>
                    <a:pt x="7144" y="100026"/>
                  </a:lnTo>
                  <a:cubicBezTo>
                    <a:pt x="3198" y="100026"/>
                    <a:pt x="0" y="96828"/>
                    <a:pt x="0" y="92883"/>
                  </a:cubicBezTo>
                  <a:cubicBezTo>
                    <a:pt x="0" y="88937"/>
                    <a:pt x="3198" y="85739"/>
                    <a:pt x="7144" y="85739"/>
                  </a:cubicBezTo>
                  <a:lnTo>
                    <a:pt x="28575" y="85739"/>
                  </a:lnTo>
                  <a:lnTo>
                    <a:pt x="28575" y="78595"/>
                  </a:lnTo>
                  <a:cubicBezTo>
                    <a:pt x="28555" y="71661"/>
                    <a:pt x="29456" y="64754"/>
                    <a:pt x="31254" y="58057"/>
                  </a:cubicBezTo>
                  <a:lnTo>
                    <a:pt x="11430" y="49422"/>
                  </a:lnTo>
                  <a:cubicBezTo>
                    <a:pt x="9034" y="48438"/>
                    <a:pt x="7359" y="46235"/>
                    <a:pt x="7050" y="43664"/>
                  </a:cubicBezTo>
                  <a:cubicBezTo>
                    <a:pt x="6742" y="41092"/>
                    <a:pt x="7849" y="38556"/>
                    <a:pt x="9945" y="37034"/>
                  </a:cubicBezTo>
                  <a:cubicBezTo>
                    <a:pt x="12040" y="35512"/>
                    <a:pt x="14795" y="35243"/>
                    <a:pt x="17145" y="36331"/>
                  </a:cubicBezTo>
                  <a:lnTo>
                    <a:pt x="36272" y="44662"/>
                  </a:lnTo>
                  <a:cubicBezTo>
                    <a:pt x="49332" y="17370"/>
                    <a:pt x="76901" y="0"/>
                    <a:pt x="107156" y="0"/>
                  </a:cubicBezTo>
                  <a:cubicBezTo>
                    <a:pt x="137412" y="0"/>
                    <a:pt x="164980" y="17370"/>
                    <a:pt x="178040" y="44662"/>
                  </a:cubicBezTo>
                  <a:lnTo>
                    <a:pt x="197167" y="36304"/>
                  </a:lnTo>
                  <a:cubicBezTo>
                    <a:pt x="200760" y="34829"/>
                    <a:pt x="204874" y="36495"/>
                    <a:pt x="206428" y="40054"/>
                  </a:cubicBezTo>
                  <a:cubicBezTo>
                    <a:pt x="207982" y="43614"/>
                    <a:pt x="206407" y="47763"/>
                    <a:pt x="202883" y="49395"/>
                  </a:cubicBezTo>
                  <a:lnTo>
                    <a:pt x="183059" y="58102"/>
                  </a:lnTo>
                  <a:cubicBezTo>
                    <a:pt x="184856" y="64799"/>
                    <a:pt x="185757" y="71705"/>
                    <a:pt x="185738" y="78640"/>
                  </a:cubicBezTo>
                  <a:lnTo>
                    <a:pt x="185738" y="85784"/>
                  </a:lnTo>
                  <a:lnTo>
                    <a:pt x="207169" y="85784"/>
                  </a:lnTo>
                  <a:cubicBezTo>
                    <a:pt x="211114" y="85784"/>
                    <a:pt x="214312" y="88982"/>
                    <a:pt x="214312" y="92927"/>
                  </a:cubicBezTo>
                  <a:cubicBezTo>
                    <a:pt x="214312" y="96873"/>
                    <a:pt x="211114" y="100071"/>
                    <a:pt x="207169" y="100071"/>
                  </a:cubicBezTo>
                  <a:lnTo>
                    <a:pt x="185738" y="100071"/>
                  </a:lnTo>
                  <a:close/>
                  <a:moveTo>
                    <a:pt x="42862" y="85739"/>
                  </a:moveTo>
                  <a:lnTo>
                    <a:pt x="171450" y="85739"/>
                  </a:lnTo>
                  <a:lnTo>
                    <a:pt x="171450" y="78595"/>
                  </a:lnTo>
                  <a:cubicBezTo>
                    <a:pt x="171450" y="43087"/>
                    <a:pt x="142665" y="14301"/>
                    <a:pt x="107156" y="14301"/>
                  </a:cubicBezTo>
                  <a:cubicBezTo>
                    <a:pt x="71648" y="14301"/>
                    <a:pt x="42862" y="43087"/>
                    <a:pt x="42862" y="78595"/>
                  </a:cubicBezTo>
                  <a:close/>
                  <a:moveTo>
                    <a:pt x="100012" y="171053"/>
                  </a:moveTo>
                  <a:lnTo>
                    <a:pt x="100012" y="100026"/>
                  </a:lnTo>
                  <a:lnTo>
                    <a:pt x="42862" y="100026"/>
                  </a:lnTo>
                  <a:lnTo>
                    <a:pt x="42862" y="107170"/>
                  </a:lnTo>
                  <a:cubicBezTo>
                    <a:pt x="42901" y="139897"/>
                    <a:pt x="67492" y="167385"/>
                    <a:pt x="100013" y="171053"/>
                  </a:cubicBezTo>
                  <a:close/>
                  <a:moveTo>
                    <a:pt x="171450" y="107170"/>
                  </a:moveTo>
                  <a:lnTo>
                    <a:pt x="171450" y="100026"/>
                  </a:lnTo>
                  <a:lnTo>
                    <a:pt x="114300" y="100026"/>
                  </a:lnTo>
                  <a:lnTo>
                    <a:pt x="114300" y="171053"/>
                  </a:lnTo>
                  <a:cubicBezTo>
                    <a:pt x="146821" y="167385"/>
                    <a:pt x="171411" y="139897"/>
                    <a:pt x="171450" y="107170"/>
                  </a:cubicBezTo>
                  <a:close/>
                </a:path>
              </a:pathLst>
            </a:custGeom>
            <a:solidFill>
              <a:srgbClr val="C62828"/>
            </a:solidFill>
            <a:ln>
              <a:noFill/>
            </a:ln>
          </p:spPr>
        </p:sp>
      </p:grpSp>
      <p:sp>
        <p:nvSpPr>
          <p:cNvPr id="15" name="TextBox 15"/>
          <p:cNvSpPr txBox="1"/>
          <p:nvPr/>
        </p:nvSpPr>
        <p:spPr>
          <a:xfrm>
            <a:off x="1362075" y="1885950"/>
            <a:ext cx="3619048" cy="304800"/>
          </a:xfrm>
          <a:prstGeom prst="rect">
            <a:avLst/>
          </a:prstGeom>
          <a:noFill/>
          <a:ln>
            <a:noFill/>
          </a:ln>
        </p:spPr>
        <p:txBody>
          <a:bodyPr wrap="none" lIns="0" tIns="0" rIns="0" bIns="0" anchor="t" anchorCtr="0">
            <a:spAutoFit/>
          </a:bodyPr>
          <a:lstStyle/>
          <a:p>
            <a:pPr algn="l"/>
            <a:r>
              <a:rPr lang="zh-CN" sz="1500" b="1" dirty="0">
                <a:solidFill>
                  <a:srgbClr val="C62828"/>
                </a:solidFill>
                <a:latin typeface="Segoe UI" panose="020B0502040204020203"/>
                <a:ea typeface="微软雅黑" panose="020B0503020204020204" charset="-122"/>
                <a:cs typeface="Segoe UI" panose="020B0502040204020203"/>
              </a:rPr>
              <a:t>陷阱：B27单元格公式 =MID(B27,7,1)</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033462" y="2212181"/>
            <a:ext cx="58793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公式取第7个字符判断等级。程序写入"Maturity Level 5"，第7个字符是"t" → 全盘出错</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1047750" y="2714625"/>
            <a:ext cx="10096500" cy="9525"/>
          </a:xfrm>
          <a:prstGeom prst="rect">
            <a:avLst/>
          </a:prstGeom>
          <a:solidFill>
            <a:srgbClr val="CFD8DC"/>
          </a:solidFill>
          <a:ln>
            <a:noFill/>
          </a:ln>
        </p:spPr>
      </p:sp>
      <p:sp>
        <p:nvSpPr>
          <p:cNvPr id="18" name="Rectangle 18"/>
          <p:cNvSpPr/>
          <p:nvPr/>
        </p:nvSpPr>
        <p:spPr>
          <a:xfrm>
            <a:off x="809625" y="2905125"/>
            <a:ext cx="5143500" cy="762000"/>
          </a:xfrm>
          <a:prstGeom prst="roundRect">
            <a:avLst>
              <a:gd name="adj" fmla="val 10000"/>
            </a:avLst>
          </a:prstGeom>
          <a:solidFill>
            <a:srgbClr val="FFF3E0"/>
          </a:solidFill>
          <a:ln>
            <a:noFill/>
          </a:ln>
        </p:spPr>
      </p:sp>
      <p:sp>
        <p:nvSpPr>
          <p:cNvPr id="19" name="TextBox 19"/>
          <p:cNvSpPr txBox="1"/>
          <p:nvPr/>
        </p:nvSpPr>
        <p:spPr>
          <a:xfrm>
            <a:off x="983932" y="3024664"/>
            <a:ext cx="1737273" cy="259080"/>
          </a:xfrm>
          <a:prstGeom prst="rect">
            <a:avLst/>
          </a:prstGeom>
          <a:noFill/>
          <a:ln>
            <a:noFill/>
          </a:ln>
        </p:spPr>
        <p:txBody>
          <a:bodyPr wrap="none" lIns="0" tIns="0" rIns="0" bIns="0" anchor="t" anchorCtr="0">
            <a:spAutoFit/>
          </a:bodyPr>
          <a:lstStyle/>
          <a:p>
            <a:pPr algn="l"/>
            <a:r>
              <a:rPr lang="zh-CN" sz="1275" b="1" dirty="0">
                <a:solidFill>
                  <a:srgbClr val="FF6F00"/>
                </a:solidFill>
                <a:latin typeface="Segoe UI" panose="020B0502040204020203"/>
                <a:ea typeface="微软雅黑" panose="020B0503020204020204" charset="-122"/>
                <a:cs typeface="Segoe UI" panose="020B0502040204020203"/>
              </a:rPr>
              <a:t>教训1：隐式契约系统</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84885" y="3280410"/>
            <a:ext cx="411099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Excel公式、数据验证、宏共同构成不透明的隐式契约系统</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85838" y="3479006"/>
            <a:ext cx="362902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多个环节的隐性规则组合在一起，形成难以发现的陷阱</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6143625" y="2905125"/>
            <a:ext cx="5238750" cy="762000"/>
          </a:xfrm>
          <a:prstGeom prst="roundRect">
            <a:avLst>
              <a:gd name="adj" fmla="val 10000"/>
            </a:avLst>
          </a:prstGeom>
          <a:solidFill>
            <a:srgbClr val="E3F2FD"/>
          </a:solidFill>
          <a:ln>
            <a:noFill/>
          </a:ln>
        </p:spPr>
      </p:sp>
      <p:sp>
        <p:nvSpPr>
          <p:cNvPr id="23" name="TextBox 23"/>
          <p:cNvSpPr txBox="1"/>
          <p:nvPr/>
        </p:nvSpPr>
        <p:spPr>
          <a:xfrm>
            <a:off x="6317932" y="3024664"/>
            <a:ext cx="2835185"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教训2：字符串位置依赖 = 定时炸弹</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318885" y="3280410"/>
            <a:ext cx="345490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应使用结构化数据（如JSON字段）而非位置编码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319838" y="3479006"/>
            <a:ext cx="3929062"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一旦字符串长度或格式变化，依赖位置读取的逻辑全部失效</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809625" y="3810000"/>
            <a:ext cx="5143500" cy="762000"/>
          </a:xfrm>
          <a:prstGeom prst="roundRect">
            <a:avLst>
              <a:gd name="adj" fmla="val 10000"/>
            </a:avLst>
          </a:prstGeom>
          <a:solidFill>
            <a:srgbClr val="FFEBEE"/>
          </a:solidFill>
          <a:ln>
            <a:noFill/>
          </a:ln>
        </p:spPr>
      </p:sp>
      <p:sp>
        <p:nvSpPr>
          <p:cNvPr id="27" name="TextBox 27"/>
          <p:cNvSpPr txBox="1"/>
          <p:nvPr/>
        </p:nvSpPr>
        <p:spPr>
          <a:xfrm>
            <a:off x="983932" y="3929539"/>
            <a:ext cx="22460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教训3：AI不会发现隐性契约</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984885" y="4185285"/>
            <a:ext cx="36869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AI只看代码层面的接口，无法发现跨系统的隐式依赖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85838" y="4383881"/>
            <a:ext cx="395906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这类隐性契约必须由人识别并显式化，写入Spec和契约文档</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6143625" y="3810000"/>
            <a:ext cx="5238750" cy="762000"/>
          </a:xfrm>
          <a:prstGeom prst="roundRect">
            <a:avLst>
              <a:gd name="adj" fmla="val 10000"/>
            </a:avLst>
          </a:prstGeom>
          <a:solidFill>
            <a:srgbClr val="E8F5E9"/>
          </a:solidFill>
          <a:ln>
            <a:noFill/>
          </a:ln>
        </p:spPr>
      </p:sp>
      <p:sp>
        <p:nvSpPr>
          <p:cNvPr id="31" name="TextBox 31"/>
          <p:cNvSpPr txBox="1"/>
          <p:nvPr/>
        </p:nvSpPr>
        <p:spPr>
          <a:xfrm>
            <a:off x="6317932" y="3929539"/>
            <a:ext cx="2201431"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Segoe UI" panose="020B0502040204020203"/>
                <a:ea typeface="微软雅黑" panose="020B0503020204020204" charset="-122"/>
                <a:cs typeface="Segoe UI" panose="020B0502040204020203"/>
              </a:rPr>
              <a:t>解决方案：显式化 + 契约化</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6318885" y="4185285"/>
            <a:ext cx="390296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将所有隐性约束写入Spec → AI每次生成代码前自动加载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319838" y="4383881"/>
            <a:ext cx="362902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从"第7个字符"到"level字段"，从位置依赖到语义字段</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809625" y="4857750"/>
            <a:ext cx="10572750" cy="571500"/>
          </a:xfrm>
          <a:prstGeom prst="roundRect">
            <a:avLst>
              <a:gd name="adj" fmla="val 13333"/>
            </a:avLst>
          </a:prstGeom>
          <a:solidFill>
            <a:srgbClr val="1565C0">
              <a:alpha val="8000"/>
            </a:srgbClr>
          </a:solidFill>
          <a:ln>
            <a:noFill/>
          </a:ln>
        </p:spPr>
      </p:sp>
      <p:grpSp>
        <p:nvGrpSpPr>
          <p:cNvPr id="37" name="Group 37"/>
          <p:cNvGrpSpPr/>
          <p:nvPr/>
        </p:nvGrpSpPr>
        <p:grpSpPr>
          <a:xfrm>
            <a:off x="1080279" y="5089454"/>
            <a:ext cx="144336" cy="183824"/>
            <a:chOff x="1080279" y="5089454"/>
            <a:chExt cx="144336" cy="183824"/>
          </a:xfrm>
        </p:grpSpPr>
        <p:sp>
          <p:nvSpPr>
            <p:cNvPr id="35" name="Freeform 35"/>
            <p:cNvSpPr/>
            <p:nvPr/>
          </p:nvSpPr>
          <p:spPr>
            <a:xfrm>
              <a:off x="1086844" y="5096045"/>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36" name="Freeform 36"/>
            <p:cNvSpPr/>
            <p:nvPr/>
          </p:nvSpPr>
          <p:spPr>
            <a:xfrm>
              <a:off x="1080279" y="5089454"/>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38" name="TextBox 38"/>
          <p:cNvSpPr txBox="1"/>
          <p:nvPr/>
        </p:nvSpPr>
        <p:spPr>
          <a:xfrm>
            <a:off x="1337310" y="5090160"/>
            <a:ext cx="3222879" cy="243840"/>
          </a:xfrm>
          <a:prstGeom prst="rect">
            <a:avLst/>
          </a:prstGeom>
          <a:noFill/>
          <a:ln>
            <a:noFill/>
          </a:ln>
        </p:spPr>
        <p:txBody>
          <a:bodyPr wrap="none" lIns="0" tIns="0" rIns="0" bIns="0" anchor="t" anchorCtr="0">
            <a:spAutoFit/>
          </a:bodyPr>
          <a:lstStyle/>
          <a:p>
            <a:pPr algn="l"/>
            <a:r>
              <a:rPr lang="zh-CN" sz="1200" b="1" dirty="0">
                <a:solidFill>
                  <a:srgbClr val="263238"/>
                </a:solidFill>
                <a:latin typeface="Segoe UI" panose="020B0502040204020203"/>
                <a:ea typeface="微软雅黑" panose="020B0503020204020204" charset="-122"/>
                <a:cs typeface="Segoe UI" panose="020B0502040204020203"/>
              </a:rPr>
              <a:t>核心启示：隐性契约是最大的工程质量杀手</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1337310" y="5252085"/>
            <a:ext cx="6791325"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任何没有写在文档里的规则都是潜在的故障点。AI编码时代，显式化比以往任何时候都重要。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2" name="图片 4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3"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55625" y="252730"/>
            <a:ext cx="3599180"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如何让AI实现软件复用？</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150066" y="1052989"/>
            <a:ext cx="389186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"提取 → 沉淀 → 登记 → 推荐 → 评审"全闭环复用机制</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381125"/>
            <a:ext cx="5334000" cy="1143000"/>
          </a:xfrm>
          <a:prstGeom prst="roundRect">
            <a:avLst>
              <a:gd name="adj" fmla="val 10000"/>
            </a:avLst>
          </a:prstGeom>
          <a:solidFill>
            <a:srgbClr val="FFFFFF"/>
          </a:solidFill>
          <a:ln w="9525">
            <a:solidFill>
              <a:srgbClr val="CFD8DC"/>
            </a:solidFill>
          </a:ln>
        </p:spPr>
      </p:sp>
      <p:sp>
        <p:nvSpPr>
          <p:cNvPr id="11" name="Rectangle 11"/>
          <p:cNvSpPr/>
          <p:nvPr/>
        </p:nvSpPr>
        <p:spPr>
          <a:xfrm>
            <a:off x="571500" y="1381125"/>
            <a:ext cx="5334000" cy="38100"/>
          </a:xfrm>
          <a:prstGeom prst="roundRect">
            <a:avLst>
              <a:gd name="adj" fmla="val 50000"/>
            </a:avLst>
          </a:prstGeom>
          <a:solidFill>
            <a:srgbClr val="1565C0"/>
          </a:solidFill>
          <a:ln>
            <a:noFill/>
          </a:ln>
        </p:spPr>
      </p:sp>
      <p:grpSp>
        <p:nvGrpSpPr>
          <p:cNvPr id="14" name="Group 14"/>
          <p:cNvGrpSpPr/>
          <p:nvPr/>
        </p:nvGrpSpPr>
        <p:grpSpPr>
          <a:xfrm>
            <a:off x="816175" y="1626194"/>
            <a:ext cx="196449" cy="157363"/>
            <a:chOff x="816175" y="1626194"/>
            <a:chExt cx="196449" cy="157363"/>
          </a:xfrm>
        </p:grpSpPr>
        <p:sp>
          <p:nvSpPr>
            <p:cNvPr id="12" name="Freeform 12"/>
            <p:cNvSpPr/>
            <p:nvPr/>
          </p:nvSpPr>
          <p:spPr>
            <a:xfrm>
              <a:off x="822722" y="1672233"/>
              <a:ext cx="183356" cy="65484"/>
            </a:xfrm>
            <a:custGeom>
              <a:avLst/>
              <a:gdLst/>
              <a:ahLst/>
              <a:cxnLst/>
              <a:rect l="l" t="t" r="r" b="b"/>
              <a:pathLst>
                <a:path w="183356" h="65484">
                  <a:moveTo>
                    <a:pt x="183356" y="32742"/>
                  </a:moveTo>
                  <a:lnTo>
                    <a:pt x="144066" y="65484"/>
                  </a:lnTo>
                  <a:lnTo>
                    <a:pt x="39291" y="65484"/>
                  </a:lnTo>
                  <a:lnTo>
                    <a:pt x="0" y="32742"/>
                  </a:lnTo>
                  <a:lnTo>
                    <a:pt x="39291" y="0"/>
                  </a:lnTo>
                  <a:lnTo>
                    <a:pt x="144066" y="0"/>
                  </a:lnTo>
                  <a:close/>
                </a:path>
              </a:pathLst>
            </a:custGeom>
            <a:solidFill>
              <a:srgbClr val="1565C0">
                <a:alpha val="20000"/>
              </a:srgbClr>
            </a:solidFill>
            <a:ln>
              <a:noFill/>
            </a:ln>
          </p:spPr>
        </p:sp>
        <p:sp>
          <p:nvSpPr>
            <p:cNvPr id="13" name="Freeform 13"/>
            <p:cNvSpPr/>
            <p:nvPr/>
          </p:nvSpPr>
          <p:spPr>
            <a:xfrm>
              <a:off x="816175" y="1626194"/>
              <a:ext cx="196449" cy="157363"/>
            </a:xfrm>
            <a:custGeom>
              <a:avLst/>
              <a:gdLst/>
              <a:ahLst/>
              <a:cxnLst/>
              <a:rect l="l" t="t" r="r" b="b"/>
              <a:pathLst>
                <a:path w="196449" h="157363">
                  <a:moveTo>
                    <a:pt x="50028" y="51073"/>
                  </a:moveTo>
                  <a:lnTo>
                    <a:pt x="16778" y="78781"/>
                  </a:lnTo>
                  <a:lnTo>
                    <a:pt x="50028" y="106489"/>
                  </a:lnTo>
                  <a:cubicBezTo>
                    <a:pt x="51878" y="107970"/>
                    <a:pt x="52784" y="110336"/>
                    <a:pt x="52396" y="112674"/>
                  </a:cubicBezTo>
                  <a:cubicBezTo>
                    <a:pt x="52007" y="115012"/>
                    <a:pt x="50386" y="116958"/>
                    <a:pt x="48157" y="117762"/>
                  </a:cubicBezTo>
                  <a:cubicBezTo>
                    <a:pt x="45927" y="118565"/>
                    <a:pt x="43437" y="118102"/>
                    <a:pt x="41646" y="116549"/>
                  </a:cubicBezTo>
                  <a:lnTo>
                    <a:pt x="2355" y="83807"/>
                  </a:lnTo>
                  <a:cubicBezTo>
                    <a:pt x="863" y="82563"/>
                    <a:pt x="0" y="80720"/>
                    <a:pt x="0" y="78777"/>
                  </a:cubicBezTo>
                  <a:cubicBezTo>
                    <a:pt x="0" y="76834"/>
                    <a:pt x="863" y="74991"/>
                    <a:pt x="2355" y="73747"/>
                  </a:cubicBezTo>
                  <a:lnTo>
                    <a:pt x="41646" y="41005"/>
                  </a:lnTo>
                  <a:cubicBezTo>
                    <a:pt x="44426" y="38690"/>
                    <a:pt x="48557" y="39068"/>
                    <a:pt x="50871" y="41848"/>
                  </a:cubicBezTo>
                  <a:cubicBezTo>
                    <a:pt x="53186" y="44628"/>
                    <a:pt x="52808" y="48758"/>
                    <a:pt x="50028" y="51073"/>
                  </a:cubicBezTo>
                  <a:close/>
                  <a:moveTo>
                    <a:pt x="194094" y="73747"/>
                  </a:moveTo>
                  <a:lnTo>
                    <a:pt x="154803" y="41005"/>
                  </a:lnTo>
                  <a:cubicBezTo>
                    <a:pt x="152023" y="38690"/>
                    <a:pt x="147893" y="39068"/>
                    <a:pt x="145578" y="41848"/>
                  </a:cubicBezTo>
                  <a:cubicBezTo>
                    <a:pt x="143263" y="44628"/>
                    <a:pt x="143641" y="48758"/>
                    <a:pt x="146421" y="51073"/>
                  </a:cubicBezTo>
                  <a:lnTo>
                    <a:pt x="179671" y="78781"/>
                  </a:lnTo>
                  <a:lnTo>
                    <a:pt x="146421" y="106489"/>
                  </a:lnTo>
                  <a:cubicBezTo>
                    <a:pt x="144571" y="107970"/>
                    <a:pt x="143665" y="110336"/>
                    <a:pt x="144054" y="112674"/>
                  </a:cubicBezTo>
                  <a:cubicBezTo>
                    <a:pt x="144442" y="115012"/>
                    <a:pt x="146063" y="116958"/>
                    <a:pt x="148293" y="117762"/>
                  </a:cubicBezTo>
                  <a:cubicBezTo>
                    <a:pt x="150522" y="118565"/>
                    <a:pt x="153012" y="118102"/>
                    <a:pt x="154803" y="116549"/>
                  </a:cubicBezTo>
                  <a:lnTo>
                    <a:pt x="194094" y="83807"/>
                  </a:lnTo>
                  <a:cubicBezTo>
                    <a:pt x="195586" y="82563"/>
                    <a:pt x="196449" y="80720"/>
                    <a:pt x="196449" y="78777"/>
                  </a:cubicBezTo>
                  <a:cubicBezTo>
                    <a:pt x="196449" y="76834"/>
                    <a:pt x="195586" y="74991"/>
                    <a:pt x="194094" y="73747"/>
                  </a:cubicBezTo>
                  <a:close/>
                  <a:moveTo>
                    <a:pt x="126653" y="593"/>
                  </a:moveTo>
                  <a:cubicBezTo>
                    <a:pt x="125020" y="0"/>
                    <a:pt x="123219" y="80"/>
                    <a:pt x="121646" y="815"/>
                  </a:cubicBezTo>
                  <a:cubicBezTo>
                    <a:pt x="120072" y="1551"/>
                    <a:pt x="118855" y="2881"/>
                    <a:pt x="118263" y="4514"/>
                  </a:cubicBezTo>
                  <a:lnTo>
                    <a:pt x="65875" y="148579"/>
                  </a:lnTo>
                  <a:cubicBezTo>
                    <a:pt x="65280" y="150213"/>
                    <a:pt x="65359" y="152016"/>
                    <a:pt x="66094" y="153591"/>
                  </a:cubicBezTo>
                  <a:cubicBezTo>
                    <a:pt x="66830" y="155167"/>
                    <a:pt x="68162" y="156385"/>
                    <a:pt x="69796" y="156978"/>
                  </a:cubicBezTo>
                  <a:cubicBezTo>
                    <a:pt x="70514" y="157233"/>
                    <a:pt x="71269" y="157363"/>
                    <a:pt x="72031" y="157362"/>
                  </a:cubicBezTo>
                  <a:cubicBezTo>
                    <a:pt x="74786" y="157362"/>
                    <a:pt x="77246" y="155638"/>
                    <a:pt x="78186" y="153049"/>
                  </a:cubicBezTo>
                  <a:lnTo>
                    <a:pt x="130574" y="8983"/>
                  </a:lnTo>
                  <a:cubicBezTo>
                    <a:pt x="131167" y="7350"/>
                    <a:pt x="131086" y="5549"/>
                    <a:pt x="130351" y="3976"/>
                  </a:cubicBezTo>
                  <a:cubicBezTo>
                    <a:pt x="129616" y="2402"/>
                    <a:pt x="128286" y="1185"/>
                    <a:pt x="126653" y="593"/>
                  </a:cubicBezTo>
                  <a:close/>
                </a:path>
              </a:pathLst>
            </a:custGeom>
            <a:solidFill>
              <a:srgbClr val="1565C0"/>
            </a:solidFill>
            <a:ln>
              <a:noFill/>
            </a:ln>
          </p:spPr>
        </p:sp>
      </p:grpSp>
      <p:sp>
        <p:nvSpPr>
          <p:cNvPr id="15" name="TextBox 15"/>
          <p:cNvSpPr txBox="1"/>
          <p:nvPr/>
        </p:nvSpPr>
        <p:spPr>
          <a:xfrm>
            <a:off x="1078230" y="1616392"/>
            <a:ext cx="2113550"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源码级复用（构件调用）</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794385" y="1889760"/>
            <a:ext cx="38709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建立可复用组件清单 → 让AI在编码时主动推荐已有组件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94385" y="2099310"/>
            <a:ext cx="30708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每次复用后记录 → 形成组件使用知识图谱</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6286500" y="1381125"/>
            <a:ext cx="5334000" cy="1143000"/>
          </a:xfrm>
          <a:prstGeom prst="roundRect">
            <a:avLst>
              <a:gd name="adj" fmla="val 10000"/>
            </a:avLst>
          </a:prstGeom>
          <a:solidFill>
            <a:srgbClr val="FFFFFF"/>
          </a:solidFill>
          <a:ln w="9525">
            <a:solidFill>
              <a:srgbClr val="CFD8DC"/>
            </a:solidFill>
          </a:ln>
        </p:spPr>
      </p:sp>
      <p:sp>
        <p:nvSpPr>
          <p:cNvPr id="19" name="Rectangle 19"/>
          <p:cNvSpPr/>
          <p:nvPr/>
        </p:nvSpPr>
        <p:spPr>
          <a:xfrm>
            <a:off x="6286500" y="1381125"/>
            <a:ext cx="5334000" cy="38100"/>
          </a:xfrm>
          <a:prstGeom prst="roundRect">
            <a:avLst>
              <a:gd name="adj" fmla="val 50000"/>
            </a:avLst>
          </a:prstGeom>
          <a:solidFill>
            <a:srgbClr val="00838F"/>
          </a:solidFill>
          <a:ln>
            <a:noFill/>
          </a:ln>
        </p:spPr>
      </p:sp>
      <p:grpSp>
        <p:nvGrpSpPr>
          <p:cNvPr id="22" name="Group 22"/>
          <p:cNvGrpSpPr/>
          <p:nvPr/>
        </p:nvGrpSpPr>
        <p:grpSpPr>
          <a:xfrm>
            <a:off x="6550819" y="1626394"/>
            <a:ext cx="157162" cy="157162"/>
            <a:chOff x="6550819" y="1626394"/>
            <a:chExt cx="157162" cy="157162"/>
          </a:xfrm>
        </p:grpSpPr>
        <p:sp>
          <p:nvSpPr>
            <p:cNvPr id="20" name="Freeform 20"/>
            <p:cNvSpPr/>
            <p:nvPr/>
          </p:nvSpPr>
          <p:spPr>
            <a:xfrm>
              <a:off x="6557367" y="1632942"/>
              <a:ext cx="144066" cy="144066"/>
            </a:xfrm>
            <a:custGeom>
              <a:avLst/>
              <a:gdLst/>
              <a:ahLst/>
              <a:cxnLst/>
              <a:rect l="l" t="t" r="r" b="b"/>
              <a:pathLst>
                <a:path w="144066" h="144066">
                  <a:moveTo>
                    <a:pt x="137517" y="0"/>
                  </a:moveTo>
                  <a:lnTo>
                    <a:pt x="6548" y="0"/>
                  </a:lnTo>
                  <a:cubicBezTo>
                    <a:pt x="2932" y="0"/>
                    <a:pt x="0" y="2932"/>
                    <a:pt x="0" y="6548"/>
                  </a:cubicBezTo>
                  <a:lnTo>
                    <a:pt x="0" y="137517"/>
                  </a:lnTo>
                  <a:cubicBezTo>
                    <a:pt x="0" y="141134"/>
                    <a:pt x="2932" y="144066"/>
                    <a:pt x="6548" y="144066"/>
                  </a:cubicBezTo>
                  <a:lnTo>
                    <a:pt x="137517" y="144066"/>
                  </a:lnTo>
                  <a:cubicBezTo>
                    <a:pt x="141134" y="144066"/>
                    <a:pt x="144066" y="141134"/>
                    <a:pt x="144066" y="137517"/>
                  </a:cubicBezTo>
                  <a:lnTo>
                    <a:pt x="144066" y="6548"/>
                  </a:lnTo>
                  <a:cubicBezTo>
                    <a:pt x="144066" y="2932"/>
                    <a:pt x="141134" y="0"/>
                    <a:pt x="137517" y="0"/>
                  </a:cubicBezTo>
                  <a:close/>
                  <a:moveTo>
                    <a:pt x="39291" y="117872"/>
                  </a:moveTo>
                  <a:cubicBezTo>
                    <a:pt x="32057" y="117872"/>
                    <a:pt x="26194" y="112008"/>
                    <a:pt x="26194" y="104775"/>
                  </a:cubicBezTo>
                  <a:cubicBezTo>
                    <a:pt x="26194" y="97542"/>
                    <a:pt x="32057" y="91678"/>
                    <a:pt x="39291" y="91678"/>
                  </a:cubicBezTo>
                  <a:cubicBezTo>
                    <a:pt x="46524" y="91678"/>
                    <a:pt x="52388" y="97542"/>
                    <a:pt x="52388" y="104775"/>
                  </a:cubicBezTo>
                  <a:cubicBezTo>
                    <a:pt x="52388" y="112008"/>
                    <a:pt x="46524" y="117872"/>
                    <a:pt x="39291" y="117872"/>
                  </a:cubicBezTo>
                  <a:close/>
                  <a:moveTo>
                    <a:pt x="104775" y="65484"/>
                  </a:moveTo>
                  <a:cubicBezTo>
                    <a:pt x="97542" y="65484"/>
                    <a:pt x="91678" y="59621"/>
                    <a:pt x="91678" y="52388"/>
                  </a:cubicBezTo>
                  <a:cubicBezTo>
                    <a:pt x="91678" y="45154"/>
                    <a:pt x="97542" y="39291"/>
                    <a:pt x="104775" y="39291"/>
                  </a:cubicBezTo>
                  <a:cubicBezTo>
                    <a:pt x="112008" y="39291"/>
                    <a:pt x="117872" y="45154"/>
                    <a:pt x="117872" y="52388"/>
                  </a:cubicBezTo>
                  <a:cubicBezTo>
                    <a:pt x="117872" y="59621"/>
                    <a:pt x="112008" y="65484"/>
                    <a:pt x="104775" y="65484"/>
                  </a:cubicBezTo>
                  <a:close/>
                </a:path>
              </a:pathLst>
            </a:custGeom>
            <a:solidFill>
              <a:srgbClr val="00838F">
                <a:alpha val="20000"/>
              </a:srgbClr>
            </a:solidFill>
            <a:ln>
              <a:noFill/>
            </a:ln>
          </p:spPr>
        </p:sp>
        <p:sp>
          <p:nvSpPr>
            <p:cNvPr id="21" name="Freeform 21"/>
            <p:cNvSpPr/>
            <p:nvPr/>
          </p:nvSpPr>
          <p:spPr>
            <a:xfrm>
              <a:off x="6550819" y="1626394"/>
              <a:ext cx="157162" cy="157162"/>
            </a:xfrm>
            <a:custGeom>
              <a:avLst/>
              <a:gdLst/>
              <a:ahLst/>
              <a:cxnLst/>
              <a:rect l="l" t="t" r="r" b="b"/>
              <a:pathLst>
                <a:path w="157162" h="157162">
                  <a:moveTo>
                    <a:pt x="144066" y="0"/>
                  </a:moveTo>
                  <a:lnTo>
                    <a:pt x="13097" y="0"/>
                  </a:lnTo>
                  <a:cubicBezTo>
                    <a:pt x="5864" y="0"/>
                    <a:pt x="0" y="5864"/>
                    <a:pt x="0" y="13097"/>
                  </a:cubicBezTo>
                  <a:lnTo>
                    <a:pt x="0" y="144066"/>
                  </a:lnTo>
                  <a:cubicBezTo>
                    <a:pt x="0" y="151299"/>
                    <a:pt x="5864" y="157162"/>
                    <a:pt x="13097" y="157162"/>
                  </a:cubicBezTo>
                  <a:lnTo>
                    <a:pt x="144066" y="157162"/>
                  </a:lnTo>
                  <a:cubicBezTo>
                    <a:pt x="151299" y="157162"/>
                    <a:pt x="157162" y="151299"/>
                    <a:pt x="157162" y="144066"/>
                  </a:cubicBezTo>
                  <a:lnTo>
                    <a:pt x="157162" y="13097"/>
                  </a:lnTo>
                  <a:cubicBezTo>
                    <a:pt x="157162" y="5864"/>
                    <a:pt x="151299" y="0"/>
                    <a:pt x="144066" y="0"/>
                  </a:cubicBezTo>
                  <a:close/>
                  <a:moveTo>
                    <a:pt x="45839" y="104775"/>
                  </a:moveTo>
                  <a:cubicBezTo>
                    <a:pt x="49456" y="104775"/>
                    <a:pt x="52388" y="107707"/>
                    <a:pt x="52388" y="111323"/>
                  </a:cubicBezTo>
                  <a:cubicBezTo>
                    <a:pt x="52388" y="114940"/>
                    <a:pt x="49456" y="117872"/>
                    <a:pt x="45839" y="117872"/>
                  </a:cubicBezTo>
                  <a:cubicBezTo>
                    <a:pt x="42222" y="117872"/>
                    <a:pt x="39291" y="114940"/>
                    <a:pt x="39291" y="111323"/>
                  </a:cubicBezTo>
                  <a:cubicBezTo>
                    <a:pt x="39291" y="107707"/>
                    <a:pt x="42222" y="104775"/>
                    <a:pt x="45839" y="104775"/>
                  </a:cubicBezTo>
                  <a:close/>
                  <a:moveTo>
                    <a:pt x="13097" y="13097"/>
                  </a:moveTo>
                  <a:lnTo>
                    <a:pt x="39291" y="13097"/>
                  </a:lnTo>
                  <a:lnTo>
                    <a:pt x="39291" y="92808"/>
                  </a:lnTo>
                  <a:cubicBezTo>
                    <a:pt x="30270" y="95997"/>
                    <a:pt x="24859" y="105221"/>
                    <a:pt x="26477" y="114652"/>
                  </a:cubicBezTo>
                  <a:cubicBezTo>
                    <a:pt x="28095" y="124082"/>
                    <a:pt x="36271" y="130975"/>
                    <a:pt x="45839" y="130975"/>
                  </a:cubicBezTo>
                  <a:cubicBezTo>
                    <a:pt x="55407" y="130975"/>
                    <a:pt x="63583" y="124082"/>
                    <a:pt x="65201" y="114652"/>
                  </a:cubicBezTo>
                  <a:cubicBezTo>
                    <a:pt x="66819" y="105221"/>
                    <a:pt x="61408" y="95997"/>
                    <a:pt x="52388" y="92808"/>
                  </a:cubicBezTo>
                  <a:lnTo>
                    <a:pt x="52388" y="68194"/>
                  </a:lnTo>
                  <a:lnTo>
                    <a:pt x="91678" y="107484"/>
                  </a:lnTo>
                  <a:lnTo>
                    <a:pt x="91678" y="144066"/>
                  </a:lnTo>
                  <a:lnTo>
                    <a:pt x="13097" y="144066"/>
                  </a:lnTo>
                  <a:close/>
                  <a:moveTo>
                    <a:pt x="144066" y="144066"/>
                  </a:moveTo>
                  <a:lnTo>
                    <a:pt x="104775" y="144066"/>
                  </a:lnTo>
                  <a:lnTo>
                    <a:pt x="104775" y="104775"/>
                  </a:lnTo>
                  <a:cubicBezTo>
                    <a:pt x="104776" y="103038"/>
                    <a:pt x="104087" y="101371"/>
                    <a:pt x="102860" y="100142"/>
                  </a:cubicBezTo>
                  <a:lnTo>
                    <a:pt x="52388" y="49678"/>
                  </a:lnTo>
                  <a:lnTo>
                    <a:pt x="52388" y="13097"/>
                  </a:lnTo>
                  <a:lnTo>
                    <a:pt x="78581" y="13097"/>
                  </a:lnTo>
                  <a:lnTo>
                    <a:pt x="78581" y="32742"/>
                  </a:lnTo>
                  <a:cubicBezTo>
                    <a:pt x="78580" y="34479"/>
                    <a:pt x="79269" y="36146"/>
                    <a:pt x="80497" y="37375"/>
                  </a:cubicBezTo>
                  <a:lnTo>
                    <a:pt x="93594" y="50472"/>
                  </a:lnTo>
                  <a:cubicBezTo>
                    <a:pt x="92325" y="53113"/>
                    <a:pt x="91670" y="56006"/>
                    <a:pt x="91678" y="58936"/>
                  </a:cubicBezTo>
                  <a:cubicBezTo>
                    <a:pt x="91678" y="69786"/>
                    <a:pt x="100474" y="78581"/>
                    <a:pt x="111323" y="78581"/>
                  </a:cubicBezTo>
                  <a:cubicBezTo>
                    <a:pt x="122173" y="78581"/>
                    <a:pt x="130969" y="69786"/>
                    <a:pt x="130969" y="58936"/>
                  </a:cubicBezTo>
                  <a:cubicBezTo>
                    <a:pt x="130969" y="48086"/>
                    <a:pt x="122173" y="39291"/>
                    <a:pt x="111323" y="39291"/>
                  </a:cubicBezTo>
                  <a:cubicBezTo>
                    <a:pt x="108393" y="39285"/>
                    <a:pt x="105500" y="39943"/>
                    <a:pt x="102860" y="41214"/>
                  </a:cubicBezTo>
                  <a:lnTo>
                    <a:pt x="91678" y="30033"/>
                  </a:lnTo>
                  <a:lnTo>
                    <a:pt x="91678" y="13097"/>
                  </a:lnTo>
                  <a:lnTo>
                    <a:pt x="144066" y="13097"/>
                  </a:lnTo>
                  <a:lnTo>
                    <a:pt x="144066" y="144066"/>
                  </a:lnTo>
                  <a:close/>
                  <a:moveTo>
                    <a:pt x="111323" y="52388"/>
                  </a:moveTo>
                  <a:cubicBezTo>
                    <a:pt x="114940" y="52388"/>
                    <a:pt x="117872" y="55319"/>
                    <a:pt x="117872" y="58936"/>
                  </a:cubicBezTo>
                  <a:cubicBezTo>
                    <a:pt x="117872" y="62553"/>
                    <a:pt x="114940" y="65484"/>
                    <a:pt x="111323" y="65484"/>
                  </a:cubicBezTo>
                  <a:cubicBezTo>
                    <a:pt x="107707" y="65484"/>
                    <a:pt x="104775" y="62553"/>
                    <a:pt x="104775" y="58936"/>
                  </a:cubicBezTo>
                  <a:cubicBezTo>
                    <a:pt x="104775" y="55319"/>
                    <a:pt x="107707" y="52388"/>
                    <a:pt x="111323" y="52388"/>
                  </a:cubicBezTo>
                  <a:close/>
                </a:path>
              </a:pathLst>
            </a:custGeom>
            <a:solidFill>
              <a:srgbClr val="00838F"/>
            </a:solidFill>
            <a:ln>
              <a:noFill/>
            </a:ln>
          </p:spPr>
        </p:sp>
      </p:grpSp>
      <p:sp>
        <p:nvSpPr>
          <p:cNvPr id="23" name="TextBox 23"/>
          <p:cNvSpPr txBox="1"/>
          <p:nvPr/>
        </p:nvSpPr>
        <p:spPr>
          <a:xfrm>
            <a:off x="6793230" y="1616392"/>
            <a:ext cx="230257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设计级复用（机制与模式）</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509385" y="1889760"/>
            <a:ext cx="439902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提取设计模式 → 沉淀为Skill → 在开发全流程中主动推荐和校验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509385" y="2099310"/>
            <a:ext cx="25667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让模式复用不依赖人的记忆和经验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571500" y="2762250"/>
            <a:ext cx="11049000" cy="2476500"/>
          </a:xfrm>
          <a:prstGeom prst="roundRect">
            <a:avLst>
              <a:gd name="adj" fmla="val 4615"/>
            </a:avLst>
          </a:prstGeom>
          <a:solidFill>
            <a:srgbClr val="FFFFFF"/>
          </a:solidFill>
          <a:ln w="9525">
            <a:solidFill>
              <a:srgbClr val="CFD8DC"/>
            </a:solidFill>
          </a:ln>
        </p:spPr>
      </p:sp>
      <p:sp>
        <p:nvSpPr>
          <p:cNvPr id="27" name="Rectangle 27"/>
          <p:cNvSpPr/>
          <p:nvPr/>
        </p:nvSpPr>
        <p:spPr>
          <a:xfrm>
            <a:off x="571500" y="2762250"/>
            <a:ext cx="11049000" cy="38100"/>
          </a:xfrm>
          <a:prstGeom prst="roundRect">
            <a:avLst>
              <a:gd name="adj" fmla="val 50000"/>
            </a:avLst>
          </a:prstGeom>
          <a:solidFill>
            <a:srgbClr val="FF6F00"/>
          </a:solidFill>
          <a:ln>
            <a:noFill/>
          </a:ln>
        </p:spPr>
      </p:sp>
      <p:sp>
        <p:nvSpPr>
          <p:cNvPr id="28" name="TextBox 28"/>
          <p:cNvSpPr txBox="1"/>
          <p:nvPr/>
        </p:nvSpPr>
        <p:spPr>
          <a:xfrm>
            <a:off x="5266444" y="2869882"/>
            <a:ext cx="1659112" cy="335280"/>
          </a:xfrm>
          <a:prstGeom prst="rect">
            <a:avLst/>
          </a:prstGeom>
          <a:noFill/>
          <a:ln>
            <a:noFill/>
          </a:ln>
        </p:spPr>
        <p:txBody>
          <a:bodyPr wrap="none" lIns="0" tIns="0" rIns="0" bIns="0" anchor="t" anchorCtr="0">
            <a:spAutoFit/>
          </a:bodyPr>
          <a:lstStyle/>
          <a:p>
            <a:pPr algn="ctr"/>
            <a:r>
              <a:rPr lang="zh-CN" sz="1650" b="1" dirty="0">
                <a:solidFill>
                  <a:srgbClr val="263238"/>
                </a:solidFill>
                <a:latin typeface="Segoe UI" panose="020B0502040204020203"/>
                <a:ea typeface="微软雅黑" panose="020B0503020204020204" charset="-122"/>
                <a:cs typeface="Segoe UI" panose="020B0502040204020203"/>
              </a:rPr>
              <a:t>全闭环复用机制</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809625" y="3286125"/>
            <a:ext cx="1809750" cy="666750"/>
          </a:xfrm>
          <a:prstGeom prst="roundRect">
            <a:avLst>
              <a:gd name="adj" fmla="val 11429"/>
            </a:avLst>
          </a:prstGeom>
          <a:solidFill>
            <a:srgbClr val="E3F2FD"/>
          </a:solidFill>
          <a:ln>
            <a:noFill/>
          </a:ln>
        </p:spPr>
      </p:sp>
      <p:sp>
        <p:nvSpPr>
          <p:cNvPr id="30" name="TextBox 30"/>
          <p:cNvSpPr txBox="1"/>
          <p:nvPr/>
        </p:nvSpPr>
        <p:spPr>
          <a:xfrm>
            <a:off x="1531239" y="3394710"/>
            <a:ext cx="36652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提取</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1325166" y="3640931"/>
            <a:ext cx="778669"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可复用元素</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788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3095625" y="3286125"/>
            <a:ext cx="1809750" cy="666750"/>
          </a:xfrm>
          <a:prstGeom prst="roundRect">
            <a:avLst>
              <a:gd name="adj" fmla="val 11429"/>
            </a:avLst>
          </a:prstGeom>
          <a:solidFill>
            <a:srgbClr val="E0F7FA"/>
          </a:solidFill>
          <a:ln>
            <a:noFill/>
          </a:ln>
        </p:spPr>
      </p:sp>
      <p:sp>
        <p:nvSpPr>
          <p:cNvPr id="34" name="TextBox 34"/>
          <p:cNvSpPr txBox="1"/>
          <p:nvPr/>
        </p:nvSpPr>
        <p:spPr>
          <a:xfrm>
            <a:off x="3817239" y="3394710"/>
            <a:ext cx="366522"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沉淀</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3686175" y="3640931"/>
            <a:ext cx="628650"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到知识库</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5074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5381625" y="3286125"/>
            <a:ext cx="1809750" cy="666750"/>
          </a:xfrm>
          <a:prstGeom prst="roundRect">
            <a:avLst>
              <a:gd name="adj" fmla="val 11429"/>
            </a:avLst>
          </a:prstGeom>
          <a:solidFill>
            <a:srgbClr val="FFF3E0"/>
          </a:solidFill>
          <a:ln>
            <a:noFill/>
          </a:ln>
        </p:spPr>
      </p:sp>
      <p:sp>
        <p:nvSpPr>
          <p:cNvPr id="38" name="TextBox 38"/>
          <p:cNvSpPr txBox="1"/>
          <p:nvPr/>
        </p:nvSpPr>
        <p:spPr>
          <a:xfrm>
            <a:off x="6103239" y="3394710"/>
            <a:ext cx="366522" cy="243840"/>
          </a:xfrm>
          <a:prstGeom prst="rect">
            <a:avLst/>
          </a:prstGeom>
          <a:noFill/>
          <a:ln>
            <a:noFill/>
          </a:ln>
        </p:spPr>
        <p:txBody>
          <a:bodyPr wrap="none" lIns="0" tIns="0" rIns="0" bIns="0" anchor="t" anchorCtr="0">
            <a:spAutoFit/>
          </a:bodyPr>
          <a:lstStyle/>
          <a:p>
            <a:pPr algn="ctr"/>
            <a:r>
              <a:rPr lang="zh-CN" sz="1200" b="1" dirty="0">
                <a:solidFill>
                  <a:srgbClr val="FF6F00"/>
                </a:solidFill>
                <a:latin typeface="Segoe UI" panose="020B0502040204020203"/>
                <a:ea typeface="微软雅黑" panose="020B0503020204020204" charset="-122"/>
                <a:cs typeface="Segoe UI" panose="020B0502040204020203"/>
              </a:rPr>
              <a:t>登记</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5822156" y="3640931"/>
            <a:ext cx="928688"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为Skill或组件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7360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7667625" y="3286125"/>
            <a:ext cx="1809750" cy="666750"/>
          </a:xfrm>
          <a:prstGeom prst="roundRect">
            <a:avLst>
              <a:gd name="adj" fmla="val 11429"/>
            </a:avLst>
          </a:prstGeom>
          <a:solidFill>
            <a:srgbClr val="E8F5E9"/>
          </a:solidFill>
          <a:ln>
            <a:noFill/>
          </a:ln>
        </p:spPr>
      </p:sp>
      <p:sp>
        <p:nvSpPr>
          <p:cNvPr id="42" name="TextBox 42"/>
          <p:cNvSpPr txBox="1"/>
          <p:nvPr/>
        </p:nvSpPr>
        <p:spPr>
          <a:xfrm>
            <a:off x="8389239" y="3394710"/>
            <a:ext cx="36652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推荐</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8194417" y="3640931"/>
            <a:ext cx="75616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AI主动推荐</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9646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9953625" y="3286125"/>
            <a:ext cx="1428750" cy="666750"/>
          </a:xfrm>
          <a:prstGeom prst="roundRect">
            <a:avLst>
              <a:gd name="adj" fmla="val 11429"/>
            </a:avLst>
          </a:prstGeom>
          <a:solidFill>
            <a:srgbClr val="1565C0">
              <a:alpha val="10000"/>
            </a:srgbClr>
          </a:solidFill>
          <a:ln>
            <a:noFill/>
          </a:ln>
        </p:spPr>
      </p:sp>
      <p:sp>
        <p:nvSpPr>
          <p:cNvPr id="46" name="TextBox 46"/>
          <p:cNvSpPr txBox="1"/>
          <p:nvPr/>
        </p:nvSpPr>
        <p:spPr>
          <a:xfrm>
            <a:off x="10484739" y="3394710"/>
            <a:ext cx="36652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评审</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10203656" y="3640931"/>
            <a:ext cx="928688"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代码评审校验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5992320" y="4011930"/>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4140517" y="4394835"/>
            <a:ext cx="3910965"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新发现的复用机会 → 回到"提取"步骤，形成正反馈循环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0" name="Rectangle 50"/>
          <p:cNvSpPr/>
          <p:nvPr/>
        </p:nvSpPr>
        <p:spPr>
          <a:xfrm>
            <a:off x="571500" y="5572125"/>
            <a:ext cx="11049000" cy="476250"/>
          </a:xfrm>
          <a:prstGeom prst="roundRect">
            <a:avLst>
              <a:gd name="adj" fmla="val 16000"/>
            </a:avLst>
          </a:prstGeom>
          <a:solidFill>
            <a:srgbClr val="1565C0">
              <a:alpha val="8000"/>
            </a:srgbClr>
          </a:solidFill>
          <a:ln>
            <a:noFill/>
          </a:ln>
        </p:spPr>
      </p:sp>
      <p:grpSp>
        <p:nvGrpSpPr>
          <p:cNvPr id="53" name="Group 53"/>
          <p:cNvGrpSpPr/>
          <p:nvPr/>
        </p:nvGrpSpPr>
        <p:grpSpPr>
          <a:xfrm>
            <a:off x="793118" y="5766199"/>
            <a:ext cx="185378" cy="177624"/>
            <a:chOff x="793118" y="5766199"/>
            <a:chExt cx="185378" cy="177624"/>
          </a:xfrm>
        </p:grpSpPr>
        <p:sp>
          <p:nvSpPr>
            <p:cNvPr id="51" name="Freeform 51"/>
            <p:cNvSpPr/>
            <p:nvPr/>
          </p:nvSpPr>
          <p:spPr>
            <a:xfrm>
              <a:off x="800150" y="5772812"/>
              <a:ext cx="171350" cy="164025"/>
            </a:xfrm>
            <a:custGeom>
              <a:avLst/>
              <a:gdLst/>
              <a:ahLst/>
              <a:cxnLst/>
              <a:rect l="l" t="t" r="r" b="b"/>
              <a:pathLst>
                <a:path w="171350" h="164025">
                  <a:moveTo>
                    <a:pt x="131621" y="101188"/>
                  </a:moveTo>
                  <a:cubicBezTo>
                    <a:pt x="129792" y="102794"/>
                    <a:pt x="128994" y="105275"/>
                    <a:pt x="129542" y="107647"/>
                  </a:cubicBezTo>
                  <a:lnTo>
                    <a:pt x="140608" y="155565"/>
                  </a:lnTo>
                  <a:cubicBezTo>
                    <a:pt x="141206" y="158123"/>
                    <a:pt x="140217" y="160791"/>
                    <a:pt x="138096" y="162342"/>
                  </a:cubicBezTo>
                  <a:cubicBezTo>
                    <a:pt x="135975" y="163892"/>
                    <a:pt x="133132" y="164025"/>
                    <a:pt x="130876" y="162678"/>
                  </a:cubicBezTo>
                  <a:lnTo>
                    <a:pt x="89048" y="137303"/>
                  </a:lnTo>
                  <a:cubicBezTo>
                    <a:pt x="86976" y="136043"/>
                    <a:pt x="84375" y="136043"/>
                    <a:pt x="82303" y="137303"/>
                  </a:cubicBezTo>
                  <a:lnTo>
                    <a:pt x="40475" y="162678"/>
                  </a:lnTo>
                  <a:cubicBezTo>
                    <a:pt x="38218" y="164025"/>
                    <a:pt x="35376" y="163892"/>
                    <a:pt x="33255" y="162342"/>
                  </a:cubicBezTo>
                  <a:cubicBezTo>
                    <a:pt x="31133" y="160791"/>
                    <a:pt x="30144" y="158123"/>
                    <a:pt x="30742" y="155565"/>
                  </a:cubicBezTo>
                  <a:lnTo>
                    <a:pt x="41809" y="107647"/>
                  </a:lnTo>
                  <a:cubicBezTo>
                    <a:pt x="42357" y="105275"/>
                    <a:pt x="41558" y="102794"/>
                    <a:pt x="39730" y="101188"/>
                  </a:cubicBezTo>
                  <a:lnTo>
                    <a:pt x="2805" y="68978"/>
                  </a:lnTo>
                  <a:cubicBezTo>
                    <a:pt x="786" y="67262"/>
                    <a:pt x="0" y="64499"/>
                    <a:pt x="814" y="61977"/>
                  </a:cubicBezTo>
                  <a:cubicBezTo>
                    <a:pt x="1627" y="59456"/>
                    <a:pt x="3880" y="57673"/>
                    <a:pt x="6521" y="57461"/>
                  </a:cubicBezTo>
                  <a:lnTo>
                    <a:pt x="55192" y="53254"/>
                  </a:lnTo>
                  <a:cubicBezTo>
                    <a:pt x="57612" y="53038"/>
                    <a:pt x="59714" y="51500"/>
                    <a:pt x="60652" y="49259"/>
                  </a:cubicBezTo>
                  <a:lnTo>
                    <a:pt x="79667" y="3944"/>
                  </a:lnTo>
                  <a:cubicBezTo>
                    <a:pt x="80705" y="1550"/>
                    <a:pt x="83066" y="0"/>
                    <a:pt x="85675" y="0"/>
                  </a:cubicBezTo>
                  <a:cubicBezTo>
                    <a:pt x="88285" y="0"/>
                    <a:pt x="90645" y="1550"/>
                    <a:pt x="91683" y="3944"/>
                  </a:cubicBezTo>
                  <a:lnTo>
                    <a:pt x="110698" y="49259"/>
                  </a:lnTo>
                  <a:cubicBezTo>
                    <a:pt x="111636" y="51500"/>
                    <a:pt x="113738" y="53038"/>
                    <a:pt x="116158" y="53254"/>
                  </a:cubicBezTo>
                  <a:lnTo>
                    <a:pt x="164829" y="57461"/>
                  </a:lnTo>
                  <a:cubicBezTo>
                    <a:pt x="167470" y="57673"/>
                    <a:pt x="169723" y="59456"/>
                    <a:pt x="170537" y="61977"/>
                  </a:cubicBezTo>
                  <a:cubicBezTo>
                    <a:pt x="171350" y="64499"/>
                    <a:pt x="170565" y="67262"/>
                    <a:pt x="168546" y="68978"/>
                  </a:cubicBezTo>
                  <a:close/>
                </a:path>
              </a:pathLst>
            </a:custGeom>
            <a:solidFill>
              <a:srgbClr val="FF6F00">
                <a:alpha val="20000"/>
              </a:srgbClr>
            </a:solidFill>
            <a:ln>
              <a:noFill/>
            </a:ln>
          </p:spPr>
        </p:sp>
        <p:sp>
          <p:nvSpPr>
            <p:cNvPr id="52" name="Freeform 52"/>
            <p:cNvSpPr/>
            <p:nvPr/>
          </p:nvSpPr>
          <p:spPr>
            <a:xfrm>
              <a:off x="793118" y="5766199"/>
              <a:ext cx="185378" cy="177624"/>
            </a:xfrm>
            <a:custGeom>
              <a:avLst/>
              <a:gdLst/>
              <a:ahLst/>
              <a:cxnLst/>
              <a:rect l="l" t="t" r="r" b="b"/>
              <a:pathLst>
                <a:path w="185378" h="177624">
                  <a:moveTo>
                    <a:pt x="183731" y="66539"/>
                  </a:moveTo>
                  <a:cubicBezTo>
                    <a:pt x="182110" y="61542"/>
                    <a:pt x="177659" y="57997"/>
                    <a:pt x="172427" y="57535"/>
                  </a:cubicBezTo>
                  <a:lnTo>
                    <a:pt x="123813" y="53344"/>
                  </a:lnTo>
                  <a:lnTo>
                    <a:pt x="104757" y="8028"/>
                  </a:lnTo>
                  <a:lnTo>
                    <a:pt x="104757" y="8028"/>
                  </a:lnTo>
                  <a:cubicBezTo>
                    <a:pt x="102728" y="3166"/>
                    <a:pt x="97976" y="0"/>
                    <a:pt x="92707" y="0"/>
                  </a:cubicBezTo>
                  <a:cubicBezTo>
                    <a:pt x="87439" y="0"/>
                    <a:pt x="82687" y="3166"/>
                    <a:pt x="80658" y="8028"/>
                  </a:cubicBezTo>
                  <a:lnTo>
                    <a:pt x="61660" y="53344"/>
                  </a:lnTo>
                  <a:lnTo>
                    <a:pt x="12988" y="57559"/>
                  </a:lnTo>
                  <a:cubicBezTo>
                    <a:pt x="7734" y="58001"/>
                    <a:pt x="3257" y="61550"/>
                    <a:pt x="1628" y="66566"/>
                  </a:cubicBezTo>
                  <a:cubicBezTo>
                    <a:pt x="0" y="71581"/>
                    <a:pt x="1538" y="77084"/>
                    <a:pt x="5531" y="80528"/>
                  </a:cubicBezTo>
                  <a:lnTo>
                    <a:pt x="42456" y="112795"/>
                  </a:lnTo>
                  <a:lnTo>
                    <a:pt x="31390" y="160713"/>
                  </a:lnTo>
                  <a:cubicBezTo>
                    <a:pt x="30193" y="165840"/>
                    <a:pt x="32183" y="171185"/>
                    <a:pt x="36440" y="174281"/>
                  </a:cubicBezTo>
                  <a:cubicBezTo>
                    <a:pt x="40697" y="177378"/>
                    <a:pt x="46395" y="177624"/>
                    <a:pt x="50904" y="174907"/>
                  </a:cubicBezTo>
                  <a:lnTo>
                    <a:pt x="92650" y="149532"/>
                  </a:lnTo>
                  <a:lnTo>
                    <a:pt x="134487" y="174907"/>
                  </a:lnTo>
                  <a:cubicBezTo>
                    <a:pt x="138995" y="177624"/>
                    <a:pt x="144693" y="177378"/>
                    <a:pt x="148950" y="174281"/>
                  </a:cubicBezTo>
                  <a:cubicBezTo>
                    <a:pt x="153208" y="171185"/>
                    <a:pt x="155197" y="165840"/>
                    <a:pt x="154001" y="160713"/>
                  </a:cubicBezTo>
                  <a:lnTo>
                    <a:pt x="142942" y="112746"/>
                  </a:lnTo>
                  <a:lnTo>
                    <a:pt x="179859" y="80528"/>
                  </a:lnTo>
                  <a:cubicBezTo>
                    <a:pt x="183852" y="77072"/>
                    <a:pt x="185378" y="71556"/>
                    <a:pt x="183731" y="66539"/>
                  </a:cubicBezTo>
                  <a:close/>
                  <a:moveTo>
                    <a:pt x="171272" y="70631"/>
                  </a:moveTo>
                  <a:lnTo>
                    <a:pt x="134356" y="102850"/>
                  </a:lnTo>
                  <a:cubicBezTo>
                    <a:pt x="130694" y="106035"/>
                    <a:pt x="129094" y="110983"/>
                    <a:pt x="130197" y="115709"/>
                  </a:cubicBezTo>
                  <a:lnTo>
                    <a:pt x="141289" y="163709"/>
                  </a:lnTo>
                  <a:lnTo>
                    <a:pt x="141289" y="163709"/>
                  </a:lnTo>
                  <a:lnTo>
                    <a:pt x="99485" y="138334"/>
                  </a:lnTo>
                  <a:cubicBezTo>
                    <a:pt x="95327" y="135802"/>
                    <a:pt x="90104" y="135802"/>
                    <a:pt x="85946" y="138334"/>
                  </a:cubicBezTo>
                  <a:lnTo>
                    <a:pt x="44200" y="163709"/>
                  </a:lnTo>
                  <a:lnTo>
                    <a:pt x="44200" y="163709"/>
                  </a:lnTo>
                  <a:lnTo>
                    <a:pt x="55218" y="115742"/>
                  </a:lnTo>
                  <a:cubicBezTo>
                    <a:pt x="56321" y="111016"/>
                    <a:pt x="54721" y="106068"/>
                    <a:pt x="51059" y="102883"/>
                  </a:cubicBezTo>
                  <a:lnTo>
                    <a:pt x="14126" y="70681"/>
                  </a:lnTo>
                  <a:cubicBezTo>
                    <a:pt x="14123" y="70656"/>
                    <a:pt x="14123" y="70631"/>
                    <a:pt x="14126" y="70607"/>
                  </a:cubicBezTo>
                  <a:lnTo>
                    <a:pt x="62781" y="66400"/>
                  </a:lnTo>
                  <a:cubicBezTo>
                    <a:pt x="67622" y="65973"/>
                    <a:pt x="71829" y="62900"/>
                    <a:pt x="73709" y="58419"/>
                  </a:cubicBezTo>
                  <a:lnTo>
                    <a:pt x="92707" y="13161"/>
                  </a:lnTo>
                  <a:lnTo>
                    <a:pt x="111698" y="58419"/>
                  </a:lnTo>
                  <a:cubicBezTo>
                    <a:pt x="113578" y="62900"/>
                    <a:pt x="117784" y="65973"/>
                    <a:pt x="122626" y="66400"/>
                  </a:cubicBezTo>
                  <a:lnTo>
                    <a:pt x="171289" y="70607"/>
                  </a:lnTo>
                  <a:cubicBezTo>
                    <a:pt x="171289" y="70607"/>
                    <a:pt x="171289" y="70656"/>
                    <a:pt x="171289" y="70664"/>
                  </a:cubicBezTo>
                  <a:close/>
                </a:path>
              </a:pathLst>
            </a:custGeom>
            <a:solidFill>
              <a:srgbClr val="FF6F00"/>
            </a:solidFill>
            <a:ln>
              <a:noFill/>
            </a:ln>
          </p:spPr>
        </p:sp>
      </p:grpSp>
      <p:sp>
        <p:nvSpPr>
          <p:cNvPr id="54" name="TextBox 54"/>
          <p:cNvSpPr txBox="1"/>
          <p:nvPr/>
        </p:nvSpPr>
        <p:spPr>
          <a:xfrm>
            <a:off x="1070610" y="5747385"/>
            <a:ext cx="5306339" cy="243840"/>
          </a:xfrm>
          <a:prstGeom prst="rect">
            <a:avLst/>
          </a:prstGeom>
          <a:noFill/>
          <a:ln>
            <a:noFill/>
          </a:ln>
        </p:spPr>
        <p:txBody>
          <a:bodyPr wrap="none" lIns="0" tIns="0" rIns="0" bIns="0" anchor="t" anchorCtr="0">
            <a:spAutoFit/>
          </a:bodyPr>
          <a:lstStyle/>
          <a:p>
            <a:pPr algn="l"/>
            <a:r>
              <a:rPr lang="zh-CN" sz="1200" b="1" dirty="0">
                <a:solidFill>
                  <a:srgbClr val="263238"/>
                </a:solidFill>
                <a:latin typeface="Segoe UI" panose="020B0502040204020203"/>
                <a:ea typeface="微软雅黑" panose="020B0503020204020204" charset="-122"/>
                <a:cs typeface="Segoe UI" panose="020B0502040204020203"/>
              </a:rPr>
              <a:t>核心贡献：让复用从"靠人记忆"变成"AI主动推荐" —— 复用率提升3-5倍</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7" name="图片 5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8"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56260" y="252730"/>
            <a:ext cx="3030220"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代码重构实战总结</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549616" y="1052989"/>
            <a:ext cx="3092768"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重构不是一次性事件，而是持续改进过程</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381125"/>
            <a:ext cx="3552825" cy="4762500"/>
          </a:xfrm>
          <a:prstGeom prst="roundRect">
            <a:avLst>
              <a:gd name="adj" fmla="val 3217"/>
            </a:avLst>
          </a:prstGeom>
          <a:solidFill>
            <a:srgbClr val="FFFFFF"/>
          </a:solidFill>
          <a:ln w="9525">
            <a:solidFill>
              <a:srgbClr val="CFD8DC"/>
            </a:solidFill>
          </a:ln>
        </p:spPr>
      </p:sp>
      <p:sp>
        <p:nvSpPr>
          <p:cNvPr id="11" name="Rectangle 11"/>
          <p:cNvSpPr/>
          <p:nvPr/>
        </p:nvSpPr>
        <p:spPr>
          <a:xfrm>
            <a:off x="571500" y="1381125"/>
            <a:ext cx="3552825" cy="47625"/>
          </a:xfrm>
          <a:prstGeom prst="roundRect">
            <a:avLst>
              <a:gd name="adj" fmla="val 50000"/>
            </a:avLst>
          </a:prstGeom>
          <a:solidFill>
            <a:srgbClr val="C62828"/>
          </a:solidFill>
          <a:ln>
            <a:noFill/>
          </a:ln>
        </p:spPr>
      </p:sp>
      <p:grpSp>
        <p:nvGrpSpPr>
          <p:cNvPr id="14" name="Group 14"/>
          <p:cNvGrpSpPr/>
          <p:nvPr/>
        </p:nvGrpSpPr>
        <p:grpSpPr>
          <a:xfrm>
            <a:off x="851522" y="1621631"/>
            <a:ext cx="201950" cy="178676"/>
            <a:chOff x="851522" y="1621631"/>
            <a:chExt cx="201950" cy="178676"/>
          </a:xfrm>
        </p:grpSpPr>
        <p:sp>
          <p:nvSpPr>
            <p:cNvPr id="12" name="Freeform 12"/>
            <p:cNvSpPr/>
            <p:nvPr/>
          </p:nvSpPr>
          <p:spPr>
            <a:xfrm>
              <a:off x="856059" y="1626293"/>
              <a:ext cx="192881" cy="166789"/>
            </a:xfrm>
            <a:custGeom>
              <a:avLst/>
              <a:gdLst/>
              <a:ahLst/>
              <a:cxnLst/>
              <a:rect l="l" t="t" r="r" b="b"/>
              <a:pathLst>
                <a:path w="192881" h="166789">
                  <a:moveTo>
                    <a:pt x="174540" y="166789"/>
                  </a:moveTo>
                  <a:lnTo>
                    <a:pt x="18342" y="166789"/>
                  </a:lnTo>
                  <a:cubicBezTo>
                    <a:pt x="7072" y="166789"/>
                    <a:pt x="0" y="154993"/>
                    <a:pt x="5474" y="145438"/>
                  </a:cubicBezTo>
                  <a:lnTo>
                    <a:pt x="83573" y="9823"/>
                  </a:lnTo>
                  <a:cubicBezTo>
                    <a:pt x="89199" y="0"/>
                    <a:pt x="103683" y="0"/>
                    <a:pt x="109308" y="9823"/>
                  </a:cubicBezTo>
                  <a:lnTo>
                    <a:pt x="187407" y="145438"/>
                  </a:lnTo>
                  <a:cubicBezTo>
                    <a:pt x="192881" y="154993"/>
                    <a:pt x="185809" y="166789"/>
                    <a:pt x="174540" y="166789"/>
                  </a:cubicBezTo>
                  <a:close/>
                </a:path>
              </a:pathLst>
            </a:custGeom>
            <a:solidFill>
              <a:srgbClr val="C62828">
                <a:alpha val="20000"/>
              </a:srgbClr>
            </a:solidFill>
            <a:ln>
              <a:noFill/>
            </a:ln>
          </p:spPr>
        </p:sp>
        <p:sp>
          <p:nvSpPr>
            <p:cNvPr id="13" name="Freeform 13"/>
            <p:cNvSpPr/>
            <p:nvPr/>
          </p:nvSpPr>
          <p:spPr>
            <a:xfrm>
              <a:off x="851522" y="1621631"/>
              <a:ext cx="201950" cy="178676"/>
            </a:xfrm>
            <a:custGeom>
              <a:avLst/>
              <a:gdLst/>
              <a:ahLst/>
              <a:cxnLst/>
              <a:rect l="l" t="t" r="r" b="b"/>
              <a:pathLst>
                <a:path w="201950" h="178676">
                  <a:moveTo>
                    <a:pt x="198133" y="146528"/>
                  </a:moveTo>
                  <a:lnTo>
                    <a:pt x="120043" y="10913"/>
                  </a:lnTo>
                  <a:lnTo>
                    <a:pt x="120043" y="10913"/>
                  </a:lnTo>
                  <a:cubicBezTo>
                    <a:pt x="116072" y="4152"/>
                    <a:pt x="108818" y="0"/>
                    <a:pt x="100978" y="0"/>
                  </a:cubicBezTo>
                  <a:cubicBezTo>
                    <a:pt x="93137" y="0"/>
                    <a:pt x="85884" y="4152"/>
                    <a:pt x="81913" y="10913"/>
                  </a:cubicBezTo>
                  <a:lnTo>
                    <a:pt x="3823" y="146528"/>
                  </a:lnTo>
                  <a:cubicBezTo>
                    <a:pt x="0" y="153071"/>
                    <a:pt x="0" y="161166"/>
                    <a:pt x="3823" y="167709"/>
                  </a:cubicBezTo>
                  <a:cubicBezTo>
                    <a:pt x="7745" y="174515"/>
                    <a:pt x="15033" y="178676"/>
                    <a:pt x="22888" y="178594"/>
                  </a:cubicBezTo>
                  <a:lnTo>
                    <a:pt x="179068" y="178594"/>
                  </a:lnTo>
                  <a:cubicBezTo>
                    <a:pt x="186916" y="178669"/>
                    <a:pt x="194196" y="174509"/>
                    <a:pt x="198115" y="167709"/>
                  </a:cubicBezTo>
                  <a:cubicBezTo>
                    <a:pt x="201943" y="161169"/>
                    <a:pt x="201950" y="153074"/>
                    <a:pt x="198133" y="146528"/>
                  </a:cubicBezTo>
                  <a:close/>
                  <a:moveTo>
                    <a:pt x="185747" y="160556"/>
                  </a:moveTo>
                  <a:cubicBezTo>
                    <a:pt x="184361" y="162921"/>
                    <a:pt x="181808" y="164354"/>
                    <a:pt x="179068" y="164307"/>
                  </a:cubicBezTo>
                  <a:lnTo>
                    <a:pt x="22888" y="164307"/>
                  </a:lnTo>
                  <a:cubicBezTo>
                    <a:pt x="20147" y="164354"/>
                    <a:pt x="17594" y="162921"/>
                    <a:pt x="16208" y="160556"/>
                  </a:cubicBezTo>
                  <a:cubicBezTo>
                    <a:pt x="14952" y="158430"/>
                    <a:pt x="14952" y="155789"/>
                    <a:pt x="16208" y="153663"/>
                  </a:cubicBezTo>
                  <a:lnTo>
                    <a:pt x="94298" y="18047"/>
                  </a:lnTo>
                  <a:cubicBezTo>
                    <a:pt x="95711" y="15697"/>
                    <a:pt x="98253" y="14259"/>
                    <a:pt x="100996" y="14259"/>
                  </a:cubicBezTo>
                  <a:cubicBezTo>
                    <a:pt x="103738" y="14259"/>
                    <a:pt x="106280" y="15697"/>
                    <a:pt x="107693" y="18047"/>
                  </a:cubicBezTo>
                  <a:lnTo>
                    <a:pt x="185783" y="153663"/>
                  </a:lnTo>
                  <a:cubicBezTo>
                    <a:pt x="187028" y="155795"/>
                    <a:pt x="187014" y="158437"/>
                    <a:pt x="185747" y="160556"/>
                  </a:cubicBezTo>
                  <a:close/>
                  <a:moveTo>
                    <a:pt x="93834" y="107157"/>
                  </a:moveTo>
                  <a:lnTo>
                    <a:pt x="93834" y="71438"/>
                  </a:lnTo>
                  <a:cubicBezTo>
                    <a:pt x="93834" y="67493"/>
                    <a:pt x="97032" y="64294"/>
                    <a:pt x="100978" y="64294"/>
                  </a:cubicBezTo>
                  <a:cubicBezTo>
                    <a:pt x="104923" y="64294"/>
                    <a:pt x="108122" y="67493"/>
                    <a:pt x="108122" y="71438"/>
                  </a:cubicBezTo>
                  <a:lnTo>
                    <a:pt x="108122" y="107157"/>
                  </a:lnTo>
                  <a:cubicBezTo>
                    <a:pt x="108122" y="111102"/>
                    <a:pt x="104923" y="114301"/>
                    <a:pt x="100978" y="114301"/>
                  </a:cubicBezTo>
                  <a:cubicBezTo>
                    <a:pt x="97032" y="114301"/>
                    <a:pt x="93834" y="111102"/>
                    <a:pt x="93834" y="107157"/>
                  </a:cubicBezTo>
                  <a:close/>
                  <a:moveTo>
                    <a:pt x="111693" y="139304"/>
                  </a:moveTo>
                  <a:cubicBezTo>
                    <a:pt x="111693" y="145222"/>
                    <a:pt x="106896" y="150019"/>
                    <a:pt x="100978" y="150019"/>
                  </a:cubicBezTo>
                  <a:cubicBezTo>
                    <a:pt x="95060" y="150019"/>
                    <a:pt x="90262" y="145222"/>
                    <a:pt x="90262" y="139304"/>
                  </a:cubicBezTo>
                  <a:cubicBezTo>
                    <a:pt x="90262" y="133386"/>
                    <a:pt x="95060" y="128588"/>
                    <a:pt x="100978" y="128588"/>
                  </a:cubicBezTo>
                  <a:cubicBezTo>
                    <a:pt x="106896" y="128588"/>
                    <a:pt x="111693" y="133386"/>
                    <a:pt x="111693" y="139304"/>
                  </a:cubicBezTo>
                  <a:close/>
                </a:path>
              </a:pathLst>
            </a:custGeom>
            <a:solidFill>
              <a:srgbClr val="C62828"/>
            </a:solidFill>
            <a:ln>
              <a:noFill/>
            </a:ln>
          </p:spPr>
        </p:sp>
      </p:grpSp>
      <p:sp>
        <p:nvSpPr>
          <p:cNvPr id="15" name="TextBox 15"/>
          <p:cNvSpPr txBox="1"/>
          <p:nvPr/>
        </p:nvSpPr>
        <p:spPr>
          <a:xfrm>
            <a:off x="1198245" y="1612582"/>
            <a:ext cx="1428083" cy="335280"/>
          </a:xfrm>
          <a:prstGeom prst="rect">
            <a:avLst/>
          </a:prstGeom>
          <a:noFill/>
          <a:ln>
            <a:noFill/>
          </a:ln>
        </p:spPr>
        <p:txBody>
          <a:bodyPr wrap="none" lIns="0" tIns="0" rIns="0" bIns="0" anchor="t" anchorCtr="0">
            <a:spAutoFit/>
          </a:bodyPr>
          <a:lstStyle/>
          <a:p>
            <a:pPr algn="l"/>
            <a:r>
              <a:rPr lang="zh-CN" sz="1650" b="1" dirty="0">
                <a:solidFill>
                  <a:srgbClr val="C62828"/>
                </a:solidFill>
                <a:latin typeface="Segoe UI" panose="020B0502040204020203"/>
                <a:ea typeface="微软雅黑" panose="020B0503020204020204" charset="-122"/>
                <a:cs typeface="Segoe UI" panose="020B0502040204020203"/>
              </a:rPr>
              <a:t>常见代码问题</a:t>
            </a:r>
            <a:endParaRPr lang="zh-CN" sz="1650" b="1" dirty="0">
              <a:solidFill>
                <a:srgbClr val="C6282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762000" y="2047875"/>
            <a:ext cx="3171825" cy="523875"/>
          </a:xfrm>
          <a:prstGeom prst="roundRect">
            <a:avLst>
              <a:gd name="adj" fmla="val 10909"/>
            </a:avLst>
          </a:prstGeom>
          <a:solidFill>
            <a:srgbClr val="FFEBEE"/>
          </a:solidFill>
          <a:ln>
            <a:noFill/>
          </a:ln>
        </p:spPr>
      </p:sp>
      <p:sp>
        <p:nvSpPr>
          <p:cNvPr id="17" name="TextBox 17"/>
          <p:cNvSpPr txBox="1"/>
          <p:nvPr/>
        </p:nvSpPr>
        <p:spPr>
          <a:xfrm>
            <a:off x="899160" y="2156460"/>
            <a:ext cx="702564"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重复代码</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00112" y="2355056"/>
            <a:ext cx="197881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多处相同逻辑，修改需要同步</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762000" y="2686050"/>
            <a:ext cx="3171825" cy="523875"/>
          </a:xfrm>
          <a:prstGeom prst="roundRect">
            <a:avLst>
              <a:gd name="adj" fmla="val 10909"/>
            </a:avLst>
          </a:prstGeom>
          <a:solidFill>
            <a:srgbClr val="FFEBEE"/>
          </a:solidFill>
          <a:ln>
            <a:noFill/>
          </a:ln>
        </p:spPr>
      </p:sp>
      <p:sp>
        <p:nvSpPr>
          <p:cNvPr id="20" name="TextBox 20"/>
          <p:cNvSpPr txBox="1"/>
          <p:nvPr/>
        </p:nvSpPr>
        <p:spPr>
          <a:xfrm>
            <a:off x="899160" y="2794635"/>
            <a:ext cx="534543"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死代码</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00112" y="2993231"/>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永远不执行的逻辑</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762000" y="3324225"/>
            <a:ext cx="3171825" cy="523875"/>
          </a:xfrm>
          <a:prstGeom prst="roundRect">
            <a:avLst>
              <a:gd name="adj" fmla="val 10909"/>
            </a:avLst>
          </a:prstGeom>
          <a:solidFill>
            <a:srgbClr val="FFEBEE"/>
          </a:solidFill>
          <a:ln>
            <a:noFill/>
          </a:ln>
        </p:spPr>
      </p:sp>
      <p:sp>
        <p:nvSpPr>
          <p:cNvPr id="23" name="TextBox 23"/>
          <p:cNvSpPr txBox="1"/>
          <p:nvPr/>
        </p:nvSpPr>
        <p:spPr>
          <a:xfrm>
            <a:off x="899160" y="3432810"/>
            <a:ext cx="870585"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霰弹式修改</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900112" y="3631406"/>
            <a:ext cx="146125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改一处需要同时改N处</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762000" y="3962400"/>
            <a:ext cx="3171825" cy="523875"/>
          </a:xfrm>
          <a:prstGeom prst="roundRect">
            <a:avLst>
              <a:gd name="adj" fmla="val 10909"/>
            </a:avLst>
          </a:prstGeom>
          <a:solidFill>
            <a:srgbClr val="FFEBEE"/>
          </a:solidFill>
          <a:ln>
            <a:noFill/>
          </a:ln>
        </p:spPr>
      </p:sp>
      <p:sp>
        <p:nvSpPr>
          <p:cNvPr id="26" name="TextBox 26"/>
          <p:cNvSpPr txBox="1"/>
          <p:nvPr/>
        </p:nvSpPr>
        <p:spPr>
          <a:xfrm>
            <a:off x="899160" y="4070985"/>
            <a:ext cx="702564"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异步竞态</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900112" y="4269581"/>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并发状态不一致</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762000" y="4600575"/>
            <a:ext cx="3171825" cy="523875"/>
          </a:xfrm>
          <a:prstGeom prst="roundRect">
            <a:avLst>
              <a:gd name="adj" fmla="val 10909"/>
            </a:avLst>
          </a:prstGeom>
          <a:solidFill>
            <a:srgbClr val="FFEBEE"/>
          </a:solidFill>
          <a:ln>
            <a:noFill/>
          </a:ln>
        </p:spPr>
      </p:sp>
      <p:sp>
        <p:nvSpPr>
          <p:cNvPr id="29" name="TextBox 29"/>
          <p:cNvSpPr txBox="1"/>
          <p:nvPr/>
        </p:nvSpPr>
        <p:spPr>
          <a:xfrm>
            <a:off x="899160" y="4709160"/>
            <a:ext cx="1374648"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过度耦合的消息链</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900112" y="4907756"/>
            <a:ext cx="170128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a.b().c().d()深层调用</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4314825" y="1381125"/>
            <a:ext cx="3552825" cy="4762500"/>
          </a:xfrm>
          <a:prstGeom prst="roundRect">
            <a:avLst>
              <a:gd name="adj" fmla="val 3217"/>
            </a:avLst>
          </a:prstGeom>
          <a:solidFill>
            <a:srgbClr val="FFFFFF"/>
          </a:solidFill>
          <a:ln w="9525">
            <a:solidFill>
              <a:srgbClr val="CFD8DC"/>
            </a:solidFill>
          </a:ln>
        </p:spPr>
      </p:sp>
      <p:sp>
        <p:nvSpPr>
          <p:cNvPr id="32" name="Rectangle 32"/>
          <p:cNvSpPr/>
          <p:nvPr/>
        </p:nvSpPr>
        <p:spPr>
          <a:xfrm>
            <a:off x="4314825" y="1381125"/>
            <a:ext cx="3552825" cy="47625"/>
          </a:xfrm>
          <a:prstGeom prst="roundRect">
            <a:avLst>
              <a:gd name="adj" fmla="val 50000"/>
            </a:avLst>
          </a:prstGeom>
          <a:solidFill>
            <a:srgbClr val="1565C0"/>
          </a:solidFill>
          <a:ln>
            <a:noFill/>
          </a:ln>
        </p:spPr>
      </p:sp>
      <p:grpSp>
        <p:nvGrpSpPr>
          <p:cNvPr id="35" name="Group 35"/>
          <p:cNvGrpSpPr/>
          <p:nvPr/>
        </p:nvGrpSpPr>
        <p:grpSpPr>
          <a:xfrm>
            <a:off x="4594690" y="1614489"/>
            <a:ext cx="202231" cy="193772"/>
            <a:chOff x="4594690" y="1614489"/>
            <a:chExt cx="202231" cy="193772"/>
          </a:xfrm>
        </p:grpSpPr>
        <p:sp>
          <p:nvSpPr>
            <p:cNvPr id="33" name="Freeform 33"/>
            <p:cNvSpPr/>
            <p:nvPr/>
          </p:nvSpPr>
          <p:spPr>
            <a:xfrm>
              <a:off x="4602361" y="1621704"/>
              <a:ext cx="186928" cy="178936"/>
            </a:xfrm>
            <a:custGeom>
              <a:avLst/>
              <a:gdLst/>
              <a:ahLst/>
              <a:cxnLst/>
              <a:rect l="l" t="t" r="r" b="b"/>
              <a:pathLst>
                <a:path w="186928" h="178936">
                  <a:moveTo>
                    <a:pt x="143586" y="110387"/>
                  </a:moveTo>
                  <a:cubicBezTo>
                    <a:pt x="141591" y="112139"/>
                    <a:pt x="140720" y="114846"/>
                    <a:pt x="141318" y="117433"/>
                  </a:cubicBezTo>
                  <a:lnTo>
                    <a:pt x="153391" y="169707"/>
                  </a:lnTo>
                  <a:cubicBezTo>
                    <a:pt x="154043" y="172498"/>
                    <a:pt x="152964" y="175409"/>
                    <a:pt x="150650" y="177100"/>
                  </a:cubicBezTo>
                  <a:cubicBezTo>
                    <a:pt x="148336" y="178791"/>
                    <a:pt x="145235" y="178936"/>
                    <a:pt x="142774" y="177467"/>
                  </a:cubicBezTo>
                  <a:lnTo>
                    <a:pt x="97143" y="149785"/>
                  </a:lnTo>
                  <a:cubicBezTo>
                    <a:pt x="94883" y="148411"/>
                    <a:pt x="92045" y="148411"/>
                    <a:pt x="89785" y="149785"/>
                  </a:cubicBezTo>
                  <a:lnTo>
                    <a:pt x="44154" y="177467"/>
                  </a:lnTo>
                  <a:cubicBezTo>
                    <a:pt x="41693" y="178936"/>
                    <a:pt x="38592" y="178791"/>
                    <a:pt x="36278" y="177100"/>
                  </a:cubicBezTo>
                  <a:cubicBezTo>
                    <a:pt x="33964" y="175409"/>
                    <a:pt x="32885" y="172498"/>
                    <a:pt x="33537" y="169707"/>
                  </a:cubicBezTo>
                  <a:lnTo>
                    <a:pt x="45610" y="117433"/>
                  </a:lnTo>
                  <a:cubicBezTo>
                    <a:pt x="46208" y="114846"/>
                    <a:pt x="45336" y="112139"/>
                    <a:pt x="43342" y="110387"/>
                  </a:cubicBezTo>
                  <a:lnTo>
                    <a:pt x="3060" y="75249"/>
                  </a:lnTo>
                  <a:cubicBezTo>
                    <a:pt x="857" y="73377"/>
                    <a:pt x="0" y="70362"/>
                    <a:pt x="888" y="67612"/>
                  </a:cubicBezTo>
                  <a:cubicBezTo>
                    <a:pt x="1775" y="64861"/>
                    <a:pt x="4233" y="62916"/>
                    <a:pt x="7114" y="62685"/>
                  </a:cubicBezTo>
                  <a:lnTo>
                    <a:pt x="60210" y="58095"/>
                  </a:lnTo>
                  <a:cubicBezTo>
                    <a:pt x="62850" y="57860"/>
                    <a:pt x="65143" y="56182"/>
                    <a:pt x="66166" y="53737"/>
                  </a:cubicBezTo>
                  <a:lnTo>
                    <a:pt x="86909" y="4302"/>
                  </a:lnTo>
                  <a:cubicBezTo>
                    <a:pt x="88042" y="1690"/>
                    <a:pt x="90617" y="0"/>
                    <a:pt x="93464" y="0"/>
                  </a:cubicBezTo>
                  <a:cubicBezTo>
                    <a:pt x="96311" y="0"/>
                    <a:pt x="98886" y="1690"/>
                    <a:pt x="100018" y="4302"/>
                  </a:cubicBezTo>
                  <a:lnTo>
                    <a:pt x="120762" y="53737"/>
                  </a:lnTo>
                  <a:cubicBezTo>
                    <a:pt x="121785" y="56182"/>
                    <a:pt x="124078" y="57860"/>
                    <a:pt x="126718" y="58095"/>
                  </a:cubicBezTo>
                  <a:lnTo>
                    <a:pt x="179814" y="62685"/>
                  </a:lnTo>
                  <a:cubicBezTo>
                    <a:pt x="182695" y="62916"/>
                    <a:pt x="185153" y="64861"/>
                    <a:pt x="186040" y="67612"/>
                  </a:cubicBezTo>
                  <a:cubicBezTo>
                    <a:pt x="186928" y="70362"/>
                    <a:pt x="186070" y="73377"/>
                    <a:pt x="183868" y="75249"/>
                  </a:cubicBezTo>
                  <a:close/>
                </a:path>
              </a:pathLst>
            </a:custGeom>
            <a:solidFill>
              <a:srgbClr val="1565C0">
                <a:alpha val="20000"/>
              </a:srgbClr>
            </a:solidFill>
            <a:ln>
              <a:noFill/>
            </a:ln>
          </p:spPr>
        </p:sp>
        <p:sp>
          <p:nvSpPr>
            <p:cNvPr id="34" name="Freeform 34"/>
            <p:cNvSpPr/>
            <p:nvPr/>
          </p:nvSpPr>
          <p:spPr>
            <a:xfrm>
              <a:off x="4594690" y="1614489"/>
              <a:ext cx="202231" cy="193772"/>
            </a:xfrm>
            <a:custGeom>
              <a:avLst/>
              <a:gdLst/>
              <a:ahLst/>
              <a:cxnLst/>
              <a:rect l="l" t="t" r="r" b="b"/>
              <a:pathLst>
                <a:path w="202231" h="193772">
                  <a:moveTo>
                    <a:pt x="200434" y="72588"/>
                  </a:moveTo>
                  <a:cubicBezTo>
                    <a:pt x="198665" y="67137"/>
                    <a:pt x="193810" y="63270"/>
                    <a:pt x="188102" y="62765"/>
                  </a:cubicBezTo>
                  <a:lnTo>
                    <a:pt x="135068" y="58193"/>
                  </a:lnTo>
                  <a:lnTo>
                    <a:pt x="114280" y="8758"/>
                  </a:lnTo>
                  <a:lnTo>
                    <a:pt x="114280" y="8758"/>
                  </a:lnTo>
                  <a:cubicBezTo>
                    <a:pt x="112067" y="3454"/>
                    <a:pt x="106883" y="0"/>
                    <a:pt x="101135" y="0"/>
                  </a:cubicBezTo>
                  <a:cubicBezTo>
                    <a:pt x="95388" y="0"/>
                    <a:pt x="90204" y="3454"/>
                    <a:pt x="87991" y="8758"/>
                  </a:cubicBezTo>
                  <a:lnTo>
                    <a:pt x="67265" y="58193"/>
                  </a:lnTo>
                  <a:lnTo>
                    <a:pt x="14169" y="62792"/>
                  </a:lnTo>
                  <a:cubicBezTo>
                    <a:pt x="8437" y="63273"/>
                    <a:pt x="3553" y="67146"/>
                    <a:pt x="1776" y="72617"/>
                  </a:cubicBezTo>
                  <a:cubicBezTo>
                    <a:pt x="0" y="78089"/>
                    <a:pt x="1678" y="84091"/>
                    <a:pt x="6034" y="87848"/>
                  </a:cubicBezTo>
                  <a:lnTo>
                    <a:pt x="46316" y="123049"/>
                  </a:lnTo>
                  <a:lnTo>
                    <a:pt x="34243" y="175324"/>
                  </a:lnTo>
                  <a:cubicBezTo>
                    <a:pt x="32938" y="180916"/>
                    <a:pt x="35108" y="186747"/>
                    <a:pt x="39753" y="190125"/>
                  </a:cubicBezTo>
                  <a:cubicBezTo>
                    <a:pt x="44397" y="193503"/>
                    <a:pt x="50613" y="193772"/>
                    <a:pt x="55532" y="190808"/>
                  </a:cubicBezTo>
                  <a:lnTo>
                    <a:pt x="101073" y="163126"/>
                  </a:lnTo>
                  <a:lnTo>
                    <a:pt x="146713" y="190808"/>
                  </a:lnTo>
                  <a:cubicBezTo>
                    <a:pt x="151631" y="193772"/>
                    <a:pt x="157847" y="193503"/>
                    <a:pt x="162491" y="190125"/>
                  </a:cubicBezTo>
                  <a:cubicBezTo>
                    <a:pt x="167136" y="186747"/>
                    <a:pt x="169306" y="180916"/>
                    <a:pt x="168001" y="175324"/>
                  </a:cubicBezTo>
                  <a:lnTo>
                    <a:pt x="155937" y="122996"/>
                  </a:lnTo>
                  <a:lnTo>
                    <a:pt x="196210" y="87848"/>
                  </a:lnTo>
                  <a:cubicBezTo>
                    <a:pt x="200566" y="84078"/>
                    <a:pt x="202231" y="78061"/>
                    <a:pt x="200434" y="72588"/>
                  </a:cubicBezTo>
                  <a:close/>
                  <a:moveTo>
                    <a:pt x="186843" y="77052"/>
                  </a:moveTo>
                  <a:lnTo>
                    <a:pt x="146570" y="112200"/>
                  </a:lnTo>
                  <a:cubicBezTo>
                    <a:pt x="142575" y="115674"/>
                    <a:pt x="140830" y="121073"/>
                    <a:pt x="142033" y="126228"/>
                  </a:cubicBezTo>
                  <a:lnTo>
                    <a:pt x="154133" y="178592"/>
                  </a:lnTo>
                  <a:lnTo>
                    <a:pt x="154133" y="178592"/>
                  </a:lnTo>
                  <a:lnTo>
                    <a:pt x="108529" y="150910"/>
                  </a:lnTo>
                  <a:cubicBezTo>
                    <a:pt x="103993" y="148148"/>
                    <a:pt x="98295" y="148148"/>
                    <a:pt x="93759" y="150910"/>
                  </a:cubicBezTo>
                  <a:lnTo>
                    <a:pt x="48218" y="178592"/>
                  </a:lnTo>
                  <a:lnTo>
                    <a:pt x="48218" y="178592"/>
                  </a:lnTo>
                  <a:lnTo>
                    <a:pt x="60237" y="126264"/>
                  </a:lnTo>
                  <a:cubicBezTo>
                    <a:pt x="61441" y="121109"/>
                    <a:pt x="59696" y="115710"/>
                    <a:pt x="55701" y="112235"/>
                  </a:cubicBezTo>
                  <a:lnTo>
                    <a:pt x="15410" y="77106"/>
                  </a:lnTo>
                  <a:cubicBezTo>
                    <a:pt x="15407" y="77079"/>
                    <a:pt x="15407" y="77052"/>
                    <a:pt x="15410" y="77026"/>
                  </a:cubicBezTo>
                  <a:lnTo>
                    <a:pt x="68488" y="72436"/>
                  </a:lnTo>
                  <a:cubicBezTo>
                    <a:pt x="73770" y="71970"/>
                    <a:pt x="78359" y="68619"/>
                    <a:pt x="80410" y="63729"/>
                  </a:cubicBezTo>
                  <a:lnTo>
                    <a:pt x="101135" y="14357"/>
                  </a:lnTo>
                  <a:lnTo>
                    <a:pt x="121852" y="63729"/>
                  </a:lnTo>
                  <a:cubicBezTo>
                    <a:pt x="123903" y="68619"/>
                    <a:pt x="128492" y="71970"/>
                    <a:pt x="133773" y="72436"/>
                  </a:cubicBezTo>
                  <a:lnTo>
                    <a:pt x="186860" y="77026"/>
                  </a:lnTo>
                  <a:cubicBezTo>
                    <a:pt x="186860" y="77026"/>
                    <a:pt x="186860" y="77079"/>
                    <a:pt x="186860" y="77088"/>
                  </a:cubicBezTo>
                  <a:close/>
                </a:path>
              </a:pathLst>
            </a:custGeom>
            <a:solidFill>
              <a:srgbClr val="1565C0"/>
            </a:solidFill>
            <a:ln>
              <a:noFill/>
            </a:ln>
          </p:spPr>
        </p:sp>
      </p:grpSp>
      <p:sp>
        <p:nvSpPr>
          <p:cNvPr id="36" name="TextBox 36"/>
          <p:cNvSpPr txBox="1"/>
          <p:nvPr/>
        </p:nvSpPr>
        <p:spPr>
          <a:xfrm>
            <a:off x="4941570" y="1612582"/>
            <a:ext cx="966026"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Segoe UI" panose="020B0502040204020203"/>
                <a:ea typeface="微软雅黑" panose="020B0503020204020204" charset="-122"/>
                <a:cs typeface="Segoe UI" panose="020B0502040204020203"/>
              </a:rPr>
              <a:t>关键经验</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505325" y="2047875"/>
            <a:ext cx="3171825" cy="523875"/>
          </a:xfrm>
          <a:prstGeom prst="roundRect">
            <a:avLst>
              <a:gd name="adj" fmla="val 10909"/>
            </a:avLst>
          </a:prstGeom>
          <a:solidFill>
            <a:srgbClr val="E3F2FD"/>
          </a:solidFill>
          <a:ln>
            <a:noFill/>
          </a:ln>
        </p:spPr>
      </p:sp>
      <p:sp>
        <p:nvSpPr>
          <p:cNvPr id="38" name="TextBox 38"/>
          <p:cNvSpPr txBox="1"/>
          <p:nvPr/>
        </p:nvSpPr>
        <p:spPr>
          <a:xfrm>
            <a:off x="4642485" y="215646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小步快跑</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643438" y="2355056"/>
            <a:ext cx="197881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每次只改一点，改完立刻验证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4505325" y="2686050"/>
            <a:ext cx="3171825" cy="523875"/>
          </a:xfrm>
          <a:prstGeom prst="roundRect">
            <a:avLst>
              <a:gd name="adj" fmla="val 10909"/>
            </a:avLst>
          </a:prstGeom>
          <a:solidFill>
            <a:srgbClr val="E3F2FD"/>
          </a:solidFill>
          <a:ln>
            <a:noFill/>
          </a:ln>
        </p:spPr>
      </p:sp>
      <p:sp>
        <p:nvSpPr>
          <p:cNvPr id="41" name="TextBox 41"/>
          <p:cNvSpPr txBox="1"/>
          <p:nvPr/>
        </p:nvSpPr>
        <p:spPr>
          <a:xfrm>
            <a:off x="4642485" y="2794635"/>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向后兼容</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4643438" y="2993231"/>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接口契约不可破坏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4505325" y="3324225"/>
            <a:ext cx="3171825" cy="523875"/>
          </a:xfrm>
          <a:prstGeom prst="roundRect">
            <a:avLst>
              <a:gd name="adj" fmla="val 10909"/>
            </a:avLst>
          </a:prstGeom>
          <a:solidFill>
            <a:srgbClr val="E3F2FD"/>
          </a:solidFill>
          <a:ln>
            <a:noFill/>
          </a:ln>
        </p:spPr>
      </p:sp>
      <p:sp>
        <p:nvSpPr>
          <p:cNvPr id="44" name="TextBox 44"/>
          <p:cNvSpPr txBox="1"/>
          <p:nvPr/>
        </p:nvSpPr>
        <p:spPr>
          <a:xfrm>
            <a:off x="4642485" y="343281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优先复用</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4643438" y="3631406"/>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优先使用公共组件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4505325" y="3962400"/>
            <a:ext cx="3171825" cy="523875"/>
          </a:xfrm>
          <a:prstGeom prst="roundRect">
            <a:avLst>
              <a:gd name="adj" fmla="val 10909"/>
            </a:avLst>
          </a:prstGeom>
          <a:solidFill>
            <a:srgbClr val="E3F2FD"/>
          </a:solidFill>
          <a:ln>
            <a:noFill/>
          </a:ln>
        </p:spPr>
      </p:sp>
      <p:sp>
        <p:nvSpPr>
          <p:cNvPr id="47" name="TextBox 47"/>
          <p:cNvSpPr txBox="1"/>
          <p:nvPr/>
        </p:nvSpPr>
        <p:spPr>
          <a:xfrm>
            <a:off x="4642485" y="4070985"/>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测试保护</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4643438" y="4269581"/>
            <a:ext cx="15287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重构前必须有测试覆盖</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4505325" y="4600575"/>
            <a:ext cx="3171825" cy="523875"/>
          </a:xfrm>
          <a:prstGeom prst="roundRect">
            <a:avLst>
              <a:gd name="adj" fmla="val 10909"/>
            </a:avLst>
          </a:prstGeom>
          <a:solidFill>
            <a:srgbClr val="E3F2FD"/>
          </a:solidFill>
          <a:ln>
            <a:noFill/>
          </a:ln>
        </p:spPr>
      </p:sp>
      <p:sp>
        <p:nvSpPr>
          <p:cNvPr id="50" name="TextBox 50"/>
          <p:cNvSpPr txBox="1"/>
          <p:nvPr/>
        </p:nvSpPr>
        <p:spPr>
          <a:xfrm>
            <a:off x="4642485" y="470916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变更蒸馏</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4643438" y="4907756"/>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每次重构沉淀经验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8067675" y="1381125"/>
            <a:ext cx="3552825" cy="4762500"/>
          </a:xfrm>
          <a:prstGeom prst="roundRect">
            <a:avLst>
              <a:gd name="adj" fmla="val 3217"/>
            </a:avLst>
          </a:prstGeom>
          <a:solidFill>
            <a:srgbClr val="FFFFFF"/>
          </a:solidFill>
          <a:ln w="9525">
            <a:solidFill>
              <a:srgbClr val="CFD8DC"/>
            </a:solidFill>
          </a:ln>
        </p:spPr>
      </p:sp>
      <p:sp>
        <p:nvSpPr>
          <p:cNvPr id="53" name="Rectangle 53"/>
          <p:cNvSpPr/>
          <p:nvPr/>
        </p:nvSpPr>
        <p:spPr>
          <a:xfrm>
            <a:off x="8067675" y="1381125"/>
            <a:ext cx="3552825" cy="47625"/>
          </a:xfrm>
          <a:prstGeom prst="roundRect">
            <a:avLst>
              <a:gd name="adj" fmla="val 50000"/>
            </a:avLst>
          </a:prstGeom>
          <a:solidFill>
            <a:srgbClr val="2E7D32"/>
          </a:solidFill>
          <a:ln>
            <a:noFill/>
          </a:ln>
        </p:spPr>
      </p:sp>
      <p:grpSp>
        <p:nvGrpSpPr>
          <p:cNvPr id="56" name="Group 56"/>
          <p:cNvGrpSpPr/>
          <p:nvPr/>
        </p:nvGrpSpPr>
        <p:grpSpPr>
          <a:xfrm>
            <a:off x="8345904" y="1612993"/>
            <a:ext cx="207126" cy="205692"/>
            <a:chOff x="8345904" y="1612993"/>
            <a:chExt cx="207126" cy="205692"/>
          </a:xfrm>
        </p:grpSpPr>
        <p:sp>
          <p:nvSpPr>
            <p:cNvPr id="54" name="Freeform 54"/>
            <p:cNvSpPr/>
            <p:nvPr/>
          </p:nvSpPr>
          <p:spPr>
            <a:xfrm>
              <a:off x="8405812" y="1671638"/>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2E7D32">
                <a:alpha val="20000"/>
              </a:srgbClr>
            </a:solidFill>
            <a:ln>
              <a:noFill/>
            </a:ln>
          </p:spPr>
        </p:sp>
        <p:sp>
          <p:nvSpPr>
            <p:cNvPr id="55" name="Freeform 55"/>
            <p:cNvSpPr/>
            <p:nvPr/>
          </p:nvSpPr>
          <p:spPr>
            <a:xfrm>
              <a:off x="8345904" y="1612993"/>
              <a:ext cx="207126" cy="205692"/>
            </a:xfrm>
            <a:custGeom>
              <a:avLst/>
              <a:gdLst/>
              <a:ahLst/>
              <a:cxnLst/>
              <a:rect l="l" t="t" r="r" b="b"/>
              <a:pathLst>
                <a:path w="207126" h="205692">
                  <a:moveTo>
                    <a:pt x="186594" y="61466"/>
                  </a:moveTo>
                  <a:cubicBezTo>
                    <a:pt x="207126" y="104409"/>
                    <a:pt x="191903" y="155922"/>
                    <a:pt x="151328" y="180807"/>
                  </a:cubicBezTo>
                  <a:cubicBezTo>
                    <a:pt x="110753" y="205692"/>
                    <a:pt x="57936" y="195907"/>
                    <a:pt x="28968" y="158138"/>
                  </a:cubicBezTo>
                  <a:cubicBezTo>
                    <a:pt x="0" y="120369"/>
                    <a:pt x="4242" y="66821"/>
                    <a:pt x="38795" y="34084"/>
                  </a:cubicBezTo>
                  <a:cubicBezTo>
                    <a:pt x="73347" y="1348"/>
                    <a:pt x="127046" y="0"/>
                    <a:pt x="163198" y="30963"/>
                  </a:cubicBezTo>
                  <a:lnTo>
                    <a:pt x="183441" y="10710"/>
                  </a:lnTo>
                  <a:cubicBezTo>
                    <a:pt x="186233" y="7919"/>
                    <a:pt x="190758" y="7919"/>
                    <a:pt x="193550" y="10710"/>
                  </a:cubicBezTo>
                  <a:cubicBezTo>
                    <a:pt x="196341" y="13501"/>
                    <a:pt x="196341" y="18027"/>
                    <a:pt x="193550" y="20818"/>
                  </a:cubicBezTo>
                  <a:lnTo>
                    <a:pt x="107825" y="106543"/>
                  </a:lnTo>
                  <a:cubicBezTo>
                    <a:pt x="105033" y="109335"/>
                    <a:pt x="100508" y="109335"/>
                    <a:pt x="97716" y="106543"/>
                  </a:cubicBezTo>
                  <a:cubicBezTo>
                    <a:pt x="94925" y="103752"/>
                    <a:pt x="94925" y="99226"/>
                    <a:pt x="97716" y="96435"/>
                  </a:cubicBezTo>
                  <a:lnTo>
                    <a:pt x="122469" y="71682"/>
                  </a:lnTo>
                  <a:cubicBezTo>
                    <a:pt x="108659" y="62548"/>
                    <a:pt x="90381" y="64103"/>
                    <a:pt x="78312" y="75439"/>
                  </a:cubicBezTo>
                  <a:cubicBezTo>
                    <a:pt x="66243" y="86775"/>
                    <a:pt x="63547" y="104919"/>
                    <a:pt x="71798" y="119274"/>
                  </a:cubicBezTo>
                  <a:cubicBezTo>
                    <a:pt x="80049" y="133630"/>
                    <a:pt x="97085" y="140432"/>
                    <a:pt x="112955" y="135709"/>
                  </a:cubicBezTo>
                  <a:cubicBezTo>
                    <a:pt x="128825" y="130986"/>
                    <a:pt x="139368" y="115975"/>
                    <a:pt x="138427" y="99444"/>
                  </a:cubicBezTo>
                  <a:cubicBezTo>
                    <a:pt x="138205" y="95499"/>
                    <a:pt x="141223" y="92121"/>
                    <a:pt x="145169" y="91899"/>
                  </a:cubicBezTo>
                  <a:cubicBezTo>
                    <a:pt x="149114" y="91677"/>
                    <a:pt x="152492" y="94695"/>
                    <a:pt x="152714" y="98641"/>
                  </a:cubicBezTo>
                  <a:cubicBezTo>
                    <a:pt x="154056" y="122054"/>
                    <a:pt x="138946" y="143255"/>
                    <a:pt x="116376" y="149627"/>
                  </a:cubicBezTo>
                  <a:cubicBezTo>
                    <a:pt x="93807" y="155998"/>
                    <a:pt x="69841" y="145830"/>
                    <a:pt x="58740" y="125171"/>
                  </a:cubicBezTo>
                  <a:cubicBezTo>
                    <a:pt x="47640" y="104512"/>
                    <a:pt x="52387" y="78915"/>
                    <a:pt x="70157" y="63611"/>
                  </a:cubicBezTo>
                  <a:cubicBezTo>
                    <a:pt x="87927" y="48306"/>
                    <a:pt x="113946" y="47407"/>
                    <a:pt x="132730" y="61449"/>
                  </a:cubicBezTo>
                  <a:lnTo>
                    <a:pt x="153045" y="41134"/>
                  </a:lnTo>
                  <a:cubicBezTo>
                    <a:pt x="122215" y="15537"/>
                    <a:pt x="77053" y="17279"/>
                    <a:pt x="48287" y="45174"/>
                  </a:cubicBezTo>
                  <a:cubicBezTo>
                    <a:pt x="19520" y="73069"/>
                    <a:pt x="16391" y="118156"/>
                    <a:pt x="41027" y="149758"/>
                  </a:cubicBezTo>
                  <a:cubicBezTo>
                    <a:pt x="65663" y="181360"/>
                    <a:pt x="110151" y="189325"/>
                    <a:pt x="144222" y="168234"/>
                  </a:cubicBezTo>
                  <a:cubicBezTo>
                    <a:pt x="178292" y="147143"/>
                    <a:pt x="191000" y="103771"/>
                    <a:pt x="173699" y="67628"/>
                  </a:cubicBezTo>
                  <a:cubicBezTo>
                    <a:pt x="171998" y="64067"/>
                    <a:pt x="173505" y="59801"/>
                    <a:pt x="177066" y="58100"/>
                  </a:cubicBezTo>
                  <a:cubicBezTo>
                    <a:pt x="180626" y="56398"/>
                    <a:pt x="184892" y="57906"/>
                    <a:pt x="186594" y="61466"/>
                  </a:cubicBezTo>
                  <a:close/>
                </a:path>
              </a:pathLst>
            </a:custGeom>
            <a:solidFill>
              <a:srgbClr val="2E7D32"/>
            </a:solidFill>
            <a:ln>
              <a:noFill/>
            </a:ln>
          </p:spPr>
        </p:sp>
      </p:grpSp>
      <p:sp>
        <p:nvSpPr>
          <p:cNvPr id="57" name="TextBox 57"/>
          <p:cNvSpPr txBox="1"/>
          <p:nvPr/>
        </p:nvSpPr>
        <p:spPr>
          <a:xfrm>
            <a:off x="8694420" y="1612582"/>
            <a:ext cx="966026"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Segoe UI" panose="020B0502040204020203"/>
                <a:ea typeface="微软雅黑" panose="020B0503020204020204" charset="-122"/>
                <a:cs typeface="Segoe UI" panose="020B0502040204020203"/>
              </a:rPr>
              <a:t>核心原则</a:t>
            </a:r>
            <a:endParaRPr lang="zh-CN" sz="1650" b="1" dirty="0">
              <a:solidFill>
                <a:srgbClr val="2E7D32"/>
              </a:solidFill>
              <a:latin typeface="Segoe UI" panose="020B0502040204020203"/>
              <a:ea typeface="微软雅黑" panose="020B0503020204020204" charset="-122"/>
              <a:cs typeface="Segoe UI" panose="020B0502040204020203"/>
            </a:endParaRPr>
          </a:p>
        </p:txBody>
      </p:sp>
      <p:sp>
        <p:nvSpPr>
          <p:cNvPr id="58" name="Rectangle 58"/>
          <p:cNvSpPr/>
          <p:nvPr/>
        </p:nvSpPr>
        <p:spPr>
          <a:xfrm>
            <a:off x="8258175" y="2047875"/>
            <a:ext cx="3171825" cy="523875"/>
          </a:xfrm>
          <a:prstGeom prst="roundRect">
            <a:avLst>
              <a:gd name="adj" fmla="val 10909"/>
            </a:avLst>
          </a:prstGeom>
          <a:solidFill>
            <a:srgbClr val="E8F5E9"/>
          </a:solidFill>
          <a:ln>
            <a:noFill/>
          </a:ln>
        </p:spPr>
      </p:sp>
      <p:sp>
        <p:nvSpPr>
          <p:cNvPr id="59" name="TextBox 59"/>
          <p:cNvSpPr txBox="1"/>
          <p:nvPr/>
        </p:nvSpPr>
        <p:spPr>
          <a:xfrm>
            <a:off x="8395335" y="2156460"/>
            <a:ext cx="1206627"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建立单一真相源</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8396288" y="2355056"/>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避免数据/逻辑分散</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1" name="Rectangle 61"/>
          <p:cNvSpPr/>
          <p:nvPr/>
        </p:nvSpPr>
        <p:spPr>
          <a:xfrm>
            <a:off x="8258175" y="2686050"/>
            <a:ext cx="3171825" cy="523875"/>
          </a:xfrm>
          <a:prstGeom prst="roundRect">
            <a:avLst>
              <a:gd name="adj" fmla="val 10909"/>
            </a:avLst>
          </a:prstGeom>
          <a:solidFill>
            <a:srgbClr val="E8F5E9"/>
          </a:solidFill>
          <a:ln>
            <a:noFill/>
          </a:ln>
        </p:spPr>
      </p:sp>
      <p:sp>
        <p:nvSpPr>
          <p:cNvPr id="62" name="TextBox 62"/>
          <p:cNvSpPr txBox="1"/>
          <p:nvPr/>
        </p:nvSpPr>
        <p:spPr>
          <a:xfrm>
            <a:off x="8395335" y="2794635"/>
            <a:ext cx="1038606"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统一命名约定</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8396288" y="2993231"/>
            <a:ext cx="150626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团队共识，AI强制执行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4" name="Rectangle 64"/>
          <p:cNvSpPr/>
          <p:nvPr/>
        </p:nvSpPr>
        <p:spPr>
          <a:xfrm>
            <a:off x="8258175" y="3324225"/>
            <a:ext cx="3171825" cy="523875"/>
          </a:xfrm>
          <a:prstGeom prst="roundRect">
            <a:avLst>
              <a:gd name="adj" fmla="val 10909"/>
            </a:avLst>
          </a:prstGeom>
          <a:solidFill>
            <a:srgbClr val="E8F5E9"/>
          </a:solidFill>
          <a:ln>
            <a:noFill/>
          </a:ln>
        </p:spPr>
      </p:sp>
      <p:sp>
        <p:nvSpPr>
          <p:cNvPr id="65" name="TextBox 65"/>
          <p:cNvSpPr txBox="1"/>
          <p:nvPr/>
        </p:nvSpPr>
        <p:spPr>
          <a:xfrm>
            <a:off x="8395335" y="3432810"/>
            <a:ext cx="1038606"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代码审查清单</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8396288" y="3631406"/>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标准化检查项</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7" name="Rectangle 67"/>
          <p:cNvSpPr/>
          <p:nvPr/>
        </p:nvSpPr>
        <p:spPr>
          <a:xfrm>
            <a:off x="8258175" y="3962400"/>
            <a:ext cx="3171825" cy="523875"/>
          </a:xfrm>
          <a:prstGeom prst="roundRect">
            <a:avLst>
              <a:gd name="adj" fmla="val 10909"/>
            </a:avLst>
          </a:prstGeom>
          <a:solidFill>
            <a:srgbClr val="E8F5E9"/>
          </a:solidFill>
          <a:ln>
            <a:noFill/>
          </a:ln>
        </p:spPr>
      </p:sp>
      <p:sp>
        <p:nvSpPr>
          <p:cNvPr id="68" name="TextBox 68"/>
          <p:cNvSpPr txBox="1"/>
          <p:nvPr/>
        </p:nvSpPr>
        <p:spPr>
          <a:xfrm>
            <a:off x="8395335" y="4070985"/>
            <a:ext cx="845382"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AI辅助执行</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8396288" y="4269581"/>
            <a:ext cx="150626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AI执行重构，人做决策</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70" name="Rectangle 70"/>
          <p:cNvSpPr/>
          <p:nvPr/>
        </p:nvSpPr>
        <p:spPr>
          <a:xfrm>
            <a:off x="8258175" y="4600575"/>
            <a:ext cx="3171825" cy="523875"/>
          </a:xfrm>
          <a:prstGeom prst="roundRect">
            <a:avLst>
              <a:gd name="adj" fmla="val 10909"/>
            </a:avLst>
          </a:prstGeom>
          <a:solidFill>
            <a:srgbClr val="E8F5E9"/>
          </a:solidFill>
          <a:ln>
            <a:noFill/>
          </a:ln>
        </p:spPr>
      </p:sp>
      <p:sp>
        <p:nvSpPr>
          <p:cNvPr id="71" name="TextBox 71"/>
          <p:cNvSpPr txBox="1"/>
          <p:nvPr/>
        </p:nvSpPr>
        <p:spPr>
          <a:xfrm>
            <a:off x="8395335" y="4709160"/>
            <a:ext cx="70256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持续改进</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8396288" y="4907756"/>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不追求完美的重构</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73" name="Rectangle 73"/>
          <p:cNvSpPr/>
          <p:nvPr/>
        </p:nvSpPr>
        <p:spPr>
          <a:xfrm>
            <a:off x="571500" y="5715000"/>
            <a:ext cx="11049000" cy="476250"/>
          </a:xfrm>
          <a:prstGeom prst="roundRect">
            <a:avLst>
              <a:gd name="adj" fmla="val 16000"/>
            </a:avLst>
          </a:prstGeom>
          <a:solidFill>
            <a:srgbClr val="1565C0">
              <a:alpha val="6000"/>
            </a:srgbClr>
          </a:solidFill>
          <a:ln>
            <a:noFill/>
          </a:ln>
        </p:spPr>
      </p:sp>
      <p:grpSp>
        <p:nvGrpSpPr>
          <p:cNvPr id="76" name="Group 76"/>
          <p:cNvGrpSpPr/>
          <p:nvPr/>
        </p:nvGrpSpPr>
        <p:grpSpPr>
          <a:xfrm>
            <a:off x="813579" y="5860979"/>
            <a:ext cx="144336" cy="183824"/>
            <a:chOff x="813579" y="5860979"/>
            <a:chExt cx="144336" cy="183824"/>
          </a:xfrm>
        </p:grpSpPr>
        <p:sp>
          <p:nvSpPr>
            <p:cNvPr id="74" name="Freeform 74"/>
            <p:cNvSpPr/>
            <p:nvPr/>
          </p:nvSpPr>
          <p:spPr>
            <a:xfrm>
              <a:off x="820144" y="586757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75" name="Freeform 75"/>
            <p:cNvSpPr/>
            <p:nvPr/>
          </p:nvSpPr>
          <p:spPr>
            <a:xfrm>
              <a:off x="813579" y="586097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77" name="TextBox 77"/>
          <p:cNvSpPr txBox="1"/>
          <p:nvPr/>
        </p:nvSpPr>
        <p:spPr>
          <a:xfrm>
            <a:off x="1071562" y="5898356"/>
            <a:ext cx="533923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核心理念：让AI辅助执行重构而非主导重构 —— 人做决策、AI做执行、测试做保护</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78" name="TextBox 78"/>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80" name="图片 7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81"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68960" y="252730"/>
            <a:ext cx="4585335"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小步重构：从Flash提示到Toast组件</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2849404" y="1052989"/>
            <a:ext cx="6493192"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小步重构五大优势：风险可控、即时反馈、边做边学、不影响正常开发、容易说服团队</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4953000" cy="4000500"/>
          </a:xfrm>
          <a:prstGeom prst="roundRect">
            <a:avLst>
              <a:gd name="adj" fmla="val 2857"/>
            </a:avLst>
          </a:prstGeom>
          <a:solidFill>
            <a:srgbClr val="FFFFFF"/>
          </a:solidFill>
          <a:ln w="9525">
            <a:solidFill>
              <a:srgbClr val="CFD8DC"/>
            </a:solidFill>
          </a:ln>
        </p:spPr>
      </p:sp>
      <p:sp>
        <p:nvSpPr>
          <p:cNvPr id="11" name="Rectangle 11"/>
          <p:cNvSpPr/>
          <p:nvPr/>
        </p:nvSpPr>
        <p:spPr>
          <a:xfrm>
            <a:off x="571500" y="1428750"/>
            <a:ext cx="4953000" cy="47625"/>
          </a:xfrm>
          <a:prstGeom prst="roundRect">
            <a:avLst>
              <a:gd name="adj" fmla="val 50000"/>
            </a:avLst>
          </a:prstGeom>
          <a:solidFill>
            <a:srgbClr val="C62828"/>
          </a:solidFill>
          <a:ln>
            <a:noFill/>
          </a:ln>
        </p:spPr>
      </p:sp>
      <p:sp>
        <p:nvSpPr>
          <p:cNvPr id="12" name="Rectangle 12"/>
          <p:cNvSpPr/>
          <p:nvPr/>
        </p:nvSpPr>
        <p:spPr>
          <a:xfrm>
            <a:off x="762000" y="1666875"/>
            <a:ext cx="762000" cy="285750"/>
          </a:xfrm>
          <a:prstGeom prst="roundRect">
            <a:avLst>
              <a:gd name="adj" fmla="val 50000"/>
            </a:avLst>
          </a:prstGeom>
          <a:solidFill>
            <a:srgbClr val="FFEBEE"/>
          </a:solidFill>
          <a:ln>
            <a:noFill/>
          </a:ln>
        </p:spPr>
      </p:sp>
      <p:sp>
        <p:nvSpPr>
          <p:cNvPr id="13" name="TextBox 13"/>
          <p:cNvSpPr txBox="1"/>
          <p:nvPr/>
        </p:nvSpPr>
        <p:spPr>
          <a:xfrm>
            <a:off x="833723" y="1737360"/>
            <a:ext cx="618554"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BEFORE</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695450" y="1704975"/>
            <a:ext cx="1403271" cy="304800"/>
          </a:xfrm>
          <a:prstGeom prst="rect">
            <a:avLst/>
          </a:prstGeom>
          <a:noFill/>
          <a:ln>
            <a:noFill/>
          </a:ln>
        </p:spPr>
        <p:txBody>
          <a:bodyPr wrap="none" lIns="0" tIns="0" rIns="0" bIns="0" anchor="t" anchorCtr="0">
            <a:spAutoFit/>
          </a:bodyPr>
          <a:lstStyle/>
          <a:p>
            <a:pPr algn="l"/>
            <a:r>
              <a:rPr lang="zh-CN" sz="1500" b="1" dirty="0">
                <a:solidFill>
                  <a:srgbClr val="C62828"/>
                </a:solidFill>
                <a:latin typeface="Segoe UI" panose="020B0502040204020203"/>
                <a:ea typeface="微软雅黑" panose="020B0503020204020204" charset="-122"/>
                <a:cs typeface="Segoe UI" panose="020B0502040204020203"/>
              </a:rPr>
              <a:t>Flash提示方案</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762000" y="2143125"/>
            <a:ext cx="4572000" cy="1238250"/>
          </a:xfrm>
          <a:prstGeom prst="roundRect">
            <a:avLst>
              <a:gd name="adj" fmla="val 6154"/>
            </a:avLst>
          </a:prstGeom>
          <a:solidFill>
            <a:srgbClr val="FFF5F5"/>
          </a:solidFill>
          <a:ln>
            <a:noFill/>
          </a:ln>
        </p:spPr>
      </p:sp>
      <p:sp>
        <p:nvSpPr>
          <p:cNvPr id="16" name="TextBox 16"/>
          <p:cNvSpPr txBox="1"/>
          <p:nvPr/>
        </p:nvSpPr>
        <p:spPr>
          <a:xfrm>
            <a:off x="937260" y="2270760"/>
            <a:ext cx="870585"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问题现状：</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937260" y="2518410"/>
            <a:ext cx="235077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多个页面各自使用Flash提示机制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37260" y="2747010"/>
            <a:ext cx="20867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每个页面有自己的提示代码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937260" y="2975610"/>
            <a:ext cx="17666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提示样式、行为不一致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7260" y="32042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修改提示逻辑需要改所有页面</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746760" y="3585210"/>
            <a:ext cx="534543"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痛点：</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746760" y="3832860"/>
            <a:ext cx="12866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用户体验不一致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746760" y="4061460"/>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维护困难，改一处漏百处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46760" y="429006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新增页面时需复制粘贴旧逻辑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746760" y="4518660"/>
            <a:ext cx="16066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没有统一的状态管理</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5676948" y="3232785"/>
            <a:ext cx="266605" cy="548640"/>
          </a:xfrm>
          <a:prstGeom prst="rect">
            <a:avLst/>
          </a:prstGeom>
          <a:noFill/>
          <a:ln>
            <a:noFill/>
          </a:ln>
        </p:spPr>
        <p:txBody>
          <a:bodyPr wrap="none" lIns="0" tIns="0" rIns="0" bIns="0" anchor="t" anchorCtr="0">
            <a:spAutoFit/>
          </a:bodyPr>
          <a:lstStyle/>
          <a:p>
            <a:pPr algn="ctr"/>
            <a:r>
              <a:rPr lang="zh-CN" sz="2700" dirty="0">
                <a:solidFill>
                  <a:srgbClr val="1565C0"/>
                </a:solidFill>
                <a:latin typeface="Segoe UI" panose="020B0502040204020203"/>
                <a:ea typeface="微软雅黑" panose="020B0503020204020204" charset="-122"/>
                <a:cs typeface="Segoe UI" panose="020B0502040204020203"/>
              </a:rPr>
              <a:t>→</a:t>
            </a:r>
            <a:endParaRPr lang="zh-CN" sz="2700" dirty="0">
              <a:solidFill>
                <a:srgbClr val="1565C0"/>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6667500" y="1428750"/>
            <a:ext cx="4953000" cy="4000500"/>
          </a:xfrm>
          <a:prstGeom prst="roundRect">
            <a:avLst>
              <a:gd name="adj" fmla="val 2857"/>
            </a:avLst>
          </a:prstGeom>
          <a:solidFill>
            <a:srgbClr val="FFFFFF"/>
          </a:solidFill>
          <a:ln w="9525">
            <a:solidFill>
              <a:srgbClr val="CFD8DC"/>
            </a:solidFill>
          </a:ln>
        </p:spPr>
      </p:sp>
      <p:sp>
        <p:nvSpPr>
          <p:cNvPr id="28" name="Rectangle 28"/>
          <p:cNvSpPr/>
          <p:nvPr/>
        </p:nvSpPr>
        <p:spPr>
          <a:xfrm>
            <a:off x="6667500" y="1428750"/>
            <a:ext cx="4953000" cy="47625"/>
          </a:xfrm>
          <a:prstGeom prst="roundRect">
            <a:avLst>
              <a:gd name="adj" fmla="val 50000"/>
            </a:avLst>
          </a:prstGeom>
          <a:solidFill>
            <a:srgbClr val="2E7D32"/>
          </a:solidFill>
          <a:ln>
            <a:noFill/>
          </a:ln>
        </p:spPr>
      </p:sp>
      <p:sp>
        <p:nvSpPr>
          <p:cNvPr id="29" name="Rectangle 29"/>
          <p:cNvSpPr/>
          <p:nvPr/>
        </p:nvSpPr>
        <p:spPr>
          <a:xfrm>
            <a:off x="6858000" y="1666875"/>
            <a:ext cx="762000" cy="285750"/>
          </a:xfrm>
          <a:prstGeom prst="roundRect">
            <a:avLst>
              <a:gd name="adj" fmla="val 50000"/>
            </a:avLst>
          </a:prstGeom>
          <a:solidFill>
            <a:srgbClr val="E8F5E9"/>
          </a:solidFill>
          <a:ln>
            <a:noFill/>
          </a:ln>
        </p:spPr>
      </p:sp>
      <p:sp>
        <p:nvSpPr>
          <p:cNvPr id="30" name="TextBox 30"/>
          <p:cNvSpPr txBox="1"/>
          <p:nvPr/>
        </p:nvSpPr>
        <p:spPr>
          <a:xfrm>
            <a:off x="6992731" y="1737360"/>
            <a:ext cx="492538"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AFTER</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7791450" y="1704975"/>
            <a:ext cx="1455777" cy="304800"/>
          </a:xfrm>
          <a:prstGeom prst="rect">
            <a:avLst/>
          </a:prstGeom>
          <a:noFill/>
          <a:ln>
            <a:noFill/>
          </a:ln>
        </p:spPr>
        <p:txBody>
          <a:bodyPr wrap="none" lIns="0" tIns="0" rIns="0" bIns="0" anchor="t" anchorCtr="0">
            <a:spAutoFit/>
          </a:bodyPr>
          <a:lstStyle/>
          <a:p>
            <a:pPr algn="l"/>
            <a:r>
              <a:rPr lang="zh-CN" sz="1500" b="1" dirty="0">
                <a:solidFill>
                  <a:srgbClr val="2E7D32"/>
                </a:solidFill>
                <a:latin typeface="Segoe UI" panose="020B0502040204020203"/>
                <a:ea typeface="微软雅黑" panose="020B0503020204020204" charset="-122"/>
                <a:cs typeface="Segoe UI" panose="020B0502040204020203"/>
              </a:rPr>
              <a:t>统一Toast组件</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6858000" y="2143125"/>
            <a:ext cx="4572000" cy="1238250"/>
          </a:xfrm>
          <a:prstGeom prst="roundRect">
            <a:avLst>
              <a:gd name="adj" fmla="val 6154"/>
            </a:avLst>
          </a:prstGeom>
          <a:solidFill>
            <a:srgbClr val="E8F5E9"/>
          </a:solidFill>
          <a:ln>
            <a:noFill/>
          </a:ln>
        </p:spPr>
      </p:sp>
      <p:sp>
        <p:nvSpPr>
          <p:cNvPr id="33" name="TextBox 33"/>
          <p:cNvSpPr txBox="1"/>
          <p:nvPr/>
        </p:nvSpPr>
        <p:spPr>
          <a:xfrm>
            <a:off x="7033260" y="2270760"/>
            <a:ext cx="70256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改进后：</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7033260" y="2518410"/>
            <a:ext cx="2070735"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所有页面共享一个Toast组件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7033260" y="2747010"/>
            <a:ext cx="16066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样式、行为完全一致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033260" y="2975610"/>
            <a:ext cx="14466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修改一处全局生效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033260" y="3204210"/>
            <a:ext cx="17666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新增页面直接引用即可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6842760" y="3585210"/>
            <a:ext cx="534543"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效果：</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6842760" y="3832860"/>
            <a:ext cx="14466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用户体验完全一致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6842760" y="4061460"/>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单点维护，改一处改全部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6842760" y="4290060"/>
            <a:ext cx="14466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新页面零复制粘贴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6842760" y="4518660"/>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统一状态管理和自动消失</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571500" y="5715000"/>
            <a:ext cx="11049000" cy="428625"/>
          </a:xfrm>
          <a:prstGeom prst="roundRect">
            <a:avLst>
              <a:gd name="adj" fmla="val 17778"/>
            </a:avLst>
          </a:prstGeom>
          <a:solidFill>
            <a:srgbClr val="1565C0">
              <a:alpha val="6000"/>
            </a:srgbClr>
          </a:solidFill>
          <a:ln>
            <a:noFill/>
          </a:ln>
        </p:spPr>
      </p:sp>
      <p:grpSp>
        <p:nvGrpSpPr>
          <p:cNvPr id="46" name="Group 46"/>
          <p:cNvGrpSpPr/>
          <p:nvPr/>
        </p:nvGrpSpPr>
        <p:grpSpPr>
          <a:xfrm>
            <a:off x="804861" y="5900738"/>
            <a:ext cx="142877" cy="142875"/>
            <a:chOff x="804861" y="5900738"/>
            <a:chExt cx="142877" cy="142875"/>
          </a:xfrm>
        </p:grpSpPr>
        <p:sp>
          <p:nvSpPr>
            <p:cNvPr id="44" name="Freeform 44"/>
            <p:cNvSpPr/>
            <p:nvPr/>
          </p:nvSpPr>
          <p:spPr>
            <a:xfrm>
              <a:off x="810816" y="5912644"/>
              <a:ext cx="130969" cy="119062"/>
            </a:xfrm>
            <a:custGeom>
              <a:avLst/>
              <a:gdLst/>
              <a:ahLst/>
              <a:cxnLst/>
              <a:rect l="l" t="t" r="r" b="b"/>
              <a:pathLst>
                <a:path w="130969" h="119062">
                  <a:moveTo>
                    <a:pt x="130969" y="0"/>
                  </a:moveTo>
                  <a:lnTo>
                    <a:pt x="130969" y="35719"/>
                  </a:lnTo>
                  <a:lnTo>
                    <a:pt x="95250" y="35719"/>
                  </a:lnTo>
                  <a:close/>
                  <a:moveTo>
                    <a:pt x="0" y="119062"/>
                  </a:moveTo>
                  <a:lnTo>
                    <a:pt x="35719" y="83344"/>
                  </a:lnTo>
                  <a:lnTo>
                    <a:pt x="0" y="83344"/>
                  </a:lnTo>
                  <a:close/>
                </a:path>
              </a:pathLst>
            </a:custGeom>
            <a:solidFill>
              <a:srgbClr val="1565C0">
                <a:alpha val="20000"/>
              </a:srgbClr>
            </a:solidFill>
            <a:ln>
              <a:noFill/>
            </a:ln>
          </p:spPr>
        </p:sp>
        <p:sp>
          <p:nvSpPr>
            <p:cNvPr id="45" name="Freeform 45"/>
            <p:cNvSpPr/>
            <p:nvPr/>
          </p:nvSpPr>
          <p:spPr>
            <a:xfrm>
              <a:off x="804861" y="5900738"/>
              <a:ext cx="142877" cy="142875"/>
            </a:xfrm>
            <a:custGeom>
              <a:avLst/>
              <a:gdLst/>
              <a:ahLst/>
              <a:cxnLst/>
              <a:rect l="l" t="t" r="r" b="b"/>
              <a:pathLst>
                <a:path w="142877" h="142875">
                  <a:moveTo>
                    <a:pt x="139201" y="6407"/>
                  </a:moveTo>
                  <a:cubicBezTo>
                    <a:pt x="136977" y="5484"/>
                    <a:pt x="134415" y="5992"/>
                    <a:pt x="132712" y="7694"/>
                  </a:cubicBezTo>
                  <a:lnTo>
                    <a:pt x="120761" y="19653"/>
                  </a:lnTo>
                  <a:cubicBezTo>
                    <a:pt x="105767" y="6772"/>
                    <a:pt x="88823" y="0"/>
                    <a:pt x="71439" y="0"/>
                  </a:cubicBezTo>
                  <a:cubicBezTo>
                    <a:pt x="39575" y="0"/>
                    <a:pt x="20406" y="18804"/>
                    <a:pt x="19603" y="19601"/>
                  </a:cubicBezTo>
                  <a:cubicBezTo>
                    <a:pt x="17276" y="21927"/>
                    <a:pt x="17276" y="25698"/>
                    <a:pt x="19603" y="28024"/>
                  </a:cubicBezTo>
                  <a:cubicBezTo>
                    <a:pt x="21929" y="30350"/>
                    <a:pt x="25700" y="30350"/>
                    <a:pt x="28026" y="28024"/>
                  </a:cubicBezTo>
                  <a:cubicBezTo>
                    <a:pt x="28183" y="27861"/>
                    <a:pt x="44449" y="11906"/>
                    <a:pt x="71439" y="11906"/>
                  </a:cubicBezTo>
                  <a:cubicBezTo>
                    <a:pt x="88681" y="11906"/>
                    <a:pt x="102634" y="19980"/>
                    <a:pt x="112308" y="28099"/>
                  </a:cubicBezTo>
                  <a:lnTo>
                    <a:pt x="96993" y="43413"/>
                  </a:lnTo>
                  <a:cubicBezTo>
                    <a:pt x="95289" y="45116"/>
                    <a:pt x="94778" y="47678"/>
                    <a:pt x="95701" y="49904"/>
                  </a:cubicBezTo>
                  <a:cubicBezTo>
                    <a:pt x="96623" y="52130"/>
                    <a:pt x="98796" y="53580"/>
                    <a:pt x="101205" y="53578"/>
                  </a:cubicBezTo>
                  <a:lnTo>
                    <a:pt x="136924" y="53578"/>
                  </a:lnTo>
                  <a:cubicBezTo>
                    <a:pt x="140212" y="53578"/>
                    <a:pt x="142877" y="50913"/>
                    <a:pt x="142877" y="47625"/>
                  </a:cubicBezTo>
                  <a:lnTo>
                    <a:pt x="142877" y="11906"/>
                  </a:lnTo>
                  <a:cubicBezTo>
                    <a:pt x="142876" y="9498"/>
                    <a:pt x="141426" y="7328"/>
                    <a:pt x="139201" y="6407"/>
                  </a:cubicBezTo>
                  <a:close/>
                  <a:moveTo>
                    <a:pt x="130971" y="41672"/>
                  </a:moveTo>
                  <a:lnTo>
                    <a:pt x="115574" y="41672"/>
                  </a:lnTo>
                  <a:lnTo>
                    <a:pt x="130971" y="26276"/>
                  </a:lnTo>
                  <a:close/>
                  <a:moveTo>
                    <a:pt x="114853" y="114851"/>
                  </a:moveTo>
                  <a:cubicBezTo>
                    <a:pt x="114696" y="115014"/>
                    <a:pt x="98429" y="130969"/>
                    <a:pt x="71439" y="130969"/>
                  </a:cubicBezTo>
                  <a:cubicBezTo>
                    <a:pt x="54198" y="130969"/>
                    <a:pt x="40245" y="122895"/>
                    <a:pt x="30571" y="114776"/>
                  </a:cubicBezTo>
                  <a:lnTo>
                    <a:pt x="45886" y="99462"/>
                  </a:lnTo>
                  <a:cubicBezTo>
                    <a:pt x="47590" y="97759"/>
                    <a:pt x="48100" y="95197"/>
                    <a:pt x="47178" y="92971"/>
                  </a:cubicBezTo>
                  <a:cubicBezTo>
                    <a:pt x="46256" y="90745"/>
                    <a:pt x="44083" y="89295"/>
                    <a:pt x="41674" y="89297"/>
                  </a:cubicBezTo>
                  <a:lnTo>
                    <a:pt x="5955" y="89297"/>
                  </a:lnTo>
                  <a:cubicBezTo>
                    <a:pt x="2667" y="89297"/>
                    <a:pt x="2" y="91962"/>
                    <a:pt x="2" y="95250"/>
                  </a:cubicBezTo>
                  <a:lnTo>
                    <a:pt x="2" y="130969"/>
                  </a:lnTo>
                  <a:cubicBezTo>
                    <a:pt x="0" y="133378"/>
                    <a:pt x="1450" y="135551"/>
                    <a:pt x="3676" y="136473"/>
                  </a:cubicBezTo>
                  <a:cubicBezTo>
                    <a:pt x="5902" y="137395"/>
                    <a:pt x="8464" y="136885"/>
                    <a:pt x="10167" y="135181"/>
                  </a:cubicBezTo>
                  <a:lnTo>
                    <a:pt x="22118" y="123222"/>
                  </a:lnTo>
                  <a:cubicBezTo>
                    <a:pt x="37112" y="136103"/>
                    <a:pt x="54056" y="142875"/>
                    <a:pt x="71439" y="142875"/>
                  </a:cubicBezTo>
                  <a:cubicBezTo>
                    <a:pt x="103303" y="142875"/>
                    <a:pt x="122473" y="124071"/>
                    <a:pt x="123276" y="123274"/>
                  </a:cubicBezTo>
                  <a:cubicBezTo>
                    <a:pt x="125602" y="120948"/>
                    <a:pt x="125602" y="117177"/>
                    <a:pt x="123276" y="114851"/>
                  </a:cubicBezTo>
                  <a:cubicBezTo>
                    <a:pt x="120950" y="112525"/>
                    <a:pt x="117179" y="112525"/>
                    <a:pt x="114853" y="114851"/>
                  </a:cubicBezTo>
                  <a:close/>
                  <a:moveTo>
                    <a:pt x="11908" y="101203"/>
                  </a:moveTo>
                  <a:lnTo>
                    <a:pt x="27304" y="101203"/>
                  </a:lnTo>
                  <a:lnTo>
                    <a:pt x="11908" y="116599"/>
                  </a:lnTo>
                  <a:close/>
                </a:path>
              </a:pathLst>
            </a:custGeom>
            <a:solidFill>
              <a:srgbClr val="1565C0"/>
            </a:solidFill>
            <a:ln>
              <a:noFill/>
            </a:ln>
          </p:spPr>
        </p:sp>
      </p:grpSp>
      <p:sp>
        <p:nvSpPr>
          <p:cNvPr id="47" name="TextBox 47"/>
          <p:cNvSpPr txBox="1"/>
          <p:nvPr/>
        </p:nvSpPr>
        <p:spPr>
          <a:xfrm>
            <a:off x="1052512" y="5879306"/>
            <a:ext cx="4296608"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过程：每次迁移一个页面 → 立即测试 → 确认无问题 → 迁移下一个</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767512" y="5879306"/>
            <a:ext cx="568428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核心原则：重构不是革命而是演化 —— 每次只改一点，立即测试验证，随时可以停下来</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1" name="图片 5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53720" y="271145"/>
            <a:ext cx="2459355" cy="36893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全变更蒸馏</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2870656" y="1052989"/>
            <a:ext cx="645068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不只是修复错误，而是管理每一次变化 —— 让AI从"代码生成器"升级为"学习型协作者"</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952500"/>
          </a:xfrm>
          <a:prstGeom prst="roundRect">
            <a:avLst>
              <a:gd name="adj" fmla="val 12000"/>
            </a:avLst>
          </a:prstGeom>
          <a:solidFill>
            <a:srgbClr val="FFFFFF"/>
          </a:solidFill>
          <a:ln w="9525">
            <a:solidFill>
              <a:srgbClr val="CFD8DC"/>
            </a:solidFill>
          </a:ln>
        </p:spPr>
      </p:sp>
      <p:sp>
        <p:nvSpPr>
          <p:cNvPr id="11" name="Rectangle 11"/>
          <p:cNvSpPr/>
          <p:nvPr/>
        </p:nvSpPr>
        <p:spPr>
          <a:xfrm>
            <a:off x="571500" y="1476375"/>
            <a:ext cx="2667000" cy="952500"/>
          </a:xfrm>
          <a:prstGeom prst="roundRect">
            <a:avLst>
              <a:gd name="adj" fmla="val 12000"/>
            </a:avLst>
          </a:prstGeom>
          <a:solidFill>
            <a:srgbClr val="1565C0"/>
          </a:solidFill>
          <a:ln>
            <a:noFill/>
          </a:ln>
        </p:spPr>
      </p:sp>
      <p:sp>
        <p:nvSpPr>
          <p:cNvPr id="12" name="Rectangle 12"/>
          <p:cNvSpPr/>
          <p:nvPr/>
        </p:nvSpPr>
        <p:spPr>
          <a:xfrm>
            <a:off x="3048000" y="1476375"/>
            <a:ext cx="190500" cy="952500"/>
          </a:xfrm>
          <a:prstGeom prst="rect">
            <a:avLst/>
          </a:prstGeom>
          <a:solidFill>
            <a:srgbClr val="1565C0"/>
          </a:solidFill>
          <a:ln>
            <a:noFill/>
          </a:ln>
        </p:spPr>
      </p:sp>
      <p:sp>
        <p:nvSpPr>
          <p:cNvPr id="13" name="TextBox 13"/>
          <p:cNvSpPr txBox="1"/>
          <p:nvPr/>
        </p:nvSpPr>
        <p:spPr>
          <a:xfrm>
            <a:off x="1470684" y="1694498"/>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第一层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590675" y="2050256"/>
            <a:ext cx="628650"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变更归零</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3412808" y="1719739"/>
            <a:ext cx="166586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技术归零 + 管理归零</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3414712" y="1993106"/>
            <a:ext cx="521172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彻底理解每次变更的根因 —— 不是"修好了就行"，而是"为什么会出现这个Bug"</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5611320" y="2487930"/>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571500" y="2857500"/>
            <a:ext cx="11049000" cy="952500"/>
          </a:xfrm>
          <a:prstGeom prst="roundRect">
            <a:avLst>
              <a:gd name="adj" fmla="val 12000"/>
            </a:avLst>
          </a:prstGeom>
          <a:solidFill>
            <a:srgbClr val="FFFFFF"/>
          </a:solidFill>
          <a:ln w="9525">
            <a:solidFill>
              <a:srgbClr val="CFD8DC"/>
            </a:solidFill>
          </a:ln>
        </p:spPr>
      </p:sp>
      <p:sp>
        <p:nvSpPr>
          <p:cNvPr id="19" name="Rectangle 19"/>
          <p:cNvSpPr/>
          <p:nvPr/>
        </p:nvSpPr>
        <p:spPr>
          <a:xfrm>
            <a:off x="571500" y="2857500"/>
            <a:ext cx="2667000" cy="952500"/>
          </a:xfrm>
          <a:prstGeom prst="roundRect">
            <a:avLst>
              <a:gd name="adj" fmla="val 12000"/>
            </a:avLst>
          </a:prstGeom>
          <a:solidFill>
            <a:srgbClr val="00838F"/>
          </a:solidFill>
          <a:ln>
            <a:noFill/>
          </a:ln>
        </p:spPr>
      </p:sp>
      <p:sp>
        <p:nvSpPr>
          <p:cNvPr id="20" name="Rectangle 20"/>
          <p:cNvSpPr/>
          <p:nvPr/>
        </p:nvSpPr>
        <p:spPr>
          <a:xfrm>
            <a:off x="3048000" y="2857500"/>
            <a:ext cx="190500" cy="952500"/>
          </a:xfrm>
          <a:prstGeom prst="rect">
            <a:avLst/>
          </a:prstGeom>
          <a:solidFill>
            <a:srgbClr val="00838F"/>
          </a:solidFill>
          <a:ln>
            <a:noFill/>
          </a:ln>
        </p:spPr>
      </p:sp>
      <p:sp>
        <p:nvSpPr>
          <p:cNvPr id="21" name="TextBox 21"/>
          <p:cNvSpPr txBox="1"/>
          <p:nvPr/>
        </p:nvSpPr>
        <p:spPr>
          <a:xfrm>
            <a:off x="1470684" y="3075622"/>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第二层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1515666" y="3431381"/>
            <a:ext cx="778669"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四环节改进</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3412808" y="3100864"/>
            <a:ext cx="3861689"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在需求 / 设计 / 编码 / 测试四个环节找到改进点</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3414712" y="3374231"/>
            <a:ext cx="428160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Bug不止是编码问题 —— 需求不清、设计缺陷、测试遗漏都是根因</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5611320" y="3869055"/>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571500" y="4238625"/>
            <a:ext cx="11049000" cy="952500"/>
          </a:xfrm>
          <a:prstGeom prst="roundRect">
            <a:avLst>
              <a:gd name="adj" fmla="val 12000"/>
            </a:avLst>
          </a:prstGeom>
          <a:solidFill>
            <a:srgbClr val="FFFFFF"/>
          </a:solidFill>
          <a:ln w="9525">
            <a:solidFill>
              <a:srgbClr val="CFD8DC"/>
            </a:solidFill>
          </a:ln>
        </p:spPr>
      </p:sp>
      <p:sp>
        <p:nvSpPr>
          <p:cNvPr id="27" name="Rectangle 27"/>
          <p:cNvSpPr/>
          <p:nvPr/>
        </p:nvSpPr>
        <p:spPr>
          <a:xfrm>
            <a:off x="571500" y="4238625"/>
            <a:ext cx="2667000" cy="952500"/>
          </a:xfrm>
          <a:prstGeom prst="roundRect">
            <a:avLst>
              <a:gd name="adj" fmla="val 12000"/>
            </a:avLst>
          </a:prstGeom>
          <a:solidFill>
            <a:srgbClr val="FF6F00"/>
          </a:solidFill>
          <a:ln>
            <a:noFill/>
          </a:ln>
        </p:spPr>
      </p:sp>
      <p:sp>
        <p:nvSpPr>
          <p:cNvPr id="28" name="Rectangle 28"/>
          <p:cNvSpPr/>
          <p:nvPr/>
        </p:nvSpPr>
        <p:spPr>
          <a:xfrm>
            <a:off x="3048000" y="4238625"/>
            <a:ext cx="190500" cy="952500"/>
          </a:xfrm>
          <a:prstGeom prst="rect">
            <a:avLst/>
          </a:prstGeom>
          <a:solidFill>
            <a:srgbClr val="FF6F00"/>
          </a:solidFill>
          <a:ln>
            <a:noFill/>
          </a:ln>
        </p:spPr>
      </p:sp>
      <p:sp>
        <p:nvSpPr>
          <p:cNvPr id="29" name="TextBox 29"/>
          <p:cNvSpPr txBox="1"/>
          <p:nvPr/>
        </p:nvSpPr>
        <p:spPr>
          <a:xfrm>
            <a:off x="1470684" y="4456748"/>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第三层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1590675" y="4812506"/>
            <a:ext cx="628650"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模式提炼</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3412808" y="4481989"/>
            <a:ext cx="3424309"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从具体变更中抽象出可复用的模式和反模式</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3414712" y="4755356"/>
            <a:ext cx="420659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从"这个Bug是因为字符串位置依赖"到"位置依赖是一种反模式"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5611320" y="5250180"/>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5619750"/>
            <a:ext cx="11049000" cy="952500"/>
          </a:xfrm>
          <a:prstGeom prst="roundRect">
            <a:avLst>
              <a:gd name="adj" fmla="val 12000"/>
            </a:avLst>
          </a:prstGeom>
          <a:solidFill>
            <a:srgbClr val="FFFFFF"/>
          </a:solidFill>
          <a:ln w="9525">
            <a:solidFill>
              <a:srgbClr val="CFD8DC"/>
            </a:solidFill>
          </a:ln>
        </p:spPr>
      </p:sp>
      <p:sp>
        <p:nvSpPr>
          <p:cNvPr id="35" name="Rectangle 35"/>
          <p:cNvSpPr/>
          <p:nvPr/>
        </p:nvSpPr>
        <p:spPr>
          <a:xfrm>
            <a:off x="571500" y="5619750"/>
            <a:ext cx="2667000" cy="952500"/>
          </a:xfrm>
          <a:prstGeom prst="roundRect">
            <a:avLst>
              <a:gd name="adj" fmla="val 12000"/>
            </a:avLst>
          </a:prstGeom>
          <a:solidFill>
            <a:srgbClr val="2E7D32"/>
          </a:solidFill>
          <a:ln>
            <a:noFill/>
          </a:ln>
        </p:spPr>
      </p:sp>
      <p:sp>
        <p:nvSpPr>
          <p:cNvPr id="36" name="Rectangle 36"/>
          <p:cNvSpPr/>
          <p:nvPr/>
        </p:nvSpPr>
        <p:spPr>
          <a:xfrm>
            <a:off x="3048000" y="5619750"/>
            <a:ext cx="190500" cy="952500"/>
          </a:xfrm>
          <a:prstGeom prst="rect">
            <a:avLst/>
          </a:prstGeom>
          <a:solidFill>
            <a:srgbClr val="2E7D32"/>
          </a:solidFill>
          <a:ln>
            <a:noFill/>
          </a:ln>
        </p:spPr>
      </p:sp>
      <p:sp>
        <p:nvSpPr>
          <p:cNvPr id="37" name="TextBox 37"/>
          <p:cNvSpPr txBox="1"/>
          <p:nvPr/>
        </p:nvSpPr>
        <p:spPr>
          <a:xfrm>
            <a:off x="1470684" y="5837872"/>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第四层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590675" y="6193631"/>
            <a:ext cx="628650"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原则蒸馏</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3412808" y="5863114"/>
            <a:ext cx="3245787"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将模式上升为原则，注入Skill和规则体系</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3414712" y="6136481"/>
            <a:ext cx="360652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成果：AI能基于历史经验主动提醒风险、匹配解决方案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3" name="图片 4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4"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94690" y="274955"/>
            <a:ext cx="2127250" cy="36512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本章小结</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Rectangle 9"/>
          <p:cNvSpPr/>
          <p:nvPr/>
        </p:nvSpPr>
        <p:spPr>
          <a:xfrm>
            <a:off x="5334000" y="1333500"/>
            <a:ext cx="1524000" cy="342900"/>
          </a:xfrm>
          <a:prstGeom prst="roundRect">
            <a:avLst>
              <a:gd name="adj" fmla="val 50000"/>
            </a:avLst>
          </a:prstGeom>
          <a:solidFill>
            <a:srgbClr val="1565C0"/>
          </a:solidFill>
          <a:ln>
            <a:noFill/>
          </a:ln>
        </p:spPr>
      </p:sp>
      <p:sp>
        <p:nvSpPr>
          <p:cNvPr id="10" name="TextBox 10"/>
          <p:cNvSpPr txBox="1"/>
          <p:nvPr/>
        </p:nvSpPr>
        <p:spPr>
          <a:xfrm>
            <a:off x="5635504" y="1432560"/>
            <a:ext cx="92099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第四章 编码</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1143000" y="1905000"/>
            <a:ext cx="9906000" cy="3333750"/>
          </a:xfrm>
          <a:prstGeom prst="roundRect">
            <a:avLst>
              <a:gd name="adj" fmla="val 4571"/>
            </a:avLst>
          </a:prstGeom>
          <a:solidFill>
            <a:srgbClr val="FFFFFF"/>
          </a:solidFill>
          <a:ln w="9525">
            <a:solidFill>
              <a:srgbClr val="CFD8DC"/>
            </a:solidFill>
          </a:ln>
        </p:spPr>
      </p:sp>
      <p:sp>
        <p:nvSpPr>
          <p:cNvPr id="12" name="Rectangle 12"/>
          <p:cNvSpPr/>
          <p:nvPr/>
        </p:nvSpPr>
        <p:spPr>
          <a:xfrm>
            <a:off x="1143000" y="1905000"/>
            <a:ext cx="9906000" cy="47625"/>
          </a:xfrm>
          <a:prstGeom prst="roundRect">
            <a:avLst>
              <a:gd name="adj" fmla="val 50000"/>
            </a:avLst>
          </a:prstGeom>
          <a:gradFill>
            <a:gsLst>
              <a:gs pos="0">
                <a:srgbClr val="1565C0"/>
              </a:gs>
              <a:gs pos="100000">
                <a:srgbClr val="00838F"/>
              </a:gs>
            </a:gsLst>
            <a:lin ang="0" scaled="1"/>
          </a:gradFill>
          <a:ln>
            <a:noFill/>
          </a:ln>
        </p:spPr>
      </p:sp>
      <p:sp>
        <p:nvSpPr>
          <p:cNvPr id="13" name="TextBox 13"/>
          <p:cNvSpPr txBox="1"/>
          <p:nvPr/>
        </p:nvSpPr>
        <p:spPr>
          <a:xfrm>
            <a:off x="5317046" y="2352675"/>
            <a:ext cx="1557909" cy="365760"/>
          </a:xfrm>
          <a:prstGeom prst="rect">
            <a:avLst/>
          </a:prstGeom>
          <a:noFill/>
          <a:ln>
            <a:noFill/>
          </a:ln>
        </p:spPr>
        <p:txBody>
          <a:bodyPr wrap="none" lIns="0" tIns="0" rIns="0" bIns="0" anchor="t" anchorCtr="0">
            <a:spAutoFit/>
          </a:bodyPr>
          <a:lstStyle/>
          <a:p>
            <a:pPr algn="ctr"/>
            <a:r>
              <a:rPr lang="zh-CN" sz="1800" b="1" dirty="0">
                <a:solidFill>
                  <a:srgbClr val="263238"/>
                </a:solidFill>
                <a:latin typeface="Segoe UI" panose="020B0502040204020203"/>
                <a:ea typeface="微软雅黑" panose="020B0503020204020204" charset="-122"/>
                <a:cs typeface="Segoe UI" panose="020B0502040204020203"/>
              </a:rPr>
              <a:t>喜新厌旧规律</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5143500" y="2670810"/>
            <a:ext cx="1905000" cy="19050"/>
          </a:xfrm>
          <a:prstGeom prst="roundRect">
            <a:avLst>
              <a:gd name="adj" fmla="val 50000"/>
            </a:avLst>
          </a:prstGeom>
          <a:solidFill>
            <a:srgbClr val="1565C0">
              <a:alpha val="30000"/>
            </a:srgbClr>
          </a:solidFill>
          <a:ln>
            <a:noFill/>
          </a:ln>
        </p:spPr>
      </p:sp>
      <p:sp>
        <p:nvSpPr>
          <p:cNvPr id="15" name="TextBox 15"/>
          <p:cNvSpPr txBox="1"/>
          <p:nvPr/>
        </p:nvSpPr>
        <p:spPr>
          <a:xfrm>
            <a:off x="4392347" y="2790349"/>
            <a:ext cx="340730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AI对全新需求表现好，对历史代码需额外谨慎</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5569077" y="3114675"/>
            <a:ext cx="1053846" cy="365760"/>
          </a:xfrm>
          <a:prstGeom prst="rect">
            <a:avLst/>
          </a:prstGeom>
          <a:noFill/>
          <a:ln>
            <a:noFill/>
          </a:ln>
        </p:spPr>
        <p:txBody>
          <a:bodyPr wrap="none" lIns="0" tIns="0" rIns="0" bIns="0" anchor="t" anchorCtr="0">
            <a:spAutoFit/>
          </a:bodyPr>
          <a:lstStyle/>
          <a:p>
            <a:pPr algn="ctr"/>
            <a:r>
              <a:rPr lang="zh-CN" sz="1800" b="1" dirty="0">
                <a:solidFill>
                  <a:srgbClr val="263238"/>
                </a:solidFill>
                <a:latin typeface="Segoe UI" panose="020B0502040204020203"/>
                <a:ea typeface="微软雅黑" panose="020B0503020204020204" charset="-122"/>
                <a:cs typeface="Segoe UI" panose="020B0502040204020203"/>
              </a:rPr>
              <a:t>小步快跑</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5143500" y="3432810"/>
            <a:ext cx="1905000" cy="19050"/>
          </a:xfrm>
          <a:prstGeom prst="roundRect">
            <a:avLst>
              <a:gd name="adj" fmla="val 50000"/>
            </a:avLst>
          </a:prstGeom>
          <a:solidFill>
            <a:srgbClr val="00838F">
              <a:alpha val="30000"/>
            </a:srgbClr>
          </a:solidFill>
          <a:ln>
            <a:noFill/>
          </a:ln>
        </p:spPr>
      </p:sp>
      <p:sp>
        <p:nvSpPr>
          <p:cNvPr id="18" name="TextBox 18"/>
          <p:cNvSpPr txBox="1"/>
          <p:nvPr/>
        </p:nvSpPr>
        <p:spPr>
          <a:xfrm>
            <a:off x="4379595" y="3552349"/>
            <a:ext cx="3432810"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复杂需求拆解为可验证的最小单元，逐块累积</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794080" y="3876675"/>
            <a:ext cx="2603840" cy="365760"/>
          </a:xfrm>
          <a:prstGeom prst="rect">
            <a:avLst/>
          </a:prstGeom>
          <a:noFill/>
          <a:ln>
            <a:noFill/>
          </a:ln>
        </p:spPr>
        <p:txBody>
          <a:bodyPr wrap="none" lIns="0" tIns="0" rIns="0" bIns="0" anchor="t" anchorCtr="0">
            <a:spAutoFit/>
          </a:bodyPr>
          <a:lstStyle/>
          <a:p>
            <a:pPr algn="ctr"/>
            <a:r>
              <a:rPr lang="zh-CN" sz="1800" b="1" dirty="0">
                <a:solidFill>
                  <a:srgbClr val="263238"/>
                </a:solidFill>
                <a:latin typeface="Segoe UI" panose="020B0502040204020203"/>
                <a:ea typeface="微软雅黑" panose="020B0503020204020204" charset="-122"/>
                <a:cs typeface="Segoe UI" panose="020B0502040204020203"/>
              </a:rPr>
              <a:t>调试防坑 + 可进化系统</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5143500" y="4194810"/>
            <a:ext cx="1905000" cy="19050"/>
          </a:xfrm>
          <a:prstGeom prst="roundRect">
            <a:avLst>
              <a:gd name="adj" fmla="val 50000"/>
            </a:avLst>
          </a:prstGeom>
          <a:solidFill>
            <a:srgbClr val="2E7D32">
              <a:alpha val="30000"/>
            </a:srgbClr>
          </a:solidFill>
          <a:ln>
            <a:noFill/>
          </a:ln>
        </p:spPr>
      </p:sp>
      <p:sp>
        <p:nvSpPr>
          <p:cNvPr id="24" name="TextBox 24"/>
          <p:cNvSpPr txBox="1"/>
          <p:nvPr/>
        </p:nvSpPr>
        <p:spPr>
          <a:xfrm>
            <a:off x="3865281" y="4314349"/>
            <a:ext cx="4461439"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AI默认行为是"给最熟悉解"而非"找根因"，需建立纠偏机制</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3912037" y="4579144"/>
            <a:ext cx="436792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每次变更不止修复Bug，更是沉淀知识、升级AI能力的机会</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1143000" y="5524500"/>
            <a:ext cx="9906000" cy="523875"/>
          </a:xfrm>
          <a:prstGeom prst="roundRect">
            <a:avLst>
              <a:gd name="adj" fmla="val 18182"/>
            </a:avLst>
          </a:prstGeom>
          <a:solidFill>
            <a:srgbClr val="1565C0">
              <a:alpha val="8000"/>
            </a:srgbClr>
          </a:solidFill>
          <a:ln>
            <a:noFill/>
          </a:ln>
        </p:spPr>
      </p:sp>
      <p:grpSp>
        <p:nvGrpSpPr>
          <p:cNvPr id="29" name="Group 29"/>
          <p:cNvGrpSpPr/>
          <p:nvPr/>
        </p:nvGrpSpPr>
        <p:grpSpPr>
          <a:xfrm>
            <a:off x="1394290" y="5738814"/>
            <a:ext cx="202231" cy="193772"/>
            <a:chOff x="1394290" y="5738814"/>
            <a:chExt cx="202231" cy="193772"/>
          </a:xfrm>
        </p:grpSpPr>
        <p:sp>
          <p:nvSpPr>
            <p:cNvPr id="27" name="Freeform 27"/>
            <p:cNvSpPr/>
            <p:nvPr/>
          </p:nvSpPr>
          <p:spPr>
            <a:xfrm>
              <a:off x="1401961" y="5746029"/>
              <a:ext cx="186928" cy="178936"/>
            </a:xfrm>
            <a:custGeom>
              <a:avLst/>
              <a:gdLst/>
              <a:ahLst/>
              <a:cxnLst/>
              <a:rect l="l" t="t" r="r" b="b"/>
              <a:pathLst>
                <a:path w="186928" h="178936">
                  <a:moveTo>
                    <a:pt x="143586" y="110387"/>
                  </a:moveTo>
                  <a:cubicBezTo>
                    <a:pt x="141591" y="112139"/>
                    <a:pt x="140720" y="114846"/>
                    <a:pt x="141318" y="117433"/>
                  </a:cubicBezTo>
                  <a:lnTo>
                    <a:pt x="153391" y="169707"/>
                  </a:lnTo>
                  <a:cubicBezTo>
                    <a:pt x="154043" y="172498"/>
                    <a:pt x="152964" y="175409"/>
                    <a:pt x="150650" y="177100"/>
                  </a:cubicBezTo>
                  <a:cubicBezTo>
                    <a:pt x="148336" y="178791"/>
                    <a:pt x="145235" y="178936"/>
                    <a:pt x="142774" y="177467"/>
                  </a:cubicBezTo>
                  <a:lnTo>
                    <a:pt x="97143" y="149785"/>
                  </a:lnTo>
                  <a:cubicBezTo>
                    <a:pt x="94883" y="148411"/>
                    <a:pt x="92045" y="148411"/>
                    <a:pt x="89785" y="149785"/>
                  </a:cubicBezTo>
                  <a:lnTo>
                    <a:pt x="44154" y="177467"/>
                  </a:lnTo>
                  <a:cubicBezTo>
                    <a:pt x="41693" y="178936"/>
                    <a:pt x="38592" y="178791"/>
                    <a:pt x="36278" y="177100"/>
                  </a:cubicBezTo>
                  <a:cubicBezTo>
                    <a:pt x="33964" y="175409"/>
                    <a:pt x="32885" y="172498"/>
                    <a:pt x="33537" y="169707"/>
                  </a:cubicBezTo>
                  <a:lnTo>
                    <a:pt x="45610" y="117433"/>
                  </a:lnTo>
                  <a:cubicBezTo>
                    <a:pt x="46208" y="114846"/>
                    <a:pt x="45336" y="112139"/>
                    <a:pt x="43342" y="110387"/>
                  </a:cubicBezTo>
                  <a:lnTo>
                    <a:pt x="3060" y="75249"/>
                  </a:lnTo>
                  <a:cubicBezTo>
                    <a:pt x="857" y="73377"/>
                    <a:pt x="0" y="70362"/>
                    <a:pt x="888" y="67612"/>
                  </a:cubicBezTo>
                  <a:cubicBezTo>
                    <a:pt x="1775" y="64861"/>
                    <a:pt x="4233" y="62916"/>
                    <a:pt x="7114" y="62685"/>
                  </a:cubicBezTo>
                  <a:lnTo>
                    <a:pt x="60210" y="58095"/>
                  </a:lnTo>
                  <a:cubicBezTo>
                    <a:pt x="62850" y="57860"/>
                    <a:pt x="65143" y="56182"/>
                    <a:pt x="66166" y="53737"/>
                  </a:cubicBezTo>
                  <a:lnTo>
                    <a:pt x="86909" y="4302"/>
                  </a:lnTo>
                  <a:cubicBezTo>
                    <a:pt x="88042" y="1690"/>
                    <a:pt x="90617" y="0"/>
                    <a:pt x="93464" y="0"/>
                  </a:cubicBezTo>
                  <a:cubicBezTo>
                    <a:pt x="96311" y="0"/>
                    <a:pt x="98886" y="1690"/>
                    <a:pt x="100018" y="4302"/>
                  </a:cubicBezTo>
                  <a:lnTo>
                    <a:pt x="120762" y="53737"/>
                  </a:lnTo>
                  <a:cubicBezTo>
                    <a:pt x="121785" y="56182"/>
                    <a:pt x="124078" y="57860"/>
                    <a:pt x="126718" y="58095"/>
                  </a:cubicBezTo>
                  <a:lnTo>
                    <a:pt x="179814" y="62685"/>
                  </a:lnTo>
                  <a:cubicBezTo>
                    <a:pt x="182695" y="62916"/>
                    <a:pt x="185153" y="64861"/>
                    <a:pt x="186040" y="67612"/>
                  </a:cubicBezTo>
                  <a:cubicBezTo>
                    <a:pt x="186928" y="70362"/>
                    <a:pt x="186070" y="73377"/>
                    <a:pt x="183868" y="75249"/>
                  </a:cubicBezTo>
                  <a:close/>
                </a:path>
              </a:pathLst>
            </a:custGeom>
            <a:solidFill>
              <a:srgbClr val="FF6F00">
                <a:alpha val="20000"/>
              </a:srgbClr>
            </a:solidFill>
            <a:ln>
              <a:noFill/>
            </a:ln>
          </p:spPr>
        </p:sp>
        <p:sp>
          <p:nvSpPr>
            <p:cNvPr id="28" name="Freeform 28"/>
            <p:cNvSpPr/>
            <p:nvPr/>
          </p:nvSpPr>
          <p:spPr>
            <a:xfrm>
              <a:off x="1394290" y="5738814"/>
              <a:ext cx="202231" cy="193772"/>
            </a:xfrm>
            <a:custGeom>
              <a:avLst/>
              <a:gdLst/>
              <a:ahLst/>
              <a:cxnLst/>
              <a:rect l="l" t="t" r="r" b="b"/>
              <a:pathLst>
                <a:path w="202231" h="193772">
                  <a:moveTo>
                    <a:pt x="200434" y="72588"/>
                  </a:moveTo>
                  <a:cubicBezTo>
                    <a:pt x="198665" y="67137"/>
                    <a:pt x="193810" y="63270"/>
                    <a:pt x="188102" y="62765"/>
                  </a:cubicBezTo>
                  <a:lnTo>
                    <a:pt x="135068" y="58193"/>
                  </a:lnTo>
                  <a:lnTo>
                    <a:pt x="114280" y="8758"/>
                  </a:lnTo>
                  <a:lnTo>
                    <a:pt x="114280" y="8758"/>
                  </a:lnTo>
                  <a:cubicBezTo>
                    <a:pt x="112067" y="3454"/>
                    <a:pt x="106883" y="0"/>
                    <a:pt x="101135" y="0"/>
                  </a:cubicBezTo>
                  <a:cubicBezTo>
                    <a:pt x="95388" y="0"/>
                    <a:pt x="90204" y="3454"/>
                    <a:pt x="87991" y="8758"/>
                  </a:cubicBezTo>
                  <a:lnTo>
                    <a:pt x="67265" y="58193"/>
                  </a:lnTo>
                  <a:lnTo>
                    <a:pt x="14169" y="62792"/>
                  </a:lnTo>
                  <a:cubicBezTo>
                    <a:pt x="8437" y="63273"/>
                    <a:pt x="3553" y="67146"/>
                    <a:pt x="1776" y="72617"/>
                  </a:cubicBezTo>
                  <a:cubicBezTo>
                    <a:pt x="0" y="78089"/>
                    <a:pt x="1678" y="84091"/>
                    <a:pt x="6034" y="87848"/>
                  </a:cubicBezTo>
                  <a:lnTo>
                    <a:pt x="46316" y="123049"/>
                  </a:lnTo>
                  <a:lnTo>
                    <a:pt x="34243" y="175324"/>
                  </a:lnTo>
                  <a:cubicBezTo>
                    <a:pt x="32938" y="180916"/>
                    <a:pt x="35108" y="186747"/>
                    <a:pt x="39753" y="190125"/>
                  </a:cubicBezTo>
                  <a:cubicBezTo>
                    <a:pt x="44397" y="193503"/>
                    <a:pt x="50613" y="193772"/>
                    <a:pt x="55532" y="190808"/>
                  </a:cubicBezTo>
                  <a:lnTo>
                    <a:pt x="101073" y="163126"/>
                  </a:lnTo>
                  <a:lnTo>
                    <a:pt x="146713" y="190808"/>
                  </a:lnTo>
                  <a:cubicBezTo>
                    <a:pt x="151631" y="193772"/>
                    <a:pt x="157847" y="193503"/>
                    <a:pt x="162491" y="190125"/>
                  </a:cubicBezTo>
                  <a:cubicBezTo>
                    <a:pt x="167136" y="186747"/>
                    <a:pt x="169306" y="180916"/>
                    <a:pt x="168001" y="175324"/>
                  </a:cubicBezTo>
                  <a:lnTo>
                    <a:pt x="155937" y="122996"/>
                  </a:lnTo>
                  <a:lnTo>
                    <a:pt x="196210" y="87848"/>
                  </a:lnTo>
                  <a:cubicBezTo>
                    <a:pt x="200566" y="84078"/>
                    <a:pt x="202231" y="78061"/>
                    <a:pt x="200434" y="72588"/>
                  </a:cubicBezTo>
                  <a:close/>
                  <a:moveTo>
                    <a:pt x="186843" y="77052"/>
                  </a:moveTo>
                  <a:lnTo>
                    <a:pt x="146570" y="112200"/>
                  </a:lnTo>
                  <a:cubicBezTo>
                    <a:pt x="142575" y="115674"/>
                    <a:pt x="140830" y="121073"/>
                    <a:pt x="142033" y="126228"/>
                  </a:cubicBezTo>
                  <a:lnTo>
                    <a:pt x="154133" y="178592"/>
                  </a:lnTo>
                  <a:lnTo>
                    <a:pt x="154133" y="178592"/>
                  </a:lnTo>
                  <a:lnTo>
                    <a:pt x="108529" y="150910"/>
                  </a:lnTo>
                  <a:cubicBezTo>
                    <a:pt x="103993" y="148148"/>
                    <a:pt x="98295" y="148148"/>
                    <a:pt x="93759" y="150910"/>
                  </a:cubicBezTo>
                  <a:lnTo>
                    <a:pt x="48218" y="178592"/>
                  </a:lnTo>
                  <a:lnTo>
                    <a:pt x="48218" y="178592"/>
                  </a:lnTo>
                  <a:lnTo>
                    <a:pt x="60237" y="126264"/>
                  </a:lnTo>
                  <a:cubicBezTo>
                    <a:pt x="61441" y="121109"/>
                    <a:pt x="59696" y="115710"/>
                    <a:pt x="55701" y="112235"/>
                  </a:cubicBezTo>
                  <a:lnTo>
                    <a:pt x="15410" y="77106"/>
                  </a:lnTo>
                  <a:cubicBezTo>
                    <a:pt x="15407" y="77079"/>
                    <a:pt x="15407" y="77052"/>
                    <a:pt x="15410" y="77026"/>
                  </a:cubicBezTo>
                  <a:lnTo>
                    <a:pt x="68488" y="72436"/>
                  </a:lnTo>
                  <a:cubicBezTo>
                    <a:pt x="73770" y="71970"/>
                    <a:pt x="78359" y="68619"/>
                    <a:pt x="80410" y="63729"/>
                  </a:cubicBezTo>
                  <a:lnTo>
                    <a:pt x="101135" y="14357"/>
                  </a:lnTo>
                  <a:lnTo>
                    <a:pt x="121852" y="63729"/>
                  </a:lnTo>
                  <a:cubicBezTo>
                    <a:pt x="123903" y="68619"/>
                    <a:pt x="128492" y="71970"/>
                    <a:pt x="133773" y="72436"/>
                  </a:cubicBezTo>
                  <a:lnTo>
                    <a:pt x="186860" y="77026"/>
                  </a:lnTo>
                  <a:cubicBezTo>
                    <a:pt x="186860" y="77026"/>
                    <a:pt x="186860" y="77079"/>
                    <a:pt x="186860" y="77088"/>
                  </a:cubicBezTo>
                  <a:close/>
                </a:path>
              </a:pathLst>
            </a:custGeom>
            <a:solidFill>
              <a:srgbClr val="FF6F00"/>
            </a:solidFill>
            <a:ln>
              <a:noFill/>
            </a:ln>
          </p:spPr>
        </p:sp>
      </p:grpSp>
      <p:sp>
        <p:nvSpPr>
          <p:cNvPr id="30" name="TextBox 30"/>
          <p:cNvSpPr txBox="1"/>
          <p:nvPr/>
        </p:nvSpPr>
        <p:spPr>
          <a:xfrm>
            <a:off x="1697355" y="5712142"/>
            <a:ext cx="618700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关键行动：建立"小步快跑 + 契约先行 + 测试护城河 + 持续进化"编码体系</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19"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476250"/>
            <a:ext cx="12382500" cy="7429500"/>
            <a:chOff x="0" y="-476250"/>
            <a:chExt cx="12382500" cy="74295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476250"/>
              <a:ext cx="4762500" cy="4762500"/>
            </a:xfrm>
            <a:prstGeom prst="ellipse">
              <a:avLst/>
            </a:prstGeom>
            <a:solidFill>
              <a:srgbClr val="FFFFFF">
                <a:alpha val="4000"/>
              </a:srgbClr>
            </a:solidFill>
            <a:ln>
              <a:noFill/>
            </a:ln>
          </p:spPr>
        </p:sp>
        <p:sp>
          <p:nvSpPr>
            <p:cNvPr id="4" name="Ellipse 4"/>
            <p:cNvSpPr/>
            <p:nvPr/>
          </p:nvSpPr>
          <p:spPr>
            <a:xfrm>
              <a:off x="666750" y="3524250"/>
              <a:ext cx="3429000" cy="3429000"/>
            </a:xfrm>
            <a:prstGeom prst="ellipse">
              <a:avLst/>
            </a:prstGeom>
            <a:solidFill>
              <a:srgbClr val="FFFFFF">
                <a:alpha val="3000"/>
              </a:srgbClr>
            </a:solidFill>
            <a:ln>
              <a:noFill/>
            </a:ln>
          </p:spPr>
        </p:sp>
        <p:sp>
          <p:nvSpPr>
            <p:cNvPr id="5" name="Ellipse 5"/>
            <p:cNvSpPr/>
            <p:nvPr/>
          </p:nvSpPr>
          <p:spPr>
            <a:xfrm>
              <a:off x="7429500" y="4572000"/>
              <a:ext cx="2286000" cy="2286000"/>
            </a:xfrm>
            <a:prstGeom prst="ellipse">
              <a:avLst/>
            </a:prstGeom>
            <a:solidFill>
              <a:srgbClr val="FFFFFF">
                <a:alpha val="3000"/>
              </a:srgbClr>
            </a:solidFill>
            <a:ln>
              <a:noFill/>
            </a:ln>
          </p:spPr>
        </p:sp>
      </p:grpSp>
      <p:grpSp>
        <p:nvGrpSpPr>
          <p:cNvPr id="13" name="Group 13"/>
          <p:cNvGrpSpPr/>
          <p:nvPr/>
        </p:nvGrpSpPr>
        <p:grpSpPr>
          <a:xfrm>
            <a:off x="883920" y="1893570"/>
            <a:ext cx="5117163" cy="2976086"/>
            <a:chOff x="883920" y="1893570"/>
            <a:chExt cx="5117163" cy="2976086"/>
          </a:xfrm>
        </p:grpSpPr>
        <p:sp>
          <p:nvSpPr>
            <p:cNvPr id="8" name="Rectangle 8"/>
            <p:cNvSpPr/>
            <p:nvPr/>
          </p:nvSpPr>
          <p:spPr>
            <a:xfrm>
              <a:off x="613410" y="2809875"/>
              <a:ext cx="762000" cy="38100"/>
            </a:xfrm>
            <a:prstGeom prst="roundRect">
              <a:avLst>
                <a:gd name="adj" fmla="val 50000"/>
              </a:avLst>
            </a:prstGeom>
            <a:solidFill>
              <a:srgbClr val="FF6F00"/>
            </a:solidFill>
            <a:ln>
              <a:noFill/>
            </a:ln>
          </p:spPr>
        </p:sp>
        <p:sp>
          <p:nvSpPr>
            <p:cNvPr id="9" name="TextBox 9"/>
            <p:cNvSpPr txBox="1"/>
            <p:nvPr/>
          </p:nvSpPr>
          <p:spPr>
            <a:xfrm>
              <a:off x="571500" y="3168015"/>
              <a:ext cx="3318224"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测试与质量保障</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92455" y="3917632"/>
              <a:ext cx="5069538"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AI时代测试不是变少了，而是变得更重要且更自动化</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613410" y="4381500"/>
              <a:ext cx="1905000" cy="19050"/>
            </a:xfrm>
            <a:prstGeom prst="rect">
              <a:avLst/>
            </a:prstGeom>
            <a:solidFill>
              <a:srgbClr val="FFFFFF">
                <a:alpha val="20000"/>
              </a:srgbClr>
            </a:solidFill>
            <a:ln>
              <a:noFill/>
            </a:ln>
          </p:spPr>
        </p:sp>
        <p:sp>
          <p:nvSpPr>
            <p:cNvPr id="12" name="TextBox 12"/>
            <p:cNvSpPr txBox="1"/>
            <p:nvPr/>
          </p:nvSpPr>
          <p:spPr>
            <a:xfrm>
              <a:off x="599122" y="4641056"/>
              <a:ext cx="4169093"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自动化测试 · 后置评审 · 五维度分类 · 测试护城河 · 质量度量</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4" name="TextBox 14"/>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46</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568060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AI自动化测试越完备，程序调试速度越快</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4" name="Group 34"/>
          <p:cNvGrpSpPr/>
          <p:nvPr/>
        </p:nvGrpSpPr>
        <p:grpSpPr>
          <a:xfrm>
            <a:off x="571500" y="857250"/>
            <a:ext cx="11049000" cy="1333500"/>
            <a:chOff x="571500" y="857250"/>
            <a:chExt cx="11049000" cy="1333500"/>
          </a:xfrm>
        </p:grpSpPr>
        <p:grpSp>
          <p:nvGrpSpPr>
            <p:cNvPr id="15" name="Group 15"/>
            <p:cNvGrpSpPr/>
            <p:nvPr/>
          </p:nvGrpSpPr>
          <p:grpSpPr>
            <a:xfrm>
              <a:off x="571500" y="857250"/>
              <a:ext cx="2571750" cy="1333500"/>
              <a:chOff x="571500" y="857250"/>
              <a:chExt cx="2571750" cy="1333500"/>
            </a:xfrm>
          </p:grpSpPr>
          <p:sp>
            <p:nvSpPr>
              <p:cNvPr id="10" name="Rectangle 10"/>
              <p:cNvSpPr/>
              <p:nvPr/>
            </p:nvSpPr>
            <p:spPr>
              <a:xfrm>
                <a:off x="571500" y="857250"/>
                <a:ext cx="2571750" cy="1333500"/>
              </a:xfrm>
              <a:prstGeom prst="roundRect">
                <a:avLst>
                  <a:gd name="adj" fmla="val 8571"/>
                </a:avLst>
              </a:prstGeom>
              <a:solidFill>
                <a:srgbClr val="FFFFFF"/>
              </a:solidFill>
              <a:ln>
                <a:noFill/>
              </a:ln>
            </p:spPr>
          </p:sp>
          <p:sp>
            <p:nvSpPr>
              <p:cNvPr id="11" name="Rectangle 11"/>
              <p:cNvSpPr/>
              <p:nvPr/>
            </p:nvSpPr>
            <p:spPr>
              <a:xfrm>
                <a:off x="571500" y="857250"/>
                <a:ext cx="2571750" cy="38100"/>
              </a:xfrm>
              <a:prstGeom prst="roundRect">
                <a:avLst>
                  <a:gd name="adj" fmla="val 50000"/>
                </a:avLst>
              </a:prstGeom>
              <a:solidFill>
                <a:srgbClr val="1565C0"/>
              </a:solidFill>
              <a:ln>
                <a:noFill/>
              </a:ln>
            </p:spPr>
          </p:sp>
          <p:sp>
            <p:nvSpPr>
              <p:cNvPr id="12" name="TextBox 12"/>
              <p:cNvSpPr txBox="1"/>
              <p:nvPr/>
            </p:nvSpPr>
            <p:spPr>
              <a:xfrm>
                <a:off x="1434267" y="929640"/>
                <a:ext cx="846215" cy="670560"/>
              </a:xfrm>
              <a:prstGeom prst="rect">
                <a:avLst/>
              </a:prstGeom>
              <a:noFill/>
              <a:ln>
                <a:noFill/>
              </a:ln>
            </p:spPr>
            <p:txBody>
              <a:bodyPr wrap="none" lIns="0" tIns="0" rIns="0" bIns="0" anchor="t" anchorCtr="0">
                <a:spAutoFit/>
              </a:bodyPr>
              <a:lstStyle/>
              <a:p>
                <a:pPr algn="ctr"/>
                <a:r>
                  <a:rPr lang="zh-CN" sz="3300" b="1" dirty="0">
                    <a:solidFill>
                      <a:srgbClr val="1565C0"/>
                    </a:solidFill>
                    <a:latin typeface="Segoe UI" panose="020B0502040204020203"/>
                    <a:ea typeface="微软雅黑" panose="020B0503020204020204" charset="-122"/>
                    <a:cs typeface="Segoe UI" panose="020B0502040204020203"/>
                  </a:rPr>
                  <a:t>4h+</a:t>
                </a:r>
                <a:endParaRPr lang="zh-CN" sz="330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0034" y="1470660"/>
                <a:ext cx="1654683"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无测试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498044" y="1783556"/>
                <a:ext cx="718661"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0%</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21" name="Group 21"/>
            <p:cNvGrpSpPr/>
            <p:nvPr/>
          </p:nvGrpSpPr>
          <p:grpSpPr>
            <a:xfrm>
              <a:off x="3381375" y="857250"/>
              <a:ext cx="2571750" cy="1333500"/>
              <a:chOff x="3381375" y="857250"/>
              <a:chExt cx="2571750" cy="1333500"/>
            </a:xfrm>
          </p:grpSpPr>
          <p:sp>
            <p:nvSpPr>
              <p:cNvPr id="16" name="Rectangle 16"/>
              <p:cNvSpPr/>
              <p:nvPr/>
            </p:nvSpPr>
            <p:spPr>
              <a:xfrm>
                <a:off x="3381375" y="857250"/>
                <a:ext cx="2571750" cy="1333500"/>
              </a:xfrm>
              <a:prstGeom prst="roundRect">
                <a:avLst>
                  <a:gd name="adj" fmla="val 8571"/>
                </a:avLst>
              </a:prstGeom>
              <a:solidFill>
                <a:srgbClr val="FFFFFF"/>
              </a:solidFill>
              <a:ln>
                <a:noFill/>
              </a:ln>
            </p:spPr>
          </p:sp>
          <p:sp>
            <p:nvSpPr>
              <p:cNvPr id="17" name="Rectangle 17"/>
              <p:cNvSpPr/>
              <p:nvPr/>
            </p:nvSpPr>
            <p:spPr>
              <a:xfrm>
                <a:off x="3381375" y="857250"/>
                <a:ext cx="2571750" cy="38100"/>
              </a:xfrm>
              <a:prstGeom prst="roundRect">
                <a:avLst>
                  <a:gd name="adj" fmla="val 50000"/>
                </a:avLst>
              </a:prstGeom>
              <a:solidFill>
                <a:srgbClr val="00838F"/>
              </a:solidFill>
              <a:ln>
                <a:noFill/>
              </a:ln>
            </p:spPr>
          </p:sp>
          <p:sp>
            <p:nvSpPr>
              <p:cNvPr id="18" name="TextBox 18"/>
              <p:cNvSpPr txBox="1"/>
              <p:nvPr/>
            </p:nvSpPr>
            <p:spPr>
              <a:xfrm>
                <a:off x="4371208" y="929640"/>
                <a:ext cx="592084" cy="670560"/>
              </a:xfrm>
              <a:prstGeom prst="rect">
                <a:avLst/>
              </a:prstGeom>
              <a:noFill/>
              <a:ln>
                <a:noFill/>
              </a:ln>
            </p:spPr>
            <p:txBody>
              <a:bodyPr wrap="none" lIns="0" tIns="0" rIns="0" bIns="0" anchor="t" anchorCtr="0">
                <a:spAutoFit/>
              </a:bodyPr>
              <a:lstStyle/>
              <a:p>
                <a:pPr algn="ctr"/>
                <a:r>
                  <a:rPr lang="zh-CN" sz="3300" b="1" dirty="0">
                    <a:solidFill>
                      <a:srgbClr val="00838F"/>
                    </a:solidFill>
                    <a:latin typeface="Segoe UI" panose="020B0502040204020203"/>
                    <a:ea typeface="微软雅黑" panose="020B0503020204020204" charset="-122"/>
                    <a:cs typeface="Segoe UI" panose="020B0502040204020203"/>
                  </a:rPr>
                  <a:t>1h</a:t>
                </a:r>
                <a:endParaRPr lang="zh-CN" sz="3300" b="1" dirty="0">
                  <a:solidFill>
                    <a:srgbClr val="00838F"/>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3611880" y="1470660"/>
                <a:ext cx="21107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单元测试30%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4225409" y="1783556"/>
                <a:ext cx="88368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~30%</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6191250" y="857250"/>
              <a:ext cx="2571750" cy="1333500"/>
              <a:chOff x="6191250" y="857250"/>
              <a:chExt cx="2571750" cy="1333500"/>
            </a:xfrm>
          </p:grpSpPr>
          <p:sp>
            <p:nvSpPr>
              <p:cNvPr id="22" name="Rectangle 22"/>
              <p:cNvSpPr/>
              <p:nvPr/>
            </p:nvSpPr>
            <p:spPr>
              <a:xfrm>
                <a:off x="6191250" y="857250"/>
                <a:ext cx="2571750" cy="1333500"/>
              </a:xfrm>
              <a:prstGeom prst="roundRect">
                <a:avLst>
                  <a:gd name="adj" fmla="val 8571"/>
                </a:avLst>
              </a:prstGeom>
              <a:solidFill>
                <a:srgbClr val="FFFFFF"/>
              </a:solidFill>
              <a:ln>
                <a:noFill/>
              </a:ln>
            </p:spPr>
          </p:sp>
          <p:sp>
            <p:nvSpPr>
              <p:cNvPr id="23" name="Rectangle 23"/>
              <p:cNvSpPr/>
              <p:nvPr/>
            </p:nvSpPr>
            <p:spPr>
              <a:xfrm>
                <a:off x="6191250" y="857250"/>
                <a:ext cx="2571750" cy="38100"/>
              </a:xfrm>
              <a:prstGeom prst="roundRect">
                <a:avLst>
                  <a:gd name="adj" fmla="val 50000"/>
                </a:avLst>
              </a:prstGeom>
              <a:solidFill>
                <a:srgbClr val="2E7D32"/>
              </a:solidFill>
              <a:ln>
                <a:noFill/>
              </a:ln>
            </p:spPr>
          </p:sp>
          <p:sp>
            <p:nvSpPr>
              <p:cNvPr id="24" name="TextBox 24"/>
              <p:cNvSpPr txBox="1"/>
              <p:nvPr/>
            </p:nvSpPr>
            <p:spPr>
              <a:xfrm>
                <a:off x="6811437" y="929640"/>
                <a:ext cx="1331376" cy="670560"/>
              </a:xfrm>
              <a:prstGeom prst="rect">
                <a:avLst/>
              </a:prstGeom>
              <a:noFill/>
              <a:ln>
                <a:noFill/>
              </a:ln>
            </p:spPr>
            <p:txBody>
              <a:bodyPr wrap="none" lIns="0" tIns="0" rIns="0" bIns="0" anchor="t" anchorCtr="0">
                <a:spAutoFit/>
              </a:bodyPr>
              <a:lstStyle/>
              <a:p>
                <a:pPr algn="ctr"/>
                <a:r>
                  <a:rPr lang="zh-CN" sz="3300" b="1" dirty="0">
                    <a:solidFill>
                      <a:srgbClr val="2E7D32"/>
                    </a:solidFill>
                    <a:latin typeface="Segoe UI" panose="020B0502040204020203"/>
                    <a:ea typeface="微软雅黑" panose="020B0503020204020204" charset="-122"/>
                    <a:cs typeface="Segoe UI" panose="020B0502040204020203"/>
                  </a:rPr>
                  <a:t>20min</a:t>
                </a:r>
                <a:endParaRPr lang="zh-CN" sz="3300" b="1" dirty="0">
                  <a:solidFill>
                    <a:srgbClr val="2E7D32"/>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377750" y="1470660"/>
                <a:ext cx="219875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单元+集成60%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035284" y="1783556"/>
                <a:ext cx="88368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~60%</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9001125" y="857250"/>
              <a:ext cx="2619375" cy="1333500"/>
              <a:chOff x="9001125" y="857250"/>
              <a:chExt cx="2619375" cy="1333500"/>
            </a:xfrm>
          </p:grpSpPr>
          <p:sp>
            <p:nvSpPr>
              <p:cNvPr id="28" name="Rectangle 28"/>
              <p:cNvSpPr/>
              <p:nvPr/>
            </p:nvSpPr>
            <p:spPr>
              <a:xfrm>
                <a:off x="9001125" y="857250"/>
                <a:ext cx="2619375" cy="1333500"/>
              </a:xfrm>
              <a:prstGeom prst="roundRect">
                <a:avLst>
                  <a:gd name="adj" fmla="val 8571"/>
                </a:avLst>
              </a:prstGeom>
              <a:solidFill>
                <a:srgbClr val="FFFFFF"/>
              </a:solidFill>
              <a:ln>
                <a:noFill/>
              </a:ln>
            </p:spPr>
          </p:sp>
          <p:sp>
            <p:nvSpPr>
              <p:cNvPr id="29" name="Rectangle 29"/>
              <p:cNvSpPr/>
              <p:nvPr/>
            </p:nvSpPr>
            <p:spPr>
              <a:xfrm>
                <a:off x="9001125" y="857250"/>
                <a:ext cx="2619375" cy="38100"/>
              </a:xfrm>
              <a:prstGeom prst="roundRect">
                <a:avLst>
                  <a:gd name="adj" fmla="val 50000"/>
                </a:avLst>
              </a:prstGeom>
              <a:solidFill>
                <a:srgbClr val="FF6F00"/>
              </a:solidFill>
              <a:ln>
                <a:noFill/>
              </a:ln>
            </p:spPr>
          </p:sp>
          <p:sp>
            <p:nvSpPr>
              <p:cNvPr id="30" name="TextBox 30"/>
              <p:cNvSpPr txBox="1"/>
              <p:nvPr/>
            </p:nvSpPr>
            <p:spPr>
              <a:xfrm>
                <a:off x="9767428" y="929640"/>
                <a:ext cx="1077244" cy="670560"/>
              </a:xfrm>
              <a:prstGeom prst="rect">
                <a:avLst/>
              </a:prstGeom>
              <a:noFill/>
              <a:ln>
                <a:noFill/>
              </a:ln>
            </p:spPr>
            <p:txBody>
              <a:bodyPr wrap="none" lIns="0" tIns="0" rIns="0" bIns="0" anchor="t" anchorCtr="0">
                <a:spAutoFit/>
              </a:bodyPr>
              <a:lstStyle/>
              <a:p>
                <a:pPr algn="ctr"/>
                <a:r>
                  <a:rPr lang="zh-CN" sz="3300" b="1" dirty="0">
                    <a:solidFill>
                      <a:srgbClr val="FF6F00"/>
                    </a:solidFill>
                    <a:latin typeface="Segoe UI" panose="020B0502040204020203"/>
                    <a:ea typeface="微软雅黑" panose="020B0503020204020204" charset="-122"/>
                    <a:cs typeface="Segoe UI" panose="020B0502040204020203"/>
                  </a:rPr>
                  <a:t>5min</a:t>
                </a:r>
                <a:endParaRPr lang="zh-CN" sz="3300" b="1" dirty="0">
                  <a:solidFill>
                    <a:srgbClr val="FF6F00"/>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9286684" y="1470660"/>
                <a:ext cx="203873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全覆盖95%+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9864209" y="1783556"/>
                <a:ext cx="88368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95%+</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grpSp>
        <p:nvGrpSpPr>
          <p:cNvPr id="51" name="Group 51"/>
          <p:cNvGrpSpPr/>
          <p:nvPr/>
        </p:nvGrpSpPr>
        <p:grpSpPr>
          <a:xfrm>
            <a:off x="552450" y="2505075"/>
            <a:ext cx="11068050" cy="2162175"/>
            <a:chOff x="552450" y="2505075"/>
            <a:chExt cx="11068050" cy="2162175"/>
          </a:xfrm>
        </p:grpSpPr>
        <p:sp>
          <p:nvSpPr>
            <p:cNvPr id="35" name="TextBox 35"/>
            <p:cNvSpPr txBox="1"/>
            <p:nvPr/>
          </p:nvSpPr>
          <p:spPr>
            <a:xfrm>
              <a:off x="552450" y="2505075"/>
              <a:ext cx="1508284"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测试金字塔原则</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6" name="Rectangle 36"/>
            <p:cNvSpPr/>
            <p:nvPr/>
          </p:nvSpPr>
          <p:spPr>
            <a:xfrm>
              <a:off x="571500" y="2809875"/>
              <a:ext cx="381000" cy="28575"/>
            </a:xfrm>
            <a:prstGeom prst="roundRect">
              <a:avLst>
                <a:gd name="adj" fmla="val 33333"/>
              </a:avLst>
            </a:prstGeom>
            <a:solidFill>
              <a:srgbClr val="FF6F00"/>
            </a:solidFill>
            <a:ln>
              <a:noFill/>
            </a:ln>
          </p:spPr>
        </p:sp>
        <p:sp>
          <p:nvSpPr>
            <p:cNvPr id="37" name="Rectangle 37"/>
            <p:cNvSpPr/>
            <p:nvPr/>
          </p:nvSpPr>
          <p:spPr>
            <a:xfrm>
              <a:off x="571500" y="3000375"/>
              <a:ext cx="2667000" cy="1619250"/>
            </a:xfrm>
            <a:prstGeom prst="roundRect">
              <a:avLst>
                <a:gd name="adj" fmla="val 7059"/>
              </a:avLst>
            </a:prstGeom>
            <a:solidFill>
              <a:srgbClr val="FFFFFF"/>
            </a:solidFill>
            <a:ln>
              <a:noFill/>
            </a:ln>
          </p:spPr>
        </p:sp>
        <p:sp>
          <p:nvSpPr>
            <p:cNvPr id="38" name="Polygon 38"/>
            <p:cNvSpPr/>
            <p:nvPr/>
          </p:nvSpPr>
          <p:spPr>
            <a:xfrm>
              <a:off x="762000" y="3190875"/>
              <a:ext cx="2286000" cy="1476375"/>
            </a:xfrm>
            <a:custGeom>
              <a:avLst/>
              <a:gdLst/>
              <a:ahLst/>
              <a:cxnLst/>
              <a:rect l="l" t="t" r="r" b="b"/>
              <a:pathLst>
                <a:path w="2286000" h="1476375">
                  <a:moveTo>
                    <a:pt x="1143000" y="0"/>
                  </a:moveTo>
                  <a:lnTo>
                    <a:pt x="2286000" y="1476375"/>
                  </a:lnTo>
                  <a:lnTo>
                    <a:pt x="0" y="1476375"/>
                  </a:lnTo>
                  <a:close/>
                </a:path>
              </a:pathLst>
            </a:custGeom>
            <a:solidFill>
              <a:srgbClr val="1565C0">
                <a:alpha val="8000"/>
              </a:srgbClr>
            </a:solidFill>
            <a:ln>
              <a:noFill/>
            </a:ln>
          </p:spPr>
        </p:sp>
        <p:sp>
          <p:nvSpPr>
            <p:cNvPr id="39" name="Polygon 39"/>
            <p:cNvSpPr/>
            <p:nvPr/>
          </p:nvSpPr>
          <p:spPr>
            <a:xfrm>
              <a:off x="952500" y="3381375"/>
              <a:ext cx="1905000" cy="1285875"/>
            </a:xfrm>
            <a:custGeom>
              <a:avLst/>
              <a:gdLst/>
              <a:ahLst/>
              <a:cxnLst/>
              <a:rect l="l" t="t" r="r" b="b"/>
              <a:pathLst>
                <a:path w="1905000" h="1285875">
                  <a:moveTo>
                    <a:pt x="952500" y="0"/>
                  </a:moveTo>
                  <a:lnTo>
                    <a:pt x="1905000" y="1285875"/>
                  </a:lnTo>
                  <a:lnTo>
                    <a:pt x="0" y="1285875"/>
                  </a:lnTo>
                  <a:close/>
                </a:path>
              </a:pathLst>
            </a:custGeom>
            <a:solidFill>
              <a:srgbClr val="00838F">
                <a:alpha val="10000"/>
              </a:srgbClr>
            </a:solidFill>
            <a:ln>
              <a:noFill/>
            </a:ln>
          </p:spPr>
        </p:sp>
        <p:sp>
          <p:nvSpPr>
            <p:cNvPr id="40" name="Polygon 40"/>
            <p:cNvSpPr/>
            <p:nvPr/>
          </p:nvSpPr>
          <p:spPr>
            <a:xfrm>
              <a:off x="1143000" y="3714750"/>
              <a:ext cx="1524000" cy="952500"/>
            </a:xfrm>
            <a:custGeom>
              <a:avLst/>
              <a:gdLst/>
              <a:ahLst/>
              <a:cxnLst/>
              <a:rect l="l" t="t" r="r" b="b"/>
              <a:pathLst>
                <a:path w="1524000" h="952500">
                  <a:moveTo>
                    <a:pt x="762000" y="0"/>
                  </a:moveTo>
                  <a:lnTo>
                    <a:pt x="1524000" y="952500"/>
                  </a:lnTo>
                  <a:lnTo>
                    <a:pt x="0" y="952500"/>
                  </a:lnTo>
                  <a:close/>
                </a:path>
              </a:pathLst>
            </a:custGeom>
            <a:solidFill>
              <a:srgbClr val="FFFFFF"/>
            </a:solidFill>
            <a:ln w="9525">
              <a:solidFill>
                <a:srgbClr val="CFD8DC"/>
              </a:solidFill>
            </a:ln>
          </p:spPr>
        </p:sp>
        <p:sp>
          <p:nvSpPr>
            <p:cNvPr id="41" name="TextBox 41"/>
            <p:cNvSpPr txBox="1"/>
            <p:nvPr/>
          </p:nvSpPr>
          <p:spPr>
            <a:xfrm>
              <a:off x="1437704" y="3442335"/>
              <a:ext cx="934593"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少量E2E测试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1409700" y="3870960"/>
              <a:ext cx="99060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中层集成测试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249680" y="4347210"/>
              <a:ext cx="13106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底层大量单元测试</a:t>
              </a:r>
              <a:endParaRPr lang="zh-CN" sz="1200" dirty="0">
                <a:solidFill>
                  <a:srgbClr val="546E7A"/>
                </a:solidFill>
                <a:latin typeface="Segoe UI" panose="020B0502040204020203"/>
                <a:ea typeface="微软雅黑" panose="020B0503020204020204" charset="-122"/>
                <a:cs typeface="Segoe UI" panose="020B0502040204020203"/>
              </a:endParaRPr>
            </a:p>
          </p:txBody>
        </p:sp>
        <p:grpSp>
          <p:nvGrpSpPr>
            <p:cNvPr id="50" name="Group 50"/>
            <p:cNvGrpSpPr/>
            <p:nvPr/>
          </p:nvGrpSpPr>
          <p:grpSpPr>
            <a:xfrm>
              <a:off x="3619500" y="3000375"/>
              <a:ext cx="8001000" cy="1638300"/>
              <a:chOff x="3619500" y="3000375"/>
              <a:chExt cx="8001000" cy="1638300"/>
            </a:xfrm>
          </p:grpSpPr>
          <p:sp>
            <p:nvSpPr>
              <p:cNvPr id="44" name="Rectangle 44"/>
              <p:cNvSpPr/>
              <p:nvPr/>
            </p:nvSpPr>
            <p:spPr>
              <a:xfrm>
                <a:off x="3619500" y="3000375"/>
                <a:ext cx="8001000" cy="1619250"/>
              </a:xfrm>
              <a:prstGeom prst="roundRect">
                <a:avLst>
                  <a:gd name="adj" fmla="val 7059"/>
                </a:avLst>
              </a:prstGeom>
              <a:solidFill>
                <a:srgbClr val="FFFFFF"/>
              </a:solidFill>
              <a:ln>
                <a:noFill/>
              </a:ln>
            </p:spPr>
          </p:sp>
          <p:sp>
            <p:nvSpPr>
              <p:cNvPr id="45" name="TextBox 45"/>
              <p:cNvSpPr txBox="1"/>
              <p:nvPr/>
            </p:nvSpPr>
            <p:spPr>
              <a:xfrm>
                <a:off x="3983355" y="3188018"/>
                <a:ext cx="351232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负指数关系：测试覆盖率 ↑ → 调试时间 ↓↓</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3986212" y="3545681"/>
                <a:ext cx="296144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 覆盖率每提升30%，调试时间缩短50%以上</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3986212" y="3831431"/>
                <a:ext cx="350150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 无测试时AI定位Bug形同猜谜 —— 4小时+的反复试错</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3986212" y="4117181"/>
                <a:ext cx="338149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 95%+覆盖率时AI可精确定位 —— 5分钟内定位根因</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3985260" y="4394835"/>
                <a:ext cx="5751595"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核心结论：测试越完备，AI定位Bug越精准 —— 测试是AI编码的加速器而非负担</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grpSp>
      <p:sp>
        <p:nvSpPr>
          <p:cNvPr id="52" name="TextBox 52"/>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3" name="图片 5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5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750783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一个Bug的三次后置评审：代码质量是如何逐轮收敛的</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2" name="Group 32"/>
          <p:cNvGrpSpPr/>
          <p:nvPr/>
        </p:nvGrpSpPr>
        <p:grpSpPr>
          <a:xfrm>
            <a:off x="552450" y="838200"/>
            <a:ext cx="11068050" cy="1638300"/>
            <a:chOff x="552450" y="838200"/>
            <a:chExt cx="11068050" cy="1638300"/>
          </a:xfrm>
        </p:grpSpPr>
        <p:sp>
          <p:nvSpPr>
            <p:cNvPr id="10" name="TextBox 10"/>
            <p:cNvSpPr txBox="1"/>
            <p:nvPr/>
          </p:nvSpPr>
          <p:spPr>
            <a:xfrm>
              <a:off x="552450" y="838200"/>
              <a:ext cx="1718310"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评审轮次收敛过程</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571500" y="1123950"/>
              <a:ext cx="381000" cy="28575"/>
            </a:xfrm>
            <a:prstGeom prst="roundRect">
              <a:avLst>
                <a:gd name="adj" fmla="val 33333"/>
              </a:avLst>
            </a:prstGeom>
            <a:solidFill>
              <a:srgbClr val="FF6F00"/>
            </a:solidFill>
            <a:ln>
              <a:noFill/>
            </a:ln>
          </p:spPr>
        </p:sp>
        <p:grpSp>
          <p:nvGrpSpPr>
            <p:cNvPr id="17" name="Group 17"/>
            <p:cNvGrpSpPr/>
            <p:nvPr/>
          </p:nvGrpSpPr>
          <p:grpSpPr>
            <a:xfrm>
              <a:off x="571500" y="1333500"/>
              <a:ext cx="3238500" cy="1143000"/>
              <a:chOff x="571500" y="1333500"/>
              <a:chExt cx="3238500" cy="1143000"/>
            </a:xfrm>
          </p:grpSpPr>
          <p:sp>
            <p:nvSpPr>
              <p:cNvPr id="12" name="Rectangle 12"/>
              <p:cNvSpPr/>
              <p:nvPr/>
            </p:nvSpPr>
            <p:spPr>
              <a:xfrm>
                <a:off x="571500" y="1333500"/>
                <a:ext cx="3238500" cy="1143000"/>
              </a:xfrm>
              <a:prstGeom prst="roundRect">
                <a:avLst>
                  <a:gd name="adj" fmla="val 10000"/>
                </a:avLst>
              </a:prstGeom>
              <a:solidFill>
                <a:srgbClr val="FFFFFF"/>
              </a:solidFill>
              <a:ln>
                <a:noFill/>
              </a:ln>
            </p:spPr>
          </p:sp>
          <p:sp>
            <p:nvSpPr>
              <p:cNvPr id="13" name="Rectangle 13"/>
              <p:cNvSpPr/>
              <p:nvPr/>
            </p:nvSpPr>
            <p:spPr>
              <a:xfrm>
                <a:off x="571500" y="1333500"/>
                <a:ext cx="3238500" cy="38100"/>
              </a:xfrm>
              <a:prstGeom prst="roundRect">
                <a:avLst>
                  <a:gd name="adj" fmla="val 50000"/>
                </a:avLst>
              </a:prstGeom>
              <a:solidFill>
                <a:srgbClr val="C62828"/>
              </a:solidFill>
              <a:ln>
                <a:noFill/>
              </a:ln>
            </p:spPr>
          </p:sp>
          <p:sp>
            <p:nvSpPr>
              <p:cNvPr id="14" name="TextBox 14"/>
              <p:cNvSpPr txBox="1"/>
              <p:nvPr/>
            </p:nvSpPr>
            <p:spPr>
              <a:xfrm>
                <a:off x="1646634" y="1504950"/>
                <a:ext cx="1088231" cy="304800"/>
              </a:xfrm>
              <a:prstGeom prst="rect">
                <a:avLst/>
              </a:prstGeom>
              <a:noFill/>
              <a:ln>
                <a:noFill/>
              </a:ln>
            </p:spPr>
            <p:txBody>
              <a:bodyPr wrap="none" lIns="0" tIns="0" rIns="0" bIns="0" anchor="t" anchorCtr="0">
                <a:spAutoFit/>
              </a:bodyPr>
              <a:lstStyle/>
              <a:p>
                <a:pPr algn="ctr"/>
                <a:r>
                  <a:rPr lang="zh-CN" sz="1500" b="1" dirty="0">
                    <a:solidFill>
                      <a:srgbClr val="C62828"/>
                    </a:solidFill>
                    <a:latin typeface="Segoe UI" panose="020B0502040204020203"/>
                    <a:ea typeface="微软雅黑" panose="020B0503020204020204" charset="-122"/>
                    <a:cs typeface="Segoe UI" panose="020B0502040204020203"/>
                  </a:rPr>
                  <a:t>第一轮评审</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8212" y="1878806"/>
                <a:ext cx="223385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严重问题：3个 ｜ 中等问题：2个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937260" y="2156460"/>
                <a:ext cx="1996326"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修复即引入新问题 —— 常态</a:t>
                </a:r>
                <a:endParaRPr lang="zh-CN" sz="1200" b="1" dirty="0">
                  <a:solidFill>
                    <a:srgbClr val="C62828"/>
                  </a:solidFill>
                  <a:latin typeface="Segoe UI" panose="020B0502040204020203"/>
                  <a:ea typeface="微软雅黑" panose="020B0503020204020204" charset="-122"/>
                  <a:cs typeface="Segoe UI" panose="020B0502040204020203"/>
                </a:endParaRPr>
              </a:p>
            </p:txBody>
          </p:sp>
        </p:grpSp>
        <p:sp>
          <p:nvSpPr>
            <p:cNvPr id="18" name="TextBox 18"/>
            <p:cNvSpPr txBox="1"/>
            <p:nvPr/>
          </p:nvSpPr>
          <p:spPr>
            <a:xfrm>
              <a:off x="3801570" y="1678305"/>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4476750" y="1333500"/>
              <a:ext cx="3238500" cy="1143000"/>
              <a:chOff x="4476750" y="1333500"/>
              <a:chExt cx="3238500" cy="1143000"/>
            </a:xfrm>
          </p:grpSpPr>
          <p:sp>
            <p:nvSpPr>
              <p:cNvPr id="19" name="Rectangle 19"/>
              <p:cNvSpPr/>
              <p:nvPr/>
            </p:nvSpPr>
            <p:spPr>
              <a:xfrm>
                <a:off x="4476750" y="1333500"/>
                <a:ext cx="3238500" cy="1143000"/>
              </a:xfrm>
              <a:prstGeom prst="roundRect">
                <a:avLst>
                  <a:gd name="adj" fmla="val 10000"/>
                </a:avLst>
              </a:prstGeom>
              <a:solidFill>
                <a:srgbClr val="FFFFFF"/>
              </a:solidFill>
              <a:ln>
                <a:noFill/>
              </a:ln>
            </p:spPr>
          </p:sp>
          <p:sp>
            <p:nvSpPr>
              <p:cNvPr id="20" name="Rectangle 20"/>
              <p:cNvSpPr/>
              <p:nvPr/>
            </p:nvSpPr>
            <p:spPr>
              <a:xfrm>
                <a:off x="4476750" y="1333500"/>
                <a:ext cx="3238500" cy="38100"/>
              </a:xfrm>
              <a:prstGeom prst="roundRect">
                <a:avLst>
                  <a:gd name="adj" fmla="val 50000"/>
                </a:avLst>
              </a:prstGeom>
              <a:solidFill>
                <a:srgbClr val="FF6F00"/>
              </a:solidFill>
              <a:ln>
                <a:noFill/>
              </a:ln>
            </p:spPr>
          </p:sp>
          <p:sp>
            <p:nvSpPr>
              <p:cNvPr id="21" name="TextBox 21"/>
              <p:cNvSpPr txBox="1"/>
              <p:nvPr/>
            </p:nvSpPr>
            <p:spPr>
              <a:xfrm>
                <a:off x="5551884" y="1504950"/>
                <a:ext cx="1088231" cy="304800"/>
              </a:xfrm>
              <a:prstGeom prst="rect">
                <a:avLst/>
              </a:prstGeom>
              <a:noFill/>
              <a:ln>
                <a:noFill/>
              </a:ln>
            </p:spPr>
            <p:txBody>
              <a:bodyPr wrap="none" lIns="0" tIns="0" rIns="0" bIns="0" anchor="t" anchorCtr="0">
                <a:spAutoFit/>
              </a:bodyPr>
              <a:lstStyle/>
              <a:p>
                <a:pPr algn="ctr"/>
                <a:r>
                  <a:rPr lang="zh-CN" sz="1500" b="1" dirty="0">
                    <a:solidFill>
                      <a:srgbClr val="FF6F00"/>
                    </a:solidFill>
                    <a:latin typeface="Segoe UI" panose="020B0502040204020203"/>
                    <a:ea typeface="微软雅黑" panose="020B0503020204020204" charset="-122"/>
                    <a:cs typeface="Segoe UI" panose="020B0502040204020203"/>
                  </a:rPr>
                  <a:t>第二轮评审</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843462" y="1878806"/>
                <a:ext cx="223385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严重问题：1个 ｜ 中等问题：1个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842510" y="2156460"/>
                <a:ext cx="2046732"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问题大幅收敛，但仍需关注</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7706820" y="1678305"/>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31" name="Group 31"/>
            <p:cNvGrpSpPr/>
            <p:nvPr/>
          </p:nvGrpSpPr>
          <p:grpSpPr>
            <a:xfrm>
              <a:off x="8382000" y="1333500"/>
              <a:ext cx="3238500" cy="1143000"/>
              <a:chOff x="8382000" y="1333500"/>
              <a:chExt cx="3238500" cy="1143000"/>
            </a:xfrm>
          </p:grpSpPr>
          <p:sp>
            <p:nvSpPr>
              <p:cNvPr id="26" name="Rectangle 26"/>
              <p:cNvSpPr/>
              <p:nvPr/>
            </p:nvSpPr>
            <p:spPr>
              <a:xfrm>
                <a:off x="8382000" y="1333500"/>
                <a:ext cx="3238500" cy="1143000"/>
              </a:xfrm>
              <a:prstGeom prst="roundRect">
                <a:avLst>
                  <a:gd name="adj" fmla="val 10000"/>
                </a:avLst>
              </a:prstGeom>
              <a:solidFill>
                <a:srgbClr val="FFFFFF"/>
              </a:solidFill>
              <a:ln>
                <a:noFill/>
              </a:ln>
            </p:spPr>
          </p:sp>
          <p:sp>
            <p:nvSpPr>
              <p:cNvPr id="27" name="Rectangle 27"/>
              <p:cNvSpPr/>
              <p:nvPr/>
            </p:nvSpPr>
            <p:spPr>
              <a:xfrm>
                <a:off x="8382000" y="1333500"/>
                <a:ext cx="3238500" cy="38100"/>
              </a:xfrm>
              <a:prstGeom prst="roundRect">
                <a:avLst>
                  <a:gd name="adj" fmla="val 50000"/>
                </a:avLst>
              </a:prstGeom>
              <a:solidFill>
                <a:srgbClr val="2E7D32"/>
              </a:solidFill>
              <a:ln>
                <a:noFill/>
              </a:ln>
            </p:spPr>
          </p:sp>
          <p:sp>
            <p:nvSpPr>
              <p:cNvPr id="28" name="TextBox 28"/>
              <p:cNvSpPr txBox="1"/>
              <p:nvPr/>
            </p:nvSpPr>
            <p:spPr>
              <a:xfrm>
                <a:off x="9457134" y="1504950"/>
                <a:ext cx="1088231"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Segoe UI" panose="020B0502040204020203"/>
                    <a:ea typeface="微软雅黑" panose="020B0503020204020204" charset="-122"/>
                    <a:cs typeface="Segoe UI" panose="020B0502040204020203"/>
                  </a:rPr>
                  <a:t>第三轮评审</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748712" y="1878806"/>
                <a:ext cx="223385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严重问题：0个 ｜ 中等问题：0个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747760" y="2156460"/>
                <a:ext cx="118142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质量收敛完毕 ✓</a:t>
                </a:r>
                <a:endParaRPr lang="zh-CN" sz="1200" b="1" dirty="0">
                  <a:solidFill>
                    <a:srgbClr val="2E7D32"/>
                  </a:solidFill>
                  <a:latin typeface="Segoe UI" panose="020B0502040204020203"/>
                  <a:ea typeface="微软雅黑" panose="020B0503020204020204" charset="-122"/>
                  <a:cs typeface="Segoe UI" panose="020B0502040204020203"/>
                </a:endParaRPr>
              </a:p>
            </p:txBody>
          </p:sp>
        </p:grpSp>
      </p:grpSp>
      <p:grpSp>
        <p:nvGrpSpPr>
          <p:cNvPr id="71" name="Group 71"/>
          <p:cNvGrpSpPr/>
          <p:nvPr/>
        </p:nvGrpSpPr>
        <p:grpSpPr>
          <a:xfrm>
            <a:off x="552450" y="2838450"/>
            <a:ext cx="11068050" cy="1733550"/>
            <a:chOff x="552450" y="2838450"/>
            <a:chExt cx="11068050" cy="1733550"/>
          </a:xfrm>
        </p:grpSpPr>
        <p:sp>
          <p:nvSpPr>
            <p:cNvPr id="33" name="TextBox 33"/>
            <p:cNvSpPr txBox="1"/>
            <p:nvPr/>
          </p:nvSpPr>
          <p:spPr>
            <a:xfrm>
              <a:off x="552450" y="2838450"/>
              <a:ext cx="1508284"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后置四区评审法</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3124200"/>
              <a:ext cx="381000" cy="28575"/>
            </a:xfrm>
            <a:prstGeom prst="roundRect">
              <a:avLst>
                <a:gd name="adj" fmla="val 33333"/>
              </a:avLst>
            </a:prstGeom>
            <a:solidFill>
              <a:srgbClr val="FF6F00"/>
            </a:solidFill>
            <a:ln>
              <a:noFill/>
            </a:ln>
          </p:spPr>
        </p:sp>
        <p:grpSp>
          <p:nvGrpSpPr>
            <p:cNvPr id="43" name="Group 43"/>
            <p:cNvGrpSpPr/>
            <p:nvPr/>
          </p:nvGrpSpPr>
          <p:grpSpPr>
            <a:xfrm>
              <a:off x="571500" y="3333750"/>
              <a:ext cx="2667000" cy="1238250"/>
              <a:chOff x="571500" y="3333750"/>
              <a:chExt cx="2667000" cy="1238250"/>
            </a:xfrm>
          </p:grpSpPr>
          <p:sp>
            <p:nvSpPr>
              <p:cNvPr id="35" name="Rectangle 35"/>
              <p:cNvSpPr/>
              <p:nvPr/>
            </p:nvSpPr>
            <p:spPr>
              <a:xfrm>
                <a:off x="571500" y="3333750"/>
                <a:ext cx="2667000" cy="1238250"/>
              </a:xfrm>
              <a:prstGeom prst="roundRect">
                <a:avLst>
                  <a:gd name="adj" fmla="val 9231"/>
                </a:avLst>
              </a:prstGeom>
              <a:solidFill>
                <a:srgbClr val="FFFFFF"/>
              </a:solidFill>
              <a:ln>
                <a:noFill/>
              </a:ln>
            </p:spPr>
          </p:sp>
          <p:sp>
            <p:nvSpPr>
              <p:cNvPr id="36" name="Rectangle 36"/>
              <p:cNvSpPr/>
              <p:nvPr/>
            </p:nvSpPr>
            <p:spPr>
              <a:xfrm>
                <a:off x="571500" y="3333750"/>
                <a:ext cx="2667000" cy="38100"/>
              </a:xfrm>
              <a:prstGeom prst="roundRect">
                <a:avLst>
                  <a:gd name="adj" fmla="val 50000"/>
                </a:avLst>
              </a:prstGeom>
              <a:solidFill>
                <a:srgbClr val="1565C0"/>
              </a:solidFill>
              <a:ln>
                <a:noFill/>
              </a:ln>
            </p:spPr>
          </p:sp>
          <p:grpSp>
            <p:nvGrpSpPr>
              <p:cNvPr id="39" name="Group 39"/>
              <p:cNvGrpSpPr/>
              <p:nvPr/>
            </p:nvGrpSpPr>
            <p:grpSpPr>
              <a:xfrm>
                <a:off x="845346" y="3628807"/>
                <a:ext cx="214308" cy="171668"/>
                <a:chOff x="845346" y="3628807"/>
                <a:chExt cx="214308" cy="171668"/>
              </a:xfrm>
            </p:grpSpPr>
            <p:sp>
              <p:nvSpPr>
                <p:cNvPr id="37" name="Freeform 37"/>
                <p:cNvSpPr/>
                <p:nvPr/>
              </p:nvSpPr>
              <p:spPr>
                <a:xfrm>
                  <a:off x="852488" y="3679031"/>
                  <a:ext cx="200025" cy="71438"/>
                </a:xfrm>
                <a:custGeom>
                  <a:avLst/>
                  <a:gdLst/>
                  <a:ahLst/>
                  <a:cxnLst/>
                  <a:rect l="l" t="t" r="r" b="b"/>
                  <a:pathLst>
                    <a:path w="200025" h="71438">
                      <a:moveTo>
                        <a:pt x="200025" y="35719"/>
                      </a:moveTo>
                      <a:lnTo>
                        <a:pt x="157162" y="71438"/>
                      </a:lnTo>
                      <a:lnTo>
                        <a:pt x="42862" y="71438"/>
                      </a:lnTo>
                      <a:lnTo>
                        <a:pt x="0" y="35719"/>
                      </a:lnTo>
                      <a:lnTo>
                        <a:pt x="42862" y="0"/>
                      </a:lnTo>
                      <a:lnTo>
                        <a:pt x="157162" y="0"/>
                      </a:lnTo>
                      <a:close/>
                    </a:path>
                  </a:pathLst>
                </a:custGeom>
                <a:solidFill>
                  <a:srgbClr val="1565C0">
                    <a:alpha val="20000"/>
                  </a:srgbClr>
                </a:solidFill>
                <a:ln>
                  <a:noFill/>
                </a:ln>
              </p:spPr>
            </p:sp>
            <p:sp>
              <p:nvSpPr>
                <p:cNvPr id="38" name="Freeform 38"/>
                <p:cNvSpPr/>
                <p:nvPr/>
              </p:nvSpPr>
              <p:spPr>
                <a:xfrm>
                  <a:off x="845346" y="3628807"/>
                  <a:ext cx="214308" cy="171668"/>
                </a:xfrm>
                <a:custGeom>
                  <a:avLst/>
                  <a:gdLst/>
                  <a:ahLst/>
                  <a:cxnLst/>
                  <a:rect l="l" t="t" r="r" b="b"/>
                  <a:pathLst>
                    <a:path w="214308" h="171668">
                      <a:moveTo>
                        <a:pt x="54576" y="55716"/>
                      </a:moveTo>
                      <a:lnTo>
                        <a:pt x="18304" y="85943"/>
                      </a:lnTo>
                      <a:lnTo>
                        <a:pt x="54576" y="116170"/>
                      </a:lnTo>
                      <a:cubicBezTo>
                        <a:pt x="56595" y="117786"/>
                        <a:pt x="57582" y="120366"/>
                        <a:pt x="57159" y="122917"/>
                      </a:cubicBezTo>
                      <a:cubicBezTo>
                        <a:pt x="56735" y="125468"/>
                        <a:pt x="54967" y="127590"/>
                        <a:pt x="52534" y="128467"/>
                      </a:cubicBezTo>
                      <a:cubicBezTo>
                        <a:pt x="50102" y="129344"/>
                        <a:pt x="47386" y="128838"/>
                        <a:pt x="45432" y="127145"/>
                      </a:cubicBezTo>
                      <a:lnTo>
                        <a:pt x="2570" y="91426"/>
                      </a:lnTo>
                      <a:cubicBezTo>
                        <a:pt x="941" y="90069"/>
                        <a:pt x="0" y="88058"/>
                        <a:pt x="0" y="85939"/>
                      </a:cubicBezTo>
                      <a:cubicBezTo>
                        <a:pt x="0" y="83819"/>
                        <a:pt x="941" y="81808"/>
                        <a:pt x="2570" y="80451"/>
                      </a:cubicBezTo>
                      <a:lnTo>
                        <a:pt x="45432" y="44732"/>
                      </a:lnTo>
                      <a:cubicBezTo>
                        <a:pt x="48465" y="42207"/>
                        <a:pt x="52971" y="42619"/>
                        <a:pt x="55496" y="45652"/>
                      </a:cubicBezTo>
                      <a:cubicBezTo>
                        <a:pt x="58021" y="48685"/>
                        <a:pt x="57609" y="53191"/>
                        <a:pt x="54576" y="55716"/>
                      </a:cubicBezTo>
                      <a:close/>
                      <a:moveTo>
                        <a:pt x="211739" y="80451"/>
                      </a:moveTo>
                      <a:lnTo>
                        <a:pt x="168876" y="44732"/>
                      </a:lnTo>
                      <a:cubicBezTo>
                        <a:pt x="165843" y="42207"/>
                        <a:pt x="161337" y="42619"/>
                        <a:pt x="158812" y="45652"/>
                      </a:cubicBezTo>
                      <a:cubicBezTo>
                        <a:pt x="156287" y="48685"/>
                        <a:pt x="156699" y="53191"/>
                        <a:pt x="159732" y="55716"/>
                      </a:cubicBezTo>
                      <a:lnTo>
                        <a:pt x="196004" y="85943"/>
                      </a:lnTo>
                      <a:lnTo>
                        <a:pt x="159732" y="116170"/>
                      </a:lnTo>
                      <a:cubicBezTo>
                        <a:pt x="157714" y="117786"/>
                        <a:pt x="156726" y="120366"/>
                        <a:pt x="157149" y="122917"/>
                      </a:cubicBezTo>
                      <a:cubicBezTo>
                        <a:pt x="157573" y="125468"/>
                        <a:pt x="159341" y="127590"/>
                        <a:pt x="161774" y="128467"/>
                      </a:cubicBezTo>
                      <a:cubicBezTo>
                        <a:pt x="164206" y="129344"/>
                        <a:pt x="166922" y="128838"/>
                        <a:pt x="168876" y="127145"/>
                      </a:cubicBezTo>
                      <a:lnTo>
                        <a:pt x="211739" y="91426"/>
                      </a:lnTo>
                      <a:cubicBezTo>
                        <a:pt x="213367" y="90069"/>
                        <a:pt x="214308" y="88058"/>
                        <a:pt x="214308" y="85939"/>
                      </a:cubicBezTo>
                      <a:cubicBezTo>
                        <a:pt x="214308" y="83819"/>
                        <a:pt x="213367" y="81808"/>
                        <a:pt x="211739" y="80451"/>
                      </a:cubicBezTo>
                      <a:close/>
                      <a:moveTo>
                        <a:pt x="138167" y="647"/>
                      </a:moveTo>
                      <a:cubicBezTo>
                        <a:pt x="136386" y="0"/>
                        <a:pt x="134421" y="87"/>
                        <a:pt x="132705" y="890"/>
                      </a:cubicBezTo>
                      <a:cubicBezTo>
                        <a:pt x="130988" y="1692"/>
                        <a:pt x="129660" y="3143"/>
                        <a:pt x="129014" y="4924"/>
                      </a:cubicBezTo>
                      <a:lnTo>
                        <a:pt x="71864" y="162086"/>
                      </a:lnTo>
                      <a:cubicBezTo>
                        <a:pt x="71215" y="163868"/>
                        <a:pt x="71301" y="165836"/>
                        <a:pt x="72103" y="167554"/>
                      </a:cubicBezTo>
                      <a:cubicBezTo>
                        <a:pt x="72905" y="169273"/>
                        <a:pt x="74358" y="170602"/>
                        <a:pt x="76141" y="171248"/>
                      </a:cubicBezTo>
                      <a:cubicBezTo>
                        <a:pt x="76924" y="171526"/>
                        <a:pt x="77748" y="171668"/>
                        <a:pt x="78579" y="171668"/>
                      </a:cubicBezTo>
                      <a:cubicBezTo>
                        <a:pt x="81585" y="171668"/>
                        <a:pt x="84269" y="169787"/>
                        <a:pt x="85294" y="166962"/>
                      </a:cubicBezTo>
                      <a:lnTo>
                        <a:pt x="142444" y="9800"/>
                      </a:lnTo>
                      <a:cubicBezTo>
                        <a:pt x="143091" y="8019"/>
                        <a:pt x="143003" y="6054"/>
                        <a:pt x="142201" y="4337"/>
                      </a:cubicBezTo>
                      <a:cubicBezTo>
                        <a:pt x="141399" y="2621"/>
                        <a:pt x="139948" y="1293"/>
                        <a:pt x="138167" y="647"/>
                      </a:cubicBezTo>
                      <a:close/>
                    </a:path>
                  </a:pathLst>
                </a:custGeom>
                <a:solidFill>
                  <a:srgbClr val="1565C0"/>
                </a:solidFill>
                <a:ln>
                  <a:noFill/>
                </a:ln>
              </p:spPr>
            </p:sp>
          </p:grpSp>
          <p:sp>
            <p:nvSpPr>
              <p:cNvPr id="40" name="TextBox 40"/>
              <p:cNvSpPr txBox="1"/>
              <p:nvPr/>
            </p:nvSpPr>
            <p:spPr>
              <a:xfrm>
                <a:off x="1173480" y="3626168"/>
                <a:ext cx="1168432"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区内逻辑审查</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822960" y="396621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检查修改代码块的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822960" y="4204335"/>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内部逻辑正确性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2" name="Group 52"/>
            <p:cNvGrpSpPr/>
            <p:nvPr/>
          </p:nvGrpSpPr>
          <p:grpSpPr>
            <a:xfrm>
              <a:off x="3429000" y="3333750"/>
              <a:ext cx="2667000" cy="1238250"/>
              <a:chOff x="3429000" y="3333750"/>
              <a:chExt cx="2667000" cy="1238250"/>
            </a:xfrm>
          </p:grpSpPr>
          <p:sp>
            <p:nvSpPr>
              <p:cNvPr id="44" name="Rectangle 44"/>
              <p:cNvSpPr/>
              <p:nvPr/>
            </p:nvSpPr>
            <p:spPr>
              <a:xfrm>
                <a:off x="3429000" y="3333750"/>
                <a:ext cx="2667000" cy="1238250"/>
              </a:xfrm>
              <a:prstGeom prst="roundRect">
                <a:avLst>
                  <a:gd name="adj" fmla="val 9231"/>
                </a:avLst>
              </a:prstGeom>
              <a:solidFill>
                <a:srgbClr val="FFFFFF"/>
              </a:solidFill>
              <a:ln>
                <a:noFill/>
              </a:ln>
            </p:spPr>
          </p:sp>
          <p:sp>
            <p:nvSpPr>
              <p:cNvPr id="45" name="Rectangle 45"/>
              <p:cNvSpPr/>
              <p:nvPr/>
            </p:nvSpPr>
            <p:spPr>
              <a:xfrm>
                <a:off x="3429000" y="3333750"/>
                <a:ext cx="2667000" cy="38100"/>
              </a:xfrm>
              <a:prstGeom prst="roundRect">
                <a:avLst>
                  <a:gd name="adj" fmla="val 50000"/>
                </a:avLst>
              </a:prstGeom>
              <a:solidFill>
                <a:srgbClr val="00838F"/>
              </a:solidFill>
              <a:ln>
                <a:noFill/>
              </a:ln>
            </p:spPr>
          </p:sp>
          <p:grpSp>
            <p:nvGrpSpPr>
              <p:cNvPr id="48" name="Group 48"/>
              <p:cNvGrpSpPr/>
              <p:nvPr/>
            </p:nvGrpSpPr>
            <p:grpSpPr>
              <a:xfrm>
                <a:off x="3709286" y="3643310"/>
                <a:ext cx="200729" cy="129292"/>
                <a:chOff x="3709286" y="3643310"/>
                <a:chExt cx="200729" cy="129292"/>
              </a:xfrm>
            </p:grpSpPr>
            <p:sp>
              <p:nvSpPr>
                <p:cNvPr id="46" name="Freeform 46"/>
                <p:cNvSpPr/>
                <p:nvPr/>
              </p:nvSpPr>
              <p:spPr>
                <a:xfrm>
                  <a:off x="3845719" y="3650456"/>
                  <a:ext cx="57150" cy="57150"/>
                </a:xfrm>
                <a:custGeom>
                  <a:avLst/>
                  <a:gdLst/>
                  <a:ahLst/>
                  <a:cxnLst/>
                  <a:rect l="l" t="t" r="r" b="b"/>
                  <a:pathLst>
                    <a:path w="57150" h="57150">
                      <a:moveTo>
                        <a:pt x="57150" y="0"/>
                      </a:moveTo>
                      <a:lnTo>
                        <a:pt x="57150" y="57150"/>
                      </a:lnTo>
                      <a:lnTo>
                        <a:pt x="0" y="0"/>
                      </a:lnTo>
                      <a:close/>
                    </a:path>
                  </a:pathLst>
                </a:custGeom>
                <a:solidFill>
                  <a:srgbClr val="00838F">
                    <a:alpha val="20000"/>
                  </a:srgbClr>
                </a:solidFill>
                <a:ln>
                  <a:noFill/>
                </a:ln>
              </p:spPr>
            </p:sp>
            <p:sp>
              <p:nvSpPr>
                <p:cNvPr id="47" name="Freeform 47"/>
                <p:cNvSpPr/>
                <p:nvPr/>
              </p:nvSpPr>
              <p:spPr>
                <a:xfrm>
                  <a:off x="3709286" y="3643310"/>
                  <a:ext cx="200729" cy="129292"/>
                </a:xfrm>
                <a:custGeom>
                  <a:avLst/>
                  <a:gdLst/>
                  <a:ahLst/>
                  <a:cxnLst/>
                  <a:rect l="l" t="t" r="r" b="b"/>
                  <a:pathLst>
                    <a:path w="200729" h="129292">
                      <a:moveTo>
                        <a:pt x="193583" y="2"/>
                      </a:moveTo>
                      <a:lnTo>
                        <a:pt x="136433" y="2"/>
                      </a:lnTo>
                      <a:cubicBezTo>
                        <a:pt x="133542" y="0"/>
                        <a:pt x="130934" y="1741"/>
                        <a:pt x="129828" y="4411"/>
                      </a:cubicBezTo>
                      <a:cubicBezTo>
                        <a:pt x="128721" y="7082"/>
                        <a:pt x="129333" y="10157"/>
                        <a:pt x="131379" y="12200"/>
                      </a:cubicBezTo>
                      <a:lnTo>
                        <a:pt x="154909" y="35721"/>
                      </a:lnTo>
                      <a:lnTo>
                        <a:pt x="107858" y="82772"/>
                      </a:lnTo>
                      <a:lnTo>
                        <a:pt x="77194" y="52098"/>
                      </a:lnTo>
                      <a:cubicBezTo>
                        <a:pt x="75854" y="50757"/>
                        <a:pt x="74035" y="50003"/>
                        <a:pt x="72139" y="50003"/>
                      </a:cubicBezTo>
                      <a:cubicBezTo>
                        <a:pt x="70243" y="50003"/>
                        <a:pt x="68425" y="50757"/>
                        <a:pt x="67085" y="52098"/>
                      </a:cubicBezTo>
                      <a:lnTo>
                        <a:pt x="2791" y="116392"/>
                      </a:lnTo>
                      <a:cubicBezTo>
                        <a:pt x="0" y="119183"/>
                        <a:pt x="0" y="123709"/>
                        <a:pt x="2791" y="126500"/>
                      </a:cubicBezTo>
                      <a:cubicBezTo>
                        <a:pt x="5583" y="129292"/>
                        <a:pt x="10108" y="129292"/>
                        <a:pt x="12900" y="126500"/>
                      </a:cubicBezTo>
                      <a:lnTo>
                        <a:pt x="72139" y="67252"/>
                      </a:lnTo>
                      <a:lnTo>
                        <a:pt x="102804" y="97925"/>
                      </a:lnTo>
                      <a:cubicBezTo>
                        <a:pt x="104144" y="99267"/>
                        <a:pt x="105962" y="100020"/>
                        <a:pt x="107858" y="100020"/>
                      </a:cubicBezTo>
                      <a:cubicBezTo>
                        <a:pt x="109754" y="100020"/>
                        <a:pt x="111572" y="99267"/>
                        <a:pt x="112912" y="97925"/>
                      </a:cubicBezTo>
                      <a:lnTo>
                        <a:pt x="165008" y="45821"/>
                      </a:lnTo>
                      <a:lnTo>
                        <a:pt x="188529" y="69350"/>
                      </a:lnTo>
                      <a:cubicBezTo>
                        <a:pt x="190572" y="71396"/>
                        <a:pt x="193647" y="72008"/>
                        <a:pt x="196318" y="70901"/>
                      </a:cubicBezTo>
                      <a:cubicBezTo>
                        <a:pt x="198989" y="69795"/>
                        <a:pt x="200729" y="67187"/>
                        <a:pt x="200727" y="64296"/>
                      </a:cubicBezTo>
                      <a:lnTo>
                        <a:pt x="200727" y="7146"/>
                      </a:lnTo>
                      <a:cubicBezTo>
                        <a:pt x="200727" y="3201"/>
                        <a:pt x="197528" y="2"/>
                        <a:pt x="193583" y="2"/>
                      </a:cubicBezTo>
                      <a:close/>
                      <a:moveTo>
                        <a:pt x="186439" y="47053"/>
                      </a:moveTo>
                      <a:lnTo>
                        <a:pt x="153676" y="14290"/>
                      </a:lnTo>
                      <a:lnTo>
                        <a:pt x="186439" y="14290"/>
                      </a:lnTo>
                      <a:close/>
                    </a:path>
                  </a:pathLst>
                </a:custGeom>
                <a:solidFill>
                  <a:srgbClr val="00838F"/>
                </a:solidFill>
                <a:ln>
                  <a:noFill/>
                </a:ln>
              </p:spPr>
            </p:sp>
          </p:grpSp>
          <p:sp>
            <p:nvSpPr>
              <p:cNvPr id="49" name="TextBox 49"/>
              <p:cNvSpPr txBox="1"/>
              <p:nvPr/>
            </p:nvSpPr>
            <p:spPr>
              <a:xfrm>
                <a:off x="4030980" y="3626168"/>
                <a:ext cx="135745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输出侧影响分析</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3680460" y="3966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检查修改对下游</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3680460" y="4204335"/>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模块的影响</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61" name="Group 61"/>
            <p:cNvGrpSpPr/>
            <p:nvPr/>
          </p:nvGrpSpPr>
          <p:grpSpPr>
            <a:xfrm>
              <a:off x="6286500" y="3333750"/>
              <a:ext cx="2667000" cy="1238250"/>
              <a:chOff x="6286500" y="3333750"/>
              <a:chExt cx="2667000" cy="1238250"/>
            </a:xfrm>
          </p:grpSpPr>
          <p:sp>
            <p:nvSpPr>
              <p:cNvPr id="53" name="Rectangle 53"/>
              <p:cNvSpPr/>
              <p:nvPr/>
            </p:nvSpPr>
            <p:spPr>
              <a:xfrm>
                <a:off x="6286500" y="3333750"/>
                <a:ext cx="2667000" cy="1238250"/>
              </a:xfrm>
              <a:prstGeom prst="roundRect">
                <a:avLst>
                  <a:gd name="adj" fmla="val 9231"/>
                </a:avLst>
              </a:prstGeom>
              <a:solidFill>
                <a:srgbClr val="FFFFFF"/>
              </a:solidFill>
              <a:ln>
                <a:noFill/>
              </a:ln>
            </p:spPr>
          </p:sp>
          <p:sp>
            <p:nvSpPr>
              <p:cNvPr id="54" name="Rectangle 54"/>
              <p:cNvSpPr/>
              <p:nvPr/>
            </p:nvSpPr>
            <p:spPr>
              <a:xfrm>
                <a:off x="6286500" y="3333750"/>
                <a:ext cx="2667000" cy="38100"/>
              </a:xfrm>
              <a:prstGeom prst="roundRect">
                <a:avLst>
                  <a:gd name="adj" fmla="val 50000"/>
                </a:avLst>
              </a:prstGeom>
              <a:solidFill>
                <a:srgbClr val="1565C0"/>
              </a:solidFill>
              <a:ln>
                <a:noFill/>
              </a:ln>
            </p:spPr>
          </p:sp>
          <p:grpSp>
            <p:nvGrpSpPr>
              <p:cNvPr id="57" name="Group 57"/>
              <p:cNvGrpSpPr/>
              <p:nvPr/>
            </p:nvGrpSpPr>
            <p:grpSpPr>
              <a:xfrm>
                <a:off x="6566505" y="3613721"/>
                <a:ext cx="194566" cy="194600"/>
                <a:chOff x="6566505" y="3613721"/>
                <a:chExt cx="194566" cy="194600"/>
              </a:xfrm>
            </p:grpSpPr>
            <p:sp>
              <p:nvSpPr>
                <p:cNvPr id="55" name="Freeform 55"/>
                <p:cNvSpPr/>
                <p:nvPr/>
              </p:nvSpPr>
              <p:spPr>
                <a:xfrm>
                  <a:off x="6581775" y="362902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1565C0">
                    <a:alpha val="20000"/>
                  </a:srgbClr>
                </a:solidFill>
                <a:ln>
                  <a:noFill/>
                </a:ln>
              </p:spPr>
            </p:sp>
            <p:sp>
              <p:nvSpPr>
                <p:cNvPr id="56" name="Freeform 56"/>
                <p:cNvSpPr/>
                <p:nvPr/>
              </p:nvSpPr>
              <p:spPr>
                <a:xfrm>
                  <a:off x="6566505" y="3613721"/>
                  <a:ext cx="194566" cy="194600"/>
                </a:xfrm>
                <a:custGeom>
                  <a:avLst/>
                  <a:gdLst/>
                  <a:ahLst/>
                  <a:cxnLst/>
                  <a:rect l="l" t="t" r="r" b="b"/>
                  <a:pathLst>
                    <a:path w="194566" h="194600">
                      <a:moveTo>
                        <a:pt x="191774" y="181700"/>
                      </a:moveTo>
                      <a:lnTo>
                        <a:pt x="147072" y="136998"/>
                      </a:lnTo>
                      <a:cubicBezTo>
                        <a:pt x="174041" y="104654"/>
                        <a:pt x="170798" y="56818"/>
                        <a:pt x="139712" y="28409"/>
                      </a:cubicBezTo>
                      <a:cubicBezTo>
                        <a:pt x="108625" y="0"/>
                        <a:pt x="60692" y="1067"/>
                        <a:pt x="30901" y="30832"/>
                      </a:cubicBezTo>
                      <a:cubicBezTo>
                        <a:pt x="1110" y="60597"/>
                        <a:pt x="0" y="108529"/>
                        <a:pt x="28382" y="139641"/>
                      </a:cubicBezTo>
                      <a:cubicBezTo>
                        <a:pt x="56763" y="170752"/>
                        <a:pt x="104596" y="174037"/>
                        <a:pt x="136964" y="147097"/>
                      </a:cubicBezTo>
                      <a:lnTo>
                        <a:pt x="181666" y="191808"/>
                      </a:lnTo>
                      <a:cubicBezTo>
                        <a:pt x="184457" y="194600"/>
                        <a:pt x="188983" y="194600"/>
                        <a:pt x="191774" y="191808"/>
                      </a:cubicBezTo>
                      <a:cubicBezTo>
                        <a:pt x="194566" y="189017"/>
                        <a:pt x="194566" y="184491"/>
                        <a:pt x="191774" y="181700"/>
                      </a:cubicBezTo>
                      <a:close/>
                      <a:moveTo>
                        <a:pt x="22414" y="86742"/>
                      </a:moveTo>
                      <a:cubicBezTo>
                        <a:pt x="22414" y="51233"/>
                        <a:pt x="51199" y="22448"/>
                        <a:pt x="86707" y="22448"/>
                      </a:cubicBezTo>
                      <a:cubicBezTo>
                        <a:pt x="122216" y="22448"/>
                        <a:pt x="151001" y="51233"/>
                        <a:pt x="151001" y="86742"/>
                      </a:cubicBezTo>
                      <a:cubicBezTo>
                        <a:pt x="151001" y="122250"/>
                        <a:pt x="122216" y="151035"/>
                        <a:pt x="86707" y="151035"/>
                      </a:cubicBezTo>
                      <a:cubicBezTo>
                        <a:pt x="51215" y="150996"/>
                        <a:pt x="22453" y="122234"/>
                        <a:pt x="22414" y="86742"/>
                      </a:cubicBezTo>
                      <a:close/>
                    </a:path>
                  </a:pathLst>
                </a:custGeom>
                <a:solidFill>
                  <a:srgbClr val="1565C0"/>
                </a:solidFill>
                <a:ln>
                  <a:noFill/>
                </a:ln>
              </p:spPr>
            </p:sp>
          </p:grpSp>
          <p:sp>
            <p:nvSpPr>
              <p:cNvPr id="58" name="TextBox 58"/>
              <p:cNvSpPr txBox="1"/>
              <p:nvPr/>
            </p:nvSpPr>
            <p:spPr>
              <a:xfrm>
                <a:off x="6888480" y="3626168"/>
                <a:ext cx="135745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输入侧依赖检查</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6537960" y="3966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检查修改依赖的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6537960" y="4204335"/>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上游是否发生变更</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0" name="Group 70"/>
            <p:cNvGrpSpPr/>
            <p:nvPr/>
          </p:nvGrpSpPr>
          <p:grpSpPr>
            <a:xfrm>
              <a:off x="9144000" y="3333750"/>
              <a:ext cx="2476500" cy="1238250"/>
              <a:chOff x="9144000" y="3333750"/>
              <a:chExt cx="2476500" cy="1238250"/>
            </a:xfrm>
          </p:grpSpPr>
          <p:sp>
            <p:nvSpPr>
              <p:cNvPr id="62" name="Rectangle 62"/>
              <p:cNvSpPr/>
              <p:nvPr/>
            </p:nvSpPr>
            <p:spPr>
              <a:xfrm>
                <a:off x="9144000" y="3333750"/>
                <a:ext cx="2476500" cy="1238250"/>
              </a:xfrm>
              <a:prstGeom prst="roundRect">
                <a:avLst>
                  <a:gd name="adj" fmla="val 9231"/>
                </a:avLst>
              </a:prstGeom>
              <a:solidFill>
                <a:srgbClr val="FFFFFF"/>
              </a:solidFill>
              <a:ln>
                <a:noFill/>
              </a:ln>
            </p:spPr>
          </p:sp>
          <p:sp>
            <p:nvSpPr>
              <p:cNvPr id="63" name="Rectangle 63"/>
              <p:cNvSpPr/>
              <p:nvPr/>
            </p:nvSpPr>
            <p:spPr>
              <a:xfrm>
                <a:off x="9144000" y="3333750"/>
                <a:ext cx="2476500" cy="38100"/>
              </a:xfrm>
              <a:prstGeom prst="roundRect">
                <a:avLst>
                  <a:gd name="adj" fmla="val 50000"/>
                </a:avLst>
              </a:prstGeom>
              <a:solidFill>
                <a:srgbClr val="FF6F00"/>
              </a:solidFill>
              <a:ln>
                <a:noFill/>
              </a:ln>
            </p:spPr>
          </p:sp>
          <p:grpSp>
            <p:nvGrpSpPr>
              <p:cNvPr id="66" name="Group 66"/>
              <p:cNvGrpSpPr/>
              <p:nvPr/>
            </p:nvGrpSpPr>
            <p:grpSpPr>
              <a:xfrm>
                <a:off x="9417293" y="3612423"/>
                <a:ext cx="193434" cy="188052"/>
                <a:chOff x="9417293" y="3612423"/>
                <a:chExt cx="193434" cy="188052"/>
              </a:xfrm>
            </p:grpSpPr>
            <p:sp>
              <p:nvSpPr>
                <p:cNvPr id="64" name="Freeform 64"/>
                <p:cNvSpPr/>
                <p:nvPr/>
              </p:nvSpPr>
              <p:spPr>
                <a:xfrm>
                  <a:off x="9423203" y="3620087"/>
                  <a:ext cx="180378" cy="173244"/>
                </a:xfrm>
                <a:custGeom>
                  <a:avLst/>
                  <a:gdLst/>
                  <a:ahLst/>
                  <a:cxnLst/>
                  <a:rect l="l" t="t" r="r" b="b"/>
                  <a:pathLst>
                    <a:path w="180378" h="173244">
                      <a:moveTo>
                        <a:pt x="169662" y="130382"/>
                      </a:moveTo>
                      <a:cubicBezTo>
                        <a:pt x="173368" y="130385"/>
                        <a:pt x="177028" y="129565"/>
                        <a:pt x="180378" y="127980"/>
                      </a:cubicBezTo>
                      <a:lnTo>
                        <a:pt x="180378" y="166101"/>
                      </a:lnTo>
                      <a:cubicBezTo>
                        <a:pt x="180378" y="170046"/>
                        <a:pt x="177180" y="173244"/>
                        <a:pt x="173234" y="173244"/>
                      </a:cubicBezTo>
                      <a:lnTo>
                        <a:pt x="44647" y="173244"/>
                      </a:lnTo>
                      <a:cubicBezTo>
                        <a:pt x="40701" y="173244"/>
                        <a:pt x="37503" y="170046"/>
                        <a:pt x="37503" y="166101"/>
                      </a:cubicBezTo>
                      <a:lnTo>
                        <a:pt x="37503" y="127980"/>
                      </a:lnTo>
                      <a:cubicBezTo>
                        <a:pt x="26997" y="132951"/>
                        <a:pt x="14451" y="130027"/>
                        <a:pt x="7226" y="120923"/>
                      </a:cubicBezTo>
                      <a:cubicBezTo>
                        <a:pt x="0" y="111820"/>
                        <a:pt x="0" y="98938"/>
                        <a:pt x="7226" y="89834"/>
                      </a:cubicBezTo>
                      <a:cubicBezTo>
                        <a:pt x="14451" y="80731"/>
                        <a:pt x="26997" y="77807"/>
                        <a:pt x="37503" y="82778"/>
                      </a:cubicBezTo>
                      <a:lnTo>
                        <a:pt x="37503" y="44657"/>
                      </a:lnTo>
                      <a:cubicBezTo>
                        <a:pt x="37503" y="40711"/>
                        <a:pt x="40701" y="37513"/>
                        <a:pt x="44647" y="37513"/>
                      </a:cubicBezTo>
                      <a:lnTo>
                        <a:pt x="86339" y="37513"/>
                      </a:lnTo>
                      <a:cubicBezTo>
                        <a:pt x="81363" y="27007"/>
                        <a:pt x="84284" y="14457"/>
                        <a:pt x="93389" y="7229"/>
                      </a:cubicBezTo>
                      <a:cubicBezTo>
                        <a:pt x="102493" y="0"/>
                        <a:pt x="115379" y="0"/>
                        <a:pt x="124483" y="7229"/>
                      </a:cubicBezTo>
                      <a:cubicBezTo>
                        <a:pt x="133588" y="14457"/>
                        <a:pt x="136509" y="27007"/>
                        <a:pt x="131533" y="37513"/>
                      </a:cubicBezTo>
                      <a:lnTo>
                        <a:pt x="173234" y="37513"/>
                      </a:lnTo>
                      <a:cubicBezTo>
                        <a:pt x="177180" y="37513"/>
                        <a:pt x="180378" y="40711"/>
                        <a:pt x="180378" y="44657"/>
                      </a:cubicBezTo>
                      <a:lnTo>
                        <a:pt x="180378" y="82778"/>
                      </a:lnTo>
                      <a:cubicBezTo>
                        <a:pt x="171104" y="78390"/>
                        <a:pt x="160091" y="80113"/>
                        <a:pt x="152600" y="87123"/>
                      </a:cubicBezTo>
                      <a:cubicBezTo>
                        <a:pt x="145109" y="94134"/>
                        <a:pt x="142661" y="105009"/>
                        <a:pt x="146425" y="114553"/>
                      </a:cubicBezTo>
                      <a:cubicBezTo>
                        <a:pt x="150190" y="124097"/>
                        <a:pt x="159403" y="130373"/>
                        <a:pt x="169662" y="130382"/>
                      </a:cubicBezTo>
                      <a:close/>
                    </a:path>
                  </a:pathLst>
                </a:custGeom>
                <a:solidFill>
                  <a:srgbClr val="FF6F00">
                    <a:alpha val="20000"/>
                  </a:srgbClr>
                </a:solidFill>
                <a:ln>
                  <a:noFill/>
                </a:ln>
              </p:spPr>
            </p:sp>
            <p:sp>
              <p:nvSpPr>
                <p:cNvPr id="65" name="Freeform 65"/>
                <p:cNvSpPr/>
                <p:nvPr/>
              </p:nvSpPr>
              <p:spPr>
                <a:xfrm>
                  <a:off x="9417293" y="3612423"/>
                  <a:ext cx="193434" cy="188052"/>
                </a:xfrm>
                <a:custGeom>
                  <a:avLst/>
                  <a:gdLst/>
                  <a:ahLst/>
                  <a:cxnLst/>
                  <a:rect l="l" t="t" r="r" b="b"/>
                  <a:pathLst>
                    <a:path w="193434" h="188052">
                      <a:moveTo>
                        <a:pt x="190101" y="129598"/>
                      </a:moveTo>
                      <a:cubicBezTo>
                        <a:pt x="188031" y="128292"/>
                        <a:pt x="185437" y="128137"/>
                        <a:pt x="183226" y="129187"/>
                      </a:cubicBezTo>
                      <a:cubicBezTo>
                        <a:pt x="175721" y="132736"/>
                        <a:pt x="166761" y="130647"/>
                        <a:pt x="161601" y="124145"/>
                      </a:cubicBezTo>
                      <a:cubicBezTo>
                        <a:pt x="156441" y="117643"/>
                        <a:pt x="156441" y="108442"/>
                        <a:pt x="161601" y="101940"/>
                      </a:cubicBezTo>
                      <a:cubicBezTo>
                        <a:pt x="166761" y="95438"/>
                        <a:pt x="175721" y="93349"/>
                        <a:pt x="183226" y="96898"/>
                      </a:cubicBezTo>
                      <a:cubicBezTo>
                        <a:pt x="185439" y="97948"/>
                        <a:pt x="188037" y="97791"/>
                        <a:pt x="190107" y="96481"/>
                      </a:cubicBezTo>
                      <a:cubicBezTo>
                        <a:pt x="192178" y="95171"/>
                        <a:pt x="193433" y="92892"/>
                        <a:pt x="193432" y="90441"/>
                      </a:cubicBezTo>
                      <a:lnTo>
                        <a:pt x="193432" y="52321"/>
                      </a:lnTo>
                      <a:cubicBezTo>
                        <a:pt x="193432" y="44430"/>
                        <a:pt x="187035" y="38033"/>
                        <a:pt x="179145" y="38033"/>
                      </a:cubicBezTo>
                      <a:lnTo>
                        <a:pt x="146801" y="38033"/>
                      </a:lnTo>
                      <a:cubicBezTo>
                        <a:pt x="146934" y="36847"/>
                        <a:pt x="147000" y="35655"/>
                        <a:pt x="146998" y="34461"/>
                      </a:cubicBezTo>
                      <a:cubicBezTo>
                        <a:pt x="146983" y="25585"/>
                        <a:pt x="143314" y="17107"/>
                        <a:pt x="136854" y="11021"/>
                      </a:cubicBezTo>
                      <a:cubicBezTo>
                        <a:pt x="127818" y="2535"/>
                        <a:pt x="114707" y="0"/>
                        <a:pt x="103160" y="4507"/>
                      </a:cubicBezTo>
                      <a:cubicBezTo>
                        <a:pt x="91612" y="9013"/>
                        <a:pt x="83684" y="19758"/>
                        <a:pt x="82784" y="32122"/>
                      </a:cubicBezTo>
                      <a:cubicBezTo>
                        <a:pt x="82647" y="34092"/>
                        <a:pt x="82689" y="36070"/>
                        <a:pt x="82909" y="38033"/>
                      </a:cubicBezTo>
                      <a:lnTo>
                        <a:pt x="50557" y="38033"/>
                      </a:lnTo>
                      <a:cubicBezTo>
                        <a:pt x="46768" y="38033"/>
                        <a:pt x="43134" y="39538"/>
                        <a:pt x="40454" y="42218"/>
                      </a:cubicBezTo>
                      <a:cubicBezTo>
                        <a:pt x="37775" y="44897"/>
                        <a:pt x="36270" y="48531"/>
                        <a:pt x="36270" y="52321"/>
                      </a:cubicBezTo>
                      <a:lnTo>
                        <a:pt x="36270" y="81092"/>
                      </a:lnTo>
                      <a:cubicBezTo>
                        <a:pt x="35084" y="80959"/>
                        <a:pt x="33891" y="80893"/>
                        <a:pt x="32698" y="80896"/>
                      </a:cubicBezTo>
                      <a:cubicBezTo>
                        <a:pt x="23824" y="80910"/>
                        <a:pt x="15349" y="84579"/>
                        <a:pt x="9266" y="91040"/>
                      </a:cubicBezTo>
                      <a:cubicBezTo>
                        <a:pt x="3138" y="97513"/>
                        <a:pt x="0" y="106257"/>
                        <a:pt x="613" y="115150"/>
                      </a:cubicBezTo>
                      <a:cubicBezTo>
                        <a:pt x="1672" y="131163"/>
                        <a:pt x="14354" y="143956"/>
                        <a:pt x="30358" y="145154"/>
                      </a:cubicBezTo>
                      <a:cubicBezTo>
                        <a:pt x="32328" y="145291"/>
                        <a:pt x="34307" y="145249"/>
                        <a:pt x="36270" y="145029"/>
                      </a:cubicBezTo>
                      <a:lnTo>
                        <a:pt x="36270" y="173764"/>
                      </a:lnTo>
                      <a:cubicBezTo>
                        <a:pt x="36270" y="181655"/>
                        <a:pt x="42666" y="188052"/>
                        <a:pt x="50557" y="188052"/>
                      </a:cubicBezTo>
                      <a:lnTo>
                        <a:pt x="179145" y="188052"/>
                      </a:lnTo>
                      <a:cubicBezTo>
                        <a:pt x="187035" y="188052"/>
                        <a:pt x="193432" y="181655"/>
                        <a:pt x="193432" y="173764"/>
                      </a:cubicBezTo>
                      <a:lnTo>
                        <a:pt x="193432" y="135643"/>
                      </a:lnTo>
                      <a:cubicBezTo>
                        <a:pt x="193434" y="133190"/>
                        <a:pt x="192176" y="130908"/>
                        <a:pt x="190101" y="129598"/>
                      </a:cubicBezTo>
                      <a:close/>
                      <a:moveTo>
                        <a:pt x="179145" y="173764"/>
                      </a:moveTo>
                      <a:lnTo>
                        <a:pt x="50557" y="173764"/>
                      </a:lnTo>
                      <a:lnTo>
                        <a:pt x="50557" y="135643"/>
                      </a:lnTo>
                      <a:cubicBezTo>
                        <a:pt x="50558" y="133193"/>
                        <a:pt x="49303" y="130914"/>
                        <a:pt x="47232" y="129604"/>
                      </a:cubicBezTo>
                      <a:cubicBezTo>
                        <a:pt x="45162" y="128294"/>
                        <a:pt x="42564" y="128137"/>
                        <a:pt x="40351" y="129187"/>
                      </a:cubicBezTo>
                      <a:cubicBezTo>
                        <a:pt x="32846" y="132736"/>
                        <a:pt x="23886" y="130647"/>
                        <a:pt x="18726" y="124145"/>
                      </a:cubicBezTo>
                      <a:cubicBezTo>
                        <a:pt x="13566" y="117643"/>
                        <a:pt x="13566" y="108442"/>
                        <a:pt x="18726" y="101940"/>
                      </a:cubicBezTo>
                      <a:cubicBezTo>
                        <a:pt x="23886" y="95438"/>
                        <a:pt x="32846" y="93349"/>
                        <a:pt x="40351" y="96898"/>
                      </a:cubicBezTo>
                      <a:cubicBezTo>
                        <a:pt x="42564" y="97948"/>
                        <a:pt x="45162" y="97791"/>
                        <a:pt x="47232" y="96481"/>
                      </a:cubicBezTo>
                      <a:cubicBezTo>
                        <a:pt x="49303" y="95171"/>
                        <a:pt x="50558" y="92892"/>
                        <a:pt x="50557" y="90441"/>
                      </a:cubicBezTo>
                      <a:lnTo>
                        <a:pt x="50557" y="52321"/>
                      </a:lnTo>
                      <a:lnTo>
                        <a:pt x="92250" y="52321"/>
                      </a:lnTo>
                      <a:cubicBezTo>
                        <a:pt x="94700" y="52321"/>
                        <a:pt x="96980" y="51066"/>
                        <a:pt x="98290" y="48996"/>
                      </a:cubicBezTo>
                      <a:cubicBezTo>
                        <a:pt x="99599" y="46925"/>
                        <a:pt x="99757" y="44327"/>
                        <a:pt x="98706" y="42114"/>
                      </a:cubicBezTo>
                      <a:cubicBezTo>
                        <a:pt x="95157" y="34610"/>
                        <a:pt x="97246" y="25650"/>
                        <a:pt x="103749" y="20489"/>
                      </a:cubicBezTo>
                      <a:cubicBezTo>
                        <a:pt x="110251" y="15329"/>
                        <a:pt x="119451" y="15329"/>
                        <a:pt x="125953" y="20489"/>
                      </a:cubicBezTo>
                      <a:cubicBezTo>
                        <a:pt x="132455" y="25650"/>
                        <a:pt x="134545" y="34610"/>
                        <a:pt x="130996" y="42114"/>
                      </a:cubicBezTo>
                      <a:cubicBezTo>
                        <a:pt x="129945" y="44327"/>
                        <a:pt x="130103" y="46925"/>
                        <a:pt x="131412" y="48996"/>
                      </a:cubicBezTo>
                      <a:cubicBezTo>
                        <a:pt x="132722" y="51066"/>
                        <a:pt x="135002" y="52321"/>
                        <a:pt x="137452" y="52321"/>
                      </a:cubicBezTo>
                      <a:lnTo>
                        <a:pt x="179145" y="52321"/>
                      </a:lnTo>
                      <a:lnTo>
                        <a:pt x="179145" y="81101"/>
                      </a:lnTo>
                      <a:cubicBezTo>
                        <a:pt x="177182" y="80876"/>
                        <a:pt x="175203" y="80834"/>
                        <a:pt x="173233" y="80976"/>
                      </a:cubicBezTo>
                      <a:cubicBezTo>
                        <a:pt x="155951" y="82200"/>
                        <a:pt x="142748" y="96899"/>
                        <a:pt x="143378" y="114213"/>
                      </a:cubicBezTo>
                      <a:cubicBezTo>
                        <a:pt x="144009" y="131527"/>
                        <a:pt x="158247" y="145226"/>
                        <a:pt x="175573" y="145189"/>
                      </a:cubicBezTo>
                      <a:cubicBezTo>
                        <a:pt x="176766" y="145191"/>
                        <a:pt x="177959" y="145126"/>
                        <a:pt x="179145" y="144993"/>
                      </a:cubicBezTo>
                      <a:close/>
                    </a:path>
                  </a:pathLst>
                </a:custGeom>
                <a:solidFill>
                  <a:srgbClr val="FF6F00"/>
                </a:solidFill>
                <a:ln>
                  <a:noFill/>
                </a:ln>
              </p:spPr>
            </p:sp>
          </p:grpSp>
          <p:sp>
            <p:nvSpPr>
              <p:cNvPr id="67" name="TextBox 67"/>
              <p:cNvSpPr txBox="1"/>
              <p:nvPr/>
            </p:nvSpPr>
            <p:spPr>
              <a:xfrm>
                <a:off x="9745980" y="3626168"/>
                <a:ext cx="154647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共享状态风险评估</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68" name="TextBox 68"/>
              <p:cNvSpPr txBox="1"/>
              <p:nvPr/>
            </p:nvSpPr>
            <p:spPr>
              <a:xfrm>
                <a:off x="9395460" y="3966210"/>
                <a:ext cx="107861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检查共享变量/</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9395460" y="4204335"/>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全局状态安全性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74" name="Group 74"/>
          <p:cNvGrpSpPr/>
          <p:nvPr/>
        </p:nvGrpSpPr>
        <p:grpSpPr>
          <a:xfrm>
            <a:off x="571500" y="4810125"/>
            <a:ext cx="11049000" cy="476250"/>
            <a:chOff x="571500" y="4810125"/>
            <a:chExt cx="11049000" cy="476250"/>
          </a:xfrm>
        </p:grpSpPr>
        <p:sp>
          <p:nvSpPr>
            <p:cNvPr id="72" name="Rectangle 72"/>
            <p:cNvSpPr/>
            <p:nvPr/>
          </p:nvSpPr>
          <p:spPr>
            <a:xfrm>
              <a:off x="571500" y="4810125"/>
              <a:ext cx="11049000" cy="476250"/>
            </a:xfrm>
            <a:prstGeom prst="roundRect">
              <a:avLst>
                <a:gd name="adj" fmla="val 16000"/>
              </a:avLst>
            </a:prstGeom>
            <a:solidFill>
              <a:srgbClr val="1565C0">
                <a:alpha val="6000"/>
              </a:srgbClr>
            </a:solidFill>
            <a:ln>
              <a:noFill/>
            </a:ln>
          </p:spPr>
        </p:sp>
        <p:sp>
          <p:nvSpPr>
            <p:cNvPr id="73" name="TextBox 73"/>
            <p:cNvSpPr txBox="1"/>
            <p:nvPr/>
          </p:nvSpPr>
          <p:spPr>
            <a:xfrm>
              <a:off x="2560720" y="4975860"/>
              <a:ext cx="7070560"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核心洞察：一次评审不够 —— 将"评审→修复→再评审"作为迭代闭环，结构化方法论比经验更重要</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5" name="TextBox 7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6" name="图片 7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slide(fromBottom)">
                                      <p:cBhvr>
                                        <p:cTn id="7" dur="400"/>
                                        <p:tgtEl>
                                          <p:spTgt spid="32"/>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image">
                                      <p:cBhvr>
                                        <p:cTn id="11" dur="400"/>
                                        <p:tgtEl>
                                          <p:spTgt spid="7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71" grpId="0"/>
      <p:bldP spid="7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98801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五维度分类体系，实现测试全覆盖、零遗漏（一）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1" name="Group 21"/>
          <p:cNvGrpSpPr/>
          <p:nvPr/>
        </p:nvGrpSpPr>
        <p:grpSpPr>
          <a:xfrm>
            <a:off x="571500" y="857250"/>
            <a:ext cx="2095500" cy="2095500"/>
            <a:chOff x="571500" y="857250"/>
            <a:chExt cx="2095500" cy="2095500"/>
          </a:xfrm>
        </p:grpSpPr>
        <p:sp>
          <p:nvSpPr>
            <p:cNvPr id="10" name="Rectangle 10"/>
            <p:cNvSpPr/>
            <p:nvPr/>
          </p:nvSpPr>
          <p:spPr>
            <a:xfrm>
              <a:off x="571500" y="857250"/>
              <a:ext cx="2095500" cy="2095500"/>
            </a:xfrm>
            <a:prstGeom prst="roundRect">
              <a:avLst>
                <a:gd name="adj" fmla="val 5455"/>
              </a:avLst>
            </a:prstGeom>
            <a:solidFill>
              <a:srgbClr val="FFFFFF"/>
            </a:solidFill>
            <a:ln>
              <a:noFill/>
            </a:ln>
          </p:spPr>
        </p:sp>
        <p:sp>
          <p:nvSpPr>
            <p:cNvPr id="11" name="Rectangle 11"/>
            <p:cNvSpPr/>
            <p:nvPr/>
          </p:nvSpPr>
          <p:spPr>
            <a:xfrm>
              <a:off x="571500" y="857250"/>
              <a:ext cx="2095500" cy="38100"/>
            </a:xfrm>
            <a:prstGeom prst="roundRect">
              <a:avLst>
                <a:gd name="adj" fmla="val 50000"/>
              </a:avLst>
            </a:prstGeom>
            <a:solidFill>
              <a:srgbClr val="1565C0"/>
            </a:solidFill>
            <a:ln>
              <a:noFill/>
            </a:ln>
          </p:spPr>
        </p:sp>
        <p:sp>
          <p:nvSpPr>
            <p:cNvPr id="12" name="TextBox 12"/>
            <p:cNvSpPr txBox="1"/>
            <p:nvPr/>
          </p:nvSpPr>
          <p:spPr>
            <a:xfrm>
              <a:off x="860187" y="1044892"/>
              <a:ext cx="1518125"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维度1 合法性区分</a:t>
              </a:r>
              <a:endParaRPr lang="zh-CN" sz="1350" b="1" dirty="0">
                <a:solidFill>
                  <a:srgbClr val="1565C0"/>
                </a:solidFill>
                <a:latin typeface="Segoe UI" panose="020B0502040204020203"/>
                <a:ea typeface="微软雅黑" panose="020B0503020204020204" charset="-122"/>
                <a:cs typeface="Segoe UI" panose="020B0502040204020203"/>
              </a:endParaRPr>
            </a:p>
          </p:txBody>
        </p:sp>
        <p:grpSp>
          <p:nvGrpSpPr>
            <p:cNvPr id="15" name="Group 15"/>
            <p:cNvGrpSpPr/>
            <p:nvPr/>
          </p:nvGrpSpPr>
          <p:grpSpPr>
            <a:xfrm>
              <a:off x="1526381" y="1431131"/>
              <a:ext cx="185738" cy="185738"/>
              <a:chOff x="1526381" y="1431131"/>
              <a:chExt cx="185738" cy="185738"/>
            </a:xfrm>
          </p:grpSpPr>
          <p:sp>
            <p:nvSpPr>
              <p:cNvPr id="13" name="Freeform 13"/>
              <p:cNvSpPr/>
              <p:nvPr/>
            </p:nvSpPr>
            <p:spPr>
              <a:xfrm>
                <a:off x="1533525" y="1438275"/>
                <a:ext cx="171450" cy="171450"/>
              </a:xfrm>
              <a:custGeom>
                <a:avLst/>
                <a:gdLst/>
                <a:ahLst/>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1565C0">
                  <a:alpha val="20000"/>
                </a:srgbClr>
              </a:solidFill>
              <a:ln>
                <a:noFill/>
              </a:ln>
            </p:spPr>
          </p:sp>
          <p:sp>
            <p:nvSpPr>
              <p:cNvPr id="14" name="Freeform 14"/>
              <p:cNvSpPr/>
              <p:nvPr/>
            </p:nvSpPr>
            <p:spPr>
              <a:xfrm>
                <a:off x="1526381" y="1431131"/>
                <a:ext cx="185738" cy="185738"/>
              </a:xfrm>
              <a:custGeom>
                <a:avLst/>
                <a:gdLst/>
                <a:ahLst/>
                <a:cxnLst/>
                <a:rect l="l" t="t" r="r" b="b"/>
                <a:pathLst>
                  <a:path w="185738" h="185738">
                    <a:moveTo>
                      <a:pt x="133642" y="66383"/>
                    </a:moveTo>
                    <a:cubicBezTo>
                      <a:pt x="134983" y="67723"/>
                      <a:pt x="135737" y="69541"/>
                      <a:pt x="135737" y="71438"/>
                    </a:cubicBezTo>
                    <a:cubicBezTo>
                      <a:pt x="135737" y="73334"/>
                      <a:pt x="134983" y="75152"/>
                      <a:pt x="133642" y="76492"/>
                    </a:cubicBezTo>
                    <a:lnTo>
                      <a:pt x="83635" y="126498"/>
                    </a:lnTo>
                    <a:cubicBezTo>
                      <a:pt x="82296" y="127839"/>
                      <a:pt x="80477" y="128593"/>
                      <a:pt x="78581" y="128593"/>
                    </a:cubicBezTo>
                    <a:cubicBezTo>
                      <a:pt x="76685" y="128593"/>
                      <a:pt x="74867" y="127839"/>
                      <a:pt x="73527" y="126498"/>
                    </a:cubicBezTo>
                    <a:lnTo>
                      <a:pt x="52096" y="105067"/>
                    </a:lnTo>
                    <a:cubicBezTo>
                      <a:pt x="49304" y="102275"/>
                      <a:pt x="49304" y="97750"/>
                      <a:pt x="52096" y="94958"/>
                    </a:cubicBezTo>
                    <a:cubicBezTo>
                      <a:pt x="54887" y="92167"/>
                      <a:pt x="59413" y="92167"/>
                      <a:pt x="62204" y="94958"/>
                    </a:cubicBezTo>
                    <a:lnTo>
                      <a:pt x="78581" y="111344"/>
                    </a:lnTo>
                    <a:lnTo>
                      <a:pt x="123533" y="66383"/>
                    </a:lnTo>
                    <a:cubicBezTo>
                      <a:pt x="124873" y="65042"/>
                      <a:pt x="126691" y="64288"/>
                      <a:pt x="128588" y="64288"/>
                    </a:cubicBezTo>
                    <a:cubicBezTo>
                      <a:pt x="130484" y="64288"/>
                      <a:pt x="132302" y="65042"/>
                      <a:pt x="133642" y="66383"/>
                    </a:cubicBezTo>
                    <a:close/>
                    <a:moveTo>
                      <a:pt x="185738" y="92869"/>
                    </a:moveTo>
                    <a:cubicBezTo>
                      <a:pt x="185738" y="144159"/>
                      <a:pt x="144159" y="185738"/>
                      <a:pt x="92869" y="185738"/>
                    </a:cubicBezTo>
                    <a:cubicBezTo>
                      <a:pt x="41579" y="185738"/>
                      <a:pt x="0" y="144159"/>
                      <a:pt x="0" y="92869"/>
                    </a:cubicBezTo>
                    <a:cubicBezTo>
                      <a:pt x="0" y="41579"/>
                      <a:pt x="41579" y="0"/>
                      <a:pt x="92869" y="0"/>
                    </a:cubicBezTo>
                    <a:cubicBezTo>
                      <a:pt x="144136" y="54"/>
                      <a:pt x="185683" y="41601"/>
                      <a:pt x="185738" y="92869"/>
                    </a:cubicBezTo>
                    <a:close/>
                    <a:moveTo>
                      <a:pt x="171450" y="92869"/>
                    </a:moveTo>
                    <a:cubicBezTo>
                      <a:pt x="171450" y="49470"/>
                      <a:pt x="136268" y="14288"/>
                      <a:pt x="92869" y="14288"/>
                    </a:cubicBezTo>
                    <a:cubicBezTo>
                      <a:pt x="49470" y="14288"/>
                      <a:pt x="14288" y="49470"/>
                      <a:pt x="14288" y="92869"/>
                    </a:cubicBezTo>
                    <a:cubicBezTo>
                      <a:pt x="14288" y="136268"/>
                      <a:pt x="49470" y="171450"/>
                      <a:pt x="92869" y="171450"/>
                    </a:cubicBezTo>
                    <a:cubicBezTo>
                      <a:pt x="136248" y="171401"/>
                      <a:pt x="171401" y="136248"/>
                      <a:pt x="171450" y="92869"/>
                    </a:cubicBezTo>
                    <a:close/>
                  </a:path>
                </a:pathLst>
              </a:custGeom>
              <a:solidFill>
                <a:srgbClr val="1565C0"/>
              </a:solidFill>
              <a:ln>
                <a:noFill/>
              </a:ln>
            </p:spPr>
          </p:sp>
        </p:grpSp>
        <p:sp>
          <p:nvSpPr>
            <p:cNvPr id="16" name="TextBox 16"/>
            <p:cNvSpPr txBox="1"/>
            <p:nvPr/>
          </p:nvSpPr>
          <p:spPr>
            <a:xfrm>
              <a:off x="937260" y="1632585"/>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正向用例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938212" y="1878806"/>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验证正常功能</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57250" y="2143125"/>
              <a:ext cx="1524000" cy="9525"/>
            </a:xfrm>
            <a:prstGeom prst="rect">
              <a:avLst/>
            </a:prstGeom>
            <a:solidFill>
              <a:srgbClr val="CFD8DC"/>
            </a:solidFill>
            <a:ln>
              <a:noFill/>
            </a:ln>
          </p:spPr>
        </p:sp>
        <p:sp>
          <p:nvSpPr>
            <p:cNvPr id="19" name="TextBox 19"/>
            <p:cNvSpPr txBox="1"/>
            <p:nvPr/>
          </p:nvSpPr>
          <p:spPr>
            <a:xfrm>
              <a:off x="937260" y="22326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反向用例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8212" y="2478881"/>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验证异常处理</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2857500" y="857250"/>
            <a:ext cx="2095500" cy="2095500"/>
            <a:chOff x="2857500" y="857250"/>
            <a:chExt cx="2095500" cy="2095500"/>
          </a:xfrm>
        </p:grpSpPr>
        <p:sp>
          <p:nvSpPr>
            <p:cNvPr id="22" name="Rectangle 22"/>
            <p:cNvSpPr/>
            <p:nvPr/>
          </p:nvSpPr>
          <p:spPr>
            <a:xfrm>
              <a:off x="2857500" y="857250"/>
              <a:ext cx="2095500" cy="2095500"/>
            </a:xfrm>
            <a:prstGeom prst="roundRect">
              <a:avLst>
                <a:gd name="adj" fmla="val 5455"/>
              </a:avLst>
            </a:prstGeom>
            <a:solidFill>
              <a:srgbClr val="FFFFFF"/>
            </a:solidFill>
            <a:ln>
              <a:noFill/>
            </a:ln>
          </p:spPr>
        </p:sp>
        <p:sp>
          <p:nvSpPr>
            <p:cNvPr id="23" name="Rectangle 23"/>
            <p:cNvSpPr/>
            <p:nvPr/>
          </p:nvSpPr>
          <p:spPr>
            <a:xfrm>
              <a:off x="2857500" y="857250"/>
              <a:ext cx="2095500" cy="38100"/>
            </a:xfrm>
            <a:prstGeom prst="roundRect">
              <a:avLst>
                <a:gd name="adj" fmla="val 50000"/>
              </a:avLst>
            </a:prstGeom>
            <a:solidFill>
              <a:srgbClr val="00838F"/>
            </a:solidFill>
            <a:ln>
              <a:noFill/>
            </a:ln>
          </p:spPr>
        </p:sp>
        <p:sp>
          <p:nvSpPr>
            <p:cNvPr id="24" name="TextBox 24"/>
            <p:cNvSpPr txBox="1"/>
            <p:nvPr/>
          </p:nvSpPr>
          <p:spPr>
            <a:xfrm>
              <a:off x="3146187" y="1044892"/>
              <a:ext cx="1518125" cy="274320"/>
            </a:xfrm>
            <a:prstGeom prst="rect">
              <a:avLst/>
            </a:prstGeom>
            <a:noFill/>
            <a:ln>
              <a:noFill/>
            </a:ln>
          </p:spPr>
          <p:txBody>
            <a:bodyPr wrap="none" lIns="0" tIns="0" rIns="0" bIns="0" anchor="t" anchorCtr="0">
              <a:spAutoFit/>
            </a:bodyPr>
            <a:lstStyle/>
            <a:p>
              <a:pPr algn="ctr"/>
              <a:r>
                <a:rPr lang="zh-CN" sz="1350" b="1" dirty="0">
                  <a:solidFill>
                    <a:srgbClr val="00838F"/>
                  </a:solidFill>
                  <a:latin typeface="Segoe UI" panose="020B0502040204020203"/>
                  <a:ea typeface="微软雅黑" panose="020B0503020204020204" charset="-122"/>
                  <a:cs typeface="Segoe UI" panose="020B0502040204020203"/>
                </a:rPr>
                <a:t>维度2 等价类覆盖</a:t>
              </a:r>
              <a:endParaRPr lang="zh-CN" sz="1350" b="1" dirty="0">
                <a:solidFill>
                  <a:srgbClr val="00838F"/>
                </a:solidFill>
                <a:latin typeface="Segoe UI" panose="020B0502040204020203"/>
                <a:ea typeface="微软雅黑" panose="020B0503020204020204" charset="-122"/>
                <a:cs typeface="Segoe UI" panose="020B0502040204020203"/>
              </a:endParaRPr>
            </a:p>
          </p:txBody>
        </p:sp>
        <p:grpSp>
          <p:nvGrpSpPr>
            <p:cNvPr id="27" name="Group 27"/>
            <p:cNvGrpSpPr/>
            <p:nvPr/>
          </p:nvGrpSpPr>
          <p:grpSpPr>
            <a:xfrm>
              <a:off x="3811439" y="1423664"/>
              <a:ext cx="187671" cy="200672"/>
              <a:chOff x="3811439" y="1423664"/>
              <a:chExt cx="187671" cy="200672"/>
            </a:xfrm>
          </p:grpSpPr>
          <p:sp>
            <p:nvSpPr>
              <p:cNvPr id="25" name="Freeform 25"/>
              <p:cNvSpPr/>
              <p:nvPr/>
            </p:nvSpPr>
            <p:spPr>
              <a:xfrm>
                <a:off x="3819525" y="143113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6" name="Freeform 26"/>
              <p:cNvSpPr/>
              <p:nvPr/>
            </p:nvSpPr>
            <p:spPr>
              <a:xfrm>
                <a:off x="3811439" y="142366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8" name="TextBox 28"/>
            <p:cNvSpPr txBox="1"/>
            <p:nvPr/>
          </p:nvSpPr>
          <p:spPr>
            <a:xfrm>
              <a:off x="3223260" y="1632585"/>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有效等价类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3224212" y="1878806"/>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典型输入代表</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3143250" y="2143125"/>
              <a:ext cx="1524000" cy="9525"/>
            </a:xfrm>
            <a:prstGeom prst="rect">
              <a:avLst/>
            </a:prstGeom>
            <a:solidFill>
              <a:srgbClr val="CFD8DC"/>
            </a:solidFill>
            <a:ln>
              <a:noFill/>
            </a:ln>
          </p:spPr>
        </p:sp>
        <p:sp>
          <p:nvSpPr>
            <p:cNvPr id="31" name="TextBox 31"/>
            <p:cNvSpPr txBox="1"/>
            <p:nvPr/>
          </p:nvSpPr>
          <p:spPr>
            <a:xfrm>
              <a:off x="3223260" y="2232660"/>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无效等价类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3224212" y="2478881"/>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非法输入代表</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45" name="Group 45"/>
          <p:cNvGrpSpPr/>
          <p:nvPr/>
        </p:nvGrpSpPr>
        <p:grpSpPr>
          <a:xfrm>
            <a:off x="5143500" y="857250"/>
            <a:ext cx="2095500" cy="2095500"/>
            <a:chOff x="5143500" y="857250"/>
            <a:chExt cx="2095500" cy="2095500"/>
          </a:xfrm>
        </p:grpSpPr>
        <p:sp>
          <p:nvSpPr>
            <p:cNvPr id="34" name="Rectangle 34"/>
            <p:cNvSpPr/>
            <p:nvPr/>
          </p:nvSpPr>
          <p:spPr>
            <a:xfrm>
              <a:off x="5143500" y="857250"/>
              <a:ext cx="2095500" cy="2095500"/>
            </a:xfrm>
            <a:prstGeom prst="roundRect">
              <a:avLst>
                <a:gd name="adj" fmla="val 5455"/>
              </a:avLst>
            </a:prstGeom>
            <a:solidFill>
              <a:srgbClr val="FFFFFF"/>
            </a:solidFill>
            <a:ln>
              <a:noFill/>
            </a:ln>
          </p:spPr>
        </p:sp>
        <p:sp>
          <p:nvSpPr>
            <p:cNvPr id="35" name="Rectangle 35"/>
            <p:cNvSpPr/>
            <p:nvPr/>
          </p:nvSpPr>
          <p:spPr>
            <a:xfrm>
              <a:off x="5143500" y="857250"/>
              <a:ext cx="2095500" cy="38100"/>
            </a:xfrm>
            <a:prstGeom prst="roundRect">
              <a:avLst>
                <a:gd name="adj" fmla="val 50000"/>
              </a:avLst>
            </a:prstGeom>
            <a:solidFill>
              <a:srgbClr val="FF6F00"/>
            </a:solidFill>
            <a:ln>
              <a:noFill/>
            </a:ln>
          </p:spPr>
        </p:sp>
        <p:sp>
          <p:nvSpPr>
            <p:cNvPr id="36" name="TextBox 36"/>
            <p:cNvSpPr txBox="1"/>
            <p:nvPr/>
          </p:nvSpPr>
          <p:spPr>
            <a:xfrm>
              <a:off x="5432187" y="1044892"/>
              <a:ext cx="1518125" cy="274320"/>
            </a:xfrm>
            <a:prstGeom prst="rect">
              <a:avLst/>
            </a:prstGeom>
            <a:noFill/>
            <a:ln>
              <a:noFill/>
            </a:ln>
          </p:spPr>
          <p:txBody>
            <a:bodyPr wrap="none" lIns="0" tIns="0" rIns="0" bIns="0" anchor="t" anchorCtr="0">
              <a:spAutoFit/>
            </a:bodyPr>
            <a:lstStyle/>
            <a:p>
              <a:pPr algn="ctr"/>
              <a:r>
                <a:rPr lang="zh-CN" sz="1350" b="1" dirty="0">
                  <a:solidFill>
                    <a:srgbClr val="FF6F00"/>
                  </a:solidFill>
                  <a:latin typeface="Segoe UI" panose="020B0502040204020203"/>
                  <a:ea typeface="微软雅黑" panose="020B0503020204020204" charset="-122"/>
                  <a:cs typeface="Segoe UI" panose="020B0502040204020203"/>
                </a:rPr>
                <a:t>维度3 边界值校验</a:t>
              </a:r>
              <a:endParaRPr lang="zh-CN" sz="1350" b="1" dirty="0">
                <a:solidFill>
                  <a:srgbClr val="FF6F00"/>
                </a:solidFill>
                <a:latin typeface="Segoe UI" panose="020B0502040204020203"/>
                <a:ea typeface="微软雅黑" panose="020B0503020204020204" charset="-122"/>
                <a:cs typeface="Segoe UI" panose="020B0502040204020203"/>
              </a:endParaRPr>
            </a:p>
          </p:txBody>
        </p:sp>
        <p:grpSp>
          <p:nvGrpSpPr>
            <p:cNvPr id="39" name="Group 39"/>
            <p:cNvGrpSpPr/>
            <p:nvPr/>
          </p:nvGrpSpPr>
          <p:grpSpPr>
            <a:xfrm>
              <a:off x="6091232" y="1438275"/>
              <a:ext cx="200036" cy="171450"/>
              <a:chOff x="6091232" y="1438275"/>
              <a:chExt cx="200036" cy="171450"/>
            </a:xfrm>
          </p:grpSpPr>
          <p:sp>
            <p:nvSpPr>
              <p:cNvPr id="37" name="Freeform 37"/>
              <p:cNvSpPr/>
              <p:nvPr/>
            </p:nvSpPr>
            <p:spPr>
              <a:xfrm>
                <a:off x="6098381" y="1459706"/>
                <a:ext cx="185738" cy="121444"/>
              </a:xfrm>
              <a:custGeom>
                <a:avLst/>
                <a:gdLst/>
                <a:ahLst/>
                <a:cxnLst/>
                <a:rect l="l" t="t" r="r" b="b"/>
                <a:pathLst>
                  <a:path w="185738" h="121444">
                    <a:moveTo>
                      <a:pt x="28575" y="28575"/>
                    </a:moveTo>
                    <a:lnTo>
                      <a:pt x="57150" y="100012"/>
                    </a:lnTo>
                    <a:cubicBezTo>
                      <a:pt x="57150" y="115791"/>
                      <a:pt x="39291" y="121444"/>
                      <a:pt x="28575" y="121444"/>
                    </a:cubicBezTo>
                    <a:cubicBezTo>
                      <a:pt x="17859" y="121444"/>
                      <a:pt x="0" y="115791"/>
                      <a:pt x="0" y="100012"/>
                    </a:cubicBezTo>
                    <a:close/>
                    <a:moveTo>
                      <a:pt x="157162" y="0"/>
                    </a:moveTo>
                    <a:lnTo>
                      <a:pt x="128588" y="71438"/>
                    </a:lnTo>
                    <a:cubicBezTo>
                      <a:pt x="128588" y="87216"/>
                      <a:pt x="146447" y="92869"/>
                      <a:pt x="157162" y="92869"/>
                    </a:cubicBezTo>
                    <a:cubicBezTo>
                      <a:pt x="167878" y="92869"/>
                      <a:pt x="185738" y="87216"/>
                      <a:pt x="185738" y="71438"/>
                    </a:cubicBezTo>
                    <a:close/>
                  </a:path>
                </a:pathLst>
              </a:custGeom>
              <a:solidFill>
                <a:srgbClr val="FF6F00">
                  <a:alpha val="20000"/>
                </a:srgbClr>
              </a:solidFill>
              <a:ln>
                <a:noFill/>
              </a:ln>
            </p:spPr>
          </p:sp>
          <p:sp>
            <p:nvSpPr>
              <p:cNvPr id="38" name="Freeform 38"/>
              <p:cNvSpPr/>
              <p:nvPr/>
            </p:nvSpPr>
            <p:spPr>
              <a:xfrm>
                <a:off x="6091232" y="1438275"/>
                <a:ext cx="200036" cy="171450"/>
              </a:xfrm>
              <a:custGeom>
                <a:avLst/>
                <a:gdLst/>
                <a:ahLst/>
                <a:cxnLst/>
                <a:rect l="l" t="t" r="r" b="b"/>
                <a:pathLst>
                  <a:path w="200036" h="171450">
                    <a:moveTo>
                      <a:pt x="199522" y="90190"/>
                    </a:moveTo>
                    <a:lnTo>
                      <a:pt x="170947" y="18752"/>
                    </a:lnTo>
                    <a:lnTo>
                      <a:pt x="170947" y="18752"/>
                    </a:lnTo>
                    <a:cubicBezTo>
                      <a:pt x="169647" y="15502"/>
                      <a:pt x="166184" y="13673"/>
                      <a:pt x="162767" y="14430"/>
                    </a:cubicBezTo>
                    <a:lnTo>
                      <a:pt x="107162" y="26789"/>
                    </a:lnTo>
                    <a:lnTo>
                      <a:pt x="107162" y="7144"/>
                    </a:lnTo>
                    <a:cubicBezTo>
                      <a:pt x="107162" y="3198"/>
                      <a:pt x="103964" y="0"/>
                      <a:pt x="100018" y="0"/>
                    </a:cubicBezTo>
                    <a:cubicBezTo>
                      <a:pt x="96073" y="0"/>
                      <a:pt x="92874" y="3198"/>
                      <a:pt x="92874" y="7144"/>
                    </a:cubicBezTo>
                    <a:lnTo>
                      <a:pt x="92874" y="29986"/>
                    </a:lnTo>
                    <a:lnTo>
                      <a:pt x="34171" y="43032"/>
                    </a:lnTo>
                    <a:cubicBezTo>
                      <a:pt x="31873" y="43540"/>
                      <a:pt x="29973" y="45146"/>
                      <a:pt x="29090" y="47327"/>
                    </a:cubicBezTo>
                    <a:lnTo>
                      <a:pt x="29090" y="47327"/>
                    </a:lnTo>
                    <a:lnTo>
                      <a:pt x="29090" y="47381"/>
                    </a:lnTo>
                    <a:lnTo>
                      <a:pt x="515" y="118765"/>
                    </a:lnTo>
                    <a:cubicBezTo>
                      <a:pt x="173" y="119616"/>
                      <a:pt x="0" y="120526"/>
                      <a:pt x="6" y="121444"/>
                    </a:cubicBezTo>
                    <a:cubicBezTo>
                      <a:pt x="6" y="142259"/>
                      <a:pt x="21919" y="150019"/>
                      <a:pt x="35724" y="150019"/>
                    </a:cubicBezTo>
                    <a:cubicBezTo>
                      <a:pt x="49530" y="150019"/>
                      <a:pt x="71443" y="142259"/>
                      <a:pt x="71443" y="121444"/>
                    </a:cubicBezTo>
                    <a:cubicBezTo>
                      <a:pt x="71449" y="120526"/>
                      <a:pt x="71276" y="119616"/>
                      <a:pt x="70934" y="118765"/>
                    </a:cubicBezTo>
                    <a:lnTo>
                      <a:pt x="45476" y="55159"/>
                    </a:lnTo>
                    <a:lnTo>
                      <a:pt x="92874" y="44648"/>
                    </a:lnTo>
                    <a:lnTo>
                      <a:pt x="92874" y="157162"/>
                    </a:lnTo>
                    <a:lnTo>
                      <a:pt x="78587" y="157162"/>
                    </a:lnTo>
                    <a:cubicBezTo>
                      <a:pt x="74642" y="157162"/>
                      <a:pt x="71443" y="160361"/>
                      <a:pt x="71443" y="164306"/>
                    </a:cubicBezTo>
                    <a:cubicBezTo>
                      <a:pt x="71443" y="168252"/>
                      <a:pt x="74642" y="171450"/>
                      <a:pt x="78587" y="171450"/>
                    </a:cubicBezTo>
                    <a:lnTo>
                      <a:pt x="121449" y="171450"/>
                    </a:lnTo>
                    <a:cubicBezTo>
                      <a:pt x="125395" y="171450"/>
                      <a:pt x="128593" y="168252"/>
                      <a:pt x="128593" y="164306"/>
                    </a:cubicBezTo>
                    <a:cubicBezTo>
                      <a:pt x="128593" y="160361"/>
                      <a:pt x="125395" y="157162"/>
                      <a:pt x="121449" y="157162"/>
                    </a:cubicBezTo>
                    <a:lnTo>
                      <a:pt x="107162" y="157162"/>
                    </a:lnTo>
                    <a:lnTo>
                      <a:pt x="107162" y="41452"/>
                    </a:lnTo>
                    <a:lnTo>
                      <a:pt x="152703" y="31343"/>
                    </a:lnTo>
                    <a:lnTo>
                      <a:pt x="129102" y="90190"/>
                    </a:lnTo>
                    <a:cubicBezTo>
                      <a:pt x="128760" y="91041"/>
                      <a:pt x="128588" y="91951"/>
                      <a:pt x="128593" y="92869"/>
                    </a:cubicBezTo>
                    <a:cubicBezTo>
                      <a:pt x="128593" y="113684"/>
                      <a:pt x="150507" y="121444"/>
                      <a:pt x="164312" y="121444"/>
                    </a:cubicBezTo>
                    <a:cubicBezTo>
                      <a:pt x="178117" y="121444"/>
                      <a:pt x="200031" y="113684"/>
                      <a:pt x="200031" y="92869"/>
                    </a:cubicBezTo>
                    <a:cubicBezTo>
                      <a:pt x="200036" y="91951"/>
                      <a:pt x="199864" y="91041"/>
                      <a:pt x="199522" y="90190"/>
                    </a:cubicBezTo>
                    <a:close/>
                    <a:moveTo>
                      <a:pt x="35724" y="135731"/>
                    </a:moveTo>
                    <a:cubicBezTo>
                      <a:pt x="29000" y="135731"/>
                      <a:pt x="15401" y="132508"/>
                      <a:pt x="14356" y="122658"/>
                    </a:cubicBezTo>
                    <a:lnTo>
                      <a:pt x="35724" y="69241"/>
                    </a:lnTo>
                    <a:lnTo>
                      <a:pt x="57093" y="122658"/>
                    </a:lnTo>
                    <a:cubicBezTo>
                      <a:pt x="56048" y="132508"/>
                      <a:pt x="42449" y="135731"/>
                      <a:pt x="35724" y="135731"/>
                    </a:cubicBezTo>
                    <a:close/>
                    <a:moveTo>
                      <a:pt x="164312" y="107156"/>
                    </a:moveTo>
                    <a:cubicBezTo>
                      <a:pt x="157588" y="107156"/>
                      <a:pt x="143988" y="103933"/>
                      <a:pt x="142943" y="94083"/>
                    </a:cubicBezTo>
                    <a:lnTo>
                      <a:pt x="164312" y="40666"/>
                    </a:lnTo>
                    <a:lnTo>
                      <a:pt x="185681" y="94083"/>
                    </a:lnTo>
                    <a:cubicBezTo>
                      <a:pt x="184636" y="103933"/>
                      <a:pt x="171036" y="107156"/>
                      <a:pt x="164312" y="107156"/>
                    </a:cubicBezTo>
                    <a:close/>
                  </a:path>
                </a:pathLst>
              </a:custGeom>
              <a:solidFill>
                <a:srgbClr val="FF6F00"/>
              </a:solidFill>
              <a:ln>
                <a:noFill/>
              </a:ln>
            </p:spPr>
          </p:sp>
        </p:grpSp>
        <p:sp>
          <p:nvSpPr>
            <p:cNvPr id="40" name="TextBox 40"/>
            <p:cNvSpPr txBox="1"/>
            <p:nvPr/>
          </p:nvSpPr>
          <p:spPr>
            <a:xfrm>
              <a:off x="5509260" y="1632585"/>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临界值测试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5510212" y="1878806"/>
              <a:ext cx="876181"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min/max/±1</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5429250" y="2143125"/>
              <a:ext cx="1524000" cy="9525"/>
            </a:xfrm>
            <a:prstGeom prst="rect">
              <a:avLst/>
            </a:prstGeom>
            <a:solidFill>
              <a:srgbClr val="CFD8DC"/>
            </a:solidFill>
            <a:ln>
              <a:noFill/>
            </a:ln>
          </p:spPr>
        </p:sp>
        <p:sp>
          <p:nvSpPr>
            <p:cNvPr id="43" name="TextBox 43"/>
            <p:cNvSpPr txBox="1"/>
            <p:nvPr/>
          </p:nvSpPr>
          <p:spPr>
            <a:xfrm>
              <a:off x="5509260" y="22326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极值测试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5510212" y="2478881"/>
              <a:ext cx="898684"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空/null/超长</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57" name="Group 57"/>
          <p:cNvGrpSpPr/>
          <p:nvPr/>
        </p:nvGrpSpPr>
        <p:grpSpPr>
          <a:xfrm>
            <a:off x="7429500" y="857250"/>
            <a:ext cx="2095500" cy="2095500"/>
            <a:chOff x="7429500" y="857250"/>
            <a:chExt cx="2095500" cy="2095500"/>
          </a:xfrm>
        </p:grpSpPr>
        <p:sp>
          <p:nvSpPr>
            <p:cNvPr id="46" name="Rectangle 46"/>
            <p:cNvSpPr/>
            <p:nvPr/>
          </p:nvSpPr>
          <p:spPr>
            <a:xfrm>
              <a:off x="7429500" y="857250"/>
              <a:ext cx="2095500" cy="2095500"/>
            </a:xfrm>
            <a:prstGeom prst="roundRect">
              <a:avLst>
                <a:gd name="adj" fmla="val 5455"/>
              </a:avLst>
            </a:prstGeom>
            <a:solidFill>
              <a:srgbClr val="FFFFFF"/>
            </a:solidFill>
            <a:ln>
              <a:noFill/>
            </a:ln>
          </p:spPr>
        </p:sp>
        <p:sp>
          <p:nvSpPr>
            <p:cNvPr id="47" name="Rectangle 47"/>
            <p:cNvSpPr/>
            <p:nvPr/>
          </p:nvSpPr>
          <p:spPr>
            <a:xfrm>
              <a:off x="7429500" y="857250"/>
              <a:ext cx="2095500" cy="38100"/>
            </a:xfrm>
            <a:prstGeom prst="roundRect">
              <a:avLst>
                <a:gd name="adj" fmla="val 50000"/>
              </a:avLst>
            </a:prstGeom>
            <a:solidFill>
              <a:srgbClr val="2E7D32"/>
            </a:solidFill>
            <a:ln>
              <a:noFill/>
            </a:ln>
          </p:spPr>
        </p:sp>
        <p:sp>
          <p:nvSpPr>
            <p:cNvPr id="48" name="TextBox 48"/>
            <p:cNvSpPr txBox="1"/>
            <p:nvPr/>
          </p:nvSpPr>
          <p:spPr>
            <a:xfrm>
              <a:off x="7812699" y="1044892"/>
              <a:ext cx="1329102"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Segoe UI" panose="020B0502040204020203"/>
                  <a:ea typeface="微软雅黑" panose="020B0503020204020204" charset="-122"/>
                  <a:cs typeface="Segoe UI" panose="020B0502040204020203"/>
                </a:rPr>
                <a:t>维度4 范围分层</a:t>
              </a:r>
              <a:endParaRPr lang="zh-CN" sz="1350" b="1" dirty="0">
                <a:solidFill>
                  <a:srgbClr val="2E7D32"/>
                </a:solidFill>
                <a:latin typeface="Segoe UI" panose="020B0502040204020203"/>
                <a:ea typeface="微软雅黑" panose="020B0503020204020204" charset="-122"/>
                <a:cs typeface="Segoe UI" panose="020B0502040204020203"/>
              </a:endParaRPr>
            </a:p>
          </p:txBody>
        </p:sp>
        <p:grpSp>
          <p:nvGrpSpPr>
            <p:cNvPr id="51" name="Group 51"/>
            <p:cNvGrpSpPr/>
            <p:nvPr/>
          </p:nvGrpSpPr>
          <p:grpSpPr>
            <a:xfrm>
              <a:off x="8377238" y="1438275"/>
              <a:ext cx="192881" cy="171450"/>
              <a:chOff x="8377238" y="1438275"/>
              <a:chExt cx="192881" cy="171450"/>
            </a:xfrm>
          </p:grpSpPr>
          <p:sp>
            <p:nvSpPr>
              <p:cNvPr id="49" name="Freeform 49"/>
              <p:cNvSpPr/>
              <p:nvPr/>
            </p:nvSpPr>
            <p:spPr>
              <a:xfrm>
                <a:off x="8384381" y="1445419"/>
                <a:ext cx="178594" cy="157162"/>
              </a:xfrm>
              <a:custGeom>
                <a:avLst/>
                <a:gdLst/>
                <a:ahLst/>
                <a:cxnLst/>
                <a:rect l="l" t="t" r="r" b="b"/>
                <a:pathLst>
                  <a:path w="178594" h="157162">
                    <a:moveTo>
                      <a:pt x="42862" y="64294"/>
                    </a:moveTo>
                    <a:lnTo>
                      <a:pt x="42862" y="92869"/>
                    </a:lnTo>
                    <a:cubicBezTo>
                      <a:pt x="42862" y="96814"/>
                      <a:pt x="39664" y="100012"/>
                      <a:pt x="35719" y="100012"/>
                    </a:cubicBezTo>
                    <a:lnTo>
                      <a:pt x="7144" y="100012"/>
                    </a:lnTo>
                    <a:cubicBezTo>
                      <a:pt x="3198" y="100012"/>
                      <a:pt x="0" y="96814"/>
                      <a:pt x="0" y="92869"/>
                    </a:cubicBezTo>
                    <a:lnTo>
                      <a:pt x="0" y="64294"/>
                    </a:lnTo>
                    <a:cubicBezTo>
                      <a:pt x="0" y="60348"/>
                      <a:pt x="3198" y="57150"/>
                      <a:pt x="7144" y="57150"/>
                    </a:cubicBezTo>
                    <a:lnTo>
                      <a:pt x="35719" y="57150"/>
                    </a:lnTo>
                    <a:cubicBezTo>
                      <a:pt x="39664" y="57150"/>
                      <a:pt x="42862" y="60348"/>
                      <a:pt x="42862" y="64294"/>
                    </a:cubicBezTo>
                    <a:close/>
                    <a:moveTo>
                      <a:pt x="171450" y="0"/>
                    </a:moveTo>
                    <a:lnTo>
                      <a:pt x="128588" y="0"/>
                    </a:lnTo>
                    <a:cubicBezTo>
                      <a:pt x="124642" y="0"/>
                      <a:pt x="121444" y="3198"/>
                      <a:pt x="121444" y="7144"/>
                    </a:cubicBezTo>
                    <a:lnTo>
                      <a:pt x="121444" y="50006"/>
                    </a:lnTo>
                    <a:cubicBezTo>
                      <a:pt x="121444" y="53952"/>
                      <a:pt x="124642" y="57150"/>
                      <a:pt x="128588" y="57150"/>
                    </a:cubicBezTo>
                    <a:lnTo>
                      <a:pt x="171450" y="57150"/>
                    </a:lnTo>
                    <a:cubicBezTo>
                      <a:pt x="175395" y="57150"/>
                      <a:pt x="178594" y="53952"/>
                      <a:pt x="178594" y="50006"/>
                    </a:cubicBezTo>
                    <a:lnTo>
                      <a:pt x="178594" y="7144"/>
                    </a:lnTo>
                    <a:cubicBezTo>
                      <a:pt x="178594" y="3198"/>
                      <a:pt x="175395" y="0"/>
                      <a:pt x="171450" y="0"/>
                    </a:cubicBezTo>
                    <a:close/>
                    <a:moveTo>
                      <a:pt x="171450" y="100012"/>
                    </a:moveTo>
                    <a:lnTo>
                      <a:pt x="128588" y="100012"/>
                    </a:lnTo>
                    <a:cubicBezTo>
                      <a:pt x="124642" y="100012"/>
                      <a:pt x="121444" y="103211"/>
                      <a:pt x="121444" y="107156"/>
                    </a:cubicBezTo>
                    <a:lnTo>
                      <a:pt x="121444" y="150019"/>
                    </a:lnTo>
                    <a:cubicBezTo>
                      <a:pt x="121444" y="153964"/>
                      <a:pt x="124642" y="157162"/>
                      <a:pt x="128588" y="157162"/>
                    </a:cubicBezTo>
                    <a:lnTo>
                      <a:pt x="171450" y="157162"/>
                    </a:lnTo>
                    <a:cubicBezTo>
                      <a:pt x="175395" y="157162"/>
                      <a:pt x="178594" y="153964"/>
                      <a:pt x="178594" y="150019"/>
                    </a:cubicBezTo>
                    <a:lnTo>
                      <a:pt x="178594" y="107156"/>
                    </a:lnTo>
                    <a:cubicBezTo>
                      <a:pt x="178594" y="103211"/>
                      <a:pt x="175395" y="100012"/>
                      <a:pt x="171450" y="100012"/>
                    </a:cubicBezTo>
                    <a:close/>
                  </a:path>
                </a:pathLst>
              </a:custGeom>
              <a:solidFill>
                <a:srgbClr val="2E7D32">
                  <a:alpha val="20000"/>
                </a:srgbClr>
              </a:solidFill>
              <a:ln>
                <a:noFill/>
              </a:ln>
            </p:spPr>
          </p:sp>
          <p:sp>
            <p:nvSpPr>
              <p:cNvPr id="50" name="Freeform 50"/>
              <p:cNvSpPr/>
              <p:nvPr/>
            </p:nvSpPr>
            <p:spPr>
              <a:xfrm>
                <a:off x="8377238" y="1438275"/>
                <a:ext cx="192881" cy="171450"/>
              </a:xfrm>
              <a:custGeom>
                <a:avLst/>
                <a:gdLst/>
                <a:ahLst/>
                <a:cxnLst/>
                <a:rect l="l" t="t" r="r" b="b"/>
                <a:pathLst>
                  <a:path w="192881" h="171450">
                    <a:moveTo>
                      <a:pt x="135731" y="71438"/>
                    </a:moveTo>
                    <a:lnTo>
                      <a:pt x="178594" y="71438"/>
                    </a:lnTo>
                    <a:cubicBezTo>
                      <a:pt x="186485" y="71438"/>
                      <a:pt x="192881" y="65041"/>
                      <a:pt x="192881" y="57150"/>
                    </a:cubicBezTo>
                    <a:lnTo>
                      <a:pt x="192881" y="14288"/>
                    </a:lnTo>
                    <a:cubicBezTo>
                      <a:pt x="192881" y="6397"/>
                      <a:pt x="186485" y="0"/>
                      <a:pt x="178594" y="0"/>
                    </a:cubicBezTo>
                    <a:lnTo>
                      <a:pt x="135731" y="0"/>
                    </a:lnTo>
                    <a:cubicBezTo>
                      <a:pt x="127840" y="0"/>
                      <a:pt x="121444" y="6397"/>
                      <a:pt x="121444" y="14288"/>
                    </a:cubicBezTo>
                    <a:lnTo>
                      <a:pt x="121444" y="28575"/>
                    </a:lnTo>
                    <a:lnTo>
                      <a:pt x="114300" y="28575"/>
                    </a:lnTo>
                    <a:cubicBezTo>
                      <a:pt x="98518" y="28575"/>
                      <a:pt x="85725" y="41368"/>
                      <a:pt x="85725" y="57150"/>
                    </a:cubicBezTo>
                    <a:lnTo>
                      <a:pt x="85725" y="78581"/>
                    </a:lnTo>
                    <a:lnTo>
                      <a:pt x="57150" y="78581"/>
                    </a:lnTo>
                    <a:lnTo>
                      <a:pt x="57150" y="71438"/>
                    </a:lnTo>
                    <a:cubicBezTo>
                      <a:pt x="57150" y="63547"/>
                      <a:pt x="50753" y="57150"/>
                      <a:pt x="42862" y="57150"/>
                    </a:cubicBezTo>
                    <a:lnTo>
                      <a:pt x="14288" y="57150"/>
                    </a:lnTo>
                    <a:cubicBezTo>
                      <a:pt x="6397" y="57150"/>
                      <a:pt x="0" y="63547"/>
                      <a:pt x="0" y="71438"/>
                    </a:cubicBezTo>
                    <a:lnTo>
                      <a:pt x="0" y="100012"/>
                    </a:lnTo>
                    <a:cubicBezTo>
                      <a:pt x="0" y="107903"/>
                      <a:pt x="6397" y="114300"/>
                      <a:pt x="14288" y="114300"/>
                    </a:cubicBezTo>
                    <a:lnTo>
                      <a:pt x="42862" y="114300"/>
                    </a:lnTo>
                    <a:cubicBezTo>
                      <a:pt x="50753" y="114300"/>
                      <a:pt x="57150" y="107903"/>
                      <a:pt x="57150" y="100012"/>
                    </a:cubicBezTo>
                    <a:lnTo>
                      <a:pt x="57150" y="92869"/>
                    </a:lnTo>
                    <a:lnTo>
                      <a:pt x="85725" y="92869"/>
                    </a:lnTo>
                    <a:lnTo>
                      <a:pt x="85725" y="114300"/>
                    </a:lnTo>
                    <a:cubicBezTo>
                      <a:pt x="85725" y="130082"/>
                      <a:pt x="98518" y="142875"/>
                      <a:pt x="114300" y="142875"/>
                    </a:cubicBezTo>
                    <a:lnTo>
                      <a:pt x="121444" y="142875"/>
                    </a:lnTo>
                    <a:lnTo>
                      <a:pt x="121444" y="157162"/>
                    </a:lnTo>
                    <a:cubicBezTo>
                      <a:pt x="121444" y="165053"/>
                      <a:pt x="127840" y="171450"/>
                      <a:pt x="135731" y="171450"/>
                    </a:cubicBezTo>
                    <a:lnTo>
                      <a:pt x="178594" y="171450"/>
                    </a:lnTo>
                    <a:cubicBezTo>
                      <a:pt x="186485" y="171450"/>
                      <a:pt x="192881" y="165053"/>
                      <a:pt x="192881" y="157162"/>
                    </a:cubicBezTo>
                    <a:lnTo>
                      <a:pt x="192881" y="114300"/>
                    </a:lnTo>
                    <a:cubicBezTo>
                      <a:pt x="192881" y="106409"/>
                      <a:pt x="186485" y="100012"/>
                      <a:pt x="178594" y="100012"/>
                    </a:cubicBezTo>
                    <a:lnTo>
                      <a:pt x="135731" y="100012"/>
                    </a:lnTo>
                    <a:cubicBezTo>
                      <a:pt x="127840" y="100012"/>
                      <a:pt x="121444" y="106409"/>
                      <a:pt x="121444" y="114300"/>
                    </a:cubicBezTo>
                    <a:lnTo>
                      <a:pt x="121444" y="128588"/>
                    </a:lnTo>
                    <a:lnTo>
                      <a:pt x="114300" y="128588"/>
                    </a:lnTo>
                    <a:cubicBezTo>
                      <a:pt x="106409" y="128588"/>
                      <a:pt x="100012" y="122191"/>
                      <a:pt x="100012" y="114300"/>
                    </a:cubicBezTo>
                    <a:lnTo>
                      <a:pt x="100012" y="57150"/>
                    </a:lnTo>
                    <a:cubicBezTo>
                      <a:pt x="100012" y="49259"/>
                      <a:pt x="106409" y="42862"/>
                      <a:pt x="114300" y="42862"/>
                    </a:cubicBezTo>
                    <a:lnTo>
                      <a:pt x="121444" y="42862"/>
                    </a:lnTo>
                    <a:lnTo>
                      <a:pt x="121444" y="57150"/>
                    </a:lnTo>
                    <a:cubicBezTo>
                      <a:pt x="121444" y="65041"/>
                      <a:pt x="127840" y="71438"/>
                      <a:pt x="135731" y="71438"/>
                    </a:cubicBezTo>
                    <a:close/>
                    <a:moveTo>
                      <a:pt x="42862" y="100012"/>
                    </a:moveTo>
                    <a:lnTo>
                      <a:pt x="14288" y="100012"/>
                    </a:lnTo>
                    <a:lnTo>
                      <a:pt x="14288" y="71438"/>
                    </a:lnTo>
                    <a:lnTo>
                      <a:pt x="42862" y="71438"/>
                    </a:lnTo>
                    <a:lnTo>
                      <a:pt x="42862" y="100012"/>
                    </a:lnTo>
                    <a:close/>
                    <a:moveTo>
                      <a:pt x="135731" y="114300"/>
                    </a:moveTo>
                    <a:lnTo>
                      <a:pt x="178594" y="114300"/>
                    </a:lnTo>
                    <a:lnTo>
                      <a:pt x="178594" y="157162"/>
                    </a:lnTo>
                    <a:lnTo>
                      <a:pt x="135731" y="157162"/>
                    </a:lnTo>
                    <a:close/>
                    <a:moveTo>
                      <a:pt x="135731" y="14288"/>
                    </a:moveTo>
                    <a:lnTo>
                      <a:pt x="178594" y="14288"/>
                    </a:lnTo>
                    <a:lnTo>
                      <a:pt x="178594" y="57150"/>
                    </a:lnTo>
                    <a:lnTo>
                      <a:pt x="135731" y="57150"/>
                    </a:lnTo>
                    <a:close/>
                  </a:path>
                </a:pathLst>
              </a:custGeom>
              <a:solidFill>
                <a:srgbClr val="2E7D32"/>
              </a:solidFill>
              <a:ln>
                <a:noFill/>
              </a:ln>
            </p:spPr>
          </p:sp>
        </p:grpSp>
        <p:sp>
          <p:nvSpPr>
            <p:cNvPr id="52" name="TextBox 52"/>
            <p:cNvSpPr txBox="1"/>
            <p:nvPr/>
          </p:nvSpPr>
          <p:spPr>
            <a:xfrm>
              <a:off x="7795260" y="1632585"/>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局部测试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7796212" y="1878806"/>
              <a:ext cx="101119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单组件/单函数</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7715250" y="2143125"/>
              <a:ext cx="1524000" cy="9525"/>
            </a:xfrm>
            <a:prstGeom prst="rect">
              <a:avLst/>
            </a:prstGeom>
            <a:solidFill>
              <a:srgbClr val="CFD8DC"/>
            </a:solidFill>
            <a:ln>
              <a:noFill/>
            </a:ln>
          </p:spPr>
        </p:sp>
        <p:sp>
          <p:nvSpPr>
            <p:cNvPr id="55" name="TextBox 55"/>
            <p:cNvSpPr txBox="1"/>
            <p:nvPr/>
          </p:nvSpPr>
          <p:spPr>
            <a:xfrm>
              <a:off x="7795260" y="2232660"/>
              <a:ext cx="107861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跨功能+端到端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7796212" y="2478881"/>
              <a:ext cx="122872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组件协作与全链路</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69" name="Group 69"/>
          <p:cNvGrpSpPr/>
          <p:nvPr/>
        </p:nvGrpSpPr>
        <p:grpSpPr>
          <a:xfrm>
            <a:off x="9715500" y="857250"/>
            <a:ext cx="2095500" cy="2095500"/>
            <a:chOff x="9715500" y="857250"/>
            <a:chExt cx="2095500" cy="2095500"/>
          </a:xfrm>
        </p:grpSpPr>
        <p:sp>
          <p:nvSpPr>
            <p:cNvPr id="58" name="Rectangle 58"/>
            <p:cNvSpPr/>
            <p:nvPr/>
          </p:nvSpPr>
          <p:spPr>
            <a:xfrm>
              <a:off x="9715500" y="857250"/>
              <a:ext cx="2095500" cy="2095500"/>
            </a:xfrm>
            <a:prstGeom prst="roundRect">
              <a:avLst>
                <a:gd name="adj" fmla="val 5455"/>
              </a:avLst>
            </a:prstGeom>
            <a:solidFill>
              <a:srgbClr val="FFFFFF"/>
            </a:solidFill>
            <a:ln>
              <a:noFill/>
            </a:ln>
          </p:spPr>
        </p:sp>
        <p:sp>
          <p:nvSpPr>
            <p:cNvPr id="59" name="Rectangle 59"/>
            <p:cNvSpPr/>
            <p:nvPr/>
          </p:nvSpPr>
          <p:spPr>
            <a:xfrm>
              <a:off x="9715500" y="857250"/>
              <a:ext cx="2095500" cy="38100"/>
            </a:xfrm>
            <a:prstGeom prst="roundRect">
              <a:avLst>
                <a:gd name="adj" fmla="val 50000"/>
              </a:avLst>
            </a:prstGeom>
            <a:solidFill>
              <a:srgbClr val="C62828"/>
            </a:solidFill>
            <a:ln>
              <a:noFill/>
            </a:ln>
          </p:spPr>
        </p:sp>
        <p:sp>
          <p:nvSpPr>
            <p:cNvPr id="60" name="TextBox 60"/>
            <p:cNvSpPr txBox="1"/>
            <p:nvPr/>
          </p:nvSpPr>
          <p:spPr>
            <a:xfrm>
              <a:off x="10098699" y="1044892"/>
              <a:ext cx="1329102" cy="274320"/>
            </a:xfrm>
            <a:prstGeom prst="rect">
              <a:avLst/>
            </a:prstGeom>
            <a:noFill/>
            <a:ln>
              <a:noFill/>
            </a:ln>
          </p:spPr>
          <p:txBody>
            <a:bodyPr wrap="none" lIns="0" tIns="0" rIns="0" bIns="0" anchor="t" anchorCtr="0">
              <a:spAutoFit/>
            </a:bodyPr>
            <a:lstStyle/>
            <a:p>
              <a:pPr algn="ctr"/>
              <a:r>
                <a:rPr lang="zh-CN" sz="1350" b="1" dirty="0">
                  <a:solidFill>
                    <a:srgbClr val="C62828"/>
                  </a:solidFill>
                  <a:latin typeface="Segoe UI" panose="020B0502040204020203"/>
                  <a:ea typeface="微软雅黑" panose="020B0503020204020204" charset="-122"/>
                  <a:cs typeface="Segoe UI" panose="020B0502040204020203"/>
                </a:rPr>
                <a:t>维度5 风险猜错</a:t>
              </a:r>
              <a:endParaRPr lang="zh-CN" sz="1350" b="1" dirty="0">
                <a:solidFill>
                  <a:srgbClr val="C62828"/>
                </a:solidFill>
                <a:latin typeface="Segoe UI" panose="020B0502040204020203"/>
                <a:ea typeface="微软雅黑" panose="020B0503020204020204" charset="-122"/>
                <a:cs typeface="Segoe UI" panose="020B0502040204020203"/>
              </a:endParaRPr>
            </a:p>
          </p:txBody>
        </p:sp>
        <p:grpSp>
          <p:nvGrpSpPr>
            <p:cNvPr id="63" name="Group 63"/>
            <p:cNvGrpSpPr/>
            <p:nvPr/>
          </p:nvGrpSpPr>
          <p:grpSpPr>
            <a:xfrm>
              <a:off x="10662272" y="1431131"/>
              <a:ext cx="201950" cy="178676"/>
              <a:chOff x="10662272" y="1431131"/>
              <a:chExt cx="201950" cy="178676"/>
            </a:xfrm>
          </p:grpSpPr>
          <p:sp>
            <p:nvSpPr>
              <p:cNvPr id="61" name="Freeform 61"/>
              <p:cNvSpPr/>
              <p:nvPr/>
            </p:nvSpPr>
            <p:spPr>
              <a:xfrm>
                <a:off x="10666809" y="1435793"/>
                <a:ext cx="192881" cy="166789"/>
              </a:xfrm>
              <a:custGeom>
                <a:avLst/>
                <a:gdLst/>
                <a:ahLst/>
                <a:cxnLst/>
                <a:rect l="l" t="t" r="r" b="b"/>
                <a:pathLst>
                  <a:path w="192881" h="166789">
                    <a:moveTo>
                      <a:pt x="174540" y="166789"/>
                    </a:moveTo>
                    <a:lnTo>
                      <a:pt x="18342" y="166789"/>
                    </a:lnTo>
                    <a:cubicBezTo>
                      <a:pt x="7072" y="166789"/>
                      <a:pt x="0" y="154993"/>
                      <a:pt x="5474" y="145438"/>
                    </a:cubicBezTo>
                    <a:lnTo>
                      <a:pt x="83573" y="9823"/>
                    </a:lnTo>
                    <a:cubicBezTo>
                      <a:pt x="89199" y="0"/>
                      <a:pt x="103683" y="0"/>
                      <a:pt x="109308" y="9823"/>
                    </a:cubicBezTo>
                    <a:lnTo>
                      <a:pt x="187407" y="145438"/>
                    </a:lnTo>
                    <a:cubicBezTo>
                      <a:pt x="192881" y="154993"/>
                      <a:pt x="185809" y="166789"/>
                      <a:pt x="174540" y="166789"/>
                    </a:cubicBezTo>
                    <a:close/>
                  </a:path>
                </a:pathLst>
              </a:custGeom>
              <a:solidFill>
                <a:srgbClr val="C62828">
                  <a:alpha val="20000"/>
                </a:srgbClr>
              </a:solidFill>
              <a:ln>
                <a:noFill/>
              </a:ln>
            </p:spPr>
          </p:sp>
          <p:sp>
            <p:nvSpPr>
              <p:cNvPr id="62" name="Freeform 62"/>
              <p:cNvSpPr/>
              <p:nvPr/>
            </p:nvSpPr>
            <p:spPr>
              <a:xfrm>
                <a:off x="10662272" y="1431131"/>
                <a:ext cx="201950" cy="178676"/>
              </a:xfrm>
              <a:custGeom>
                <a:avLst/>
                <a:gdLst/>
                <a:ahLst/>
                <a:cxnLst/>
                <a:rect l="l" t="t" r="r" b="b"/>
                <a:pathLst>
                  <a:path w="201950" h="178676">
                    <a:moveTo>
                      <a:pt x="198133" y="146528"/>
                    </a:moveTo>
                    <a:lnTo>
                      <a:pt x="120043" y="10913"/>
                    </a:lnTo>
                    <a:lnTo>
                      <a:pt x="120043" y="10913"/>
                    </a:lnTo>
                    <a:cubicBezTo>
                      <a:pt x="116072" y="4152"/>
                      <a:pt x="108818" y="0"/>
                      <a:pt x="100978" y="0"/>
                    </a:cubicBezTo>
                    <a:cubicBezTo>
                      <a:pt x="93137" y="0"/>
                      <a:pt x="85884" y="4152"/>
                      <a:pt x="81913" y="10913"/>
                    </a:cubicBezTo>
                    <a:lnTo>
                      <a:pt x="3823" y="146528"/>
                    </a:lnTo>
                    <a:cubicBezTo>
                      <a:pt x="0" y="153071"/>
                      <a:pt x="0" y="161166"/>
                      <a:pt x="3823" y="167709"/>
                    </a:cubicBezTo>
                    <a:cubicBezTo>
                      <a:pt x="7745" y="174515"/>
                      <a:pt x="15033" y="178676"/>
                      <a:pt x="22888" y="178594"/>
                    </a:cubicBezTo>
                    <a:lnTo>
                      <a:pt x="179068" y="178594"/>
                    </a:lnTo>
                    <a:cubicBezTo>
                      <a:pt x="186916" y="178669"/>
                      <a:pt x="194196" y="174509"/>
                      <a:pt x="198115" y="167709"/>
                    </a:cubicBezTo>
                    <a:cubicBezTo>
                      <a:pt x="201943" y="161169"/>
                      <a:pt x="201950" y="153074"/>
                      <a:pt x="198133" y="146528"/>
                    </a:cubicBezTo>
                    <a:close/>
                    <a:moveTo>
                      <a:pt x="185747" y="160556"/>
                    </a:moveTo>
                    <a:cubicBezTo>
                      <a:pt x="184361" y="162921"/>
                      <a:pt x="181808" y="164354"/>
                      <a:pt x="179068" y="164307"/>
                    </a:cubicBezTo>
                    <a:lnTo>
                      <a:pt x="22888" y="164307"/>
                    </a:lnTo>
                    <a:cubicBezTo>
                      <a:pt x="20147" y="164354"/>
                      <a:pt x="17594" y="162921"/>
                      <a:pt x="16208" y="160556"/>
                    </a:cubicBezTo>
                    <a:cubicBezTo>
                      <a:pt x="14952" y="158430"/>
                      <a:pt x="14952" y="155789"/>
                      <a:pt x="16208" y="153663"/>
                    </a:cubicBezTo>
                    <a:lnTo>
                      <a:pt x="94298" y="18047"/>
                    </a:lnTo>
                    <a:cubicBezTo>
                      <a:pt x="95711" y="15697"/>
                      <a:pt x="98253" y="14259"/>
                      <a:pt x="100996" y="14259"/>
                    </a:cubicBezTo>
                    <a:cubicBezTo>
                      <a:pt x="103738" y="14259"/>
                      <a:pt x="106280" y="15697"/>
                      <a:pt x="107693" y="18047"/>
                    </a:cubicBezTo>
                    <a:lnTo>
                      <a:pt x="185783" y="153663"/>
                    </a:lnTo>
                    <a:cubicBezTo>
                      <a:pt x="187028" y="155795"/>
                      <a:pt x="187014" y="158437"/>
                      <a:pt x="185747" y="160556"/>
                    </a:cubicBezTo>
                    <a:close/>
                    <a:moveTo>
                      <a:pt x="93834" y="107157"/>
                    </a:moveTo>
                    <a:lnTo>
                      <a:pt x="93834" y="71438"/>
                    </a:lnTo>
                    <a:cubicBezTo>
                      <a:pt x="93834" y="67493"/>
                      <a:pt x="97032" y="64294"/>
                      <a:pt x="100978" y="64294"/>
                    </a:cubicBezTo>
                    <a:cubicBezTo>
                      <a:pt x="104923" y="64294"/>
                      <a:pt x="108122" y="67493"/>
                      <a:pt x="108122" y="71438"/>
                    </a:cubicBezTo>
                    <a:lnTo>
                      <a:pt x="108122" y="107157"/>
                    </a:lnTo>
                    <a:cubicBezTo>
                      <a:pt x="108122" y="111102"/>
                      <a:pt x="104923" y="114301"/>
                      <a:pt x="100978" y="114301"/>
                    </a:cubicBezTo>
                    <a:cubicBezTo>
                      <a:pt x="97032" y="114301"/>
                      <a:pt x="93834" y="111102"/>
                      <a:pt x="93834" y="107157"/>
                    </a:cubicBezTo>
                    <a:close/>
                    <a:moveTo>
                      <a:pt x="111693" y="139304"/>
                    </a:moveTo>
                    <a:cubicBezTo>
                      <a:pt x="111693" y="145222"/>
                      <a:pt x="106896" y="150019"/>
                      <a:pt x="100978" y="150019"/>
                    </a:cubicBezTo>
                    <a:cubicBezTo>
                      <a:pt x="95060" y="150019"/>
                      <a:pt x="90262" y="145222"/>
                      <a:pt x="90262" y="139304"/>
                    </a:cubicBezTo>
                    <a:cubicBezTo>
                      <a:pt x="90262" y="133386"/>
                      <a:pt x="95060" y="128588"/>
                      <a:pt x="100978" y="128588"/>
                    </a:cubicBezTo>
                    <a:cubicBezTo>
                      <a:pt x="106896" y="128588"/>
                      <a:pt x="111693" y="133386"/>
                      <a:pt x="111693" y="139304"/>
                    </a:cubicBezTo>
                    <a:close/>
                  </a:path>
                </a:pathLst>
              </a:custGeom>
              <a:solidFill>
                <a:srgbClr val="C62828"/>
              </a:solidFill>
              <a:ln>
                <a:noFill/>
              </a:ln>
            </p:spPr>
          </p:sp>
        </p:grpSp>
        <p:sp>
          <p:nvSpPr>
            <p:cNvPr id="64" name="TextBox 64"/>
            <p:cNvSpPr txBox="1"/>
            <p:nvPr/>
          </p:nvSpPr>
          <p:spPr>
            <a:xfrm>
              <a:off x="10081260" y="1632585"/>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极端场景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5" name="TextBox 65"/>
            <p:cNvSpPr txBox="1"/>
            <p:nvPr/>
          </p:nvSpPr>
          <p:spPr>
            <a:xfrm>
              <a:off x="10082212" y="1878806"/>
              <a:ext cx="711160"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断网/超时</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66" name="Rectangle 66"/>
            <p:cNvSpPr/>
            <p:nvPr/>
          </p:nvSpPr>
          <p:spPr>
            <a:xfrm>
              <a:off x="10001250" y="2143125"/>
              <a:ext cx="1524000" cy="9525"/>
            </a:xfrm>
            <a:prstGeom prst="rect">
              <a:avLst/>
            </a:prstGeom>
            <a:solidFill>
              <a:srgbClr val="CFD8DC"/>
            </a:solidFill>
            <a:ln>
              <a:noFill/>
            </a:ln>
          </p:spPr>
        </p:sp>
        <p:sp>
          <p:nvSpPr>
            <p:cNvPr id="67" name="TextBox 67"/>
            <p:cNvSpPr txBox="1"/>
            <p:nvPr/>
          </p:nvSpPr>
          <p:spPr>
            <a:xfrm>
              <a:off x="10081260" y="2232660"/>
              <a:ext cx="107861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历史缺陷+并发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8" name="TextBox 68"/>
            <p:cNvSpPr txBox="1"/>
            <p:nvPr/>
          </p:nvSpPr>
          <p:spPr>
            <a:xfrm>
              <a:off x="10082212" y="2478881"/>
              <a:ext cx="628650"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竞态条件</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72" name="Group 72"/>
          <p:cNvGrpSpPr/>
          <p:nvPr/>
        </p:nvGrpSpPr>
        <p:grpSpPr>
          <a:xfrm>
            <a:off x="571500" y="3190875"/>
            <a:ext cx="11049000" cy="476250"/>
            <a:chOff x="571500" y="3190875"/>
            <a:chExt cx="11049000" cy="476250"/>
          </a:xfrm>
        </p:grpSpPr>
        <p:sp>
          <p:nvSpPr>
            <p:cNvPr id="70" name="Rectangle 70"/>
            <p:cNvSpPr/>
            <p:nvPr/>
          </p:nvSpPr>
          <p:spPr>
            <a:xfrm>
              <a:off x="571500" y="3190875"/>
              <a:ext cx="11049000" cy="476250"/>
            </a:xfrm>
            <a:prstGeom prst="roundRect">
              <a:avLst>
                <a:gd name="adj" fmla="val 16000"/>
              </a:avLst>
            </a:prstGeom>
            <a:solidFill>
              <a:srgbClr val="1565C0">
                <a:alpha val="6000"/>
              </a:srgbClr>
            </a:solidFill>
            <a:ln>
              <a:noFill/>
            </a:ln>
          </p:spPr>
        </p:sp>
        <p:sp>
          <p:nvSpPr>
            <p:cNvPr id="71" name="TextBox 71"/>
            <p:cNvSpPr txBox="1"/>
            <p:nvPr/>
          </p:nvSpPr>
          <p:spPr>
            <a:xfrm>
              <a:off x="2913564" y="3356610"/>
              <a:ext cx="636487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五大维度各司其职、互不交叉 —— 彻底解决用例设计凭经验的问题，实现全覆盖零遗漏</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3" name="TextBox 7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4" name="图片 7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400"/>
                                        <p:tgtEl>
                                          <p:spTgt spid="2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slide(fromBottom)">
                                      <p:cBhvr>
                                        <p:cTn id="11" dur="400"/>
                                        <p:tgtEl>
                                          <p:spTgt spid="33"/>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image">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400"/>
                                        <p:tgtEl>
                                          <p:spTgt spid="5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left)">
                                      <p:cBhvr>
                                        <p:cTn id="23" dur="400"/>
                                        <p:tgtEl>
                                          <p:spTgt spid="6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57" grpId="0"/>
      <p:bldP spid="69" grpId="0"/>
      <p:bldP spid="7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98801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五维度分类体系，实现测试全覆盖、零遗漏（二）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5334000" cy="2621280"/>
            <a:chOff x="571500" y="904875"/>
            <a:chExt cx="5334000" cy="1809750"/>
          </a:xfrm>
        </p:grpSpPr>
        <p:sp>
          <p:nvSpPr>
            <p:cNvPr id="10" name="Rectangle 10"/>
            <p:cNvSpPr/>
            <p:nvPr/>
          </p:nvSpPr>
          <p:spPr>
            <a:xfrm>
              <a:off x="571500" y="904875"/>
              <a:ext cx="5334000" cy="1809750"/>
            </a:xfrm>
            <a:prstGeom prst="roundRect">
              <a:avLst>
                <a:gd name="adj" fmla="val 6316"/>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484358" y="1076325"/>
              <a:ext cx="1508284" cy="159142"/>
            </a:xfrm>
            <a:prstGeom prst="rect">
              <a:avLst/>
            </a:prstGeom>
            <a:noFill/>
            <a:ln>
              <a:noFill/>
            </a:ln>
          </p:spPr>
          <p:txBody>
            <a:bodyPr wrap="square" lIns="0" tIns="0" rIns="0" bIns="0" anchor="t" anchorCtr="0">
              <a:spAutoFit/>
            </a:bodyPr>
            <a:lstStyle/>
            <a:p>
              <a:pPr algn="ctr"/>
              <a:r>
                <a:rPr lang="zh-CN" sz="1500" b="1" dirty="0">
                  <a:solidFill>
                    <a:srgbClr val="1565C0"/>
                  </a:solidFill>
                  <a:latin typeface="Segoe UI" panose="020B0502040204020203"/>
                  <a:ea typeface="微软雅黑" panose="020B0503020204020204" charset="-122"/>
                  <a:cs typeface="Segoe UI" panose="020B0502040204020203"/>
                </a:rPr>
                <a:t>标准化用例模板</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371600"/>
              <a:ext cx="4572000" cy="9525"/>
            </a:xfrm>
            <a:custGeom>
              <a:avLst/>
              <a:gdLst/>
              <a:ahLst/>
              <a:cxnLst/>
              <a:rect l="l" t="t" r="r" b="b"/>
              <a:pathLst>
                <a:path w="4572000" h="9525">
                  <a:moveTo>
                    <a:pt x="0" y="0"/>
                  </a:moveTo>
                  <a:lnTo>
                    <a:pt x="4572000" y="0"/>
                  </a:lnTo>
                </a:path>
              </a:pathLst>
            </a:custGeom>
            <a:noFill/>
            <a:ln w="9525">
              <a:solidFill>
                <a:srgbClr val="CFD8DC"/>
              </a:solidFill>
            </a:ln>
          </p:spPr>
        </p:sp>
        <p:sp>
          <p:nvSpPr>
            <p:cNvPr id="14" name="TextBox 14"/>
            <p:cNvSpPr txBox="1"/>
            <p:nvPr/>
          </p:nvSpPr>
          <p:spPr>
            <a:xfrm>
              <a:off x="937260" y="1489710"/>
              <a:ext cx="1598676"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用例编号 TC-XXX-001</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7260" y="1727835"/>
              <a:ext cx="4174998"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测试维度 合法性 / 等价类 / 边界值 / 范围分层 / 风险猜错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937260" y="1965960"/>
              <a:ext cx="1542669"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测试类型 正向 / 反向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937260" y="2204085"/>
              <a:ext cx="2158746"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前置条件 系统状态、数据准备</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37260" y="2442210"/>
              <a:ext cx="1518666"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输入数据 具体输入值</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6286500" y="822321"/>
            <a:ext cx="5334000" cy="2552323"/>
            <a:chOff x="6286500" y="834633"/>
            <a:chExt cx="5334000" cy="1809750"/>
          </a:xfrm>
        </p:grpSpPr>
        <p:sp>
          <p:nvSpPr>
            <p:cNvPr id="20" name="Rectangle 20"/>
            <p:cNvSpPr/>
            <p:nvPr/>
          </p:nvSpPr>
          <p:spPr>
            <a:xfrm>
              <a:off x="6286500" y="834633"/>
              <a:ext cx="5334000" cy="1809750"/>
            </a:xfrm>
            <a:prstGeom prst="roundRect">
              <a:avLst>
                <a:gd name="adj" fmla="val 6316"/>
              </a:avLst>
            </a:prstGeom>
            <a:solidFill>
              <a:srgbClr val="FFFFFF"/>
            </a:solidFill>
            <a:ln>
              <a:noFill/>
            </a:ln>
          </p:spPr>
        </p:sp>
        <p:sp>
          <p:nvSpPr>
            <p:cNvPr id="21" name="Rectangle 21"/>
            <p:cNvSpPr/>
            <p:nvPr/>
          </p:nvSpPr>
          <p:spPr>
            <a:xfrm>
              <a:off x="6286500" y="904875"/>
              <a:ext cx="5334000" cy="38100"/>
            </a:xfrm>
            <a:prstGeom prst="roundRect">
              <a:avLst>
                <a:gd name="adj" fmla="val 50000"/>
              </a:avLst>
            </a:prstGeom>
            <a:solidFill>
              <a:srgbClr val="FF6F00"/>
            </a:solidFill>
            <a:ln>
              <a:noFill/>
            </a:ln>
          </p:spPr>
        </p:sp>
        <p:sp>
          <p:nvSpPr>
            <p:cNvPr id="22" name="TextBox 22"/>
            <p:cNvSpPr txBox="1"/>
            <p:nvPr/>
          </p:nvSpPr>
          <p:spPr>
            <a:xfrm>
              <a:off x="8304371" y="1076325"/>
              <a:ext cx="1298258" cy="163442"/>
            </a:xfrm>
            <a:prstGeom prst="rect">
              <a:avLst/>
            </a:prstGeom>
            <a:noFill/>
            <a:ln>
              <a:noFill/>
            </a:ln>
          </p:spPr>
          <p:txBody>
            <a:bodyPr wrap="square" lIns="0" tIns="0" rIns="0" bIns="0" anchor="t" anchorCtr="0">
              <a:spAutoFit/>
            </a:bodyPr>
            <a:lstStyle/>
            <a:p>
              <a:pPr algn="ctr"/>
              <a:r>
                <a:rPr lang="zh-CN" sz="1500" b="1" dirty="0">
                  <a:solidFill>
                    <a:srgbClr val="FF6F00"/>
                  </a:solidFill>
                  <a:latin typeface="Segoe UI" panose="020B0502040204020203"/>
                  <a:ea typeface="微软雅黑" panose="020B0503020204020204" charset="-122"/>
                  <a:cs typeface="Segoe UI" panose="020B0502040204020203"/>
                </a:rPr>
                <a:t>用例设计顺序</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23" name="Line 23"/>
            <p:cNvSpPr/>
            <p:nvPr/>
          </p:nvSpPr>
          <p:spPr>
            <a:xfrm>
              <a:off x="6667500" y="1371600"/>
              <a:ext cx="4572000" cy="9525"/>
            </a:xfrm>
            <a:custGeom>
              <a:avLst/>
              <a:gdLst/>
              <a:ahLst/>
              <a:cxnLst/>
              <a:rect l="l" t="t" r="r" b="b"/>
              <a:pathLst>
                <a:path w="4572000" h="9525">
                  <a:moveTo>
                    <a:pt x="0" y="0"/>
                  </a:moveTo>
                  <a:lnTo>
                    <a:pt x="4572000" y="0"/>
                  </a:lnTo>
                </a:path>
              </a:pathLst>
            </a:custGeom>
            <a:noFill/>
            <a:ln w="9525">
              <a:solidFill>
                <a:srgbClr val="CFD8DC"/>
              </a:solidFill>
            </a:ln>
          </p:spPr>
        </p:sp>
        <p:sp>
          <p:nvSpPr>
            <p:cNvPr id="24" name="TextBox 24"/>
            <p:cNvSpPr txBox="1"/>
            <p:nvPr/>
          </p:nvSpPr>
          <p:spPr>
            <a:xfrm>
              <a:off x="7033260" y="1537335"/>
              <a:ext cx="119062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1. 合法性区分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8938260" y="1537335"/>
              <a:ext cx="123863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先区分正向/反向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033260" y="1752843"/>
              <a:ext cx="119062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2. 等价类覆盖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8938260" y="1752843"/>
              <a:ext cx="123863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有效+无效全覆盖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7033260" y="1991765"/>
              <a:ext cx="119062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3. 边界值校验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938260" y="1991765"/>
              <a:ext cx="91859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临界值+极值</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033260" y="2207273"/>
              <a:ext cx="106235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4. 范围分层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8938260" y="2417999"/>
              <a:ext cx="123863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金字塔+异常场景</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541655" y="3785235"/>
            <a:ext cx="11049000" cy="571500"/>
            <a:chOff x="571500" y="2952750"/>
            <a:chExt cx="11049000" cy="571500"/>
          </a:xfrm>
        </p:grpSpPr>
        <p:sp>
          <p:nvSpPr>
            <p:cNvPr id="33" name="Rectangle 33"/>
            <p:cNvSpPr/>
            <p:nvPr/>
          </p:nvSpPr>
          <p:spPr>
            <a:xfrm>
              <a:off x="571500" y="2952750"/>
              <a:ext cx="11049000" cy="571500"/>
            </a:xfrm>
            <a:prstGeom prst="roundRect">
              <a:avLst>
                <a:gd name="adj" fmla="val 13333"/>
              </a:avLst>
            </a:prstGeom>
            <a:solidFill>
              <a:srgbClr val="00838F">
                <a:alpha val="6000"/>
              </a:srgbClr>
            </a:solidFill>
            <a:ln>
              <a:noFill/>
            </a:ln>
          </p:spPr>
        </p:sp>
        <p:sp>
          <p:nvSpPr>
            <p:cNvPr id="34" name="TextBox 34"/>
            <p:cNvSpPr txBox="1"/>
            <p:nvPr/>
          </p:nvSpPr>
          <p:spPr>
            <a:xfrm>
              <a:off x="2829554" y="3166110"/>
              <a:ext cx="6532893"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关键价值：新人也能设计出和老员工同等质量的测试用例 —— 让测试设计从艺术变为科学</a:t>
              </a:r>
              <a:endParaRPr lang="zh-CN" sz="1200" b="1" dirty="0">
                <a:solidFill>
                  <a:srgbClr val="00838F"/>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7" name="图片 3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38" name="TextBox 30"/>
          <p:cNvSpPr txBox="1"/>
          <p:nvPr>
            <p:custDataLst>
              <p:tags r:id="rId2"/>
            </p:custDataLst>
          </p:nvPr>
        </p:nvSpPr>
        <p:spPr>
          <a:xfrm>
            <a:off x="7044690" y="3083309"/>
            <a:ext cx="1062355" cy="184150"/>
          </a:xfrm>
          <a:prstGeom prst="rect">
            <a:avLst/>
          </a:prstGeom>
          <a:noFill/>
          <a:ln>
            <a:noFill/>
          </a:ln>
        </p:spPr>
        <p:txBody>
          <a:bodyPr wrap="square" lIns="0" tIns="0" rIns="0" bIns="0" anchor="t" anchorCtr="0">
            <a:spAutoFit/>
          </a:bodyPr>
          <a:p>
            <a:pPr algn="l"/>
            <a:r>
              <a:rPr lang="zh-CN" sz="1200" dirty="0">
                <a:solidFill>
                  <a:srgbClr val="263238"/>
                </a:solidFill>
                <a:latin typeface="Segoe UI" panose="020B0502040204020203"/>
                <a:ea typeface="微软雅黑" panose="020B0503020204020204" charset="-122"/>
                <a:cs typeface="Segoe UI" panose="020B0502040204020203"/>
              </a:rPr>
              <a:t>5. 风险猜错</a:t>
            </a:r>
            <a:r>
              <a:rPr lang="en-US" altLang="zh-CN" sz="1200" dirty="0">
                <a:solidFill>
                  <a:srgbClr val="263238"/>
                </a:solidFill>
                <a:latin typeface="Segoe UI" panose="020B0502040204020203"/>
                <a:ea typeface="微软雅黑" panose="020B0503020204020204" charset="-122"/>
                <a:cs typeface="Segoe UI" panose="020B0502040204020203"/>
              </a:rPr>
              <a:t> </a:t>
            </a:r>
            <a:r>
              <a:rPr lang="zh-CN" sz="1200" dirty="0">
                <a:solidFill>
                  <a:srgbClr val="263238"/>
                </a:solidFill>
                <a:latin typeface="Segoe UI" panose="020B0502040204020203"/>
                <a:ea typeface="微软雅黑" panose="020B0503020204020204" charset="-122"/>
                <a:cs typeface="Segoe UI" panose="020B0502040204020203"/>
                <a:sym typeface="+mn-ea"/>
              </a:rPr>
              <a:t>→ </a:t>
            </a:r>
            <a:endParaRPr lang="en-US" altLang="zh-CN" sz="1200" dirty="0">
              <a:solidFill>
                <a:srgbClr val="263238"/>
              </a:solidFill>
              <a:latin typeface="Segoe UI" panose="020B0502040204020203"/>
              <a:ea typeface="微软雅黑" panose="020B0503020204020204" charset="-122"/>
              <a:cs typeface="Segoe UI" panose="020B0502040204020203"/>
            </a:endParaRPr>
          </a:p>
        </p:txBody>
      </p:sp>
      <p:sp>
        <p:nvSpPr>
          <p:cNvPr id="39" name="TextBox 31"/>
          <p:cNvSpPr txBox="1"/>
          <p:nvPr>
            <p:custDataLst>
              <p:tags r:id="rId3"/>
            </p:custDataLst>
          </p:nvPr>
        </p:nvSpPr>
        <p:spPr>
          <a:xfrm>
            <a:off x="8933180" y="2736609"/>
            <a:ext cx="1238631" cy="184150"/>
          </a:xfrm>
          <a:prstGeom prst="rect">
            <a:avLst/>
          </a:prstGeom>
          <a:noFill/>
          <a:ln>
            <a:noFill/>
          </a:ln>
        </p:spPr>
        <p:txBody>
          <a:bodyPr wrap="squar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局部</a:t>
            </a:r>
            <a:r>
              <a:rPr lang="en-US" altLang="zh-CN" sz="1200" dirty="0">
                <a:solidFill>
                  <a:srgbClr val="546E7A"/>
                </a:solidFill>
                <a:latin typeface="Segoe UI" panose="020B0502040204020203"/>
                <a:ea typeface="微软雅黑" panose="020B0503020204020204" charset="-122"/>
                <a:cs typeface="Segoe UI" panose="020B0502040204020203"/>
              </a:rPr>
              <a:t>+</a:t>
            </a:r>
            <a:r>
              <a:rPr lang="zh-CN" altLang="en-US" sz="1200" dirty="0">
                <a:solidFill>
                  <a:srgbClr val="546E7A"/>
                </a:solidFill>
                <a:latin typeface="Segoe UI" panose="020B0502040204020203"/>
                <a:ea typeface="微软雅黑" panose="020B0503020204020204" charset="-122"/>
                <a:cs typeface="Segoe UI" panose="020B0502040204020203"/>
              </a:rPr>
              <a:t>全局</a:t>
            </a:r>
            <a:endParaRPr lang="zh-CN" altLang="en-US" sz="1200" dirty="0">
              <a:solidFill>
                <a:srgbClr val="546E7A"/>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image">
                                      <p:cBhvr>
                                        <p:cTn id="7" dur="4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400"/>
                                        <p:tgtEl>
                                          <p:spTgt spid="3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2" grpId="0"/>
      <p:bldP spid="3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790367"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AI时代测试策略的四个转变</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2" name="Group 22"/>
          <p:cNvGrpSpPr/>
          <p:nvPr/>
        </p:nvGrpSpPr>
        <p:grpSpPr>
          <a:xfrm>
            <a:off x="571500" y="904875"/>
            <a:ext cx="5334000" cy="1666875"/>
            <a:chOff x="571500" y="904875"/>
            <a:chExt cx="5334000" cy="1666875"/>
          </a:xfrm>
        </p:grpSpPr>
        <p:sp>
          <p:nvSpPr>
            <p:cNvPr id="10" name="Rectangle 10"/>
            <p:cNvSpPr/>
            <p:nvPr/>
          </p:nvSpPr>
          <p:spPr>
            <a:xfrm>
              <a:off x="571500" y="904875"/>
              <a:ext cx="5334000" cy="1666875"/>
            </a:xfrm>
            <a:prstGeom prst="roundRect">
              <a:avLst>
                <a:gd name="adj" fmla="val 6857"/>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grpSp>
          <p:nvGrpSpPr>
            <p:cNvPr id="14" name="Group 14"/>
            <p:cNvGrpSpPr/>
            <p:nvPr/>
          </p:nvGrpSpPr>
          <p:grpSpPr>
            <a:xfrm>
              <a:off x="854868" y="1198959"/>
              <a:ext cx="241698" cy="241739"/>
              <a:chOff x="854868" y="1198959"/>
              <a:chExt cx="241698" cy="241739"/>
            </a:xfrm>
          </p:grpSpPr>
          <p:sp>
            <p:nvSpPr>
              <p:cNvPr id="12" name="Freeform 12"/>
              <p:cNvSpPr/>
              <p:nvPr/>
            </p:nvSpPr>
            <p:spPr>
              <a:xfrm>
                <a:off x="863289" y="1249010"/>
                <a:ext cx="183268" cy="183268"/>
              </a:xfrm>
              <a:custGeom>
                <a:avLst/>
                <a:gdLst/>
                <a:ahLst/>
                <a:cxnLst/>
                <a:rect l="l" t="t" r="r" b="b"/>
                <a:pathLst>
                  <a:path w="183268" h="183268">
                    <a:moveTo>
                      <a:pt x="177874" y="99374"/>
                    </a:moveTo>
                    <a:lnTo>
                      <a:pt x="124055" y="119169"/>
                    </a:lnTo>
                    <a:cubicBezTo>
                      <a:pt x="121786" y="119999"/>
                      <a:pt x="119999" y="121786"/>
                      <a:pt x="119169" y="124055"/>
                    </a:cubicBezTo>
                    <a:lnTo>
                      <a:pt x="99374" y="177874"/>
                    </a:lnTo>
                    <a:cubicBezTo>
                      <a:pt x="98178" y="181115"/>
                      <a:pt x="95089" y="183268"/>
                      <a:pt x="91634" y="183268"/>
                    </a:cubicBezTo>
                    <a:cubicBezTo>
                      <a:pt x="88179" y="183268"/>
                      <a:pt x="85090" y="181115"/>
                      <a:pt x="83893" y="177874"/>
                    </a:cubicBezTo>
                    <a:lnTo>
                      <a:pt x="64099" y="124055"/>
                    </a:lnTo>
                    <a:cubicBezTo>
                      <a:pt x="63269" y="121786"/>
                      <a:pt x="61481" y="119999"/>
                      <a:pt x="59213" y="119169"/>
                    </a:cubicBezTo>
                    <a:lnTo>
                      <a:pt x="5394" y="99374"/>
                    </a:lnTo>
                    <a:cubicBezTo>
                      <a:pt x="2153" y="98178"/>
                      <a:pt x="0" y="95089"/>
                      <a:pt x="0" y="91634"/>
                    </a:cubicBezTo>
                    <a:cubicBezTo>
                      <a:pt x="0" y="88179"/>
                      <a:pt x="2153" y="85090"/>
                      <a:pt x="5394" y="83893"/>
                    </a:cubicBezTo>
                    <a:lnTo>
                      <a:pt x="59213" y="64099"/>
                    </a:lnTo>
                    <a:cubicBezTo>
                      <a:pt x="61481" y="63269"/>
                      <a:pt x="63269" y="61481"/>
                      <a:pt x="64099" y="59213"/>
                    </a:cubicBezTo>
                    <a:lnTo>
                      <a:pt x="83893" y="5394"/>
                    </a:lnTo>
                    <a:cubicBezTo>
                      <a:pt x="85090" y="2153"/>
                      <a:pt x="88179" y="0"/>
                      <a:pt x="91634" y="0"/>
                    </a:cubicBezTo>
                    <a:cubicBezTo>
                      <a:pt x="95089" y="0"/>
                      <a:pt x="98178" y="2153"/>
                      <a:pt x="99374" y="5394"/>
                    </a:cubicBezTo>
                    <a:lnTo>
                      <a:pt x="119169" y="59213"/>
                    </a:lnTo>
                    <a:cubicBezTo>
                      <a:pt x="119999" y="61481"/>
                      <a:pt x="121786" y="63269"/>
                      <a:pt x="124055" y="64099"/>
                    </a:cubicBezTo>
                    <a:lnTo>
                      <a:pt x="177874" y="83893"/>
                    </a:lnTo>
                    <a:cubicBezTo>
                      <a:pt x="181115" y="85090"/>
                      <a:pt x="183268" y="88179"/>
                      <a:pt x="183268" y="91634"/>
                    </a:cubicBezTo>
                    <a:cubicBezTo>
                      <a:pt x="183268" y="95089"/>
                      <a:pt x="181115" y="98178"/>
                      <a:pt x="177874" y="99374"/>
                    </a:cubicBezTo>
                    <a:close/>
                  </a:path>
                </a:pathLst>
              </a:custGeom>
              <a:solidFill>
                <a:srgbClr val="1565C0">
                  <a:alpha val="20000"/>
                </a:srgbClr>
              </a:solidFill>
              <a:ln>
                <a:noFill/>
              </a:ln>
            </p:spPr>
          </p:sp>
          <p:sp>
            <p:nvSpPr>
              <p:cNvPr id="13" name="Freeform 13"/>
              <p:cNvSpPr/>
              <p:nvPr/>
            </p:nvSpPr>
            <p:spPr>
              <a:xfrm>
                <a:off x="854868" y="1198959"/>
                <a:ext cx="241698" cy="241739"/>
              </a:xfrm>
              <a:custGeom>
                <a:avLst/>
                <a:gdLst/>
                <a:ahLst/>
                <a:cxnLst/>
                <a:rect l="l" t="t" r="r" b="b"/>
                <a:pathLst>
                  <a:path w="241698" h="241739">
                    <a:moveTo>
                      <a:pt x="189170" y="126120"/>
                    </a:moveTo>
                    <a:lnTo>
                      <a:pt x="135403" y="106326"/>
                    </a:lnTo>
                    <a:lnTo>
                      <a:pt x="115609" y="52517"/>
                    </a:lnTo>
                    <a:cubicBezTo>
                      <a:pt x="113208" y="45994"/>
                      <a:pt x="106995" y="41661"/>
                      <a:pt x="100044" y="41661"/>
                    </a:cubicBezTo>
                    <a:cubicBezTo>
                      <a:pt x="93094" y="41661"/>
                      <a:pt x="86881" y="45994"/>
                      <a:pt x="84480" y="52517"/>
                    </a:cubicBezTo>
                    <a:lnTo>
                      <a:pt x="64665" y="106263"/>
                    </a:lnTo>
                    <a:lnTo>
                      <a:pt x="10856" y="126057"/>
                    </a:lnTo>
                    <a:cubicBezTo>
                      <a:pt x="4334" y="128458"/>
                      <a:pt x="0" y="134671"/>
                      <a:pt x="0" y="141622"/>
                    </a:cubicBezTo>
                    <a:cubicBezTo>
                      <a:pt x="0" y="148572"/>
                      <a:pt x="4334" y="154785"/>
                      <a:pt x="10856" y="157186"/>
                    </a:cubicBezTo>
                    <a:lnTo>
                      <a:pt x="64592" y="177105"/>
                    </a:lnTo>
                    <a:lnTo>
                      <a:pt x="84386" y="230883"/>
                    </a:lnTo>
                    <a:cubicBezTo>
                      <a:pt x="86787" y="237406"/>
                      <a:pt x="93000" y="241739"/>
                      <a:pt x="99951" y="241739"/>
                    </a:cubicBezTo>
                    <a:cubicBezTo>
                      <a:pt x="106901" y="241739"/>
                      <a:pt x="113114" y="237406"/>
                      <a:pt x="115515" y="230883"/>
                    </a:cubicBezTo>
                    <a:lnTo>
                      <a:pt x="135309" y="177116"/>
                    </a:lnTo>
                    <a:lnTo>
                      <a:pt x="189118" y="157322"/>
                    </a:lnTo>
                    <a:cubicBezTo>
                      <a:pt x="195641" y="154921"/>
                      <a:pt x="199974" y="148708"/>
                      <a:pt x="199974" y="141757"/>
                    </a:cubicBezTo>
                    <a:cubicBezTo>
                      <a:pt x="199974" y="134807"/>
                      <a:pt x="195641" y="128594"/>
                      <a:pt x="189118" y="126193"/>
                    </a:cubicBezTo>
                    <a:close/>
                    <a:moveTo>
                      <a:pt x="129590" y="161479"/>
                    </a:moveTo>
                    <a:cubicBezTo>
                      <a:pt x="125031" y="163152"/>
                      <a:pt x="121439" y="166744"/>
                      <a:pt x="119766" y="171303"/>
                    </a:cubicBezTo>
                    <a:lnTo>
                      <a:pt x="99972" y="224914"/>
                    </a:lnTo>
                    <a:lnTo>
                      <a:pt x="80219" y="171261"/>
                    </a:lnTo>
                    <a:cubicBezTo>
                      <a:pt x="78545" y="166727"/>
                      <a:pt x="74970" y="163153"/>
                      <a:pt x="70437" y="161479"/>
                    </a:cubicBezTo>
                    <a:lnTo>
                      <a:pt x="70437" y="161479"/>
                    </a:lnTo>
                    <a:lnTo>
                      <a:pt x="16826" y="141684"/>
                    </a:lnTo>
                    <a:lnTo>
                      <a:pt x="70437" y="121890"/>
                    </a:lnTo>
                    <a:cubicBezTo>
                      <a:pt x="74970" y="120216"/>
                      <a:pt x="78545" y="116642"/>
                      <a:pt x="80219" y="112108"/>
                    </a:cubicBezTo>
                    <a:lnTo>
                      <a:pt x="100013" y="58497"/>
                    </a:lnTo>
                    <a:lnTo>
                      <a:pt x="119807" y="112108"/>
                    </a:lnTo>
                    <a:cubicBezTo>
                      <a:pt x="121480" y="116666"/>
                      <a:pt x="125073" y="120259"/>
                      <a:pt x="129631" y="121932"/>
                    </a:cubicBezTo>
                    <a:lnTo>
                      <a:pt x="183242" y="141726"/>
                    </a:lnTo>
                    <a:close/>
                    <a:moveTo>
                      <a:pt x="133351" y="33338"/>
                    </a:moveTo>
                    <a:cubicBezTo>
                      <a:pt x="133351" y="28735"/>
                      <a:pt x="137082" y="25003"/>
                      <a:pt x="141685" y="25003"/>
                    </a:cubicBezTo>
                    <a:lnTo>
                      <a:pt x="158354" y="25003"/>
                    </a:lnTo>
                    <a:lnTo>
                      <a:pt x="158354" y="8334"/>
                    </a:lnTo>
                    <a:cubicBezTo>
                      <a:pt x="158354" y="3731"/>
                      <a:pt x="162085" y="0"/>
                      <a:pt x="166688" y="0"/>
                    </a:cubicBezTo>
                    <a:cubicBezTo>
                      <a:pt x="171291" y="0"/>
                      <a:pt x="175023" y="3731"/>
                      <a:pt x="175023" y="8334"/>
                    </a:cubicBezTo>
                    <a:lnTo>
                      <a:pt x="175023" y="25003"/>
                    </a:lnTo>
                    <a:lnTo>
                      <a:pt x="191691" y="25003"/>
                    </a:lnTo>
                    <a:cubicBezTo>
                      <a:pt x="196294" y="25003"/>
                      <a:pt x="200026" y="28735"/>
                      <a:pt x="200026" y="33338"/>
                    </a:cubicBezTo>
                    <a:cubicBezTo>
                      <a:pt x="200026" y="37940"/>
                      <a:pt x="196294" y="41672"/>
                      <a:pt x="191691" y="41672"/>
                    </a:cubicBezTo>
                    <a:lnTo>
                      <a:pt x="175023" y="41672"/>
                    </a:lnTo>
                    <a:lnTo>
                      <a:pt x="175023" y="58341"/>
                    </a:lnTo>
                    <a:cubicBezTo>
                      <a:pt x="175023" y="62944"/>
                      <a:pt x="171291" y="66675"/>
                      <a:pt x="166688" y="66675"/>
                    </a:cubicBezTo>
                    <a:cubicBezTo>
                      <a:pt x="162085" y="66675"/>
                      <a:pt x="158354" y="62944"/>
                      <a:pt x="158354" y="58341"/>
                    </a:cubicBezTo>
                    <a:lnTo>
                      <a:pt x="158354" y="41672"/>
                    </a:lnTo>
                    <a:lnTo>
                      <a:pt x="141685" y="41672"/>
                    </a:lnTo>
                    <a:cubicBezTo>
                      <a:pt x="137082" y="41672"/>
                      <a:pt x="133351" y="37940"/>
                      <a:pt x="133351" y="33338"/>
                    </a:cubicBezTo>
                    <a:close/>
                    <a:moveTo>
                      <a:pt x="241698" y="83344"/>
                    </a:moveTo>
                    <a:cubicBezTo>
                      <a:pt x="241698" y="87947"/>
                      <a:pt x="237966" y="91678"/>
                      <a:pt x="233363" y="91678"/>
                    </a:cubicBezTo>
                    <a:lnTo>
                      <a:pt x="225029" y="91678"/>
                    </a:lnTo>
                    <a:lnTo>
                      <a:pt x="225029" y="100012"/>
                    </a:lnTo>
                    <a:cubicBezTo>
                      <a:pt x="225029" y="104615"/>
                      <a:pt x="221297" y="108347"/>
                      <a:pt x="216694" y="108347"/>
                    </a:cubicBezTo>
                    <a:cubicBezTo>
                      <a:pt x="212091" y="108347"/>
                      <a:pt x="208360" y="104615"/>
                      <a:pt x="208360" y="100012"/>
                    </a:cubicBezTo>
                    <a:lnTo>
                      <a:pt x="208360" y="91678"/>
                    </a:lnTo>
                    <a:lnTo>
                      <a:pt x="200026" y="91678"/>
                    </a:lnTo>
                    <a:cubicBezTo>
                      <a:pt x="195423" y="91678"/>
                      <a:pt x="191691" y="87947"/>
                      <a:pt x="191691" y="83344"/>
                    </a:cubicBezTo>
                    <a:cubicBezTo>
                      <a:pt x="191691" y="78741"/>
                      <a:pt x="195423" y="75009"/>
                      <a:pt x="200026" y="75009"/>
                    </a:cubicBezTo>
                    <a:lnTo>
                      <a:pt x="208360" y="75009"/>
                    </a:lnTo>
                    <a:lnTo>
                      <a:pt x="208360" y="66675"/>
                    </a:lnTo>
                    <a:cubicBezTo>
                      <a:pt x="208360" y="62072"/>
                      <a:pt x="212091" y="58341"/>
                      <a:pt x="216694" y="58341"/>
                    </a:cubicBezTo>
                    <a:cubicBezTo>
                      <a:pt x="221297" y="58341"/>
                      <a:pt x="225029" y="62072"/>
                      <a:pt x="225029" y="66675"/>
                    </a:cubicBezTo>
                    <a:lnTo>
                      <a:pt x="225029" y="75009"/>
                    </a:lnTo>
                    <a:lnTo>
                      <a:pt x="233363" y="75009"/>
                    </a:lnTo>
                    <a:cubicBezTo>
                      <a:pt x="237966" y="75009"/>
                      <a:pt x="241698" y="78741"/>
                      <a:pt x="241698" y="83344"/>
                    </a:cubicBezTo>
                    <a:close/>
                  </a:path>
                </a:pathLst>
              </a:custGeom>
              <a:solidFill>
                <a:srgbClr val="1565C0"/>
              </a:solidFill>
              <a:ln>
                <a:noFill/>
              </a:ln>
            </p:spPr>
          </p:sp>
        </p:grpSp>
        <p:sp>
          <p:nvSpPr>
            <p:cNvPr id="15" name="TextBox 15"/>
            <p:cNvSpPr txBox="1"/>
            <p:nvPr/>
          </p:nvSpPr>
          <p:spPr>
            <a:xfrm>
              <a:off x="1266825" y="1219200"/>
              <a:ext cx="1214247" cy="304800"/>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Q1 测试生成</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6" name="Line 16"/>
            <p:cNvSpPr/>
            <p:nvPr/>
          </p:nvSpPr>
          <p:spPr>
            <a:xfrm>
              <a:off x="838200" y="1524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17" name="TextBox 17"/>
            <p:cNvSpPr txBox="1"/>
            <p:nvPr/>
          </p:nvSpPr>
          <p:spPr>
            <a:xfrm>
              <a:off x="938212" y="1688306"/>
              <a:ext cx="94368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从"人写测试"</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2838450" y="1647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3224212" y="1688306"/>
              <a:ext cx="1997571"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"AI生成测试+人审核心逻辑"</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7260" y="1965960"/>
              <a:ext cx="416699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AI依据五维度体系自动生成测试用例，人只需审查业务逻辑</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2240756"/>
              <a:ext cx="1233601"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效率提升：3-5倍</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6286500" y="904875"/>
            <a:ext cx="5334000" cy="1666875"/>
            <a:chOff x="6286500" y="904875"/>
            <a:chExt cx="5334000" cy="1666875"/>
          </a:xfrm>
        </p:grpSpPr>
        <p:sp>
          <p:nvSpPr>
            <p:cNvPr id="23" name="Rectangle 23"/>
            <p:cNvSpPr/>
            <p:nvPr/>
          </p:nvSpPr>
          <p:spPr>
            <a:xfrm>
              <a:off x="6286500" y="904875"/>
              <a:ext cx="5334000" cy="1666875"/>
            </a:xfrm>
            <a:prstGeom prst="roundRect">
              <a:avLst>
                <a:gd name="adj" fmla="val 6857"/>
              </a:avLst>
            </a:prstGeom>
            <a:solidFill>
              <a:srgbClr val="FFFFFF"/>
            </a:solidFill>
            <a:ln>
              <a:noFill/>
            </a:ln>
          </p:spPr>
        </p:sp>
        <p:sp>
          <p:nvSpPr>
            <p:cNvPr id="24" name="Rectangle 24"/>
            <p:cNvSpPr/>
            <p:nvPr/>
          </p:nvSpPr>
          <p:spPr>
            <a:xfrm>
              <a:off x="6286500" y="904875"/>
              <a:ext cx="5334000" cy="38100"/>
            </a:xfrm>
            <a:prstGeom prst="roundRect">
              <a:avLst>
                <a:gd name="adj" fmla="val 50000"/>
              </a:avLst>
            </a:prstGeom>
            <a:solidFill>
              <a:srgbClr val="00838F"/>
            </a:solidFill>
            <a:ln>
              <a:noFill/>
            </a:ln>
          </p:spPr>
        </p:sp>
        <p:grpSp>
          <p:nvGrpSpPr>
            <p:cNvPr id="27" name="Group 27"/>
            <p:cNvGrpSpPr/>
            <p:nvPr/>
          </p:nvGrpSpPr>
          <p:grpSpPr>
            <a:xfrm>
              <a:off x="6578203" y="1215628"/>
              <a:ext cx="216694" cy="216694"/>
              <a:chOff x="6578203" y="1215628"/>
              <a:chExt cx="216694" cy="216694"/>
            </a:xfrm>
          </p:grpSpPr>
          <p:sp>
            <p:nvSpPr>
              <p:cNvPr id="25" name="Freeform 25"/>
              <p:cNvSpPr/>
              <p:nvPr/>
            </p:nvSpPr>
            <p:spPr>
              <a:xfrm>
                <a:off x="6586538" y="1223962"/>
                <a:ext cx="200025" cy="200025"/>
              </a:xfrm>
              <a:custGeom>
                <a:avLst/>
                <a:gdLst/>
                <a:ahLst/>
                <a:cxnLst/>
                <a:rect l="l" t="t" r="r" b="b"/>
                <a:pathLst>
                  <a:path w="200025" h="200025">
                    <a:moveTo>
                      <a:pt x="200025" y="100012"/>
                    </a:moveTo>
                    <a:cubicBezTo>
                      <a:pt x="200025" y="155248"/>
                      <a:pt x="155248" y="200025"/>
                      <a:pt x="100012" y="200025"/>
                    </a:cubicBezTo>
                    <a:cubicBezTo>
                      <a:pt x="44777" y="200025"/>
                      <a:pt x="0" y="155248"/>
                      <a:pt x="0" y="100012"/>
                    </a:cubicBezTo>
                    <a:cubicBezTo>
                      <a:pt x="0" y="44777"/>
                      <a:pt x="44777" y="0"/>
                      <a:pt x="100012" y="0"/>
                    </a:cubicBezTo>
                    <a:cubicBezTo>
                      <a:pt x="155248" y="0"/>
                      <a:pt x="200025" y="44777"/>
                      <a:pt x="200025" y="100012"/>
                    </a:cubicBezTo>
                    <a:close/>
                  </a:path>
                </a:pathLst>
              </a:custGeom>
              <a:solidFill>
                <a:srgbClr val="00838F">
                  <a:alpha val="20000"/>
                </a:srgbClr>
              </a:solidFill>
              <a:ln>
                <a:noFill/>
              </a:ln>
            </p:spPr>
          </p:sp>
          <p:sp>
            <p:nvSpPr>
              <p:cNvPr id="26" name="Freeform 26"/>
              <p:cNvSpPr/>
              <p:nvPr/>
            </p:nvSpPr>
            <p:spPr>
              <a:xfrm>
                <a:off x="6578203" y="1215628"/>
                <a:ext cx="216694" cy="216694"/>
              </a:xfrm>
              <a:custGeom>
                <a:avLst/>
                <a:gdLst/>
                <a:ahLst/>
                <a:cxnLst/>
                <a:rect l="l" t="t" r="r" b="b"/>
                <a:pathLst>
                  <a:path w="216694" h="216694">
                    <a:moveTo>
                      <a:pt x="108347" y="0"/>
                    </a:moveTo>
                    <a:cubicBezTo>
                      <a:pt x="48509" y="0"/>
                      <a:pt x="0" y="48509"/>
                      <a:pt x="0" y="108347"/>
                    </a:cubicBezTo>
                    <a:cubicBezTo>
                      <a:pt x="0" y="168185"/>
                      <a:pt x="48509" y="216694"/>
                      <a:pt x="108347" y="216694"/>
                    </a:cubicBezTo>
                    <a:cubicBezTo>
                      <a:pt x="168185" y="216694"/>
                      <a:pt x="216694" y="168185"/>
                      <a:pt x="216694" y="108347"/>
                    </a:cubicBezTo>
                    <a:cubicBezTo>
                      <a:pt x="216631" y="48535"/>
                      <a:pt x="168159" y="63"/>
                      <a:pt x="108347" y="0"/>
                    </a:cubicBezTo>
                    <a:close/>
                    <a:moveTo>
                      <a:pt x="108347" y="200025"/>
                    </a:moveTo>
                    <a:cubicBezTo>
                      <a:pt x="57714" y="200025"/>
                      <a:pt x="16669" y="158979"/>
                      <a:pt x="16669" y="108347"/>
                    </a:cubicBezTo>
                    <a:cubicBezTo>
                      <a:pt x="16669" y="57714"/>
                      <a:pt x="57714" y="16669"/>
                      <a:pt x="108347" y="16669"/>
                    </a:cubicBezTo>
                    <a:cubicBezTo>
                      <a:pt x="158979" y="16669"/>
                      <a:pt x="200025" y="57714"/>
                      <a:pt x="200025" y="108347"/>
                    </a:cubicBezTo>
                    <a:cubicBezTo>
                      <a:pt x="199968" y="158956"/>
                      <a:pt x="158956" y="199968"/>
                      <a:pt x="108347" y="200025"/>
                    </a:cubicBezTo>
                    <a:close/>
                    <a:moveTo>
                      <a:pt x="175022" y="108347"/>
                    </a:moveTo>
                    <a:cubicBezTo>
                      <a:pt x="175022" y="112950"/>
                      <a:pt x="171290" y="116681"/>
                      <a:pt x="166688" y="116681"/>
                    </a:cubicBezTo>
                    <a:lnTo>
                      <a:pt x="108347" y="116681"/>
                    </a:lnTo>
                    <a:cubicBezTo>
                      <a:pt x="103744" y="116681"/>
                      <a:pt x="100012" y="112950"/>
                      <a:pt x="100012" y="108347"/>
                    </a:cubicBezTo>
                    <a:lnTo>
                      <a:pt x="100012" y="50006"/>
                    </a:lnTo>
                    <a:cubicBezTo>
                      <a:pt x="100012" y="45403"/>
                      <a:pt x="103744" y="41672"/>
                      <a:pt x="108347" y="41672"/>
                    </a:cubicBezTo>
                    <a:cubicBezTo>
                      <a:pt x="112950" y="41672"/>
                      <a:pt x="116681" y="45403"/>
                      <a:pt x="116681" y="50006"/>
                    </a:cubicBezTo>
                    <a:lnTo>
                      <a:pt x="116681" y="100012"/>
                    </a:lnTo>
                    <a:lnTo>
                      <a:pt x="166688" y="100012"/>
                    </a:lnTo>
                    <a:cubicBezTo>
                      <a:pt x="171290" y="100012"/>
                      <a:pt x="175022" y="103744"/>
                      <a:pt x="175022" y="108347"/>
                    </a:cubicBezTo>
                    <a:close/>
                  </a:path>
                </a:pathLst>
              </a:custGeom>
              <a:solidFill>
                <a:srgbClr val="00838F"/>
              </a:solidFill>
              <a:ln>
                <a:noFill/>
              </a:ln>
            </p:spPr>
          </p:sp>
        </p:grpSp>
        <p:sp>
          <p:nvSpPr>
            <p:cNvPr id="28" name="TextBox 28"/>
            <p:cNvSpPr txBox="1"/>
            <p:nvPr/>
          </p:nvSpPr>
          <p:spPr>
            <a:xfrm>
              <a:off x="6981825" y="1219200"/>
              <a:ext cx="1214247" cy="304800"/>
            </a:xfrm>
            <a:prstGeom prst="rect">
              <a:avLst/>
            </a:prstGeom>
            <a:noFill/>
            <a:ln>
              <a:noFill/>
            </a:ln>
          </p:spPr>
          <p:txBody>
            <a:bodyPr wrap="none" lIns="0" tIns="0" rIns="0" bIns="0" anchor="t" anchorCtr="0">
              <a:spAutoFit/>
            </a:bodyPr>
            <a:lstStyle/>
            <a:p>
              <a:pPr algn="l"/>
              <a:r>
                <a:rPr lang="zh-CN" sz="1500" b="1" dirty="0">
                  <a:solidFill>
                    <a:srgbClr val="00838F"/>
                  </a:solidFill>
                  <a:latin typeface="Segoe UI" panose="020B0502040204020203"/>
                  <a:ea typeface="微软雅黑" panose="020B0503020204020204" charset="-122"/>
                  <a:cs typeface="Segoe UI" panose="020B0502040204020203"/>
                </a:rPr>
                <a:t>Q2 测试执行</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29" name="Line 29"/>
            <p:cNvSpPr/>
            <p:nvPr/>
          </p:nvSpPr>
          <p:spPr>
            <a:xfrm>
              <a:off x="6553200" y="1524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30" name="TextBox 30"/>
            <p:cNvSpPr txBox="1"/>
            <p:nvPr/>
          </p:nvSpPr>
          <p:spPr>
            <a:xfrm>
              <a:off x="6653212" y="1688306"/>
              <a:ext cx="94368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从"定期执行"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8267700" y="1647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8653462" y="1688306"/>
              <a:ext cx="1777044"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"每次变更自动全量回归"</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652260" y="1965960"/>
              <a:ext cx="3790950"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CI/CD触发自动化测试，每次代码提交都运行全量回归</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6653212" y="2240756"/>
              <a:ext cx="2076331"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频率提升：从每周到每次提交</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2809875"/>
            <a:ext cx="5334000" cy="1666875"/>
            <a:chOff x="571500" y="2809875"/>
            <a:chExt cx="5334000" cy="1666875"/>
          </a:xfrm>
        </p:grpSpPr>
        <p:sp>
          <p:nvSpPr>
            <p:cNvPr id="36" name="Rectangle 36"/>
            <p:cNvSpPr/>
            <p:nvPr/>
          </p:nvSpPr>
          <p:spPr>
            <a:xfrm>
              <a:off x="571500" y="2809875"/>
              <a:ext cx="5334000" cy="1666875"/>
            </a:xfrm>
            <a:prstGeom prst="roundRect">
              <a:avLst>
                <a:gd name="adj" fmla="val 6857"/>
              </a:avLst>
            </a:prstGeom>
            <a:solidFill>
              <a:srgbClr val="FFFFFF"/>
            </a:solidFill>
            <a:ln>
              <a:noFill/>
            </a:ln>
          </p:spPr>
        </p:sp>
        <p:sp>
          <p:nvSpPr>
            <p:cNvPr id="37" name="Rectangle 37"/>
            <p:cNvSpPr/>
            <p:nvPr/>
          </p:nvSpPr>
          <p:spPr>
            <a:xfrm>
              <a:off x="571500" y="2809875"/>
              <a:ext cx="5334000" cy="38100"/>
            </a:xfrm>
            <a:prstGeom prst="roundRect">
              <a:avLst>
                <a:gd name="adj" fmla="val 50000"/>
              </a:avLst>
            </a:prstGeom>
            <a:solidFill>
              <a:srgbClr val="FF6F00"/>
            </a:solidFill>
            <a:ln>
              <a:noFill/>
            </a:ln>
          </p:spPr>
        </p:sp>
        <p:grpSp>
          <p:nvGrpSpPr>
            <p:cNvPr id="40" name="Group 40"/>
            <p:cNvGrpSpPr/>
            <p:nvPr/>
          </p:nvGrpSpPr>
          <p:grpSpPr>
            <a:xfrm>
              <a:off x="871535" y="3128962"/>
              <a:ext cx="200028" cy="200025"/>
              <a:chOff x="871535" y="3128962"/>
              <a:chExt cx="200028" cy="200025"/>
            </a:xfrm>
          </p:grpSpPr>
          <p:sp>
            <p:nvSpPr>
              <p:cNvPr id="38" name="Freeform 38"/>
              <p:cNvSpPr/>
              <p:nvPr/>
            </p:nvSpPr>
            <p:spPr>
              <a:xfrm>
                <a:off x="879872" y="3145631"/>
                <a:ext cx="183356" cy="166688"/>
              </a:xfrm>
              <a:custGeom>
                <a:avLst/>
                <a:gdLst/>
                <a:ahLst/>
                <a:cxnLst/>
                <a:rect l="l" t="t" r="r" b="b"/>
                <a:pathLst>
                  <a:path w="183356" h="166688">
                    <a:moveTo>
                      <a:pt x="183356" y="0"/>
                    </a:moveTo>
                    <a:lnTo>
                      <a:pt x="183356" y="50006"/>
                    </a:lnTo>
                    <a:lnTo>
                      <a:pt x="133350" y="50006"/>
                    </a:lnTo>
                    <a:close/>
                    <a:moveTo>
                      <a:pt x="0" y="166688"/>
                    </a:moveTo>
                    <a:lnTo>
                      <a:pt x="50006" y="116681"/>
                    </a:lnTo>
                    <a:lnTo>
                      <a:pt x="0" y="116681"/>
                    </a:lnTo>
                    <a:close/>
                  </a:path>
                </a:pathLst>
              </a:custGeom>
              <a:solidFill>
                <a:srgbClr val="FF6F00">
                  <a:alpha val="20000"/>
                </a:srgbClr>
              </a:solidFill>
              <a:ln>
                <a:noFill/>
              </a:ln>
            </p:spPr>
          </p:sp>
          <p:sp>
            <p:nvSpPr>
              <p:cNvPr id="39" name="Freeform 39"/>
              <p:cNvSpPr/>
              <p:nvPr/>
            </p:nvSpPr>
            <p:spPr>
              <a:xfrm>
                <a:off x="871535" y="3128962"/>
                <a:ext cx="200028" cy="200025"/>
              </a:xfrm>
              <a:custGeom>
                <a:avLst/>
                <a:gdLst/>
                <a:ahLst/>
                <a:cxnLst/>
                <a:rect l="l" t="t" r="r" b="b"/>
                <a:pathLst>
                  <a:path w="200028" h="200025">
                    <a:moveTo>
                      <a:pt x="194881" y="8970"/>
                    </a:moveTo>
                    <a:cubicBezTo>
                      <a:pt x="191767" y="7678"/>
                      <a:pt x="188182" y="8389"/>
                      <a:pt x="185797" y="10772"/>
                    </a:cubicBezTo>
                    <a:lnTo>
                      <a:pt x="169065" y="27514"/>
                    </a:lnTo>
                    <a:cubicBezTo>
                      <a:pt x="148073" y="9480"/>
                      <a:pt x="124352" y="0"/>
                      <a:pt x="100015" y="0"/>
                    </a:cubicBezTo>
                    <a:cubicBezTo>
                      <a:pt x="55405" y="0"/>
                      <a:pt x="28569" y="26326"/>
                      <a:pt x="27444" y="27441"/>
                    </a:cubicBezTo>
                    <a:cubicBezTo>
                      <a:pt x="24187" y="30698"/>
                      <a:pt x="24187" y="35977"/>
                      <a:pt x="27444" y="39234"/>
                    </a:cubicBezTo>
                    <a:cubicBezTo>
                      <a:pt x="30700" y="42491"/>
                      <a:pt x="35980" y="42491"/>
                      <a:pt x="39237" y="39234"/>
                    </a:cubicBezTo>
                    <a:cubicBezTo>
                      <a:pt x="39456" y="39005"/>
                      <a:pt x="62229" y="16669"/>
                      <a:pt x="100015" y="16669"/>
                    </a:cubicBezTo>
                    <a:cubicBezTo>
                      <a:pt x="124154" y="16669"/>
                      <a:pt x="143687" y="27972"/>
                      <a:pt x="157231" y="39338"/>
                    </a:cubicBezTo>
                    <a:lnTo>
                      <a:pt x="135790" y="60778"/>
                    </a:lnTo>
                    <a:cubicBezTo>
                      <a:pt x="133404" y="63162"/>
                      <a:pt x="132690" y="66749"/>
                      <a:pt x="133981" y="69865"/>
                    </a:cubicBezTo>
                    <a:cubicBezTo>
                      <a:pt x="135272" y="72981"/>
                      <a:pt x="138314" y="75012"/>
                      <a:pt x="141687" y="75009"/>
                    </a:cubicBezTo>
                    <a:lnTo>
                      <a:pt x="191693" y="75009"/>
                    </a:lnTo>
                    <a:cubicBezTo>
                      <a:pt x="196296" y="75009"/>
                      <a:pt x="200028" y="71278"/>
                      <a:pt x="200028" y="66675"/>
                    </a:cubicBezTo>
                    <a:lnTo>
                      <a:pt x="200028" y="16669"/>
                    </a:lnTo>
                    <a:cubicBezTo>
                      <a:pt x="200027" y="13298"/>
                      <a:pt x="197996" y="10259"/>
                      <a:pt x="194881" y="8970"/>
                    </a:cubicBezTo>
                    <a:close/>
                    <a:moveTo>
                      <a:pt x="183359" y="58341"/>
                    </a:moveTo>
                    <a:lnTo>
                      <a:pt x="161804" y="58341"/>
                    </a:lnTo>
                    <a:lnTo>
                      <a:pt x="183359" y="36786"/>
                    </a:lnTo>
                    <a:close/>
                    <a:moveTo>
                      <a:pt x="160794" y="160791"/>
                    </a:moveTo>
                    <a:cubicBezTo>
                      <a:pt x="160575" y="161020"/>
                      <a:pt x="137801" y="183356"/>
                      <a:pt x="100015" y="183356"/>
                    </a:cubicBezTo>
                    <a:cubicBezTo>
                      <a:pt x="75877" y="183356"/>
                      <a:pt x="56343" y="172053"/>
                      <a:pt x="42800" y="160687"/>
                    </a:cubicBezTo>
                    <a:lnTo>
                      <a:pt x="64240" y="139247"/>
                    </a:lnTo>
                    <a:cubicBezTo>
                      <a:pt x="66626" y="136863"/>
                      <a:pt x="67341" y="133276"/>
                      <a:pt x="66049" y="130160"/>
                    </a:cubicBezTo>
                    <a:cubicBezTo>
                      <a:pt x="64758" y="127044"/>
                      <a:pt x="61716" y="125013"/>
                      <a:pt x="58343" y="125016"/>
                    </a:cubicBezTo>
                    <a:lnTo>
                      <a:pt x="8337" y="125016"/>
                    </a:lnTo>
                    <a:cubicBezTo>
                      <a:pt x="3734" y="125016"/>
                      <a:pt x="3" y="128747"/>
                      <a:pt x="3" y="133350"/>
                    </a:cubicBezTo>
                    <a:lnTo>
                      <a:pt x="3" y="183356"/>
                    </a:lnTo>
                    <a:cubicBezTo>
                      <a:pt x="0" y="186729"/>
                      <a:pt x="2031" y="189771"/>
                      <a:pt x="5147" y="191062"/>
                    </a:cubicBezTo>
                    <a:cubicBezTo>
                      <a:pt x="8263" y="192354"/>
                      <a:pt x="11850" y="191639"/>
                      <a:pt x="14234" y="189253"/>
                    </a:cubicBezTo>
                    <a:lnTo>
                      <a:pt x="30965" y="172511"/>
                    </a:lnTo>
                    <a:cubicBezTo>
                      <a:pt x="51957" y="190545"/>
                      <a:pt x="75679" y="200025"/>
                      <a:pt x="100015" y="200025"/>
                    </a:cubicBezTo>
                    <a:cubicBezTo>
                      <a:pt x="144625" y="200025"/>
                      <a:pt x="171462" y="173699"/>
                      <a:pt x="172587" y="172584"/>
                    </a:cubicBezTo>
                    <a:cubicBezTo>
                      <a:pt x="175843" y="169327"/>
                      <a:pt x="175843" y="164048"/>
                      <a:pt x="172587" y="160791"/>
                    </a:cubicBezTo>
                    <a:cubicBezTo>
                      <a:pt x="169330" y="157534"/>
                      <a:pt x="164050" y="157534"/>
                      <a:pt x="160794" y="160791"/>
                    </a:cubicBezTo>
                    <a:close/>
                    <a:moveTo>
                      <a:pt x="16671" y="141684"/>
                    </a:moveTo>
                    <a:lnTo>
                      <a:pt x="38226" y="141684"/>
                    </a:lnTo>
                    <a:lnTo>
                      <a:pt x="16671" y="163239"/>
                    </a:lnTo>
                    <a:close/>
                  </a:path>
                </a:pathLst>
              </a:custGeom>
              <a:solidFill>
                <a:srgbClr val="FF6F00"/>
              </a:solidFill>
              <a:ln>
                <a:noFill/>
              </a:ln>
            </p:spPr>
          </p:sp>
        </p:grpSp>
        <p:sp>
          <p:nvSpPr>
            <p:cNvPr id="41" name="TextBox 41"/>
            <p:cNvSpPr txBox="1"/>
            <p:nvPr/>
          </p:nvSpPr>
          <p:spPr>
            <a:xfrm>
              <a:off x="1266825" y="3124200"/>
              <a:ext cx="1214247" cy="304800"/>
            </a:xfrm>
            <a:prstGeom prst="rect">
              <a:avLst/>
            </a:prstGeom>
            <a:noFill/>
            <a:ln>
              <a:noFill/>
            </a:ln>
          </p:spPr>
          <p:txBody>
            <a:bodyPr wrap="none" lIns="0" tIns="0" rIns="0" bIns="0" anchor="t" anchorCtr="0">
              <a:spAutoFit/>
            </a:bodyPr>
            <a:lstStyle/>
            <a:p>
              <a:pPr algn="l"/>
              <a:r>
                <a:rPr lang="zh-CN" sz="1500" b="1" dirty="0">
                  <a:solidFill>
                    <a:srgbClr val="FF6F00"/>
                  </a:solidFill>
                  <a:latin typeface="Segoe UI" panose="020B0502040204020203"/>
                  <a:ea typeface="微软雅黑" panose="020B0503020204020204" charset="-122"/>
                  <a:cs typeface="Segoe UI" panose="020B0502040204020203"/>
                </a:rPr>
                <a:t>Q3 测试维护</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42" name="Line 42"/>
            <p:cNvSpPr/>
            <p:nvPr/>
          </p:nvSpPr>
          <p:spPr>
            <a:xfrm>
              <a:off x="838200" y="3429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43" name="TextBox 43"/>
            <p:cNvSpPr txBox="1"/>
            <p:nvPr/>
          </p:nvSpPr>
          <p:spPr>
            <a:xfrm>
              <a:off x="938212" y="3593306"/>
              <a:ext cx="154376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从"代码改了测试没改"</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3219450" y="3552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3605212" y="3593306"/>
              <a:ext cx="1753416"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"AI同步维护测试与代码"</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937260" y="3870960"/>
              <a:ext cx="448703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每次代码变更时AI自动更新相关测试用例，保持测试与代码一致</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938212" y="4145756"/>
              <a:ext cx="142262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维护成本降低：80%</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61" name="Group 61"/>
          <p:cNvGrpSpPr/>
          <p:nvPr/>
        </p:nvGrpSpPr>
        <p:grpSpPr>
          <a:xfrm>
            <a:off x="6286500" y="2809875"/>
            <a:ext cx="5334000" cy="1666875"/>
            <a:chOff x="6286500" y="2809875"/>
            <a:chExt cx="5334000" cy="1666875"/>
          </a:xfrm>
        </p:grpSpPr>
        <p:sp>
          <p:nvSpPr>
            <p:cNvPr id="49" name="Rectangle 49"/>
            <p:cNvSpPr/>
            <p:nvPr/>
          </p:nvSpPr>
          <p:spPr>
            <a:xfrm>
              <a:off x="6286500" y="2809875"/>
              <a:ext cx="5334000" cy="1666875"/>
            </a:xfrm>
            <a:prstGeom prst="roundRect">
              <a:avLst>
                <a:gd name="adj" fmla="val 6857"/>
              </a:avLst>
            </a:prstGeom>
            <a:solidFill>
              <a:srgbClr val="FFFFFF"/>
            </a:solidFill>
            <a:ln>
              <a:noFill/>
            </a:ln>
          </p:spPr>
        </p:sp>
        <p:sp>
          <p:nvSpPr>
            <p:cNvPr id="50" name="Rectangle 50"/>
            <p:cNvSpPr/>
            <p:nvPr/>
          </p:nvSpPr>
          <p:spPr>
            <a:xfrm>
              <a:off x="6286500" y="2809875"/>
              <a:ext cx="5334000" cy="38100"/>
            </a:xfrm>
            <a:prstGeom prst="roundRect">
              <a:avLst>
                <a:gd name="adj" fmla="val 50000"/>
              </a:avLst>
            </a:prstGeom>
            <a:solidFill>
              <a:srgbClr val="1565C0"/>
            </a:solidFill>
            <a:ln>
              <a:noFill/>
            </a:ln>
          </p:spPr>
        </p:sp>
        <p:grpSp>
          <p:nvGrpSpPr>
            <p:cNvPr id="53" name="Group 53"/>
            <p:cNvGrpSpPr/>
            <p:nvPr/>
          </p:nvGrpSpPr>
          <p:grpSpPr>
            <a:xfrm>
              <a:off x="6578203" y="3128962"/>
              <a:ext cx="216694" cy="191691"/>
              <a:chOff x="6578203" y="3128962"/>
              <a:chExt cx="216694" cy="191691"/>
            </a:xfrm>
          </p:grpSpPr>
          <p:sp>
            <p:nvSpPr>
              <p:cNvPr id="51" name="Freeform 51"/>
              <p:cNvSpPr/>
              <p:nvPr/>
            </p:nvSpPr>
            <p:spPr>
              <a:xfrm>
                <a:off x="6711553" y="3137297"/>
                <a:ext cx="58341" cy="175022"/>
              </a:xfrm>
              <a:custGeom>
                <a:avLst/>
                <a:gdLst/>
                <a:ahLst/>
                <a:cxnLst/>
                <a:rect l="l" t="t" r="r" b="b"/>
                <a:pathLst>
                  <a:path w="58341" h="175022">
                    <a:moveTo>
                      <a:pt x="58341" y="0"/>
                    </a:moveTo>
                    <a:lnTo>
                      <a:pt x="58341" y="175022"/>
                    </a:lnTo>
                    <a:lnTo>
                      <a:pt x="0" y="175022"/>
                    </a:lnTo>
                    <a:lnTo>
                      <a:pt x="0" y="0"/>
                    </a:lnTo>
                    <a:close/>
                  </a:path>
                </a:pathLst>
              </a:custGeom>
              <a:solidFill>
                <a:srgbClr val="1565C0">
                  <a:alpha val="20000"/>
                </a:srgbClr>
              </a:solidFill>
              <a:ln>
                <a:noFill/>
              </a:ln>
            </p:spPr>
          </p:sp>
          <p:sp>
            <p:nvSpPr>
              <p:cNvPr id="52" name="Freeform 52"/>
              <p:cNvSpPr/>
              <p:nvPr/>
            </p:nvSpPr>
            <p:spPr>
              <a:xfrm>
                <a:off x="6578203" y="3128962"/>
                <a:ext cx="216694" cy="191691"/>
              </a:xfrm>
              <a:custGeom>
                <a:avLst/>
                <a:gdLst/>
                <a:ahLst/>
                <a:cxnLst/>
                <a:rect l="l" t="t" r="r" b="b"/>
                <a:pathLst>
                  <a:path w="216694" h="191691">
                    <a:moveTo>
                      <a:pt x="208359" y="175022"/>
                    </a:moveTo>
                    <a:lnTo>
                      <a:pt x="200025" y="175022"/>
                    </a:lnTo>
                    <a:lnTo>
                      <a:pt x="200025" y="8334"/>
                    </a:lnTo>
                    <a:cubicBezTo>
                      <a:pt x="200025" y="3731"/>
                      <a:pt x="196294" y="0"/>
                      <a:pt x="191691" y="0"/>
                    </a:cubicBezTo>
                    <a:lnTo>
                      <a:pt x="133350" y="0"/>
                    </a:lnTo>
                    <a:cubicBezTo>
                      <a:pt x="128747" y="0"/>
                      <a:pt x="125016" y="3731"/>
                      <a:pt x="125016" y="8334"/>
                    </a:cubicBezTo>
                    <a:lnTo>
                      <a:pt x="125016" y="50006"/>
                    </a:lnTo>
                    <a:lnTo>
                      <a:pt x="75009" y="50006"/>
                    </a:lnTo>
                    <a:cubicBezTo>
                      <a:pt x="70406" y="50006"/>
                      <a:pt x="66675" y="53738"/>
                      <a:pt x="66675" y="58341"/>
                    </a:cubicBezTo>
                    <a:lnTo>
                      <a:pt x="66675" y="100012"/>
                    </a:lnTo>
                    <a:lnTo>
                      <a:pt x="25003" y="100012"/>
                    </a:lnTo>
                    <a:cubicBezTo>
                      <a:pt x="20400" y="100012"/>
                      <a:pt x="16669" y="103744"/>
                      <a:pt x="16669" y="108347"/>
                    </a:cubicBezTo>
                    <a:lnTo>
                      <a:pt x="16669" y="175022"/>
                    </a:lnTo>
                    <a:lnTo>
                      <a:pt x="8334" y="175022"/>
                    </a:lnTo>
                    <a:cubicBezTo>
                      <a:pt x="3731" y="175022"/>
                      <a:pt x="0" y="178753"/>
                      <a:pt x="0" y="183356"/>
                    </a:cubicBezTo>
                    <a:cubicBezTo>
                      <a:pt x="0" y="187959"/>
                      <a:pt x="3731" y="191691"/>
                      <a:pt x="8334" y="191691"/>
                    </a:cubicBezTo>
                    <a:lnTo>
                      <a:pt x="208359" y="191691"/>
                    </a:lnTo>
                    <a:cubicBezTo>
                      <a:pt x="212962" y="191691"/>
                      <a:pt x="216694" y="187959"/>
                      <a:pt x="216694" y="183356"/>
                    </a:cubicBezTo>
                    <a:cubicBezTo>
                      <a:pt x="216694" y="178753"/>
                      <a:pt x="212962" y="175022"/>
                      <a:pt x="208359" y="175022"/>
                    </a:cubicBezTo>
                    <a:close/>
                    <a:moveTo>
                      <a:pt x="141684" y="16669"/>
                    </a:moveTo>
                    <a:lnTo>
                      <a:pt x="183356" y="16669"/>
                    </a:lnTo>
                    <a:lnTo>
                      <a:pt x="183356" y="175022"/>
                    </a:lnTo>
                    <a:lnTo>
                      <a:pt x="141684" y="175022"/>
                    </a:lnTo>
                    <a:close/>
                    <a:moveTo>
                      <a:pt x="83344" y="66675"/>
                    </a:moveTo>
                    <a:lnTo>
                      <a:pt x="125016" y="66675"/>
                    </a:lnTo>
                    <a:lnTo>
                      <a:pt x="125016" y="175022"/>
                    </a:lnTo>
                    <a:lnTo>
                      <a:pt x="83344" y="175022"/>
                    </a:lnTo>
                    <a:close/>
                    <a:moveTo>
                      <a:pt x="33338" y="116681"/>
                    </a:moveTo>
                    <a:lnTo>
                      <a:pt x="66675" y="116681"/>
                    </a:lnTo>
                    <a:lnTo>
                      <a:pt x="66675" y="175022"/>
                    </a:lnTo>
                    <a:lnTo>
                      <a:pt x="33338" y="175022"/>
                    </a:lnTo>
                    <a:close/>
                  </a:path>
                </a:pathLst>
              </a:custGeom>
              <a:solidFill>
                <a:srgbClr val="1565C0"/>
              </a:solidFill>
              <a:ln>
                <a:noFill/>
              </a:ln>
            </p:spPr>
          </p:sp>
        </p:grpSp>
        <p:sp>
          <p:nvSpPr>
            <p:cNvPr id="54" name="TextBox 54"/>
            <p:cNvSpPr txBox="1"/>
            <p:nvPr/>
          </p:nvSpPr>
          <p:spPr>
            <a:xfrm>
              <a:off x="6981825" y="3124200"/>
              <a:ext cx="1214247" cy="304800"/>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Q4 测试分析</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55" name="Line 55"/>
            <p:cNvSpPr/>
            <p:nvPr/>
          </p:nvSpPr>
          <p:spPr>
            <a:xfrm>
              <a:off x="6553200" y="3429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56" name="TextBox 56"/>
            <p:cNvSpPr txBox="1"/>
            <p:nvPr/>
          </p:nvSpPr>
          <p:spPr>
            <a:xfrm>
              <a:off x="6653212" y="3593306"/>
              <a:ext cx="124372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从"人工分析结果"</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8648700" y="3552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9034462" y="3593306"/>
              <a:ext cx="2084207"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"AI自动分类+定位+建议修复"</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6652260" y="3870960"/>
              <a:ext cx="368693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AI自动分析失败原因、定位问题代码、推荐修复方案</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6653212" y="4145756"/>
              <a:ext cx="146200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分析速度：10倍提升</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64" name="Group 64"/>
          <p:cNvGrpSpPr/>
          <p:nvPr/>
        </p:nvGrpSpPr>
        <p:grpSpPr>
          <a:xfrm>
            <a:off x="571500" y="4743450"/>
            <a:ext cx="11049000" cy="476250"/>
            <a:chOff x="571500" y="4743450"/>
            <a:chExt cx="11049000" cy="476250"/>
          </a:xfrm>
        </p:grpSpPr>
        <p:sp>
          <p:nvSpPr>
            <p:cNvPr id="62" name="Rectangle 62"/>
            <p:cNvSpPr/>
            <p:nvPr/>
          </p:nvSpPr>
          <p:spPr>
            <a:xfrm>
              <a:off x="571500" y="4743450"/>
              <a:ext cx="11049000" cy="476250"/>
            </a:xfrm>
            <a:prstGeom prst="roundRect">
              <a:avLst>
                <a:gd name="adj" fmla="val 16000"/>
              </a:avLst>
            </a:prstGeom>
            <a:solidFill>
              <a:srgbClr val="1565C0">
                <a:alpha val="6000"/>
              </a:srgbClr>
            </a:solidFill>
            <a:ln>
              <a:noFill/>
            </a:ln>
          </p:spPr>
        </p:sp>
        <p:sp>
          <p:nvSpPr>
            <p:cNvPr id="63" name="TextBox 63"/>
            <p:cNvSpPr txBox="1"/>
            <p:nvPr/>
          </p:nvSpPr>
          <p:spPr>
            <a:xfrm>
              <a:off x="3005976" y="4909185"/>
              <a:ext cx="6180049"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四个转变的本质：从"人驱动"到"AI驱动" —— 人聚焦策略和决策，AI负责执行和分析</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65" name="TextBox 6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6" name="图片 6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image">
                                      <p:cBhvr>
                                        <p:cTn id="11" dur="400"/>
                                        <p:tgtEl>
                                          <p:spTgt spid="3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400"/>
                                        <p:tgtEl>
                                          <p:spTgt spid="48"/>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left)">
                                      <p:cBhvr>
                                        <p:cTn id="19" dur="400"/>
                                        <p:tgtEl>
                                          <p:spTgt spid="6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5" grpId="0"/>
      <p:bldP spid="48" grpId="0"/>
      <p:bldP spid="61" grpId="0"/>
      <p:bldP spid="6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475327"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构建AI时代的测试护城河</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571500" y="904875"/>
            <a:ext cx="11049000" cy="1238250"/>
            <a:chOff x="571500" y="904875"/>
            <a:chExt cx="11049000" cy="1238250"/>
          </a:xfrm>
        </p:grpSpPr>
        <p:sp>
          <p:nvSpPr>
            <p:cNvPr id="10" name="Rectangle 10"/>
            <p:cNvSpPr/>
            <p:nvPr/>
          </p:nvSpPr>
          <p:spPr>
            <a:xfrm>
              <a:off x="571500" y="904875"/>
              <a:ext cx="11049000" cy="1238250"/>
            </a:xfrm>
            <a:prstGeom prst="roundRect">
              <a:avLst>
                <a:gd name="adj" fmla="val 9231"/>
              </a:avLst>
            </a:prstGeom>
            <a:solidFill>
              <a:srgbClr val="FFFFFF"/>
            </a:solidFill>
            <a:ln>
              <a:noFill/>
            </a:ln>
          </p:spPr>
        </p:sp>
        <p:sp>
          <p:nvSpPr>
            <p:cNvPr id="11" name="Rectangle 11"/>
            <p:cNvSpPr/>
            <p:nvPr/>
          </p:nvSpPr>
          <p:spPr>
            <a:xfrm>
              <a:off x="571500" y="904875"/>
              <a:ext cx="57150" cy="1238250"/>
            </a:xfrm>
            <a:prstGeom prst="roundRect">
              <a:avLst>
                <a:gd name="adj" fmla="val 50000"/>
              </a:avLst>
            </a:prstGeom>
            <a:solidFill>
              <a:srgbClr val="C62828"/>
            </a:solidFill>
            <a:ln>
              <a:noFill/>
            </a:ln>
          </p:spPr>
        </p:sp>
        <p:sp>
          <p:nvSpPr>
            <p:cNvPr id="12" name="TextBox 12"/>
            <p:cNvSpPr txBox="1"/>
            <p:nvPr/>
          </p:nvSpPr>
          <p:spPr>
            <a:xfrm>
              <a:off x="931545" y="1107758"/>
              <a:ext cx="2121170" cy="335280"/>
            </a:xfrm>
            <a:prstGeom prst="rect">
              <a:avLst/>
            </a:prstGeom>
            <a:noFill/>
            <a:ln>
              <a:noFill/>
            </a:ln>
          </p:spPr>
          <p:txBody>
            <a:bodyPr wrap="none" lIns="0" tIns="0" rIns="0" bIns="0" anchor="t" anchorCtr="0">
              <a:spAutoFit/>
            </a:bodyPr>
            <a:lstStyle/>
            <a:p>
              <a:pPr algn="l"/>
              <a:r>
                <a:rPr lang="zh-CN" sz="1650" b="1" dirty="0">
                  <a:solidFill>
                    <a:srgbClr val="C62828"/>
                  </a:solidFill>
                  <a:latin typeface="Segoe UI" panose="020B0502040204020203"/>
                  <a:ea typeface="微软雅黑" panose="020B0503020204020204" charset="-122"/>
                  <a:cs typeface="Segoe UI" panose="020B0502040204020203"/>
                </a:rPr>
                <a:t>第三层：质量门禁层</a:t>
              </a:r>
              <a:endParaRPr lang="zh-CN" sz="1650" b="1" dirty="0">
                <a:solidFill>
                  <a:srgbClr val="C6282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8212" y="1497806"/>
              <a:ext cx="37790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合并前必须通过所有层级检查，任何一项不通过自动拦截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952500" y="1762125"/>
              <a:ext cx="1428750" cy="228600"/>
            </a:xfrm>
            <a:prstGeom prst="roundRect">
              <a:avLst>
                <a:gd name="adj" fmla="val 25000"/>
              </a:avLst>
            </a:prstGeom>
            <a:solidFill>
              <a:srgbClr val="C62828">
                <a:alpha val="8000"/>
              </a:srgbClr>
            </a:solidFill>
            <a:ln>
              <a:noFill/>
            </a:ln>
          </p:spPr>
        </p:sp>
        <p:sp>
          <p:nvSpPr>
            <p:cNvPr id="15" name="TextBox 15"/>
            <p:cNvSpPr txBox="1"/>
            <p:nvPr/>
          </p:nvSpPr>
          <p:spPr>
            <a:xfrm>
              <a:off x="1081088" y="1802606"/>
              <a:ext cx="1401247" cy="228600"/>
            </a:xfrm>
            <a:prstGeom prst="rect">
              <a:avLst/>
            </a:prstGeom>
            <a:noFill/>
            <a:ln>
              <a:noFill/>
            </a:ln>
          </p:spPr>
          <p:txBody>
            <a:bodyPr wrap="none" lIns="0" tIns="0" rIns="0" bIns="0" anchor="t" anchorCtr="0">
              <a:spAutoFit/>
            </a:bodyPr>
            <a:lstStyle/>
            <a:p>
              <a:pPr algn="l"/>
              <a:r>
                <a:rPr lang="zh-CN" sz="1125" dirty="0">
                  <a:solidFill>
                    <a:srgbClr val="C62828"/>
                  </a:solidFill>
                  <a:latin typeface="Segoe UI" panose="020B0502040204020203"/>
                  <a:ea typeface="微软雅黑" panose="020B0503020204020204" charset="-122"/>
                  <a:cs typeface="Segoe UI" panose="020B0502040204020203"/>
                </a:rPr>
                <a:t>不可跳过 · 自动拦截</a:t>
              </a:r>
              <a:endParaRPr lang="zh-CN" sz="1125" dirty="0">
                <a:solidFill>
                  <a:srgbClr val="C62828"/>
                </a:solidFill>
                <a:latin typeface="Segoe UI" panose="020B0502040204020203"/>
                <a:ea typeface="微软雅黑" panose="020B0503020204020204" charset="-122"/>
                <a:cs typeface="Segoe UI" panose="020B0502040204020203"/>
              </a:endParaRPr>
            </a:p>
          </p:txBody>
        </p:sp>
      </p:grpSp>
      <p:sp>
        <p:nvSpPr>
          <p:cNvPr id="17" name="TextBox 17"/>
          <p:cNvSpPr txBox="1"/>
          <p:nvPr/>
        </p:nvSpPr>
        <p:spPr>
          <a:xfrm>
            <a:off x="4658820" y="220218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571500" y="2619375"/>
            <a:ext cx="11049000" cy="1238250"/>
            <a:chOff x="571500" y="2619375"/>
            <a:chExt cx="11049000" cy="1238250"/>
          </a:xfrm>
        </p:grpSpPr>
        <p:sp>
          <p:nvSpPr>
            <p:cNvPr id="18" name="Rectangle 18"/>
            <p:cNvSpPr/>
            <p:nvPr/>
          </p:nvSpPr>
          <p:spPr>
            <a:xfrm>
              <a:off x="571500" y="2619375"/>
              <a:ext cx="11049000" cy="1238250"/>
            </a:xfrm>
            <a:prstGeom prst="roundRect">
              <a:avLst>
                <a:gd name="adj" fmla="val 9231"/>
              </a:avLst>
            </a:prstGeom>
            <a:solidFill>
              <a:srgbClr val="FFFFFF"/>
            </a:solidFill>
            <a:ln>
              <a:noFill/>
            </a:ln>
          </p:spPr>
        </p:sp>
        <p:sp>
          <p:nvSpPr>
            <p:cNvPr id="19" name="Rectangle 19"/>
            <p:cNvSpPr/>
            <p:nvPr/>
          </p:nvSpPr>
          <p:spPr>
            <a:xfrm>
              <a:off x="571500" y="2619375"/>
              <a:ext cx="57150" cy="1238250"/>
            </a:xfrm>
            <a:prstGeom prst="roundRect">
              <a:avLst>
                <a:gd name="adj" fmla="val 50000"/>
              </a:avLst>
            </a:prstGeom>
            <a:solidFill>
              <a:srgbClr val="FF6F00"/>
            </a:solidFill>
            <a:ln>
              <a:noFill/>
            </a:ln>
          </p:spPr>
        </p:sp>
        <p:sp>
          <p:nvSpPr>
            <p:cNvPr id="20" name="TextBox 20"/>
            <p:cNvSpPr txBox="1"/>
            <p:nvPr/>
          </p:nvSpPr>
          <p:spPr>
            <a:xfrm>
              <a:off x="931545" y="2822258"/>
              <a:ext cx="1393429" cy="335280"/>
            </a:xfrm>
            <a:prstGeom prst="rect">
              <a:avLst/>
            </a:prstGeom>
            <a:noFill/>
            <a:ln>
              <a:noFill/>
            </a:ln>
          </p:spPr>
          <p:txBody>
            <a:bodyPr wrap="none" lIns="0" tIns="0" rIns="0" bIns="0" anchor="t" anchorCtr="0">
              <a:spAutoFit/>
            </a:bodyPr>
            <a:lstStyle/>
            <a:p>
              <a:pPr algn="l"/>
              <a:r>
                <a:rPr lang="zh-CN" sz="1650" b="1" dirty="0">
                  <a:solidFill>
                    <a:srgbClr val="FF6F00"/>
                  </a:solidFill>
                  <a:latin typeface="Segoe UI" panose="020B0502040204020203"/>
                  <a:ea typeface="微软雅黑" panose="020B0503020204020204" charset="-122"/>
                  <a:cs typeface="Segoe UI" panose="020B0502040204020203"/>
                </a:rPr>
                <a:t>第二层：CI层</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212306"/>
              <a:ext cx="442412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每次提交触发全量回归测试 + 覆盖率检查 + 安全扫描，分钟级反馈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952500" y="3476625"/>
              <a:ext cx="2667000" cy="228600"/>
            </a:xfrm>
            <a:prstGeom prst="roundRect">
              <a:avLst>
                <a:gd name="adj" fmla="val 25000"/>
              </a:avLst>
            </a:prstGeom>
            <a:solidFill>
              <a:srgbClr val="FF6F00">
                <a:alpha val="8000"/>
              </a:srgbClr>
            </a:solidFill>
            <a:ln>
              <a:noFill/>
            </a:ln>
          </p:spPr>
        </p:sp>
        <p:sp>
          <p:nvSpPr>
            <p:cNvPr id="23" name="TextBox 23"/>
            <p:cNvSpPr txBox="1"/>
            <p:nvPr/>
          </p:nvSpPr>
          <p:spPr>
            <a:xfrm>
              <a:off x="1081088" y="3517106"/>
              <a:ext cx="2023824"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全量回归 · 覆盖率 · 安全扫描</a:t>
              </a:r>
              <a:endParaRPr lang="zh-CN" sz="1125" dirty="0">
                <a:solidFill>
                  <a:srgbClr val="FF6F00"/>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4658820" y="391668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571500" y="4333875"/>
            <a:ext cx="11049000" cy="1238250"/>
            <a:chOff x="571500" y="4333875"/>
            <a:chExt cx="11049000" cy="1238250"/>
          </a:xfrm>
        </p:grpSpPr>
        <p:sp>
          <p:nvSpPr>
            <p:cNvPr id="26" name="Rectangle 26"/>
            <p:cNvSpPr/>
            <p:nvPr/>
          </p:nvSpPr>
          <p:spPr>
            <a:xfrm>
              <a:off x="571500" y="4333875"/>
              <a:ext cx="11049000" cy="1238250"/>
            </a:xfrm>
            <a:prstGeom prst="roundRect">
              <a:avLst>
                <a:gd name="adj" fmla="val 9231"/>
              </a:avLst>
            </a:prstGeom>
            <a:solidFill>
              <a:srgbClr val="FFFFFF"/>
            </a:solidFill>
            <a:ln>
              <a:noFill/>
            </a:ln>
          </p:spPr>
        </p:sp>
        <p:sp>
          <p:nvSpPr>
            <p:cNvPr id="27" name="Rectangle 27"/>
            <p:cNvSpPr/>
            <p:nvPr/>
          </p:nvSpPr>
          <p:spPr>
            <a:xfrm>
              <a:off x="571500" y="4333875"/>
              <a:ext cx="57150" cy="1238250"/>
            </a:xfrm>
            <a:prstGeom prst="roundRect">
              <a:avLst>
                <a:gd name="adj" fmla="val 50000"/>
              </a:avLst>
            </a:prstGeom>
            <a:solidFill>
              <a:srgbClr val="1565C0"/>
            </a:solidFill>
            <a:ln>
              <a:noFill/>
            </a:ln>
          </p:spPr>
        </p:sp>
        <p:sp>
          <p:nvSpPr>
            <p:cNvPr id="28" name="TextBox 28"/>
            <p:cNvSpPr txBox="1"/>
            <p:nvPr/>
          </p:nvSpPr>
          <p:spPr>
            <a:xfrm>
              <a:off x="931545" y="4536758"/>
              <a:ext cx="1659112"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Segoe UI" panose="020B0502040204020203"/>
                  <a:ea typeface="微软雅黑" panose="020B0503020204020204" charset="-122"/>
                  <a:cs typeface="Segoe UI" panose="020B0502040204020203"/>
                </a:rPr>
                <a:t>第一层：本地层</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38212" y="4926806"/>
              <a:ext cx="395156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开发者每次保存自动运行单元测试 + 坏味道扫描，秒级反馈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952500" y="5191125"/>
              <a:ext cx="2667000" cy="228600"/>
            </a:xfrm>
            <a:prstGeom prst="roundRect">
              <a:avLst>
                <a:gd name="adj" fmla="val 25000"/>
              </a:avLst>
            </a:prstGeom>
            <a:solidFill>
              <a:srgbClr val="1565C0">
                <a:alpha val="8000"/>
              </a:srgbClr>
            </a:solidFill>
            <a:ln>
              <a:noFill/>
            </a:ln>
          </p:spPr>
        </p:sp>
        <p:sp>
          <p:nvSpPr>
            <p:cNvPr id="31" name="TextBox 31"/>
            <p:cNvSpPr txBox="1"/>
            <p:nvPr/>
          </p:nvSpPr>
          <p:spPr>
            <a:xfrm>
              <a:off x="1081088" y="5231606"/>
              <a:ext cx="2023824"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Segoe UI" panose="020B0502040204020203"/>
                  <a:ea typeface="微软雅黑" panose="020B0503020204020204" charset="-122"/>
                  <a:cs typeface="Segoe UI" panose="020B0502040204020203"/>
                </a:rPr>
                <a:t>单元测试 · 坏味道扫描 · 秒级</a:t>
              </a:r>
              <a:endParaRPr lang="zh-CN" sz="1125" dirty="0">
                <a:solidFill>
                  <a:srgbClr val="1565C0"/>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571500" y="5810250"/>
            <a:ext cx="11049000" cy="476250"/>
            <a:chOff x="571500" y="5810250"/>
            <a:chExt cx="11049000" cy="476250"/>
          </a:xfrm>
        </p:grpSpPr>
        <p:sp>
          <p:nvSpPr>
            <p:cNvPr id="33" name="Rectangle 33"/>
            <p:cNvSpPr/>
            <p:nvPr/>
          </p:nvSpPr>
          <p:spPr>
            <a:xfrm>
              <a:off x="571500" y="5810250"/>
              <a:ext cx="11049000" cy="476250"/>
            </a:xfrm>
            <a:prstGeom prst="roundRect">
              <a:avLst>
                <a:gd name="adj" fmla="val 16000"/>
              </a:avLst>
            </a:prstGeom>
            <a:solidFill>
              <a:srgbClr val="1565C0">
                <a:alpha val="6000"/>
              </a:srgbClr>
            </a:solidFill>
            <a:ln>
              <a:noFill/>
            </a:ln>
          </p:spPr>
        </p:sp>
        <p:sp>
          <p:nvSpPr>
            <p:cNvPr id="34" name="TextBox 34"/>
            <p:cNvSpPr txBox="1"/>
            <p:nvPr/>
          </p:nvSpPr>
          <p:spPr>
            <a:xfrm>
              <a:off x="2842155" y="5975985"/>
              <a:ext cx="6507690"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关键原则：每一层都是自动化的、不可跳过的、AI辅助执行的 —— 构建真正的测试护城河</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7" name="图片 3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image">
                                      <p:cBhvr>
                                        <p:cTn id="7" dur="400"/>
                                        <p:tgtEl>
                                          <p:spTgt spid="1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400"/>
                                        <p:tgtEl>
                                          <p:spTgt spid="3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32" grpId="0"/>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1602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AI生成代码的质量度量</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2571750" cy="2000250"/>
            <a:chOff x="571500" y="904875"/>
            <a:chExt cx="2571750" cy="2000250"/>
          </a:xfrm>
        </p:grpSpPr>
        <p:sp>
          <p:nvSpPr>
            <p:cNvPr id="10" name="Rectangle 10"/>
            <p:cNvSpPr/>
            <p:nvPr/>
          </p:nvSpPr>
          <p:spPr>
            <a:xfrm>
              <a:off x="571500" y="904875"/>
              <a:ext cx="2571750" cy="2000250"/>
            </a:xfrm>
            <a:prstGeom prst="roundRect">
              <a:avLst>
                <a:gd name="adj" fmla="val 5714"/>
              </a:avLst>
            </a:prstGeom>
            <a:solidFill>
              <a:srgbClr val="FFFFFF"/>
            </a:solidFill>
            <a:ln>
              <a:noFill/>
            </a:ln>
          </p:spPr>
        </p:sp>
        <p:sp>
          <p:nvSpPr>
            <p:cNvPr id="11" name="Rectangle 11"/>
            <p:cNvSpPr/>
            <p:nvPr/>
          </p:nvSpPr>
          <p:spPr>
            <a:xfrm>
              <a:off x="571500" y="904875"/>
              <a:ext cx="2571750" cy="38100"/>
            </a:xfrm>
            <a:prstGeom prst="roundRect">
              <a:avLst>
                <a:gd name="adj" fmla="val 50000"/>
              </a:avLst>
            </a:prstGeom>
            <a:solidFill>
              <a:srgbClr val="1565C0"/>
            </a:solidFill>
            <a:ln>
              <a:noFill/>
            </a:ln>
          </p:spPr>
        </p:sp>
        <p:grpSp>
          <p:nvGrpSpPr>
            <p:cNvPr id="14" name="Group 14"/>
            <p:cNvGrpSpPr/>
            <p:nvPr/>
          </p:nvGrpSpPr>
          <p:grpSpPr>
            <a:xfrm>
              <a:off x="1702594" y="1285875"/>
              <a:ext cx="309562" cy="273844"/>
              <a:chOff x="1702594" y="1285875"/>
              <a:chExt cx="309562" cy="273844"/>
            </a:xfrm>
          </p:grpSpPr>
          <p:sp>
            <p:nvSpPr>
              <p:cNvPr id="12" name="Freeform 12"/>
              <p:cNvSpPr/>
              <p:nvPr/>
            </p:nvSpPr>
            <p:spPr>
              <a:xfrm>
                <a:off x="1893094" y="1297781"/>
                <a:ext cx="83344" cy="250031"/>
              </a:xfrm>
              <a:custGeom>
                <a:avLst/>
                <a:gdLst/>
                <a:ahLst/>
                <a:cxnLst/>
                <a:rect l="l" t="t" r="r" b="b"/>
                <a:pathLst>
                  <a:path w="83344" h="250031">
                    <a:moveTo>
                      <a:pt x="83344" y="0"/>
                    </a:moveTo>
                    <a:lnTo>
                      <a:pt x="83344" y="250031"/>
                    </a:lnTo>
                    <a:lnTo>
                      <a:pt x="0" y="250031"/>
                    </a:lnTo>
                    <a:lnTo>
                      <a:pt x="0" y="0"/>
                    </a:lnTo>
                    <a:close/>
                  </a:path>
                </a:pathLst>
              </a:custGeom>
              <a:solidFill>
                <a:srgbClr val="1565C0">
                  <a:alpha val="20000"/>
                </a:srgbClr>
              </a:solidFill>
              <a:ln>
                <a:noFill/>
              </a:ln>
            </p:spPr>
          </p:sp>
          <p:sp>
            <p:nvSpPr>
              <p:cNvPr id="13" name="Freeform 13"/>
              <p:cNvSpPr/>
              <p:nvPr/>
            </p:nvSpPr>
            <p:spPr>
              <a:xfrm>
                <a:off x="1702594" y="1285875"/>
                <a:ext cx="309562" cy="273844"/>
              </a:xfrm>
              <a:custGeom>
                <a:avLst/>
                <a:gdLst/>
                <a:ahLst/>
                <a:cxnLst/>
                <a:rect l="l" t="t" r="r" b="b"/>
                <a:pathLst>
                  <a:path w="309562" h="273844">
                    <a:moveTo>
                      <a:pt x="297656" y="250031"/>
                    </a:moveTo>
                    <a:lnTo>
                      <a:pt x="285750" y="250031"/>
                    </a:lnTo>
                    <a:lnTo>
                      <a:pt x="285750" y="11906"/>
                    </a:lnTo>
                    <a:cubicBezTo>
                      <a:pt x="285750" y="5331"/>
                      <a:pt x="280419" y="0"/>
                      <a:pt x="273844" y="0"/>
                    </a:cubicBezTo>
                    <a:lnTo>
                      <a:pt x="190500" y="0"/>
                    </a:lnTo>
                    <a:cubicBezTo>
                      <a:pt x="183924" y="0"/>
                      <a:pt x="178594" y="5331"/>
                      <a:pt x="178594" y="11906"/>
                    </a:cubicBezTo>
                    <a:lnTo>
                      <a:pt x="178594" y="71438"/>
                    </a:lnTo>
                    <a:lnTo>
                      <a:pt x="107156" y="71438"/>
                    </a:lnTo>
                    <a:cubicBezTo>
                      <a:pt x="100581" y="71438"/>
                      <a:pt x="95250" y="76768"/>
                      <a:pt x="95250" y="83344"/>
                    </a:cubicBezTo>
                    <a:lnTo>
                      <a:pt x="95250" y="142875"/>
                    </a:lnTo>
                    <a:lnTo>
                      <a:pt x="35719" y="142875"/>
                    </a:lnTo>
                    <a:cubicBezTo>
                      <a:pt x="29143" y="142875"/>
                      <a:pt x="23812" y="148206"/>
                      <a:pt x="23812" y="154781"/>
                    </a:cubicBezTo>
                    <a:lnTo>
                      <a:pt x="23812" y="250031"/>
                    </a:lnTo>
                    <a:lnTo>
                      <a:pt x="11906" y="250031"/>
                    </a:lnTo>
                    <a:cubicBezTo>
                      <a:pt x="5331" y="250031"/>
                      <a:pt x="0" y="255362"/>
                      <a:pt x="0" y="261938"/>
                    </a:cubicBezTo>
                    <a:cubicBezTo>
                      <a:pt x="0" y="268513"/>
                      <a:pt x="5331" y="273844"/>
                      <a:pt x="11906" y="273844"/>
                    </a:cubicBezTo>
                    <a:lnTo>
                      <a:pt x="297656" y="273844"/>
                    </a:lnTo>
                    <a:cubicBezTo>
                      <a:pt x="304232" y="273844"/>
                      <a:pt x="309562" y="268513"/>
                      <a:pt x="309562" y="261938"/>
                    </a:cubicBezTo>
                    <a:cubicBezTo>
                      <a:pt x="309562" y="255362"/>
                      <a:pt x="304232" y="250031"/>
                      <a:pt x="297656" y="250031"/>
                    </a:cubicBezTo>
                    <a:close/>
                    <a:moveTo>
                      <a:pt x="202406" y="23812"/>
                    </a:moveTo>
                    <a:lnTo>
                      <a:pt x="261938" y="23812"/>
                    </a:lnTo>
                    <a:lnTo>
                      <a:pt x="261938" y="250031"/>
                    </a:lnTo>
                    <a:lnTo>
                      <a:pt x="202406" y="250031"/>
                    </a:lnTo>
                    <a:close/>
                    <a:moveTo>
                      <a:pt x="119062" y="95250"/>
                    </a:moveTo>
                    <a:lnTo>
                      <a:pt x="178594" y="95250"/>
                    </a:lnTo>
                    <a:lnTo>
                      <a:pt x="178594" y="250031"/>
                    </a:lnTo>
                    <a:lnTo>
                      <a:pt x="119062" y="250031"/>
                    </a:lnTo>
                    <a:close/>
                    <a:moveTo>
                      <a:pt x="47625" y="166688"/>
                    </a:moveTo>
                    <a:lnTo>
                      <a:pt x="95250" y="166688"/>
                    </a:lnTo>
                    <a:lnTo>
                      <a:pt x="95250" y="250031"/>
                    </a:lnTo>
                    <a:lnTo>
                      <a:pt x="47625" y="250031"/>
                    </a:lnTo>
                    <a:close/>
                  </a:path>
                </a:pathLst>
              </a:custGeom>
              <a:solidFill>
                <a:srgbClr val="1565C0"/>
              </a:solidFill>
              <a:ln>
                <a:noFill/>
              </a:ln>
            </p:spPr>
          </p:sp>
        </p:grpSp>
        <p:sp>
          <p:nvSpPr>
            <p:cNvPr id="15" name="TextBox 15"/>
            <p:cNvSpPr txBox="1"/>
            <p:nvPr/>
          </p:nvSpPr>
          <p:spPr>
            <a:xfrm>
              <a:off x="1260996" y="1548765"/>
              <a:ext cx="1192759" cy="670560"/>
            </a:xfrm>
            <a:prstGeom prst="rect">
              <a:avLst/>
            </a:prstGeom>
            <a:noFill/>
            <a:ln>
              <a:noFill/>
            </a:ln>
          </p:spPr>
          <p:txBody>
            <a:bodyPr wrap="none" lIns="0" tIns="0" rIns="0" bIns="0" anchor="t" anchorCtr="0">
              <a:spAutoFit/>
            </a:bodyPr>
            <a:lstStyle/>
            <a:p>
              <a:pPr algn="ctr"/>
              <a:r>
                <a:rPr lang="zh-CN" sz="3300" b="1" dirty="0">
                  <a:solidFill>
                    <a:srgbClr val="1565C0"/>
                  </a:solidFill>
                  <a:latin typeface="Segoe UI" panose="020B0502040204020203"/>
                  <a:ea typeface="微软雅黑" panose="020B0503020204020204" charset="-122"/>
                  <a:cs typeface="Segoe UI" panose="020B0502040204020203"/>
                </a:rPr>
                <a:t>≥80%</a:t>
              </a:r>
              <a:endParaRPr lang="zh-CN" sz="3300" b="1" dirty="0">
                <a:solidFill>
                  <a:srgbClr val="1565C0"/>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394877" y="2100739"/>
              <a:ext cx="924997"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测试覆盖率</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190054" y="2366010"/>
              <a:ext cx="1334643"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应 ≥ 人类代码标准</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76729" y="2612231"/>
              <a:ext cx="176129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越高的覆盖率=越快的调试</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3381375" y="904875"/>
            <a:ext cx="2571750" cy="2000250"/>
            <a:chOff x="3381375" y="904875"/>
            <a:chExt cx="2571750" cy="2000250"/>
          </a:xfrm>
        </p:grpSpPr>
        <p:sp>
          <p:nvSpPr>
            <p:cNvPr id="20" name="Rectangle 20"/>
            <p:cNvSpPr/>
            <p:nvPr/>
          </p:nvSpPr>
          <p:spPr>
            <a:xfrm>
              <a:off x="3381375" y="904875"/>
              <a:ext cx="2571750" cy="2000250"/>
            </a:xfrm>
            <a:prstGeom prst="roundRect">
              <a:avLst>
                <a:gd name="adj" fmla="val 5714"/>
              </a:avLst>
            </a:prstGeom>
            <a:solidFill>
              <a:srgbClr val="FFFFFF"/>
            </a:solidFill>
            <a:ln>
              <a:noFill/>
            </a:ln>
          </p:spPr>
        </p:sp>
        <p:sp>
          <p:nvSpPr>
            <p:cNvPr id="21" name="Rectangle 21"/>
            <p:cNvSpPr/>
            <p:nvPr/>
          </p:nvSpPr>
          <p:spPr>
            <a:xfrm>
              <a:off x="3381375" y="904875"/>
              <a:ext cx="2571750" cy="38100"/>
            </a:xfrm>
            <a:prstGeom prst="roundRect">
              <a:avLst>
                <a:gd name="adj" fmla="val 50000"/>
              </a:avLst>
            </a:prstGeom>
            <a:solidFill>
              <a:srgbClr val="C62828"/>
            </a:solidFill>
            <a:ln>
              <a:noFill/>
            </a:ln>
          </p:spPr>
        </p:sp>
        <p:grpSp>
          <p:nvGrpSpPr>
            <p:cNvPr id="24" name="Group 24"/>
            <p:cNvGrpSpPr/>
            <p:nvPr/>
          </p:nvGrpSpPr>
          <p:grpSpPr>
            <a:xfrm>
              <a:off x="4488656" y="1273946"/>
              <a:ext cx="357188" cy="309609"/>
              <a:chOff x="4488656" y="1273946"/>
              <a:chExt cx="357188" cy="309609"/>
            </a:xfrm>
          </p:grpSpPr>
          <p:sp>
            <p:nvSpPr>
              <p:cNvPr id="22" name="Freeform 22"/>
              <p:cNvSpPr/>
              <p:nvPr/>
            </p:nvSpPr>
            <p:spPr>
              <a:xfrm>
                <a:off x="4548188" y="1428750"/>
                <a:ext cx="238125" cy="142875"/>
              </a:xfrm>
              <a:custGeom>
                <a:avLst/>
                <a:gdLst/>
                <a:ahLst/>
                <a:cxnLst/>
                <a:rect l="l" t="t" r="r" b="b"/>
                <a:pathLst>
                  <a:path w="238125" h="142875">
                    <a:moveTo>
                      <a:pt x="238125" y="0"/>
                    </a:moveTo>
                    <a:lnTo>
                      <a:pt x="238125" y="23812"/>
                    </a:lnTo>
                    <a:cubicBezTo>
                      <a:pt x="238125" y="89569"/>
                      <a:pt x="184819" y="142875"/>
                      <a:pt x="119062" y="142875"/>
                    </a:cubicBezTo>
                    <a:cubicBezTo>
                      <a:pt x="53306" y="142875"/>
                      <a:pt x="0" y="89569"/>
                      <a:pt x="0" y="23812"/>
                    </a:cubicBezTo>
                    <a:lnTo>
                      <a:pt x="0" y="0"/>
                    </a:lnTo>
                    <a:close/>
                  </a:path>
                </a:pathLst>
              </a:custGeom>
              <a:solidFill>
                <a:srgbClr val="C62828">
                  <a:alpha val="20000"/>
                </a:srgbClr>
              </a:solidFill>
              <a:ln>
                <a:noFill/>
              </a:ln>
            </p:spPr>
          </p:sp>
          <p:sp>
            <p:nvSpPr>
              <p:cNvPr id="23" name="Freeform 23"/>
              <p:cNvSpPr/>
              <p:nvPr/>
            </p:nvSpPr>
            <p:spPr>
              <a:xfrm>
                <a:off x="4488656" y="1273946"/>
                <a:ext cx="357188" cy="309609"/>
              </a:xfrm>
              <a:custGeom>
                <a:avLst/>
                <a:gdLst/>
                <a:ahLst/>
                <a:cxnLst/>
                <a:rect l="l" t="t" r="r" b="b"/>
                <a:pathLst>
                  <a:path w="357188" h="309609">
                    <a:moveTo>
                      <a:pt x="202406" y="101226"/>
                    </a:moveTo>
                    <a:cubicBezTo>
                      <a:pt x="202406" y="91363"/>
                      <a:pt x="210402" y="83367"/>
                      <a:pt x="220266" y="83367"/>
                    </a:cubicBezTo>
                    <a:cubicBezTo>
                      <a:pt x="230129" y="83367"/>
                      <a:pt x="238125" y="91363"/>
                      <a:pt x="238125" y="101226"/>
                    </a:cubicBezTo>
                    <a:cubicBezTo>
                      <a:pt x="238125" y="111090"/>
                      <a:pt x="230129" y="119086"/>
                      <a:pt x="220266" y="119086"/>
                    </a:cubicBezTo>
                    <a:cubicBezTo>
                      <a:pt x="210402" y="119086"/>
                      <a:pt x="202406" y="111090"/>
                      <a:pt x="202406" y="101226"/>
                    </a:cubicBezTo>
                    <a:close/>
                    <a:moveTo>
                      <a:pt x="136922" y="83367"/>
                    </a:moveTo>
                    <a:cubicBezTo>
                      <a:pt x="127058" y="83367"/>
                      <a:pt x="119062" y="91363"/>
                      <a:pt x="119062" y="101226"/>
                    </a:cubicBezTo>
                    <a:cubicBezTo>
                      <a:pt x="119062" y="111090"/>
                      <a:pt x="127058" y="119086"/>
                      <a:pt x="136922" y="119086"/>
                    </a:cubicBezTo>
                    <a:cubicBezTo>
                      <a:pt x="146785" y="119086"/>
                      <a:pt x="154781" y="111090"/>
                      <a:pt x="154781" y="101226"/>
                    </a:cubicBezTo>
                    <a:cubicBezTo>
                      <a:pt x="154781" y="91363"/>
                      <a:pt x="146785" y="83367"/>
                      <a:pt x="136922" y="83367"/>
                    </a:cubicBezTo>
                    <a:close/>
                    <a:moveTo>
                      <a:pt x="309562" y="178617"/>
                    </a:moveTo>
                    <a:cubicBezTo>
                      <a:pt x="309595" y="190174"/>
                      <a:pt x="308094" y="201685"/>
                      <a:pt x="305098" y="212847"/>
                    </a:cubicBezTo>
                    <a:lnTo>
                      <a:pt x="338197" y="227314"/>
                    </a:lnTo>
                    <a:cubicBezTo>
                      <a:pt x="343276" y="229627"/>
                      <a:pt x="346067" y="235158"/>
                      <a:pt x="344909" y="240618"/>
                    </a:cubicBezTo>
                    <a:cubicBezTo>
                      <a:pt x="343751" y="246078"/>
                      <a:pt x="338956" y="250001"/>
                      <a:pt x="333375" y="250054"/>
                    </a:cubicBezTo>
                    <a:cubicBezTo>
                      <a:pt x="331735" y="250058"/>
                      <a:pt x="330113" y="249719"/>
                      <a:pt x="328612" y="249057"/>
                    </a:cubicBezTo>
                    <a:lnTo>
                      <a:pt x="296734" y="235172"/>
                    </a:lnTo>
                    <a:cubicBezTo>
                      <a:pt x="274967" y="280658"/>
                      <a:pt x="229020" y="309609"/>
                      <a:pt x="178594" y="309609"/>
                    </a:cubicBezTo>
                    <a:cubicBezTo>
                      <a:pt x="128168" y="309609"/>
                      <a:pt x="82220" y="280658"/>
                      <a:pt x="60454" y="235172"/>
                    </a:cubicBezTo>
                    <a:lnTo>
                      <a:pt x="28575" y="249057"/>
                    </a:lnTo>
                    <a:cubicBezTo>
                      <a:pt x="27075" y="249719"/>
                      <a:pt x="25452" y="250058"/>
                      <a:pt x="23812" y="250054"/>
                    </a:cubicBezTo>
                    <a:cubicBezTo>
                      <a:pt x="18177" y="250051"/>
                      <a:pt x="13316" y="246097"/>
                      <a:pt x="12165" y="240581"/>
                    </a:cubicBezTo>
                    <a:cubicBezTo>
                      <a:pt x="11013" y="235065"/>
                      <a:pt x="13887" y="229497"/>
                      <a:pt x="19050" y="227239"/>
                    </a:cubicBezTo>
                    <a:lnTo>
                      <a:pt x="52090" y="212847"/>
                    </a:lnTo>
                    <a:cubicBezTo>
                      <a:pt x="49094" y="201685"/>
                      <a:pt x="47592" y="190174"/>
                      <a:pt x="47625" y="178617"/>
                    </a:cubicBezTo>
                    <a:lnTo>
                      <a:pt x="47625" y="166711"/>
                    </a:lnTo>
                    <a:lnTo>
                      <a:pt x="11906" y="166711"/>
                    </a:lnTo>
                    <a:cubicBezTo>
                      <a:pt x="5331" y="166711"/>
                      <a:pt x="0" y="161380"/>
                      <a:pt x="0" y="154804"/>
                    </a:cubicBezTo>
                    <a:cubicBezTo>
                      <a:pt x="0" y="148229"/>
                      <a:pt x="5331" y="142898"/>
                      <a:pt x="11906" y="142898"/>
                    </a:cubicBezTo>
                    <a:lnTo>
                      <a:pt x="47625" y="142898"/>
                    </a:lnTo>
                    <a:lnTo>
                      <a:pt x="47625" y="130992"/>
                    </a:lnTo>
                    <a:cubicBezTo>
                      <a:pt x="47592" y="119435"/>
                      <a:pt x="49094" y="107924"/>
                      <a:pt x="52090" y="96761"/>
                    </a:cubicBezTo>
                    <a:lnTo>
                      <a:pt x="19050" y="82370"/>
                    </a:lnTo>
                    <a:cubicBezTo>
                      <a:pt x="15057" y="80730"/>
                      <a:pt x="12264" y="77059"/>
                      <a:pt x="11750" y="72773"/>
                    </a:cubicBezTo>
                    <a:cubicBezTo>
                      <a:pt x="11237" y="68487"/>
                      <a:pt x="13082" y="64259"/>
                      <a:pt x="16575" y="61723"/>
                    </a:cubicBezTo>
                    <a:cubicBezTo>
                      <a:pt x="20067" y="59186"/>
                      <a:pt x="24658" y="58738"/>
                      <a:pt x="28575" y="60552"/>
                    </a:cubicBezTo>
                    <a:lnTo>
                      <a:pt x="60454" y="74437"/>
                    </a:lnTo>
                    <a:cubicBezTo>
                      <a:pt x="82220" y="28951"/>
                      <a:pt x="128168" y="0"/>
                      <a:pt x="178594" y="0"/>
                    </a:cubicBezTo>
                    <a:cubicBezTo>
                      <a:pt x="229020" y="0"/>
                      <a:pt x="274967" y="28951"/>
                      <a:pt x="296734" y="74437"/>
                    </a:cubicBezTo>
                    <a:lnTo>
                      <a:pt x="328612" y="60507"/>
                    </a:lnTo>
                    <a:cubicBezTo>
                      <a:pt x="334601" y="58048"/>
                      <a:pt x="341456" y="60825"/>
                      <a:pt x="344046" y="66757"/>
                    </a:cubicBezTo>
                    <a:cubicBezTo>
                      <a:pt x="346636" y="72690"/>
                      <a:pt x="344012" y="79605"/>
                      <a:pt x="338138" y="82325"/>
                    </a:cubicBezTo>
                    <a:lnTo>
                      <a:pt x="305098" y="96836"/>
                    </a:lnTo>
                    <a:cubicBezTo>
                      <a:pt x="308094" y="107998"/>
                      <a:pt x="309595" y="119509"/>
                      <a:pt x="309562" y="131066"/>
                    </a:cubicBezTo>
                    <a:lnTo>
                      <a:pt x="309562" y="142973"/>
                    </a:lnTo>
                    <a:lnTo>
                      <a:pt x="345281" y="142973"/>
                    </a:lnTo>
                    <a:cubicBezTo>
                      <a:pt x="351857" y="142973"/>
                      <a:pt x="357188" y="148303"/>
                      <a:pt x="357188" y="154879"/>
                    </a:cubicBezTo>
                    <a:cubicBezTo>
                      <a:pt x="357188" y="161455"/>
                      <a:pt x="351857" y="166785"/>
                      <a:pt x="345281" y="166785"/>
                    </a:cubicBezTo>
                    <a:lnTo>
                      <a:pt x="309562" y="166785"/>
                    </a:lnTo>
                    <a:close/>
                    <a:moveTo>
                      <a:pt x="71438" y="142898"/>
                    </a:moveTo>
                    <a:lnTo>
                      <a:pt x="285750" y="142898"/>
                    </a:lnTo>
                    <a:lnTo>
                      <a:pt x="285750" y="130992"/>
                    </a:lnTo>
                    <a:cubicBezTo>
                      <a:pt x="285750" y="71811"/>
                      <a:pt x="237775" y="23836"/>
                      <a:pt x="178594" y="23836"/>
                    </a:cubicBezTo>
                    <a:cubicBezTo>
                      <a:pt x="119413" y="23836"/>
                      <a:pt x="71438" y="71811"/>
                      <a:pt x="71438" y="130992"/>
                    </a:cubicBezTo>
                    <a:close/>
                    <a:moveTo>
                      <a:pt x="166688" y="285089"/>
                    </a:moveTo>
                    <a:lnTo>
                      <a:pt x="166688" y="166711"/>
                    </a:lnTo>
                    <a:lnTo>
                      <a:pt x="71438" y="166711"/>
                    </a:lnTo>
                    <a:lnTo>
                      <a:pt x="71438" y="178617"/>
                    </a:lnTo>
                    <a:cubicBezTo>
                      <a:pt x="71502" y="233162"/>
                      <a:pt x="112487" y="278974"/>
                      <a:pt x="166688" y="285089"/>
                    </a:cubicBezTo>
                    <a:close/>
                    <a:moveTo>
                      <a:pt x="285750" y="178617"/>
                    </a:moveTo>
                    <a:lnTo>
                      <a:pt x="285750" y="166711"/>
                    </a:lnTo>
                    <a:lnTo>
                      <a:pt x="190500" y="166711"/>
                    </a:lnTo>
                    <a:lnTo>
                      <a:pt x="190500" y="285089"/>
                    </a:lnTo>
                    <a:cubicBezTo>
                      <a:pt x="244701" y="278974"/>
                      <a:pt x="285685" y="233162"/>
                      <a:pt x="285750" y="178617"/>
                    </a:cubicBezTo>
                    <a:close/>
                  </a:path>
                </a:pathLst>
              </a:custGeom>
              <a:solidFill>
                <a:srgbClr val="C62828"/>
              </a:solidFill>
              <a:ln>
                <a:noFill/>
              </a:ln>
            </p:spPr>
          </p:sp>
        </p:grpSp>
        <p:sp>
          <p:nvSpPr>
            <p:cNvPr id="25" name="TextBox 25"/>
            <p:cNvSpPr txBox="1"/>
            <p:nvPr/>
          </p:nvSpPr>
          <p:spPr>
            <a:xfrm>
              <a:off x="4117076" y="1548765"/>
              <a:ext cx="1100347" cy="670560"/>
            </a:xfrm>
            <a:prstGeom prst="rect">
              <a:avLst/>
            </a:prstGeom>
            <a:noFill/>
            <a:ln>
              <a:noFill/>
            </a:ln>
          </p:spPr>
          <p:txBody>
            <a:bodyPr wrap="none" lIns="0" tIns="0" rIns="0" bIns="0" anchor="t" anchorCtr="0">
              <a:spAutoFit/>
            </a:bodyPr>
            <a:lstStyle/>
            <a:p>
              <a:pPr algn="ctr"/>
              <a:r>
                <a:rPr lang="zh-CN" sz="3300" b="1" dirty="0">
                  <a:solidFill>
                    <a:srgbClr val="C62828"/>
                  </a:solidFill>
                  <a:latin typeface="Segoe UI" panose="020B0502040204020203"/>
                  <a:ea typeface="微软雅黑" panose="020B0503020204020204" charset="-122"/>
                  <a:cs typeface="Segoe UI" panose="020B0502040204020203"/>
                </a:rPr>
                <a:t>&lt;0.5</a:t>
              </a:r>
              <a:endParaRPr lang="zh-CN" sz="3300" b="1" dirty="0">
                <a:solidFill>
                  <a:srgbClr val="C6282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4294013" y="2100739"/>
              <a:ext cx="746474"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缺陷密度</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4011930" y="2366010"/>
              <a:ext cx="13106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每千行代码缺陷数</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3914120" y="2612231"/>
              <a:ext cx="1506260"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对比AI与人类代码质量</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6191250" y="904875"/>
            <a:ext cx="2571750" cy="2000250"/>
            <a:chOff x="6191250" y="904875"/>
            <a:chExt cx="2571750" cy="2000250"/>
          </a:xfrm>
        </p:grpSpPr>
        <p:sp>
          <p:nvSpPr>
            <p:cNvPr id="30" name="Rectangle 30"/>
            <p:cNvSpPr/>
            <p:nvPr/>
          </p:nvSpPr>
          <p:spPr>
            <a:xfrm>
              <a:off x="6191250" y="904875"/>
              <a:ext cx="2571750" cy="2000250"/>
            </a:xfrm>
            <a:prstGeom prst="roundRect">
              <a:avLst>
                <a:gd name="adj" fmla="val 5714"/>
              </a:avLst>
            </a:prstGeom>
            <a:solidFill>
              <a:srgbClr val="FFFFFF"/>
            </a:solidFill>
            <a:ln>
              <a:noFill/>
            </a:ln>
          </p:spPr>
        </p:sp>
        <p:sp>
          <p:nvSpPr>
            <p:cNvPr id="31" name="Rectangle 31"/>
            <p:cNvSpPr/>
            <p:nvPr/>
          </p:nvSpPr>
          <p:spPr>
            <a:xfrm>
              <a:off x="6191250" y="904875"/>
              <a:ext cx="2571750" cy="38100"/>
            </a:xfrm>
            <a:prstGeom prst="roundRect">
              <a:avLst>
                <a:gd name="adj" fmla="val 50000"/>
              </a:avLst>
            </a:prstGeom>
            <a:solidFill>
              <a:srgbClr val="FF6F00"/>
            </a:solidFill>
            <a:ln>
              <a:noFill/>
            </a:ln>
          </p:spPr>
        </p:sp>
        <p:grpSp>
          <p:nvGrpSpPr>
            <p:cNvPr id="34" name="Group 34"/>
            <p:cNvGrpSpPr/>
            <p:nvPr/>
          </p:nvGrpSpPr>
          <p:grpSpPr>
            <a:xfrm>
              <a:off x="7308829" y="1273968"/>
              <a:ext cx="336583" cy="297793"/>
              <a:chOff x="7308829" y="1273968"/>
              <a:chExt cx="336583" cy="297793"/>
            </a:xfrm>
          </p:grpSpPr>
          <p:sp>
            <p:nvSpPr>
              <p:cNvPr id="32" name="Freeform 32"/>
              <p:cNvSpPr/>
              <p:nvPr/>
            </p:nvSpPr>
            <p:spPr>
              <a:xfrm>
                <a:off x="7316391" y="1281738"/>
                <a:ext cx="321469" cy="277981"/>
              </a:xfrm>
              <a:custGeom>
                <a:avLst/>
                <a:gdLst/>
                <a:ahLst/>
                <a:cxnLst/>
                <a:rect l="l" t="t" r="r" b="b"/>
                <a:pathLst>
                  <a:path w="321469" h="277981">
                    <a:moveTo>
                      <a:pt x="290899" y="277981"/>
                    </a:moveTo>
                    <a:lnTo>
                      <a:pt x="30569" y="277981"/>
                    </a:lnTo>
                    <a:cubicBezTo>
                      <a:pt x="11787" y="277981"/>
                      <a:pt x="0" y="258321"/>
                      <a:pt x="9123" y="242396"/>
                    </a:cubicBezTo>
                    <a:lnTo>
                      <a:pt x="139288" y="16371"/>
                    </a:lnTo>
                    <a:cubicBezTo>
                      <a:pt x="148664" y="0"/>
                      <a:pt x="172804" y="0"/>
                      <a:pt x="182181" y="16371"/>
                    </a:cubicBezTo>
                    <a:lnTo>
                      <a:pt x="312346" y="242396"/>
                    </a:lnTo>
                    <a:cubicBezTo>
                      <a:pt x="321469" y="258321"/>
                      <a:pt x="309682" y="277981"/>
                      <a:pt x="290899" y="277981"/>
                    </a:cubicBezTo>
                    <a:close/>
                  </a:path>
                </a:pathLst>
              </a:custGeom>
              <a:solidFill>
                <a:srgbClr val="FF6F00">
                  <a:alpha val="20000"/>
                </a:srgbClr>
              </a:solidFill>
              <a:ln>
                <a:noFill/>
              </a:ln>
            </p:spPr>
          </p:sp>
          <p:sp>
            <p:nvSpPr>
              <p:cNvPr id="33" name="Freeform 33"/>
              <p:cNvSpPr/>
              <p:nvPr/>
            </p:nvSpPr>
            <p:spPr>
              <a:xfrm>
                <a:off x="7308829" y="1273968"/>
                <a:ext cx="336583" cy="297793"/>
              </a:xfrm>
              <a:custGeom>
                <a:avLst/>
                <a:gdLst/>
                <a:ahLst/>
                <a:cxnLst/>
                <a:rect l="l" t="t" r="r" b="b"/>
                <a:pathLst>
                  <a:path w="336583" h="297793">
                    <a:moveTo>
                      <a:pt x="330221" y="244213"/>
                    </a:moveTo>
                    <a:lnTo>
                      <a:pt x="200071" y="18188"/>
                    </a:lnTo>
                    <a:lnTo>
                      <a:pt x="200071" y="18188"/>
                    </a:lnTo>
                    <a:cubicBezTo>
                      <a:pt x="193453" y="6920"/>
                      <a:pt x="181363" y="0"/>
                      <a:pt x="168296" y="0"/>
                    </a:cubicBezTo>
                    <a:cubicBezTo>
                      <a:pt x="155229" y="0"/>
                      <a:pt x="143139" y="6920"/>
                      <a:pt x="136521" y="18188"/>
                    </a:cubicBezTo>
                    <a:lnTo>
                      <a:pt x="6371" y="244213"/>
                    </a:lnTo>
                    <a:cubicBezTo>
                      <a:pt x="0" y="255118"/>
                      <a:pt x="0" y="268610"/>
                      <a:pt x="6371" y="279515"/>
                    </a:cubicBezTo>
                    <a:cubicBezTo>
                      <a:pt x="12908" y="290858"/>
                      <a:pt x="25055" y="297793"/>
                      <a:pt x="38146" y="297657"/>
                    </a:cubicBezTo>
                    <a:lnTo>
                      <a:pt x="298446" y="297657"/>
                    </a:lnTo>
                    <a:cubicBezTo>
                      <a:pt x="311527" y="297782"/>
                      <a:pt x="323660" y="290849"/>
                      <a:pt x="330192" y="279515"/>
                    </a:cubicBezTo>
                    <a:cubicBezTo>
                      <a:pt x="336572" y="268616"/>
                      <a:pt x="336583" y="255123"/>
                      <a:pt x="330221" y="244213"/>
                    </a:cubicBezTo>
                    <a:close/>
                    <a:moveTo>
                      <a:pt x="309579" y="267594"/>
                    </a:moveTo>
                    <a:cubicBezTo>
                      <a:pt x="307269" y="271535"/>
                      <a:pt x="303014" y="273924"/>
                      <a:pt x="298446" y="273845"/>
                    </a:cubicBezTo>
                    <a:lnTo>
                      <a:pt x="38146" y="273845"/>
                    </a:lnTo>
                    <a:cubicBezTo>
                      <a:pt x="33579" y="273924"/>
                      <a:pt x="29324" y="271535"/>
                      <a:pt x="27014" y="267594"/>
                    </a:cubicBezTo>
                    <a:cubicBezTo>
                      <a:pt x="24921" y="264050"/>
                      <a:pt x="24921" y="259648"/>
                      <a:pt x="27014" y="256104"/>
                    </a:cubicBezTo>
                    <a:lnTo>
                      <a:pt x="157164" y="30079"/>
                    </a:lnTo>
                    <a:cubicBezTo>
                      <a:pt x="159518" y="26161"/>
                      <a:pt x="163755" y="23764"/>
                      <a:pt x="168326" y="23764"/>
                    </a:cubicBezTo>
                    <a:cubicBezTo>
                      <a:pt x="172897" y="23764"/>
                      <a:pt x="177134" y="26161"/>
                      <a:pt x="179488" y="30079"/>
                    </a:cubicBezTo>
                    <a:lnTo>
                      <a:pt x="309638" y="256104"/>
                    </a:lnTo>
                    <a:cubicBezTo>
                      <a:pt x="311713" y="259659"/>
                      <a:pt x="311690" y="264061"/>
                      <a:pt x="309579" y="267594"/>
                    </a:cubicBezTo>
                    <a:close/>
                    <a:moveTo>
                      <a:pt x="156390" y="178595"/>
                    </a:moveTo>
                    <a:lnTo>
                      <a:pt x="156390" y="119063"/>
                    </a:lnTo>
                    <a:cubicBezTo>
                      <a:pt x="156390" y="112488"/>
                      <a:pt x="161721" y="107157"/>
                      <a:pt x="168296" y="107157"/>
                    </a:cubicBezTo>
                    <a:cubicBezTo>
                      <a:pt x="174872" y="107157"/>
                      <a:pt x="180203" y="112488"/>
                      <a:pt x="180203" y="119063"/>
                    </a:cubicBezTo>
                    <a:lnTo>
                      <a:pt x="180203" y="178595"/>
                    </a:lnTo>
                    <a:cubicBezTo>
                      <a:pt x="180203" y="185170"/>
                      <a:pt x="174872" y="190501"/>
                      <a:pt x="168296" y="190501"/>
                    </a:cubicBezTo>
                    <a:cubicBezTo>
                      <a:pt x="161721" y="190501"/>
                      <a:pt x="156390" y="185170"/>
                      <a:pt x="156390" y="178595"/>
                    </a:cubicBezTo>
                    <a:close/>
                    <a:moveTo>
                      <a:pt x="186156" y="232173"/>
                    </a:moveTo>
                    <a:cubicBezTo>
                      <a:pt x="186156" y="242036"/>
                      <a:pt x="178160" y="250032"/>
                      <a:pt x="168296" y="250032"/>
                    </a:cubicBezTo>
                    <a:cubicBezTo>
                      <a:pt x="158433" y="250032"/>
                      <a:pt x="150437" y="242036"/>
                      <a:pt x="150437" y="232173"/>
                    </a:cubicBezTo>
                    <a:cubicBezTo>
                      <a:pt x="150437" y="222309"/>
                      <a:pt x="158433" y="214313"/>
                      <a:pt x="168296" y="214313"/>
                    </a:cubicBezTo>
                    <a:cubicBezTo>
                      <a:pt x="178160" y="214313"/>
                      <a:pt x="186156" y="222309"/>
                      <a:pt x="186156" y="232173"/>
                    </a:cubicBezTo>
                    <a:close/>
                  </a:path>
                </a:pathLst>
              </a:custGeom>
              <a:solidFill>
                <a:srgbClr val="FF6F00"/>
              </a:solidFill>
              <a:ln>
                <a:noFill/>
              </a:ln>
            </p:spPr>
          </p:sp>
        </p:grpSp>
        <p:sp>
          <p:nvSpPr>
            <p:cNvPr id="35" name="TextBox 35"/>
            <p:cNvSpPr txBox="1"/>
            <p:nvPr/>
          </p:nvSpPr>
          <p:spPr>
            <a:xfrm>
              <a:off x="6926951" y="1548765"/>
              <a:ext cx="1100347" cy="670560"/>
            </a:xfrm>
            <a:prstGeom prst="rect">
              <a:avLst/>
            </a:prstGeom>
            <a:noFill/>
            <a:ln>
              <a:noFill/>
            </a:ln>
          </p:spPr>
          <p:txBody>
            <a:bodyPr wrap="none" lIns="0" tIns="0" rIns="0" bIns="0" anchor="t" anchorCtr="0">
              <a:spAutoFit/>
            </a:bodyPr>
            <a:lstStyle/>
            <a:p>
              <a:pPr algn="ctr"/>
              <a:r>
                <a:rPr lang="zh-CN" sz="3300" b="1" dirty="0">
                  <a:solidFill>
                    <a:srgbClr val="FF6F00"/>
                  </a:solidFill>
                  <a:latin typeface="Segoe UI" panose="020B0502040204020203"/>
                  <a:ea typeface="微软雅黑" panose="020B0503020204020204" charset="-122"/>
                  <a:cs typeface="Segoe UI" panose="020B0502040204020203"/>
                </a:rPr>
                <a:t>&lt;3.0</a:t>
              </a:r>
              <a:endParaRPr lang="zh-CN" sz="3300" b="1" dirty="0">
                <a:solidFill>
                  <a:srgbClr val="FF6F00"/>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014627" y="2100739"/>
              <a:ext cx="924997"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坏味道密度</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6741795" y="2366010"/>
              <a:ext cx="14706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每千行代码坏味道数</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6562725" y="2612231"/>
              <a:ext cx="1828800"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衡量代码整洁度的关键指标</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9001125" y="904875"/>
            <a:ext cx="2619375" cy="2000250"/>
            <a:chOff x="9001125" y="904875"/>
            <a:chExt cx="2619375" cy="2000250"/>
          </a:xfrm>
        </p:grpSpPr>
        <p:sp>
          <p:nvSpPr>
            <p:cNvPr id="40" name="Rectangle 40"/>
            <p:cNvSpPr/>
            <p:nvPr/>
          </p:nvSpPr>
          <p:spPr>
            <a:xfrm>
              <a:off x="9001125" y="904875"/>
              <a:ext cx="2619375" cy="2000250"/>
            </a:xfrm>
            <a:prstGeom prst="roundRect">
              <a:avLst>
                <a:gd name="adj" fmla="val 5714"/>
              </a:avLst>
            </a:prstGeom>
            <a:solidFill>
              <a:srgbClr val="FFFFFF"/>
            </a:solidFill>
            <a:ln>
              <a:noFill/>
            </a:ln>
          </p:spPr>
        </p:sp>
        <p:sp>
          <p:nvSpPr>
            <p:cNvPr id="41" name="Rectangle 41"/>
            <p:cNvSpPr/>
            <p:nvPr/>
          </p:nvSpPr>
          <p:spPr>
            <a:xfrm>
              <a:off x="9001125" y="904875"/>
              <a:ext cx="2619375" cy="38100"/>
            </a:xfrm>
            <a:prstGeom prst="roundRect">
              <a:avLst>
                <a:gd name="adj" fmla="val 50000"/>
              </a:avLst>
            </a:prstGeom>
            <a:solidFill>
              <a:srgbClr val="2E7D32"/>
            </a:solidFill>
            <a:ln>
              <a:noFill/>
            </a:ln>
          </p:spPr>
        </p:sp>
        <p:grpSp>
          <p:nvGrpSpPr>
            <p:cNvPr id="44" name="Group 44"/>
            <p:cNvGrpSpPr/>
            <p:nvPr/>
          </p:nvGrpSpPr>
          <p:grpSpPr>
            <a:xfrm>
              <a:off x="10163175" y="1297781"/>
              <a:ext cx="285750" cy="298062"/>
              <a:chOff x="10163175" y="1297781"/>
              <a:chExt cx="285750" cy="298062"/>
            </a:xfrm>
          </p:grpSpPr>
          <p:sp>
            <p:nvSpPr>
              <p:cNvPr id="42" name="Freeform 42"/>
              <p:cNvSpPr/>
              <p:nvPr/>
            </p:nvSpPr>
            <p:spPr>
              <a:xfrm>
                <a:off x="10175081" y="1309688"/>
                <a:ext cx="261938" cy="274023"/>
              </a:xfrm>
              <a:custGeom>
                <a:avLst/>
                <a:gdLst/>
                <a:ahLst/>
                <a:cxnLst/>
                <a:rect l="l" t="t" r="r" b="b"/>
                <a:pathLst>
                  <a:path w="261938" h="274023">
                    <a:moveTo>
                      <a:pt x="261938" y="11906"/>
                    </a:moveTo>
                    <a:lnTo>
                      <a:pt x="261938" y="99373"/>
                    </a:lnTo>
                    <a:cubicBezTo>
                      <a:pt x="261938" y="224656"/>
                      <a:pt x="155808" y="266164"/>
                      <a:pt x="134630" y="273204"/>
                    </a:cubicBezTo>
                    <a:cubicBezTo>
                      <a:pt x="132258" y="274023"/>
                      <a:pt x="129680" y="274023"/>
                      <a:pt x="127308" y="273204"/>
                    </a:cubicBezTo>
                    <a:cubicBezTo>
                      <a:pt x="106129" y="266194"/>
                      <a:pt x="0" y="224730"/>
                      <a:pt x="0" y="99402"/>
                    </a:cubicBezTo>
                    <a:lnTo>
                      <a:pt x="0" y="11906"/>
                    </a:lnTo>
                    <a:cubicBezTo>
                      <a:pt x="0" y="5331"/>
                      <a:pt x="5331" y="0"/>
                      <a:pt x="11906" y="0"/>
                    </a:cubicBezTo>
                    <a:lnTo>
                      <a:pt x="250031" y="0"/>
                    </a:lnTo>
                    <a:cubicBezTo>
                      <a:pt x="256607" y="0"/>
                      <a:pt x="261938" y="5331"/>
                      <a:pt x="261938" y="11906"/>
                    </a:cubicBezTo>
                    <a:close/>
                  </a:path>
                </a:pathLst>
              </a:custGeom>
              <a:solidFill>
                <a:srgbClr val="2E7D32">
                  <a:alpha val="20000"/>
                </a:srgbClr>
              </a:solidFill>
              <a:ln>
                <a:noFill/>
              </a:ln>
            </p:spPr>
          </p:sp>
          <p:sp>
            <p:nvSpPr>
              <p:cNvPr id="43" name="Freeform 43"/>
              <p:cNvSpPr/>
              <p:nvPr/>
            </p:nvSpPr>
            <p:spPr>
              <a:xfrm>
                <a:off x="10163175" y="1297781"/>
                <a:ext cx="285750" cy="298062"/>
              </a:xfrm>
              <a:custGeom>
                <a:avLst/>
                <a:gdLst/>
                <a:ahLst/>
                <a:cxnLst/>
                <a:rect l="l" t="t" r="r" b="b"/>
                <a:pathLst>
                  <a:path w="285750" h="298062">
                    <a:moveTo>
                      <a:pt x="261938" y="0"/>
                    </a:moveTo>
                    <a:lnTo>
                      <a:pt x="23812" y="0"/>
                    </a:lnTo>
                    <a:cubicBezTo>
                      <a:pt x="10661" y="0"/>
                      <a:pt x="0" y="10661"/>
                      <a:pt x="0" y="23812"/>
                    </a:cubicBezTo>
                    <a:lnTo>
                      <a:pt x="0" y="111294"/>
                    </a:lnTo>
                    <a:cubicBezTo>
                      <a:pt x="0" y="244659"/>
                      <a:pt x="112841" y="288905"/>
                      <a:pt x="135434" y="296421"/>
                    </a:cubicBezTo>
                    <a:cubicBezTo>
                      <a:pt x="140259" y="298062"/>
                      <a:pt x="145491" y="298062"/>
                      <a:pt x="150316" y="296421"/>
                    </a:cubicBezTo>
                    <a:cubicBezTo>
                      <a:pt x="172938" y="288905"/>
                      <a:pt x="285750" y="244659"/>
                      <a:pt x="285750" y="111294"/>
                    </a:cubicBezTo>
                    <a:lnTo>
                      <a:pt x="285750" y="23812"/>
                    </a:lnTo>
                    <a:cubicBezTo>
                      <a:pt x="285750" y="10661"/>
                      <a:pt x="275089" y="0"/>
                      <a:pt x="261938" y="0"/>
                    </a:cubicBezTo>
                    <a:close/>
                    <a:moveTo>
                      <a:pt x="261938" y="111309"/>
                    </a:moveTo>
                    <a:cubicBezTo>
                      <a:pt x="261938" y="228020"/>
                      <a:pt x="163190" y="267013"/>
                      <a:pt x="142875" y="273799"/>
                    </a:cubicBezTo>
                    <a:cubicBezTo>
                      <a:pt x="122739" y="267087"/>
                      <a:pt x="23812" y="228124"/>
                      <a:pt x="23812" y="111309"/>
                    </a:cubicBezTo>
                    <a:lnTo>
                      <a:pt x="23812" y="23812"/>
                    </a:lnTo>
                    <a:lnTo>
                      <a:pt x="261938" y="23812"/>
                    </a:lnTo>
                    <a:close/>
                    <a:moveTo>
                      <a:pt x="74920" y="151299"/>
                    </a:moveTo>
                    <a:cubicBezTo>
                      <a:pt x="70268" y="146646"/>
                      <a:pt x="70268" y="139104"/>
                      <a:pt x="74920" y="134451"/>
                    </a:cubicBezTo>
                    <a:cubicBezTo>
                      <a:pt x="79572" y="129799"/>
                      <a:pt x="87115" y="129799"/>
                      <a:pt x="91767" y="134451"/>
                    </a:cubicBezTo>
                    <a:lnTo>
                      <a:pt x="119062" y="161746"/>
                    </a:lnTo>
                    <a:lnTo>
                      <a:pt x="193983" y="86826"/>
                    </a:lnTo>
                    <a:cubicBezTo>
                      <a:pt x="198635" y="82174"/>
                      <a:pt x="206178" y="82174"/>
                      <a:pt x="210830" y="86826"/>
                    </a:cubicBezTo>
                    <a:cubicBezTo>
                      <a:pt x="215482" y="91479"/>
                      <a:pt x="215482" y="99021"/>
                      <a:pt x="210830" y="103674"/>
                    </a:cubicBezTo>
                    <a:lnTo>
                      <a:pt x="127486" y="187017"/>
                    </a:lnTo>
                    <a:cubicBezTo>
                      <a:pt x="125253" y="189253"/>
                      <a:pt x="122223" y="190509"/>
                      <a:pt x="119062" y="190509"/>
                    </a:cubicBezTo>
                    <a:cubicBezTo>
                      <a:pt x="115902" y="190509"/>
                      <a:pt x="112872" y="189253"/>
                      <a:pt x="110639" y="187017"/>
                    </a:cubicBezTo>
                    <a:close/>
                  </a:path>
                </a:pathLst>
              </a:custGeom>
              <a:solidFill>
                <a:srgbClr val="2E7D32"/>
              </a:solidFill>
              <a:ln>
                <a:noFill/>
              </a:ln>
            </p:spPr>
          </p:sp>
        </p:grpSp>
        <p:sp>
          <p:nvSpPr>
            <p:cNvPr id="45" name="TextBox 45"/>
            <p:cNvSpPr txBox="1"/>
            <p:nvPr/>
          </p:nvSpPr>
          <p:spPr>
            <a:xfrm>
              <a:off x="9836737" y="1548765"/>
              <a:ext cx="938627" cy="670560"/>
            </a:xfrm>
            <a:prstGeom prst="rect">
              <a:avLst/>
            </a:prstGeom>
            <a:noFill/>
            <a:ln>
              <a:noFill/>
            </a:ln>
          </p:spPr>
          <p:txBody>
            <a:bodyPr wrap="none" lIns="0" tIns="0" rIns="0" bIns="0" anchor="t" anchorCtr="0">
              <a:spAutoFit/>
            </a:bodyPr>
            <a:lstStyle/>
            <a:p>
              <a:pPr algn="ctr"/>
              <a:r>
                <a:rPr lang="zh-CN" sz="3300" b="1" dirty="0">
                  <a:solidFill>
                    <a:srgbClr val="2E7D32"/>
                  </a:solidFill>
                  <a:latin typeface="Segoe UI" panose="020B0502040204020203"/>
                  <a:ea typeface="微软雅黑" panose="020B0503020204020204" charset="-122"/>
                  <a:cs typeface="Segoe UI" panose="020B0502040204020203"/>
                </a:rPr>
                <a:t>&lt;5%</a:t>
              </a:r>
              <a:endParaRPr lang="zh-CN" sz="3300" b="1" dirty="0">
                <a:solidFill>
                  <a:srgbClr val="2E7D32"/>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9843552" y="2100739"/>
              <a:ext cx="924997"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变更失败率</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9490710" y="2366010"/>
              <a:ext cx="163068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变更导致回归失败概率</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9541669" y="2612231"/>
              <a:ext cx="152876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衡量系统稳定性的标尺</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571500" y="3143250"/>
            <a:ext cx="11049000" cy="952500"/>
            <a:chOff x="571500" y="3143250"/>
            <a:chExt cx="11049000" cy="952500"/>
          </a:xfrm>
        </p:grpSpPr>
        <p:sp>
          <p:nvSpPr>
            <p:cNvPr id="50" name="Rectangle 50"/>
            <p:cNvSpPr/>
            <p:nvPr/>
          </p:nvSpPr>
          <p:spPr>
            <a:xfrm>
              <a:off x="571500" y="3143250"/>
              <a:ext cx="11049000" cy="952500"/>
            </a:xfrm>
            <a:prstGeom prst="roundRect">
              <a:avLst>
                <a:gd name="adj" fmla="val 12000"/>
              </a:avLst>
            </a:prstGeom>
            <a:solidFill>
              <a:srgbClr val="FFFFFF"/>
            </a:solidFill>
            <a:ln>
              <a:noFill/>
            </a:ln>
          </p:spPr>
        </p:sp>
        <p:sp>
          <p:nvSpPr>
            <p:cNvPr id="51" name="TextBox 51"/>
            <p:cNvSpPr txBox="1"/>
            <p:nvPr/>
          </p:nvSpPr>
          <p:spPr>
            <a:xfrm>
              <a:off x="3815297" y="3330892"/>
              <a:ext cx="4561406"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AI代码质量不能只看"能不能跑"，需要多维度度量体系</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2072461" y="3688556"/>
              <a:ext cx="8047077"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四项指标构成质量度量闭环：覆盖率看预防能力 · 缺陷密度看产出质量 · 坏味道密度看代码健康 · 变更失败率看系统韧性</a:t>
              </a:r>
              <a:endParaRPr lang="zh-CN" sz="1125" dirty="0">
                <a:solidFill>
                  <a:srgbClr val="546E7A"/>
                </a:solidFill>
                <a:latin typeface="Segoe UI" panose="020B0502040204020203"/>
                <a:ea typeface="微软雅黑" panose="020B0503020204020204" charset="-122"/>
                <a:cs typeface="Segoe UI" panose="020B0502040204020203"/>
              </a:endParaRPr>
            </a:p>
          </p:txBody>
        </p:sp>
      </p:grpSp>
      <p:sp>
        <p:nvSpPr>
          <p:cNvPr id="54" name="TextBox 5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5" name="图片 5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ox(in)">
                                      <p:cBhvr>
                                        <p:cTn id="7" dur="400"/>
                                        <p:tgtEl>
                                          <p:spTgt spid="19"/>
                                        </p:tgtEl>
                                      </p:cBhvr>
                                    </p:animEffect>
                                  </p:childTnLst>
                                </p:cTn>
                              </p:par>
                            </p:childTnLst>
                          </p:cTn>
                        </p:par>
                        <p:par>
                          <p:cTn id="8" fill="hold">
                            <p:stCondLst>
                              <p:cond delay="500"/>
                            </p:stCondLst>
                            <p:childTnLst>
                              <p:par>
                                <p:cTn id="9" presetID="8" presetClass="entr" presetSubtype="16"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amond(in)">
                                      <p:cBhvr>
                                        <p:cTn id="11" dur="400"/>
                                        <p:tgtEl>
                                          <p:spTgt spid="2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heel(4)">
                                      <p:cBhvr>
                                        <p:cTn id="15" dur="400"/>
                                        <p:tgtEl>
                                          <p:spTgt spid="39"/>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image">
                                      <p:cBhvr>
                                        <p:cTn id="19" dur="400"/>
                                        <p:tgtEl>
                                          <p:spTgt spid="49"/>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image">
                                      <p:cBhvr>
                                        <p:cTn id="23"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9" grpId="0"/>
      <p:bldP spid="5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09728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从Bug修复到知识沉淀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57" name="Group 57"/>
          <p:cNvGrpSpPr/>
          <p:nvPr/>
        </p:nvGrpSpPr>
        <p:grpSpPr>
          <a:xfrm>
            <a:off x="571500" y="1143000"/>
            <a:ext cx="11049000" cy="781050"/>
            <a:chOff x="571500" y="1143000"/>
            <a:chExt cx="11049000" cy="781050"/>
          </a:xfrm>
        </p:grpSpPr>
        <p:grpSp>
          <p:nvGrpSpPr>
            <p:cNvPr id="16" name="Group 16"/>
            <p:cNvGrpSpPr/>
            <p:nvPr/>
          </p:nvGrpSpPr>
          <p:grpSpPr>
            <a:xfrm>
              <a:off x="571500" y="1143000"/>
              <a:ext cx="1619250" cy="773906"/>
              <a:chOff x="571500" y="1143000"/>
              <a:chExt cx="1619250" cy="773906"/>
            </a:xfrm>
          </p:grpSpPr>
          <p:sp>
            <p:nvSpPr>
              <p:cNvPr id="10" name="Rectangle 10"/>
              <p:cNvSpPr/>
              <p:nvPr/>
            </p:nvSpPr>
            <p:spPr>
              <a:xfrm>
                <a:off x="571500" y="1143000"/>
                <a:ext cx="1619250" cy="762000"/>
              </a:xfrm>
              <a:prstGeom prst="roundRect">
                <a:avLst>
                  <a:gd name="adj" fmla="val 12500"/>
                </a:avLst>
              </a:prstGeom>
              <a:solidFill>
                <a:srgbClr val="FFFFFF"/>
              </a:solidFill>
              <a:ln>
                <a:noFill/>
              </a:ln>
            </p:spPr>
          </p:sp>
          <p:sp>
            <p:nvSpPr>
              <p:cNvPr id="11" name="Rectangle 11"/>
              <p:cNvSpPr/>
              <p:nvPr/>
            </p:nvSpPr>
            <p:spPr>
              <a:xfrm>
                <a:off x="571500" y="1143000"/>
                <a:ext cx="1619250" cy="38100"/>
              </a:xfrm>
              <a:prstGeom prst="roundRect">
                <a:avLst>
                  <a:gd name="adj" fmla="val 50000"/>
                </a:avLst>
              </a:prstGeom>
              <a:solidFill>
                <a:srgbClr val="C62828"/>
              </a:solidFill>
              <a:ln>
                <a:noFill/>
              </a:ln>
            </p:spPr>
          </p:sp>
          <p:grpSp>
            <p:nvGrpSpPr>
              <p:cNvPr id="14" name="Group 14"/>
              <p:cNvGrpSpPr/>
              <p:nvPr/>
            </p:nvGrpSpPr>
            <p:grpSpPr>
              <a:xfrm>
                <a:off x="1197769" y="1450167"/>
                <a:ext cx="214312" cy="185765"/>
                <a:chOff x="1197769" y="1450167"/>
                <a:chExt cx="214312" cy="185765"/>
              </a:xfrm>
            </p:grpSpPr>
            <p:sp>
              <p:nvSpPr>
                <p:cNvPr id="12" name="Freeform 12"/>
                <p:cNvSpPr/>
                <p:nvPr/>
              </p:nvSpPr>
              <p:spPr>
                <a:xfrm>
                  <a:off x="1233488" y="1543050"/>
                  <a:ext cx="142875" cy="85725"/>
                </a:xfrm>
                <a:custGeom>
                  <a:avLst/>
                  <a:gdLst/>
                  <a:ahLst/>
                  <a:cxnLst/>
                  <a:rect l="l" t="t" r="r" b="b"/>
                  <a:pathLst>
                    <a:path w="142875" h="85725">
                      <a:moveTo>
                        <a:pt x="142875" y="0"/>
                      </a:moveTo>
                      <a:lnTo>
                        <a:pt x="142875" y="14288"/>
                      </a:lnTo>
                      <a:cubicBezTo>
                        <a:pt x="142875" y="53741"/>
                        <a:pt x="110891" y="85725"/>
                        <a:pt x="71438" y="85725"/>
                      </a:cubicBezTo>
                      <a:cubicBezTo>
                        <a:pt x="31984" y="85725"/>
                        <a:pt x="0" y="53741"/>
                        <a:pt x="0" y="14288"/>
                      </a:cubicBezTo>
                      <a:lnTo>
                        <a:pt x="0" y="0"/>
                      </a:lnTo>
                      <a:close/>
                    </a:path>
                  </a:pathLst>
                </a:custGeom>
                <a:solidFill>
                  <a:srgbClr val="C62828">
                    <a:alpha val="20000"/>
                  </a:srgbClr>
                </a:solidFill>
                <a:ln>
                  <a:noFill/>
                </a:ln>
              </p:spPr>
            </p:sp>
            <p:sp>
              <p:nvSpPr>
                <p:cNvPr id="13" name="Freeform 13"/>
                <p:cNvSpPr/>
                <p:nvPr/>
              </p:nvSpPr>
              <p:spPr>
                <a:xfrm>
                  <a:off x="1197769" y="1450167"/>
                  <a:ext cx="214312" cy="185765"/>
                </a:xfrm>
                <a:custGeom>
                  <a:avLst/>
                  <a:gdLst/>
                  <a:ahLst/>
                  <a:cxnLst/>
                  <a:rect l="l" t="t" r="r" b="b"/>
                  <a:pathLst>
                    <a:path w="214312" h="185765">
                      <a:moveTo>
                        <a:pt x="121444" y="60736"/>
                      </a:moveTo>
                      <a:cubicBezTo>
                        <a:pt x="121444" y="54818"/>
                        <a:pt x="126241" y="50020"/>
                        <a:pt x="132159" y="50020"/>
                      </a:cubicBezTo>
                      <a:cubicBezTo>
                        <a:pt x="138077" y="50020"/>
                        <a:pt x="142875" y="54818"/>
                        <a:pt x="142875" y="60736"/>
                      </a:cubicBezTo>
                      <a:cubicBezTo>
                        <a:pt x="142875" y="66654"/>
                        <a:pt x="138077" y="71451"/>
                        <a:pt x="132159" y="71451"/>
                      </a:cubicBezTo>
                      <a:cubicBezTo>
                        <a:pt x="126241" y="71451"/>
                        <a:pt x="121444" y="66654"/>
                        <a:pt x="121444" y="60736"/>
                      </a:cubicBezTo>
                      <a:close/>
                      <a:moveTo>
                        <a:pt x="82153" y="50020"/>
                      </a:moveTo>
                      <a:cubicBezTo>
                        <a:pt x="76235" y="50020"/>
                        <a:pt x="71438" y="54818"/>
                        <a:pt x="71438" y="60736"/>
                      </a:cubicBezTo>
                      <a:cubicBezTo>
                        <a:pt x="71438" y="66654"/>
                        <a:pt x="76235" y="71451"/>
                        <a:pt x="82153" y="71451"/>
                      </a:cubicBezTo>
                      <a:cubicBezTo>
                        <a:pt x="88071" y="71451"/>
                        <a:pt x="92869" y="66654"/>
                        <a:pt x="92869" y="60736"/>
                      </a:cubicBezTo>
                      <a:cubicBezTo>
                        <a:pt x="92869" y="54818"/>
                        <a:pt x="88071" y="50020"/>
                        <a:pt x="82153" y="50020"/>
                      </a:cubicBezTo>
                      <a:close/>
                      <a:moveTo>
                        <a:pt x="185738" y="107170"/>
                      </a:moveTo>
                      <a:cubicBezTo>
                        <a:pt x="185757" y="114105"/>
                        <a:pt x="184856" y="121011"/>
                        <a:pt x="183059" y="127708"/>
                      </a:cubicBezTo>
                      <a:lnTo>
                        <a:pt x="202918" y="136388"/>
                      </a:lnTo>
                      <a:cubicBezTo>
                        <a:pt x="205966" y="137776"/>
                        <a:pt x="207640" y="141095"/>
                        <a:pt x="206945" y="144371"/>
                      </a:cubicBezTo>
                      <a:cubicBezTo>
                        <a:pt x="206251" y="147647"/>
                        <a:pt x="203374" y="150001"/>
                        <a:pt x="200025" y="150033"/>
                      </a:cubicBezTo>
                      <a:cubicBezTo>
                        <a:pt x="199041" y="150035"/>
                        <a:pt x="198068" y="149831"/>
                        <a:pt x="197167" y="149434"/>
                      </a:cubicBezTo>
                      <a:lnTo>
                        <a:pt x="178040" y="141103"/>
                      </a:lnTo>
                      <a:cubicBezTo>
                        <a:pt x="164980" y="168395"/>
                        <a:pt x="137412" y="185765"/>
                        <a:pt x="107156" y="185765"/>
                      </a:cubicBezTo>
                      <a:cubicBezTo>
                        <a:pt x="76901" y="185765"/>
                        <a:pt x="49332" y="168395"/>
                        <a:pt x="36272" y="141103"/>
                      </a:cubicBezTo>
                      <a:lnTo>
                        <a:pt x="17145" y="149434"/>
                      </a:lnTo>
                      <a:cubicBezTo>
                        <a:pt x="16245" y="149831"/>
                        <a:pt x="15271" y="150035"/>
                        <a:pt x="14288" y="150033"/>
                      </a:cubicBezTo>
                      <a:cubicBezTo>
                        <a:pt x="10906" y="150031"/>
                        <a:pt x="7990" y="147658"/>
                        <a:pt x="7299" y="144349"/>
                      </a:cubicBezTo>
                      <a:cubicBezTo>
                        <a:pt x="6608" y="141039"/>
                        <a:pt x="8332" y="137698"/>
                        <a:pt x="11430" y="136343"/>
                      </a:cubicBezTo>
                      <a:lnTo>
                        <a:pt x="31254" y="127708"/>
                      </a:lnTo>
                      <a:cubicBezTo>
                        <a:pt x="29456" y="121011"/>
                        <a:pt x="28555" y="114105"/>
                        <a:pt x="28575" y="107170"/>
                      </a:cubicBezTo>
                      <a:lnTo>
                        <a:pt x="28575" y="100026"/>
                      </a:lnTo>
                      <a:lnTo>
                        <a:pt x="7144" y="100026"/>
                      </a:lnTo>
                      <a:cubicBezTo>
                        <a:pt x="3198" y="100026"/>
                        <a:pt x="0" y="96828"/>
                        <a:pt x="0" y="92883"/>
                      </a:cubicBezTo>
                      <a:cubicBezTo>
                        <a:pt x="0" y="88937"/>
                        <a:pt x="3198" y="85739"/>
                        <a:pt x="7144" y="85739"/>
                      </a:cubicBezTo>
                      <a:lnTo>
                        <a:pt x="28575" y="85739"/>
                      </a:lnTo>
                      <a:lnTo>
                        <a:pt x="28575" y="78595"/>
                      </a:lnTo>
                      <a:cubicBezTo>
                        <a:pt x="28555" y="71661"/>
                        <a:pt x="29456" y="64754"/>
                        <a:pt x="31254" y="58057"/>
                      </a:cubicBezTo>
                      <a:lnTo>
                        <a:pt x="11430" y="49422"/>
                      </a:lnTo>
                      <a:cubicBezTo>
                        <a:pt x="9034" y="48438"/>
                        <a:pt x="7359" y="46235"/>
                        <a:pt x="7050" y="43664"/>
                      </a:cubicBezTo>
                      <a:cubicBezTo>
                        <a:pt x="6742" y="41092"/>
                        <a:pt x="7849" y="38556"/>
                        <a:pt x="9945" y="37034"/>
                      </a:cubicBezTo>
                      <a:cubicBezTo>
                        <a:pt x="12040" y="35512"/>
                        <a:pt x="14795" y="35243"/>
                        <a:pt x="17145" y="36331"/>
                      </a:cubicBezTo>
                      <a:lnTo>
                        <a:pt x="36272" y="44662"/>
                      </a:lnTo>
                      <a:cubicBezTo>
                        <a:pt x="49332" y="17370"/>
                        <a:pt x="76901" y="0"/>
                        <a:pt x="107156" y="0"/>
                      </a:cubicBezTo>
                      <a:cubicBezTo>
                        <a:pt x="137412" y="0"/>
                        <a:pt x="164980" y="17370"/>
                        <a:pt x="178040" y="44662"/>
                      </a:cubicBezTo>
                      <a:lnTo>
                        <a:pt x="197167" y="36304"/>
                      </a:lnTo>
                      <a:cubicBezTo>
                        <a:pt x="200760" y="34829"/>
                        <a:pt x="204874" y="36495"/>
                        <a:pt x="206428" y="40054"/>
                      </a:cubicBezTo>
                      <a:cubicBezTo>
                        <a:pt x="207982" y="43614"/>
                        <a:pt x="206407" y="47763"/>
                        <a:pt x="202883" y="49395"/>
                      </a:cubicBezTo>
                      <a:lnTo>
                        <a:pt x="183059" y="58102"/>
                      </a:lnTo>
                      <a:cubicBezTo>
                        <a:pt x="184856" y="64799"/>
                        <a:pt x="185757" y="71705"/>
                        <a:pt x="185738" y="78640"/>
                      </a:cubicBezTo>
                      <a:lnTo>
                        <a:pt x="185738" y="85784"/>
                      </a:lnTo>
                      <a:lnTo>
                        <a:pt x="207169" y="85784"/>
                      </a:lnTo>
                      <a:cubicBezTo>
                        <a:pt x="211114" y="85784"/>
                        <a:pt x="214312" y="88982"/>
                        <a:pt x="214312" y="92927"/>
                      </a:cubicBezTo>
                      <a:cubicBezTo>
                        <a:pt x="214312" y="96873"/>
                        <a:pt x="211114" y="100071"/>
                        <a:pt x="207169" y="100071"/>
                      </a:cubicBezTo>
                      <a:lnTo>
                        <a:pt x="185738" y="100071"/>
                      </a:lnTo>
                      <a:close/>
                      <a:moveTo>
                        <a:pt x="42862" y="85739"/>
                      </a:moveTo>
                      <a:lnTo>
                        <a:pt x="171450" y="85739"/>
                      </a:lnTo>
                      <a:lnTo>
                        <a:pt x="171450" y="78595"/>
                      </a:lnTo>
                      <a:cubicBezTo>
                        <a:pt x="171450" y="43087"/>
                        <a:pt x="142665" y="14301"/>
                        <a:pt x="107156" y="14301"/>
                      </a:cubicBezTo>
                      <a:cubicBezTo>
                        <a:pt x="71648" y="14301"/>
                        <a:pt x="42862" y="43087"/>
                        <a:pt x="42862" y="78595"/>
                      </a:cubicBezTo>
                      <a:close/>
                      <a:moveTo>
                        <a:pt x="100012" y="171053"/>
                      </a:moveTo>
                      <a:lnTo>
                        <a:pt x="100012" y="100026"/>
                      </a:lnTo>
                      <a:lnTo>
                        <a:pt x="42862" y="100026"/>
                      </a:lnTo>
                      <a:lnTo>
                        <a:pt x="42862" y="107170"/>
                      </a:lnTo>
                      <a:cubicBezTo>
                        <a:pt x="42901" y="139897"/>
                        <a:pt x="67492" y="167385"/>
                        <a:pt x="100013" y="171053"/>
                      </a:cubicBezTo>
                      <a:close/>
                      <a:moveTo>
                        <a:pt x="171450" y="107170"/>
                      </a:moveTo>
                      <a:lnTo>
                        <a:pt x="171450" y="100026"/>
                      </a:lnTo>
                      <a:lnTo>
                        <a:pt x="114300" y="100026"/>
                      </a:lnTo>
                      <a:lnTo>
                        <a:pt x="114300" y="171053"/>
                      </a:lnTo>
                      <a:cubicBezTo>
                        <a:pt x="146821" y="167385"/>
                        <a:pt x="171411" y="139897"/>
                        <a:pt x="171450" y="107170"/>
                      </a:cubicBezTo>
                      <a:close/>
                    </a:path>
                  </a:pathLst>
                </a:custGeom>
                <a:solidFill>
                  <a:srgbClr val="C62828"/>
                </a:solidFill>
                <a:ln>
                  <a:noFill/>
                </a:ln>
              </p:spPr>
            </p:sp>
          </p:grpSp>
          <p:sp>
            <p:nvSpPr>
              <p:cNvPr id="15" name="TextBox 15"/>
              <p:cNvSpPr txBox="1"/>
              <p:nvPr/>
            </p:nvSpPr>
            <p:spPr>
              <a:xfrm>
                <a:off x="1079364" y="1688306"/>
                <a:ext cx="603522"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Bug发现</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17" name="TextBox 17"/>
            <p:cNvSpPr txBox="1"/>
            <p:nvPr/>
          </p:nvSpPr>
          <p:spPr>
            <a:xfrm>
              <a:off x="224475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2571750" y="1143000"/>
              <a:ext cx="1619250" cy="773906"/>
              <a:chOff x="2571750" y="1143000"/>
              <a:chExt cx="1619250" cy="773906"/>
            </a:xfrm>
          </p:grpSpPr>
          <p:sp>
            <p:nvSpPr>
              <p:cNvPr id="18" name="Rectangle 18"/>
              <p:cNvSpPr/>
              <p:nvPr/>
            </p:nvSpPr>
            <p:spPr>
              <a:xfrm>
                <a:off x="2571750" y="1143000"/>
                <a:ext cx="1619250" cy="762000"/>
              </a:xfrm>
              <a:prstGeom prst="roundRect">
                <a:avLst>
                  <a:gd name="adj" fmla="val 12500"/>
                </a:avLst>
              </a:prstGeom>
              <a:solidFill>
                <a:srgbClr val="FFFFFF"/>
              </a:solidFill>
              <a:ln>
                <a:noFill/>
              </a:ln>
            </p:spPr>
          </p:sp>
          <p:sp>
            <p:nvSpPr>
              <p:cNvPr id="19" name="Rectangle 19"/>
              <p:cNvSpPr/>
              <p:nvPr/>
            </p:nvSpPr>
            <p:spPr>
              <a:xfrm>
                <a:off x="2571750" y="1143000"/>
                <a:ext cx="1619250" cy="38100"/>
              </a:xfrm>
              <a:prstGeom prst="roundRect">
                <a:avLst>
                  <a:gd name="adj" fmla="val 50000"/>
                </a:avLst>
              </a:prstGeom>
              <a:solidFill>
                <a:srgbClr val="FF6F00"/>
              </a:solidFill>
              <a:ln>
                <a:noFill/>
              </a:ln>
            </p:spPr>
          </p:sp>
          <p:grpSp>
            <p:nvGrpSpPr>
              <p:cNvPr id="22" name="Group 22"/>
              <p:cNvGrpSpPr/>
              <p:nvPr/>
            </p:nvGrpSpPr>
            <p:grpSpPr>
              <a:xfrm>
                <a:off x="3204180" y="1442021"/>
                <a:ext cx="194566" cy="194600"/>
                <a:chOff x="3204180" y="1442021"/>
                <a:chExt cx="194566" cy="194600"/>
              </a:xfrm>
            </p:grpSpPr>
            <p:sp>
              <p:nvSpPr>
                <p:cNvPr id="20" name="Freeform 20"/>
                <p:cNvSpPr/>
                <p:nvPr/>
              </p:nvSpPr>
              <p:spPr>
                <a:xfrm>
                  <a:off x="3219450" y="145732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FF6F00">
                    <a:alpha val="20000"/>
                  </a:srgbClr>
                </a:solidFill>
                <a:ln>
                  <a:noFill/>
                </a:ln>
              </p:spPr>
            </p:sp>
            <p:sp>
              <p:nvSpPr>
                <p:cNvPr id="21" name="Freeform 21"/>
                <p:cNvSpPr/>
                <p:nvPr/>
              </p:nvSpPr>
              <p:spPr>
                <a:xfrm>
                  <a:off x="3204180" y="1442021"/>
                  <a:ext cx="194566" cy="194600"/>
                </a:xfrm>
                <a:custGeom>
                  <a:avLst/>
                  <a:gdLst/>
                  <a:ahLst/>
                  <a:cxnLst/>
                  <a:rect l="l" t="t" r="r" b="b"/>
                  <a:pathLst>
                    <a:path w="194566" h="194600">
                      <a:moveTo>
                        <a:pt x="191774" y="181700"/>
                      </a:moveTo>
                      <a:lnTo>
                        <a:pt x="147072" y="136998"/>
                      </a:lnTo>
                      <a:cubicBezTo>
                        <a:pt x="174041" y="104654"/>
                        <a:pt x="170798" y="56818"/>
                        <a:pt x="139712" y="28409"/>
                      </a:cubicBezTo>
                      <a:cubicBezTo>
                        <a:pt x="108625" y="0"/>
                        <a:pt x="60692" y="1067"/>
                        <a:pt x="30901" y="30832"/>
                      </a:cubicBezTo>
                      <a:cubicBezTo>
                        <a:pt x="1110" y="60597"/>
                        <a:pt x="0" y="108529"/>
                        <a:pt x="28382" y="139641"/>
                      </a:cubicBezTo>
                      <a:cubicBezTo>
                        <a:pt x="56763" y="170752"/>
                        <a:pt x="104596" y="174037"/>
                        <a:pt x="136964" y="147097"/>
                      </a:cubicBezTo>
                      <a:lnTo>
                        <a:pt x="181666" y="191808"/>
                      </a:lnTo>
                      <a:cubicBezTo>
                        <a:pt x="184457" y="194600"/>
                        <a:pt x="188983" y="194600"/>
                        <a:pt x="191774" y="191808"/>
                      </a:cubicBezTo>
                      <a:cubicBezTo>
                        <a:pt x="194566" y="189017"/>
                        <a:pt x="194566" y="184491"/>
                        <a:pt x="191774" y="181700"/>
                      </a:cubicBezTo>
                      <a:close/>
                      <a:moveTo>
                        <a:pt x="22414" y="86742"/>
                      </a:moveTo>
                      <a:cubicBezTo>
                        <a:pt x="22414" y="51233"/>
                        <a:pt x="51199" y="22448"/>
                        <a:pt x="86707" y="22448"/>
                      </a:cubicBezTo>
                      <a:cubicBezTo>
                        <a:pt x="122216" y="22448"/>
                        <a:pt x="151001" y="51233"/>
                        <a:pt x="151001" y="86742"/>
                      </a:cubicBezTo>
                      <a:cubicBezTo>
                        <a:pt x="151001" y="122250"/>
                        <a:pt x="122216" y="151035"/>
                        <a:pt x="86707" y="151035"/>
                      </a:cubicBezTo>
                      <a:cubicBezTo>
                        <a:pt x="51215" y="150996"/>
                        <a:pt x="22453" y="122234"/>
                        <a:pt x="22414" y="86742"/>
                      </a:cubicBezTo>
                      <a:close/>
                    </a:path>
                  </a:pathLst>
                </a:custGeom>
                <a:solidFill>
                  <a:srgbClr val="FF6F00"/>
                </a:solidFill>
                <a:ln>
                  <a:noFill/>
                </a:ln>
              </p:spPr>
            </p:sp>
          </p:grpSp>
          <p:sp>
            <p:nvSpPr>
              <p:cNvPr id="23" name="TextBox 23"/>
              <p:cNvSpPr txBox="1"/>
              <p:nvPr/>
            </p:nvSpPr>
            <p:spPr>
              <a:xfrm>
                <a:off x="3052048" y="1688306"/>
                <a:ext cx="658654"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根因分析</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424500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4572000" y="1143000"/>
              <a:ext cx="1619250" cy="773906"/>
              <a:chOff x="4572000" y="1143000"/>
              <a:chExt cx="1619250" cy="773906"/>
            </a:xfrm>
          </p:grpSpPr>
          <p:sp>
            <p:nvSpPr>
              <p:cNvPr id="26" name="Rectangle 26"/>
              <p:cNvSpPr/>
              <p:nvPr/>
            </p:nvSpPr>
            <p:spPr>
              <a:xfrm>
                <a:off x="4572000" y="1143000"/>
                <a:ext cx="1619250" cy="762000"/>
              </a:xfrm>
              <a:prstGeom prst="roundRect">
                <a:avLst>
                  <a:gd name="adj" fmla="val 12500"/>
                </a:avLst>
              </a:prstGeom>
              <a:solidFill>
                <a:srgbClr val="FFFFFF"/>
              </a:solidFill>
              <a:ln>
                <a:noFill/>
              </a:ln>
            </p:spPr>
          </p:sp>
          <p:sp>
            <p:nvSpPr>
              <p:cNvPr id="27" name="Rectangle 27"/>
              <p:cNvSpPr/>
              <p:nvPr/>
            </p:nvSpPr>
            <p:spPr>
              <a:xfrm>
                <a:off x="4572000" y="1143000"/>
                <a:ext cx="1619250" cy="38100"/>
              </a:xfrm>
              <a:prstGeom prst="roundRect">
                <a:avLst>
                  <a:gd name="adj" fmla="val 50000"/>
                </a:avLst>
              </a:prstGeom>
              <a:solidFill>
                <a:srgbClr val="1565C0"/>
              </a:solidFill>
              <a:ln>
                <a:noFill/>
              </a:ln>
            </p:spPr>
          </p:sp>
          <p:grpSp>
            <p:nvGrpSpPr>
              <p:cNvPr id="30" name="Group 30"/>
              <p:cNvGrpSpPr/>
              <p:nvPr/>
            </p:nvGrpSpPr>
            <p:grpSpPr>
              <a:xfrm>
                <a:off x="5209754" y="1446843"/>
                <a:ext cx="188562" cy="191887"/>
                <a:chOff x="5209754" y="1446843"/>
                <a:chExt cx="188562" cy="191887"/>
              </a:xfrm>
            </p:grpSpPr>
            <p:sp>
              <p:nvSpPr>
                <p:cNvPr id="28" name="Freeform 28"/>
                <p:cNvSpPr/>
                <p:nvPr/>
              </p:nvSpPr>
              <p:spPr>
                <a:xfrm>
                  <a:off x="5217567" y="1452410"/>
                  <a:ext cx="173593" cy="178498"/>
                </a:xfrm>
                <a:custGeom>
                  <a:avLst/>
                  <a:gdLst/>
                  <a:ahLst/>
                  <a:cxnLst/>
                  <a:rect l="l" t="t" r="r" b="b"/>
                  <a:pathLst>
                    <a:path w="173593" h="178498">
                      <a:moveTo>
                        <a:pt x="173583" y="62065"/>
                      </a:moveTo>
                      <a:cubicBezTo>
                        <a:pt x="173576" y="82285"/>
                        <a:pt x="162884" y="100996"/>
                        <a:pt x="145468" y="111268"/>
                      </a:cubicBezTo>
                      <a:cubicBezTo>
                        <a:pt x="128052" y="121541"/>
                        <a:pt x="106505" y="121846"/>
                        <a:pt x="88805" y="112071"/>
                      </a:cubicBezTo>
                      <a:lnTo>
                        <a:pt x="38745" y="170114"/>
                      </a:lnTo>
                      <a:cubicBezTo>
                        <a:pt x="30361" y="178498"/>
                        <a:pt x="16768" y="178498"/>
                        <a:pt x="8384" y="170114"/>
                      </a:cubicBezTo>
                      <a:cubicBezTo>
                        <a:pt x="0" y="161730"/>
                        <a:pt x="0" y="148137"/>
                        <a:pt x="8384" y="139753"/>
                      </a:cubicBezTo>
                      <a:lnTo>
                        <a:pt x="66427" y="89693"/>
                      </a:lnTo>
                      <a:cubicBezTo>
                        <a:pt x="54724" y="68515"/>
                        <a:pt x="57627" y="42263"/>
                        <a:pt x="73673" y="24153"/>
                      </a:cubicBezTo>
                      <a:cubicBezTo>
                        <a:pt x="89719" y="6042"/>
                        <a:pt x="115431" y="0"/>
                        <a:pt x="137864" y="9067"/>
                      </a:cubicBezTo>
                      <a:lnTo>
                        <a:pt x="102146" y="47777"/>
                      </a:lnTo>
                      <a:lnTo>
                        <a:pt x="107200" y="71298"/>
                      </a:lnTo>
                      <a:lnTo>
                        <a:pt x="130721" y="76352"/>
                      </a:lnTo>
                      <a:lnTo>
                        <a:pt x="169431" y="40634"/>
                      </a:lnTo>
                      <a:cubicBezTo>
                        <a:pt x="172183" y="47443"/>
                        <a:pt x="173593" y="54720"/>
                        <a:pt x="173583" y="62065"/>
                      </a:cubicBezTo>
                      <a:close/>
                    </a:path>
                  </a:pathLst>
                </a:custGeom>
                <a:solidFill>
                  <a:srgbClr val="1565C0">
                    <a:alpha val="20000"/>
                  </a:srgbClr>
                </a:solidFill>
                <a:ln>
                  <a:noFill/>
                </a:ln>
              </p:spPr>
            </p:sp>
            <p:sp>
              <p:nvSpPr>
                <p:cNvPr id="29" name="Freeform 29"/>
                <p:cNvSpPr/>
                <p:nvPr/>
              </p:nvSpPr>
              <p:spPr>
                <a:xfrm>
                  <a:off x="5209754" y="1446843"/>
                  <a:ext cx="188562" cy="191887"/>
                </a:xfrm>
                <a:custGeom>
                  <a:avLst/>
                  <a:gdLst/>
                  <a:ahLst/>
                  <a:cxnLst/>
                  <a:rect l="l" t="t" r="r" b="b"/>
                  <a:pathLst>
                    <a:path w="188562" h="191887">
                      <a:moveTo>
                        <a:pt x="183861" y="43522"/>
                      </a:moveTo>
                      <a:cubicBezTo>
                        <a:pt x="182981" y="41348"/>
                        <a:pt x="181090" y="39744"/>
                        <a:pt x="178802" y="39231"/>
                      </a:cubicBezTo>
                      <a:cubicBezTo>
                        <a:pt x="176513" y="38718"/>
                        <a:pt x="174119" y="39360"/>
                        <a:pt x="172395" y="40950"/>
                      </a:cubicBezTo>
                      <a:lnTo>
                        <a:pt x="136408" y="74160"/>
                      </a:lnTo>
                      <a:lnTo>
                        <a:pt x="121022" y="70856"/>
                      </a:lnTo>
                      <a:lnTo>
                        <a:pt x="117718" y="55470"/>
                      </a:lnTo>
                      <a:lnTo>
                        <a:pt x="150928" y="19483"/>
                      </a:lnTo>
                      <a:cubicBezTo>
                        <a:pt x="152518" y="17760"/>
                        <a:pt x="153161" y="15365"/>
                        <a:pt x="152647" y="13077"/>
                      </a:cubicBezTo>
                      <a:cubicBezTo>
                        <a:pt x="152134" y="10788"/>
                        <a:pt x="150530" y="8897"/>
                        <a:pt x="148356" y="8018"/>
                      </a:cubicBezTo>
                      <a:cubicBezTo>
                        <a:pt x="128536" y="0"/>
                        <a:pt x="106026" y="2360"/>
                        <a:pt x="88300" y="14314"/>
                      </a:cubicBezTo>
                      <a:cubicBezTo>
                        <a:pt x="70573" y="26268"/>
                        <a:pt x="59948" y="46252"/>
                        <a:pt x="59952" y="67632"/>
                      </a:cubicBezTo>
                      <a:cubicBezTo>
                        <a:pt x="59941" y="76523"/>
                        <a:pt x="61765" y="85321"/>
                        <a:pt x="65310" y="93475"/>
                      </a:cubicBezTo>
                      <a:lnTo>
                        <a:pt x="11544" y="139963"/>
                      </a:lnTo>
                      <a:cubicBezTo>
                        <a:pt x="11411" y="140070"/>
                        <a:pt x="11286" y="140195"/>
                        <a:pt x="11161" y="140311"/>
                      </a:cubicBezTo>
                      <a:cubicBezTo>
                        <a:pt x="0" y="151472"/>
                        <a:pt x="0" y="169566"/>
                        <a:pt x="11161" y="180727"/>
                      </a:cubicBezTo>
                      <a:cubicBezTo>
                        <a:pt x="22321" y="191887"/>
                        <a:pt x="40416" y="191887"/>
                        <a:pt x="51576" y="180727"/>
                      </a:cubicBezTo>
                      <a:cubicBezTo>
                        <a:pt x="51692" y="180611"/>
                        <a:pt x="51817" y="180477"/>
                        <a:pt x="51925" y="180352"/>
                      </a:cubicBezTo>
                      <a:lnTo>
                        <a:pt x="98404" y="126568"/>
                      </a:lnTo>
                      <a:cubicBezTo>
                        <a:pt x="118295" y="135300"/>
                        <a:pt x="141250" y="133397"/>
                        <a:pt x="159431" y="121509"/>
                      </a:cubicBezTo>
                      <a:cubicBezTo>
                        <a:pt x="177613" y="109621"/>
                        <a:pt x="188562" y="89355"/>
                        <a:pt x="188540" y="67632"/>
                      </a:cubicBezTo>
                      <a:cubicBezTo>
                        <a:pt x="188554" y="59369"/>
                        <a:pt x="186965" y="51181"/>
                        <a:pt x="183861" y="43522"/>
                      </a:cubicBezTo>
                      <a:close/>
                      <a:moveTo>
                        <a:pt x="124246" y="117639"/>
                      </a:moveTo>
                      <a:cubicBezTo>
                        <a:pt x="115790" y="117627"/>
                        <a:pt x="107475" y="115477"/>
                        <a:pt x="100073" y="111388"/>
                      </a:cubicBezTo>
                      <a:cubicBezTo>
                        <a:pt x="97118" y="109755"/>
                        <a:pt x="93423" y="110414"/>
                        <a:pt x="91215" y="112968"/>
                      </a:cubicBezTo>
                      <a:lnTo>
                        <a:pt x="41298" y="170779"/>
                      </a:lnTo>
                      <a:cubicBezTo>
                        <a:pt x="35681" y="176116"/>
                        <a:pt x="26833" y="176003"/>
                        <a:pt x="21355" y="170524"/>
                      </a:cubicBezTo>
                      <a:cubicBezTo>
                        <a:pt x="15876" y="165045"/>
                        <a:pt x="15762" y="156198"/>
                        <a:pt x="21099" y="150580"/>
                      </a:cubicBezTo>
                      <a:lnTo>
                        <a:pt x="78865" y="100672"/>
                      </a:lnTo>
                      <a:cubicBezTo>
                        <a:pt x="81424" y="98463"/>
                        <a:pt x="82083" y="94762"/>
                        <a:pt x="80446" y="91805"/>
                      </a:cubicBezTo>
                      <a:cubicBezTo>
                        <a:pt x="71153" y="74997"/>
                        <a:pt x="72307" y="54353"/>
                        <a:pt x="83416" y="38685"/>
                      </a:cubicBezTo>
                      <a:cubicBezTo>
                        <a:pt x="94524" y="23018"/>
                        <a:pt x="113624" y="15097"/>
                        <a:pt x="132560" y="18305"/>
                      </a:cubicBezTo>
                      <a:lnTo>
                        <a:pt x="104699" y="48496"/>
                      </a:lnTo>
                      <a:cubicBezTo>
                        <a:pt x="103126" y="50203"/>
                        <a:pt x="102480" y="52567"/>
                        <a:pt x="102967" y="54836"/>
                      </a:cubicBezTo>
                      <a:lnTo>
                        <a:pt x="108021" y="78348"/>
                      </a:lnTo>
                      <a:cubicBezTo>
                        <a:pt x="108611" y="81095"/>
                        <a:pt x="110757" y="83240"/>
                        <a:pt x="113504" y="83831"/>
                      </a:cubicBezTo>
                      <a:lnTo>
                        <a:pt x="137033" y="88885"/>
                      </a:lnTo>
                      <a:cubicBezTo>
                        <a:pt x="139303" y="89372"/>
                        <a:pt x="141667" y="88726"/>
                        <a:pt x="143373" y="87153"/>
                      </a:cubicBezTo>
                      <a:lnTo>
                        <a:pt x="173565" y="59292"/>
                      </a:lnTo>
                      <a:cubicBezTo>
                        <a:pt x="176001" y="73805"/>
                        <a:pt x="171927" y="88656"/>
                        <a:pt x="162427" y="99895"/>
                      </a:cubicBezTo>
                      <a:cubicBezTo>
                        <a:pt x="152927" y="111134"/>
                        <a:pt x="138963" y="117624"/>
                        <a:pt x="124246" y="117639"/>
                      </a:cubicBezTo>
                      <a:close/>
                    </a:path>
                  </a:pathLst>
                </a:custGeom>
                <a:solidFill>
                  <a:srgbClr val="1565C0"/>
                </a:solidFill>
                <a:ln>
                  <a:noFill/>
                </a:ln>
              </p:spPr>
            </p:sp>
          </p:grpSp>
          <p:sp>
            <p:nvSpPr>
              <p:cNvPr id="31" name="TextBox 31"/>
              <p:cNvSpPr txBox="1"/>
              <p:nvPr/>
            </p:nvSpPr>
            <p:spPr>
              <a:xfrm>
                <a:off x="5052298" y="1688306"/>
                <a:ext cx="658654"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修复验证</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33" name="TextBox 33"/>
            <p:cNvSpPr txBox="1"/>
            <p:nvPr/>
          </p:nvSpPr>
          <p:spPr>
            <a:xfrm>
              <a:off x="624525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40" name="Group 40"/>
            <p:cNvGrpSpPr/>
            <p:nvPr/>
          </p:nvGrpSpPr>
          <p:grpSpPr>
            <a:xfrm>
              <a:off x="6572250" y="1143000"/>
              <a:ext cx="1619250" cy="773906"/>
              <a:chOff x="6572250" y="1143000"/>
              <a:chExt cx="1619250" cy="773906"/>
            </a:xfrm>
          </p:grpSpPr>
          <p:sp>
            <p:nvSpPr>
              <p:cNvPr id="34" name="Rectangle 34"/>
              <p:cNvSpPr/>
              <p:nvPr/>
            </p:nvSpPr>
            <p:spPr>
              <a:xfrm>
                <a:off x="6572250" y="1143000"/>
                <a:ext cx="1619250" cy="762000"/>
              </a:xfrm>
              <a:prstGeom prst="roundRect">
                <a:avLst>
                  <a:gd name="adj" fmla="val 12500"/>
                </a:avLst>
              </a:prstGeom>
              <a:solidFill>
                <a:srgbClr val="FFFFFF"/>
              </a:solidFill>
              <a:ln>
                <a:noFill/>
              </a:ln>
            </p:spPr>
          </p:sp>
          <p:sp>
            <p:nvSpPr>
              <p:cNvPr id="35" name="Rectangle 35"/>
              <p:cNvSpPr/>
              <p:nvPr/>
            </p:nvSpPr>
            <p:spPr>
              <a:xfrm>
                <a:off x="6572250" y="1143000"/>
                <a:ext cx="1619250" cy="38100"/>
              </a:xfrm>
              <a:prstGeom prst="roundRect">
                <a:avLst>
                  <a:gd name="adj" fmla="val 50000"/>
                </a:avLst>
              </a:prstGeom>
              <a:solidFill>
                <a:srgbClr val="00838F"/>
              </a:solidFill>
              <a:ln>
                <a:noFill/>
              </a:ln>
            </p:spPr>
          </p:sp>
          <p:grpSp>
            <p:nvGrpSpPr>
              <p:cNvPr id="38" name="Group 38"/>
              <p:cNvGrpSpPr/>
              <p:nvPr/>
            </p:nvGrpSpPr>
            <p:grpSpPr>
              <a:xfrm>
                <a:off x="7197968" y="1440723"/>
                <a:ext cx="193434" cy="188052"/>
                <a:chOff x="7197968" y="1440723"/>
                <a:chExt cx="193434" cy="188052"/>
              </a:xfrm>
            </p:grpSpPr>
            <p:sp>
              <p:nvSpPr>
                <p:cNvPr id="36" name="Freeform 36"/>
                <p:cNvSpPr/>
                <p:nvPr/>
              </p:nvSpPr>
              <p:spPr>
                <a:xfrm>
                  <a:off x="7203878" y="1448387"/>
                  <a:ext cx="180378" cy="173244"/>
                </a:xfrm>
                <a:custGeom>
                  <a:avLst/>
                  <a:gdLst/>
                  <a:ahLst/>
                  <a:cxnLst/>
                  <a:rect l="l" t="t" r="r" b="b"/>
                  <a:pathLst>
                    <a:path w="180378" h="173244">
                      <a:moveTo>
                        <a:pt x="169662" y="130382"/>
                      </a:moveTo>
                      <a:cubicBezTo>
                        <a:pt x="173368" y="130385"/>
                        <a:pt x="177028" y="129565"/>
                        <a:pt x="180378" y="127980"/>
                      </a:cubicBezTo>
                      <a:lnTo>
                        <a:pt x="180378" y="166101"/>
                      </a:lnTo>
                      <a:cubicBezTo>
                        <a:pt x="180378" y="170046"/>
                        <a:pt x="177180" y="173244"/>
                        <a:pt x="173234" y="173244"/>
                      </a:cubicBezTo>
                      <a:lnTo>
                        <a:pt x="44647" y="173244"/>
                      </a:lnTo>
                      <a:cubicBezTo>
                        <a:pt x="40701" y="173244"/>
                        <a:pt x="37503" y="170046"/>
                        <a:pt x="37503" y="166101"/>
                      </a:cubicBezTo>
                      <a:lnTo>
                        <a:pt x="37503" y="127980"/>
                      </a:lnTo>
                      <a:cubicBezTo>
                        <a:pt x="26997" y="132951"/>
                        <a:pt x="14451" y="130027"/>
                        <a:pt x="7226" y="120923"/>
                      </a:cubicBezTo>
                      <a:cubicBezTo>
                        <a:pt x="0" y="111820"/>
                        <a:pt x="0" y="98938"/>
                        <a:pt x="7226" y="89834"/>
                      </a:cubicBezTo>
                      <a:cubicBezTo>
                        <a:pt x="14451" y="80731"/>
                        <a:pt x="26997" y="77807"/>
                        <a:pt x="37503" y="82778"/>
                      </a:cubicBezTo>
                      <a:lnTo>
                        <a:pt x="37503" y="44657"/>
                      </a:lnTo>
                      <a:cubicBezTo>
                        <a:pt x="37503" y="40711"/>
                        <a:pt x="40701" y="37513"/>
                        <a:pt x="44647" y="37513"/>
                      </a:cubicBezTo>
                      <a:lnTo>
                        <a:pt x="86339" y="37513"/>
                      </a:lnTo>
                      <a:cubicBezTo>
                        <a:pt x="81363" y="27007"/>
                        <a:pt x="84284" y="14457"/>
                        <a:pt x="93389" y="7229"/>
                      </a:cubicBezTo>
                      <a:cubicBezTo>
                        <a:pt x="102493" y="0"/>
                        <a:pt x="115379" y="0"/>
                        <a:pt x="124483" y="7229"/>
                      </a:cubicBezTo>
                      <a:cubicBezTo>
                        <a:pt x="133588" y="14457"/>
                        <a:pt x="136509" y="27007"/>
                        <a:pt x="131533" y="37513"/>
                      </a:cubicBezTo>
                      <a:lnTo>
                        <a:pt x="173234" y="37513"/>
                      </a:lnTo>
                      <a:cubicBezTo>
                        <a:pt x="177180" y="37513"/>
                        <a:pt x="180378" y="40711"/>
                        <a:pt x="180378" y="44657"/>
                      </a:cubicBezTo>
                      <a:lnTo>
                        <a:pt x="180378" y="82778"/>
                      </a:lnTo>
                      <a:cubicBezTo>
                        <a:pt x="171104" y="78390"/>
                        <a:pt x="160091" y="80113"/>
                        <a:pt x="152600" y="87123"/>
                      </a:cubicBezTo>
                      <a:cubicBezTo>
                        <a:pt x="145109" y="94134"/>
                        <a:pt x="142661" y="105009"/>
                        <a:pt x="146425" y="114553"/>
                      </a:cubicBezTo>
                      <a:cubicBezTo>
                        <a:pt x="150190" y="124097"/>
                        <a:pt x="159403" y="130373"/>
                        <a:pt x="169662" y="130382"/>
                      </a:cubicBezTo>
                      <a:close/>
                    </a:path>
                  </a:pathLst>
                </a:custGeom>
                <a:solidFill>
                  <a:srgbClr val="00838F">
                    <a:alpha val="20000"/>
                  </a:srgbClr>
                </a:solidFill>
                <a:ln>
                  <a:noFill/>
                </a:ln>
              </p:spPr>
            </p:sp>
            <p:sp>
              <p:nvSpPr>
                <p:cNvPr id="37" name="Freeform 37"/>
                <p:cNvSpPr/>
                <p:nvPr/>
              </p:nvSpPr>
              <p:spPr>
                <a:xfrm>
                  <a:off x="7197968" y="1440723"/>
                  <a:ext cx="193434" cy="188052"/>
                </a:xfrm>
                <a:custGeom>
                  <a:avLst/>
                  <a:gdLst/>
                  <a:ahLst/>
                  <a:cxnLst/>
                  <a:rect l="l" t="t" r="r" b="b"/>
                  <a:pathLst>
                    <a:path w="193434" h="188052">
                      <a:moveTo>
                        <a:pt x="190101" y="129598"/>
                      </a:moveTo>
                      <a:cubicBezTo>
                        <a:pt x="188031" y="128292"/>
                        <a:pt x="185437" y="128137"/>
                        <a:pt x="183226" y="129187"/>
                      </a:cubicBezTo>
                      <a:cubicBezTo>
                        <a:pt x="175721" y="132736"/>
                        <a:pt x="166761" y="130647"/>
                        <a:pt x="161601" y="124145"/>
                      </a:cubicBezTo>
                      <a:cubicBezTo>
                        <a:pt x="156441" y="117643"/>
                        <a:pt x="156441" y="108442"/>
                        <a:pt x="161601" y="101940"/>
                      </a:cubicBezTo>
                      <a:cubicBezTo>
                        <a:pt x="166761" y="95438"/>
                        <a:pt x="175721" y="93349"/>
                        <a:pt x="183226" y="96898"/>
                      </a:cubicBezTo>
                      <a:cubicBezTo>
                        <a:pt x="185439" y="97948"/>
                        <a:pt x="188037" y="97791"/>
                        <a:pt x="190107" y="96481"/>
                      </a:cubicBezTo>
                      <a:cubicBezTo>
                        <a:pt x="192178" y="95171"/>
                        <a:pt x="193433" y="92892"/>
                        <a:pt x="193432" y="90441"/>
                      </a:cubicBezTo>
                      <a:lnTo>
                        <a:pt x="193432" y="52321"/>
                      </a:lnTo>
                      <a:cubicBezTo>
                        <a:pt x="193432" y="44430"/>
                        <a:pt x="187035" y="38033"/>
                        <a:pt x="179145" y="38033"/>
                      </a:cubicBezTo>
                      <a:lnTo>
                        <a:pt x="146801" y="38033"/>
                      </a:lnTo>
                      <a:cubicBezTo>
                        <a:pt x="146934" y="36847"/>
                        <a:pt x="147000" y="35655"/>
                        <a:pt x="146998" y="34461"/>
                      </a:cubicBezTo>
                      <a:cubicBezTo>
                        <a:pt x="146983" y="25585"/>
                        <a:pt x="143314" y="17107"/>
                        <a:pt x="136854" y="11021"/>
                      </a:cubicBezTo>
                      <a:cubicBezTo>
                        <a:pt x="127818" y="2535"/>
                        <a:pt x="114707" y="0"/>
                        <a:pt x="103160" y="4507"/>
                      </a:cubicBezTo>
                      <a:cubicBezTo>
                        <a:pt x="91612" y="9013"/>
                        <a:pt x="83684" y="19758"/>
                        <a:pt x="82784" y="32122"/>
                      </a:cubicBezTo>
                      <a:cubicBezTo>
                        <a:pt x="82647" y="34092"/>
                        <a:pt x="82689" y="36070"/>
                        <a:pt x="82909" y="38033"/>
                      </a:cubicBezTo>
                      <a:lnTo>
                        <a:pt x="50557" y="38033"/>
                      </a:lnTo>
                      <a:cubicBezTo>
                        <a:pt x="46768" y="38033"/>
                        <a:pt x="43134" y="39538"/>
                        <a:pt x="40454" y="42218"/>
                      </a:cubicBezTo>
                      <a:cubicBezTo>
                        <a:pt x="37775" y="44897"/>
                        <a:pt x="36270" y="48531"/>
                        <a:pt x="36270" y="52321"/>
                      </a:cubicBezTo>
                      <a:lnTo>
                        <a:pt x="36270" y="81092"/>
                      </a:lnTo>
                      <a:cubicBezTo>
                        <a:pt x="35084" y="80959"/>
                        <a:pt x="33891" y="80893"/>
                        <a:pt x="32698" y="80896"/>
                      </a:cubicBezTo>
                      <a:cubicBezTo>
                        <a:pt x="23824" y="80910"/>
                        <a:pt x="15349" y="84579"/>
                        <a:pt x="9266" y="91040"/>
                      </a:cubicBezTo>
                      <a:cubicBezTo>
                        <a:pt x="3138" y="97513"/>
                        <a:pt x="0" y="106257"/>
                        <a:pt x="613" y="115150"/>
                      </a:cubicBezTo>
                      <a:cubicBezTo>
                        <a:pt x="1672" y="131163"/>
                        <a:pt x="14354" y="143956"/>
                        <a:pt x="30358" y="145154"/>
                      </a:cubicBezTo>
                      <a:cubicBezTo>
                        <a:pt x="32328" y="145291"/>
                        <a:pt x="34307" y="145249"/>
                        <a:pt x="36270" y="145029"/>
                      </a:cubicBezTo>
                      <a:lnTo>
                        <a:pt x="36270" y="173764"/>
                      </a:lnTo>
                      <a:cubicBezTo>
                        <a:pt x="36270" y="181655"/>
                        <a:pt x="42666" y="188052"/>
                        <a:pt x="50557" y="188052"/>
                      </a:cubicBezTo>
                      <a:lnTo>
                        <a:pt x="179145" y="188052"/>
                      </a:lnTo>
                      <a:cubicBezTo>
                        <a:pt x="187035" y="188052"/>
                        <a:pt x="193432" y="181655"/>
                        <a:pt x="193432" y="173764"/>
                      </a:cubicBezTo>
                      <a:lnTo>
                        <a:pt x="193432" y="135643"/>
                      </a:lnTo>
                      <a:cubicBezTo>
                        <a:pt x="193434" y="133190"/>
                        <a:pt x="192176" y="130908"/>
                        <a:pt x="190101" y="129598"/>
                      </a:cubicBezTo>
                      <a:close/>
                      <a:moveTo>
                        <a:pt x="179145" y="173764"/>
                      </a:moveTo>
                      <a:lnTo>
                        <a:pt x="50557" y="173764"/>
                      </a:lnTo>
                      <a:lnTo>
                        <a:pt x="50557" y="135643"/>
                      </a:lnTo>
                      <a:cubicBezTo>
                        <a:pt x="50558" y="133193"/>
                        <a:pt x="49303" y="130914"/>
                        <a:pt x="47232" y="129604"/>
                      </a:cubicBezTo>
                      <a:cubicBezTo>
                        <a:pt x="45162" y="128294"/>
                        <a:pt x="42564" y="128137"/>
                        <a:pt x="40351" y="129187"/>
                      </a:cubicBezTo>
                      <a:cubicBezTo>
                        <a:pt x="32846" y="132736"/>
                        <a:pt x="23886" y="130647"/>
                        <a:pt x="18726" y="124145"/>
                      </a:cubicBezTo>
                      <a:cubicBezTo>
                        <a:pt x="13566" y="117643"/>
                        <a:pt x="13566" y="108442"/>
                        <a:pt x="18726" y="101940"/>
                      </a:cubicBezTo>
                      <a:cubicBezTo>
                        <a:pt x="23886" y="95438"/>
                        <a:pt x="32846" y="93349"/>
                        <a:pt x="40351" y="96898"/>
                      </a:cubicBezTo>
                      <a:cubicBezTo>
                        <a:pt x="42564" y="97948"/>
                        <a:pt x="45162" y="97791"/>
                        <a:pt x="47232" y="96481"/>
                      </a:cubicBezTo>
                      <a:cubicBezTo>
                        <a:pt x="49303" y="95171"/>
                        <a:pt x="50558" y="92892"/>
                        <a:pt x="50557" y="90441"/>
                      </a:cubicBezTo>
                      <a:lnTo>
                        <a:pt x="50557" y="52321"/>
                      </a:lnTo>
                      <a:lnTo>
                        <a:pt x="92250" y="52321"/>
                      </a:lnTo>
                      <a:cubicBezTo>
                        <a:pt x="94700" y="52321"/>
                        <a:pt x="96980" y="51066"/>
                        <a:pt x="98290" y="48996"/>
                      </a:cubicBezTo>
                      <a:cubicBezTo>
                        <a:pt x="99599" y="46925"/>
                        <a:pt x="99757" y="44327"/>
                        <a:pt x="98706" y="42114"/>
                      </a:cubicBezTo>
                      <a:cubicBezTo>
                        <a:pt x="95157" y="34610"/>
                        <a:pt x="97246" y="25650"/>
                        <a:pt x="103749" y="20489"/>
                      </a:cubicBezTo>
                      <a:cubicBezTo>
                        <a:pt x="110251" y="15329"/>
                        <a:pt x="119451" y="15329"/>
                        <a:pt x="125953" y="20489"/>
                      </a:cubicBezTo>
                      <a:cubicBezTo>
                        <a:pt x="132455" y="25650"/>
                        <a:pt x="134545" y="34610"/>
                        <a:pt x="130996" y="42114"/>
                      </a:cubicBezTo>
                      <a:cubicBezTo>
                        <a:pt x="129945" y="44327"/>
                        <a:pt x="130103" y="46925"/>
                        <a:pt x="131412" y="48996"/>
                      </a:cubicBezTo>
                      <a:cubicBezTo>
                        <a:pt x="132722" y="51066"/>
                        <a:pt x="135002" y="52321"/>
                        <a:pt x="137452" y="52321"/>
                      </a:cubicBezTo>
                      <a:lnTo>
                        <a:pt x="179145" y="52321"/>
                      </a:lnTo>
                      <a:lnTo>
                        <a:pt x="179145" y="81101"/>
                      </a:lnTo>
                      <a:cubicBezTo>
                        <a:pt x="177182" y="80876"/>
                        <a:pt x="175203" y="80834"/>
                        <a:pt x="173233" y="80976"/>
                      </a:cubicBezTo>
                      <a:cubicBezTo>
                        <a:pt x="155951" y="82200"/>
                        <a:pt x="142748" y="96899"/>
                        <a:pt x="143378" y="114213"/>
                      </a:cubicBezTo>
                      <a:cubicBezTo>
                        <a:pt x="144009" y="131527"/>
                        <a:pt x="158247" y="145226"/>
                        <a:pt x="175573" y="145189"/>
                      </a:cubicBezTo>
                      <a:cubicBezTo>
                        <a:pt x="176766" y="145191"/>
                        <a:pt x="177959" y="145126"/>
                        <a:pt x="179145" y="144993"/>
                      </a:cubicBezTo>
                      <a:close/>
                    </a:path>
                  </a:pathLst>
                </a:custGeom>
                <a:solidFill>
                  <a:srgbClr val="00838F"/>
                </a:solidFill>
                <a:ln>
                  <a:noFill/>
                </a:ln>
              </p:spPr>
            </p:sp>
          </p:grpSp>
          <p:sp>
            <p:nvSpPr>
              <p:cNvPr id="39" name="TextBox 39"/>
              <p:cNvSpPr txBox="1"/>
              <p:nvPr/>
            </p:nvSpPr>
            <p:spPr>
              <a:xfrm>
                <a:off x="6973788" y="1688306"/>
                <a:ext cx="816173"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四环节改进</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41" name="TextBox 41"/>
            <p:cNvSpPr txBox="1"/>
            <p:nvPr/>
          </p:nvSpPr>
          <p:spPr>
            <a:xfrm>
              <a:off x="824550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48" name="Group 48"/>
            <p:cNvGrpSpPr/>
            <p:nvPr/>
          </p:nvGrpSpPr>
          <p:grpSpPr>
            <a:xfrm>
              <a:off x="8572500" y="1143000"/>
              <a:ext cx="1619250" cy="773906"/>
              <a:chOff x="8572500" y="1143000"/>
              <a:chExt cx="1619250" cy="773906"/>
            </a:xfrm>
          </p:grpSpPr>
          <p:sp>
            <p:nvSpPr>
              <p:cNvPr id="42" name="Rectangle 42"/>
              <p:cNvSpPr/>
              <p:nvPr/>
            </p:nvSpPr>
            <p:spPr>
              <a:xfrm>
                <a:off x="8572500" y="1143000"/>
                <a:ext cx="1619250" cy="762000"/>
              </a:xfrm>
              <a:prstGeom prst="roundRect">
                <a:avLst>
                  <a:gd name="adj" fmla="val 12500"/>
                </a:avLst>
              </a:prstGeom>
              <a:solidFill>
                <a:srgbClr val="FFFFFF"/>
              </a:solidFill>
              <a:ln>
                <a:noFill/>
              </a:ln>
            </p:spPr>
          </p:sp>
          <p:sp>
            <p:nvSpPr>
              <p:cNvPr id="43" name="Rectangle 43"/>
              <p:cNvSpPr/>
              <p:nvPr/>
            </p:nvSpPr>
            <p:spPr>
              <a:xfrm>
                <a:off x="8572500" y="1143000"/>
                <a:ext cx="1619250" cy="38100"/>
              </a:xfrm>
              <a:prstGeom prst="roundRect">
                <a:avLst>
                  <a:gd name="adj" fmla="val 50000"/>
                </a:avLst>
              </a:prstGeom>
              <a:solidFill>
                <a:srgbClr val="1565C0"/>
              </a:solidFill>
              <a:ln>
                <a:noFill/>
              </a:ln>
            </p:spPr>
          </p:sp>
          <p:grpSp>
            <p:nvGrpSpPr>
              <p:cNvPr id="46" name="Group 46"/>
              <p:cNvGrpSpPr/>
              <p:nvPr/>
            </p:nvGrpSpPr>
            <p:grpSpPr>
              <a:xfrm>
                <a:off x="9227344" y="1449710"/>
                <a:ext cx="172762" cy="179065"/>
                <a:chOff x="9227344" y="1449710"/>
                <a:chExt cx="172762" cy="179065"/>
              </a:xfrm>
            </p:grpSpPr>
            <p:sp>
              <p:nvSpPr>
                <p:cNvPr id="44" name="Freeform 44"/>
                <p:cNvSpPr/>
                <p:nvPr/>
              </p:nvSpPr>
              <p:spPr>
                <a:xfrm>
                  <a:off x="9234488" y="1457090"/>
                  <a:ext cx="137740" cy="135966"/>
                </a:xfrm>
                <a:custGeom>
                  <a:avLst/>
                  <a:gdLst/>
                  <a:ahLst/>
                  <a:cxnLst/>
                  <a:rect l="l" t="t" r="r" b="b"/>
                  <a:pathLst>
                    <a:path w="137740" h="135966">
                      <a:moveTo>
                        <a:pt x="0" y="35954"/>
                      </a:moveTo>
                      <a:lnTo>
                        <a:pt x="57150" y="35954"/>
                      </a:lnTo>
                      <a:lnTo>
                        <a:pt x="57150" y="135966"/>
                      </a:lnTo>
                      <a:lnTo>
                        <a:pt x="0" y="135966"/>
                      </a:lnTo>
                      <a:close/>
                      <a:moveTo>
                        <a:pt x="127373" y="5941"/>
                      </a:moveTo>
                      <a:cubicBezTo>
                        <a:pt x="126989" y="4078"/>
                        <a:pt x="125878" y="2445"/>
                        <a:pt x="124285" y="1404"/>
                      </a:cubicBezTo>
                      <a:cubicBezTo>
                        <a:pt x="122693" y="363"/>
                        <a:pt x="120751" y="0"/>
                        <a:pt x="118890" y="396"/>
                      </a:cubicBezTo>
                      <a:lnTo>
                        <a:pt x="77090" y="9326"/>
                      </a:lnTo>
                      <a:cubicBezTo>
                        <a:pt x="73222" y="10180"/>
                        <a:pt x="70769" y="13997"/>
                        <a:pt x="71598" y="17871"/>
                      </a:cubicBezTo>
                      <a:lnTo>
                        <a:pt x="81966" y="67208"/>
                      </a:lnTo>
                      <a:lnTo>
                        <a:pt x="137740" y="55224"/>
                      </a:lnTo>
                      <a:close/>
                    </a:path>
                  </a:pathLst>
                </a:custGeom>
                <a:solidFill>
                  <a:srgbClr val="1565C0">
                    <a:alpha val="20000"/>
                  </a:srgbClr>
                </a:solidFill>
                <a:ln>
                  <a:noFill/>
                </a:ln>
              </p:spPr>
            </p:sp>
            <p:sp>
              <p:nvSpPr>
                <p:cNvPr id="45" name="Freeform 45"/>
                <p:cNvSpPr/>
                <p:nvPr/>
              </p:nvSpPr>
              <p:spPr>
                <a:xfrm>
                  <a:off x="9227344" y="1449710"/>
                  <a:ext cx="172762" cy="179065"/>
                </a:xfrm>
                <a:custGeom>
                  <a:avLst/>
                  <a:gdLst/>
                  <a:ahLst/>
                  <a:cxnLst/>
                  <a:rect l="l" t="t" r="r" b="b"/>
                  <a:pathLst>
                    <a:path w="172762" h="179065">
                      <a:moveTo>
                        <a:pt x="171137" y="152767"/>
                      </a:moveTo>
                      <a:lnTo>
                        <a:pt x="141500" y="11856"/>
                      </a:lnTo>
                      <a:cubicBezTo>
                        <a:pt x="140726" y="8135"/>
                        <a:pt x="138500" y="4875"/>
                        <a:pt x="135316" y="2798"/>
                      </a:cubicBezTo>
                      <a:cubicBezTo>
                        <a:pt x="132132" y="722"/>
                        <a:pt x="128251" y="0"/>
                        <a:pt x="124533" y="792"/>
                      </a:cubicBezTo>
                      <a:lnTo>
                        <a:pt x="82734" y="9776"/>
                      </a:lnTo>
                      <a:cubicBezTo>
                        <a:pt x="75038" y="11461"/>
                        <a:pt x="70137" y="19031"/>
                        <a:pt x="71750" y="26742"/>
                      </a:cubicBezTo>
                      <a:lnTo>
                        <a:pt x="101388" y="167653"/>
                      </a:lnTo>
                      <a:cubicBezTo>
                        <a:pt x="102749" y="174279"/>
                        <a:pt x="108571" y="179042"/>
                        <a:pt x="115336" y="179065"/>
                      </a:cubicBezTo>
                      <a:cubicBezTo>
                        <a:pt x="116350" y="179063"/>
                        <a:pt x="117362" y="178956"/>
                        <a:pt x="118354" y="178743"/>
                      </a:cubicBezTo>
                      <a:lnTo>
                        <a:pt x="160154" y="169760"/>
                      </a:lnTo>
                      <a:cubicBezTo>
                        <a:pt x="167859" y="168071"/>
                        <a:pt x="172762" y="160486"/>
                        <a:pt x="171137" y="152767"/>
                      </a:cubicBezTo>
                      <a:close/>
                      <a:moveTo>
                        <a:pt x="85725" y="23822"/>
                      </a:moveTo>
                      <a:cubicBezTo>
                        <a:pt x="85725" y="23769"/>
                        <a:pt x="85725" y="23742"/>
                        <a:pt x="85725" y="23742"/>
                      </a:cubicBezTo>
                      <a:lnTo>
                        <a:pt x="127516" y="14812"/>
                      </a:lnTo>
                      <a:lnTo>
                        <a:pt x="130490" y="28983"/>
                      </a:lnTo>
                      <a:lnTo>
                        <a:pt x="88699" y="37976"/>
                      </a:lnTo>
                      <a:close/>
                      <a:moveTo>
                        <a:pt x="91636" y="51924"/>
                      </a:moveTo>
                      <a:lnTo>
                        <a:pt x="133445" y="42949"/>
                      </a:lnTo>
                      <a:lnTo>
                        <a:pt x="136428" y="57148"/>
                      </a:lnTo>
                      <a:lnTo>
                        <a:pt x="94655" y="66131"/>
                      </a:lnTo>
                      <a:close/>
                      <a:moveTo>
                        <a:pt x="97566" y="80115"/>
                      </a:moveTo>
                      <a:lnTo>
                        <a:pt x="139375" y="71132"/>
                      </a:lnTo>
                      <a:lnTo>
                        <a:pt x="151251" y="127603"/>
                      </a:lnTo>
                      <a:lnTo>
                        <a:pt x="109442" y="136586"/>
                      </a:lnTo>
                      <a:close/>
                      <a:moveTo>
                        <a:pt x="157162" y="155794"/>
                      </a:moveTo>
                      <a:lnTo>
                        <a:pt x="115372" y="164724"/>
                      </a:lnTo>
                      <a:lnTo>
                        <a:pt x="112398" y="150552"/>
                      </a:lnTo>
                      <a:lnTo>
                        <a:pt x="154189" y="141560"/>
                      </a:lnTo>
                      <a:lnTo>
                        <a:pt x="157162" y="155714"/>
                      </a:lnTo>
                      <a:cubicBezTo>
                        <a:pt x="157162" y="155767"/>
                        <a:pt x="157162" y="155794"/>
                        <a:pt x="157162" y="155794"/>
                      </a:cubicBezTo>
                      <a:close/>
                      <a:moveTo>
                        <a:pt x="57150" y="7615"/>
                      </a:moveTo>
                      <a:lnTo>
                        <a:pt x="14288" y="7615"/>
                      </a:lnTo>
                      <a:cubicBezTo>
                        <a:pt x="6397" y="7615"/>
                        <a:pt x="0" y="14011"/>
                        <a:pt x="0" y="21902"/>
                      </a:cubicBezTo>
                      <a:lnTo>
                        <a:pt x="0" y="164777"/>
                      </a:lnTo>
                      <a:cubicBezTo>
                        <a:pt x="0" y="172668"/>
                        <a:pt x="6397" y="179065"/>
                        <a:pt x="14288" y="179065"/>
                      </a:cubicBezTo>
                      <a:lnTo>
                        <a:pt x="57150" y="179065"/>
                      </a:lnTo>
                      <a:cubicBezTo>
                        <a:pt x="65041" y="179065"/>
                        <a:pt x="71438" y="172668"/>
                        <a:pt x="71438" y="164777"/>
                      </a:cubicBezTo>
                      <a:lnTo>
                        <a:pt x="71438" y="21902"/>
                      </a:lnTo>
                      <a:cubicBezTo>
                        <a:pt x="71438" y="14011"/>
                        <a:pt x="65041" y="7615"/>
                        <a:pt x="57150" y="7615"/>
                      </a:cubicBezTo>
                      <a:close/>
                      <a:moveTo>
                        <a:pt x="14288" y="21902"/>
                      </a:moveTo>
                      <a:lnTo>
                        <a:pt x="57150" y="21902"/>
                      </a:lnTo>
                      <a:lnTo>
                        <a:pt x="57150" y="36190"/>
                      </a:lnTo>
                      <a:lnTo>
                        <a:pt x="14288" y="36190"/>
                      </a:lnTo>
                      <a:close/>
                      <a:moveTo>
                        <a:pt x="14288" y="50477"/>
                      </a:moveTo>
                      <a:lnTo>
                        <a:pt x="57150" y="50477"/>
                      </a:lnTo>
                      <a:lnTo>
                        <a:pt x="57150" y="136202"/>
                      </a:lnTo>
                      <a:lnTo>
                        <a:pt x="14288" y="136202"/>
                      </a:lnTo>
                      <a:close/>
                      <a:moveTo>
                        <a:pt x="57150" y="164777"/>
                      </a:moveTo>
                      <a:lnTo>
                        <a:pt x="14288" y="164777"/>
                      </a:lnTo>
                      <a:lnTo>
                        <a:pt x="14288" y="150490"/>
                      </a:lnTo>
                      <a:lnTo>
                        <a:pt x="57150" y="150490"/>
                      </a:lnTo>
                      <a:lnTo>
                        <a:pt x="57150" y="164777"/>
                      </a:lnTo>
                      <a:close/>
                    </a:path>
                  </a:pathLst>
                </a:custGeom>
                <a:solidFill>
                  <a:srgbClr val="1565C0"/>
                </a:solidFill>
                <a:ln>
                  <a:noFill/>
                </a:ln>
              </p:spPr>
            </p:sp>
          </p:grpSp>
          <p:sp>
            <p:nvSpPr>
              <p:cNvPr id="47" name="TextBox 47"/>
              <p:cNvSpPr txBox="1"/>
              <p:nvPr/>
            </p:nvSpPr>
            <p:spPr>
              <a:xfrm>
                <a:off x="9052798" y="1688306"/>
                <a:ext cx="658654"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知识沉淀</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49" name="TextBox 49"/>
            <p:cNvSpPr txBox="1"/>
            <p:nvPr/>
          </p:nvSpPr>
          <p:spPr>
            <a:xfrm>
              <a:off x="1024575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56" name="Group 56"/>
            <p:cNvGrpSpPr/>
            <p:nvPr/>
          </p:nvGrpSpPr>
          <p:grpSpPr>
            <a:xfrm>
              <a:off x="10572750" y="1143000"/>
              <a:ext cx="1047750" cy="781050"/>
              <a:chOff x="10572750" y="1143000"/>
              <a:chExt cx="1047750" cy="781050"/>
            </a:xfrm>
          </p:grpSpPr>
          <p:sp>
            <p:nvSpPr>
              <p:cNvPr id="50" name="Rectangle 50"/>
              <p:cNvSpPr/>
              <p:nvPr/>
            </p:nvSpPr>
            <p:spPr>
              <a:xfrm>
                <a:off x="10572750" y="1143000"/>
                <a:ext cx="1047750" cy="762000"/>
              </a:xfrm>
              <a:prstGeom prst="roundRect">
                <a:avLst>
                  <a:gd name="adj" fmla="val 12500"/>
                </a:avLst>
              </a:prstGeom>
              <a:solidFill>
                <a:srgbClr val="FFFFFF"/>
              </a:solidFill>
              <a:ln>
                <a:noFill/>
              </a:ln>
            </p:spPr>
          </p:sp>
          <p:sp>
            <p:nvSpPr>
              <p:cNvPr id="51" name="Rectangle 51"/>
              <p:cNvSpPr/>
              <p:nvPr/>
            </p:nvSpPr>
            <p:spPr>
              <a:xfrm>
                <a:off x="10572750" y="1143000"/>
                <a:ext cx="1047750" cy="38100"/>
              </a:xfrm>
              <a:prstGeom prst="roundRect">
                <a:avLst>
                  <a:gd name="adj" fmla="val 50000"/>
                </a:avLst>
              </a:prstGeom>
              <a:solidFill>
                <a:srgbClr val="FF6F00"/>
              </a:solidFill>
              <a:ln>
                <a:noFill/>
              </a:ln>
            </p:spPr>
          </p:sp>
          <p:grpSp>
            <p:nvGrpSpPr>
              <p:cNvPr id="54" name="Group 54"/>
              <p:cNvGrpSpPr/>
              <p:nvPr/>
            </p:nvGrpSpPr>
            <p:grpSpPr>
              <a:xfrm>
                <a:off x="10934091" y="1434885"/>
                <a:ext cx="172669" cy="201034"/>
                <a:chOff x="10934091" y="1434885"/>
                <a:chExt cx="172669" cy="201034"/>
              </a:xfrm>
            </p:grpSpPr>
            <p:sp>
              <p:nvSpPr>
                <p:cNvPr id="52" name="Freeform 52"/>
                <p:cNvSpPr/>
                <p:nvPr/>
              </p:nvSpPr>
              <p:spPr>
                <a:xfrm>
                  <a:off x="10941531" y="1527789"/>
                  <a:ext cx="157787" cy="94252"/>
                </a:xfrm>
                <a:custGeom>
                  <a:avLst/>
                  <a:gdLst/>
                  <a:ahLst/>
                  <a:cxnLst/>
                  <a:rect l="l" t="t" r="r" b="b"/>
                  <a:pathLst>
                    <a:path w="157787" h="94252">
                      <a:moveTo>
                        <a:pt x="49256" y="72411"/>
                      </a:moveTo>
                      <a:lnTo>
                        <a:pt x="22958" y="92270"/>
                      </a:lnTo>
                      <a:cubicBezTo>
                        <a:pt x="21032" y="93812"/>
                        <a:pt x="18447" y="94252"/>
                        <a:pt x="16121" y="93432"/>
                      </a:cubicBezTo>
                      <a:cubicBezTo>
                        <a:pt x="13794" y="92613"/>
                        <a:pt x="12054" y="90651"/>
                        <a:pt x="11519" y="88243"/>
                      </a:cubicBezTo>
                      <a:lnTo>
                        <a:pt x="482" y="38567"/>
                      </a:lnTo>
                      <a:cubicBezTo>
                        <a:pt x="0" y="36406"/>
                        <a:pt x="548" y="34143"/>
                        <a:pt x="1964" y="32442"/>
                      </a:cubicBezTo>
                      <a:lnTo>
                        <a:pt x="29030" y="0"/>
                      </a:lnTo>
                      <a:cubicBezTo>
                        <a:pt x="27994" y="20842"/>
                        <a:pt x="33084" y="45113"/>
                        <a:pt x="49256" y="72411"/>
                      </a:cubicBezTo>
                      <a:close/>
                      <a:moveTo>
                        <a:pt x="155823" y="32442"/>
                      </a:moveTo>
                      <a:lnTo>
                        <a:pt x="128757" y="0"/>
                      </a:lnTo>
                      <a:cubicBezTo>
                        <a:pt x="129837" y="20842"/>
                        <a:pt x="124703" y="45113"/>
                        <a:pt x="108531" y="72411"/>
                      </a:cubicBezTo>
                      <a:lnTo>
                        <a:pt x="134829" y="92270"/>
                      </a:lnTo>
                      <a:cubicBezTo>
                        <a:pt x="136755" y="93812"/>
                        <a:pt x="139340" y="94252"/>
                        <a:pt x="141667" y="93432"/>
                      </a:cubicBezTo>
                      <a:cubicBezTo>
                        <a:pt x="143994" y="92613"/>
                        <a:pt x="145733" y="90651"/>
                        <a:pt x="146268" y="88243"/>
                      </a:cubicBezTo>
                      <a:lnTo>
                        <a:pt x="157305" y="38567"/>
                      </a:lnTo>
                      <a:cubicBezTo>
                        <a:pt x="157787" y="36406"/>
                        <a:pt x="157240" y="34143"/>
                        <a:pt x="155823" y="32442"/>
                      </a:cubicBezTo>
                      <a:close/>
                    </a:path>
                  </a:pathLst>
                </a:custGeom>
                <a:solidFill>
                  <a:srgbClr val="FF6F00">
                    <a:alpha val="20000"/>
                  </a:srgbClr>
                </a:solidFill>
                <a:ln>
                  <a:noFill/>
                </a:ln>
              </p:spPr>
            </p:sp>
            <p:sp>
              <p:nvSpPr>
                <p:cNvPr id="53" name="Freeform 53"/>
                <p:cNvSpPr/>
                <p:nvPr/>
              </p:nvSpPr>
              <p:spPr>
                <a:xfrm>
                  <a:off x="10934091" y="1434885"/>
                  <a:ext cx="172669" cy="201034"/>
                </a:xfrm>
                <a:custGeom>
                  <a:avLst/>
                  <a:gdLst/>
                  <a:ahLst/>
                  <a:cxnLst/>
                  <a:rect l="l" t="t" r="r" b="b"/>
                  <a:pathLst>
                    <a:path w="172669" h="201034">
                      <a:moveTo>
                        <a:pt x="107766" y="193890"/>
                      </a:moveTo>
                      <a:cubicBezTo>
                        <a:pt x="107766" y="197836"/>
                        <a:pt x="104567" y="201034"/>
                        <a:pt x="100622" y="201034"/>
                      </a:cubicBezTo>
                      <a:lnTo>
                        <a:pt x="72047" y="201034"/>
                      </a:lnTo>
                      <a:cubicBezTo>
                        <a:pt x="68101" y="201034"/>
                        <a:pt x="64903" y="197836"/>
                        <a:pt x="64903" y="193890"/>
                      </a:cubicBezTo>
                      <a:cubicBezTo>
                        <a:pt x="64903" y="189945"/>
                        <a:pt x="68101" y="186747"/>
                        <a:pt x="72047" y="186747"/>
                      </a:cubicBezTo>
                      <a:lnTo>
                        <a:pt x="100622" y="186747"/>
                      </a:lnTo>
                      <a:cubicBezTo>
                        <a:pt x="104567" y="186747"/>
                        <a:pt x="107766" y="189945"/>
                        <a:pt x="107766" y="193890"/>
                      </a:cubicBezTo>
                      <a:close/>
                      <a:moveTo>
                        <a:pt x="86334" y="93878"/>
                      </a:moveTo>
                      <a:cubicBezTo>
                        <a:pt x="92252" y="93878"/>
                        <a:pt x="97050" y="89080"/>
                        <a:pt x="97050" y="83162"/>
                      </a:cubicBezTo>
                      <a:cubicBezTo>
                        <a:pt x="97050" y="77244"/>
                        <a:pt x="92252" y="72447"/>
                        <a:pt x="86334" y="72447"/>
                      </a:cubicBezTo>
                      <a:cubicBezTo>
                        <a:pt x="80416" y="72447"/>
                        <a:pt x="75619" y="77244"/>
                        <a:pt x="75619" y="83162"/>
                      </a:cubicBezTo>
                      <a:cubicBezTo>
                        <a:pt x="75619" y="89080"/>
                        <a:pt x="80416" y="93878"/>
                        <a:pt x="86334" y="93878"/>
                      </a:cubicBezTo>
                      <a:close/>
                      <a:moveTo>
                        <a:pt x="171720" y="133017"/>
                      </a:moveTo>
                      <a:lnTo>
                        <a:pt x="160683" y="182692"/>
                      </a:lnTo>
                      <a:cubicBezTo>
                        <a:pt x="159619" y="187488"/>
                        <a:pt x="156166" y="191400"/>
                        <a:pt x="151540" y="193052"/>
                      </a:cubicBezTo>
                      <a:cubicBezTo>
                        <a:pt x="146914" y="194704"/>
                        <a:pt x="141764" y="193864"/>
                        <a:pt x="137903" y="190827"/>
                      </a:cubicBezTo>
                      <a:lnTo>
                        <a:pt x="113579" y="172459"/>
                      </a:lnTo>
                      <a:lnTo>
                        <a:pt x="59108" y="172459"/>
                      </a:lnTo>
                      <a:lnTo>
                        <a:pt x="34765" y="190827"/>
                      </a:lnTo>
                      <a:cubicBezTo>
                        <a:pt x="30904" y="193864"/>
                        <a:pt x="25754" y="194704"/>
                        <a:pt x="21129" y="193052"/>
                      </a:cubicBezTo>
                      <a:cubicBezTo>
                        <a:pt x="16503" y="191400"/>
                        <a:pt x="13050" y="187488"/>
                        <a:pt x="11986" y="182692"/>
                      </a:cubicBezTo>
                      <a:lnTo>
                        <a:pt x="949" y="133017"/>
                      </a:lnTo>
                      <a:cubicBezTo>
                        <a:pt x="0" y="128697"/>
                        <a:pt x="1094" y="124181"/>
                        <a:pt x="3913" y="120774"/>
                      </a:cubicBezTo>
                      <a:lnTo>
                        <a:pt x="29416" y="90181"/>
                      </a:lnTo>
                      <a:cubicBezTo>
                        <a:pt x="30272" y="78938"/>
                        <a:pt x="32854" y="67894"/>
                        <a:pt x="37069" y="57436"/>
                      </a:cubicBezTo>
                      <a:cubicBezTo>
                        <a:pt x="48589" y="28557"/>
                        <a:pt x="69216" y="10439"/>
                        <a:pt x="77583" y="3992"/>
                      </a:cubicBezTo>
                      <a:cubicBezTo>
                        <a:pt x="82735" y="0"/>
                        <a:pt x="89934" y="0"/>
                        <a:pt x="95085" y="3992"/>
                      </a:cubicBezTo>
                      <a:cubicBezTo>
                        <a:pt x="103426" y="10439"/>
                        <a:pt x="124080" y="28557"/>
                        <a:pt x="135599" y="57436"/>
                      </a:cubicBezTo>
                      <a:cubicBezTo>
                        <a:pt x="139815" y="67894"/>
                        <a:pt x="142396" y="78938"/>
                        <a:pt x="143252" y="90181"/>
                      </a:cubicBezTo>
                      <a:lnTo>
                        <a:pt x="168755" y="120774"/>
                      </a:lnTo>
                      <a:cubicBezTo>
                        <a:pt x="171575" y="124181"/>
                        <a:pt x="172669" y="128697"/>
                        <a:pt x="171720" y="133017"/>
                      </a:cubicBezTo>
                      <a:close/>
                      <a:moveTo>
                        <a:pt x="60822" y="158172"/>
                      </a:moveTo>
                      <a:lnTo>
                        <a:pt x="111846" y="158172"/>
                      </a:lnTo>
                      <a:cubicBezTo>
                        <a:pt x="130706" y="124649"/>
                        <a:pt x="134233" y="92556"/>
                        <a:pt x="122330" y="62731"/>
                      </a:cubicBezTo>
                      <a:cubicBezTo>
                        <a:pt x="111829" y="36406"/>
                        <a:pt x="92130" y="19761"/>
                        <a:pt x="86334" y="15297"/>
                      </a:cubicBezTo>
                      <a:cubicBezTo>
                        <a:pt x="80521" y="19761"/>
                        <a:pt x="60822" y="36406"/>
                        <a:pt x="50321" y="62731"/>
                      </a:cubicBezTo>
                      <a:cubicBezTo>
                        <a:pt x="38435" y="92556"/>
                        <a:pt x="41963" y="124649"/>
                        <a:pt x="60822" y="158172"/>
                      </a:cubicBezTo>
                      <a:close/>
                      <a:moveTo>
                        <a:pt x="47428" y="163395"/>
                      </a:moveTo>
                      <a:cubicBezTo>
                        <a:pt x="37813" y="145923"/>
                        <a:pt x="31979" y="128751"/>
                        <a:pt x="29925" y="111880"/>
                      </a:cubicBezTo>
                      <a:lnTo>
                        <a:pt x="14897" y="129918"/>
                      </a:lnTo>
                      <a:lnTo>
                        <a:pt x="25934" y="179603"/>
                      </a:lnTo>
                      <a:lnTo>
                        <a:pt x="26095" y="179487"/>
                      </a:lnTo>
                      <a:close/>
                      <a:moveTo>
                        <a:pt x="157772" y="129918"/>
                      </a:moveTo>
                      <a:lnTo>
                        <a:pt x="142743" y="111880"/>
                      </a:lnTo>
                      <a:cubicBezTo>
                        <a:pt x="140707" y="128715"/>
                        <a:pt x="134885" y="145887"/>
                        <a:pt x="125277" y="163395"/>
                      </a:cubicBezTo>
                      <a:lnTo>
                        <a:pt x="146574" y="179469"/>
                      </a:lnTo>
                      <a:lnTo>
                        <a:pt x="146735" y="179585"/>
                      </a:lnTo>
                      <a:close/>
                    </a:path>
                  </a:pathLst>
                </a:custGeom>
                <a:solidFill>
                  <a:srgbClr val="FF6F00"/>
                </a:solidFill>
                <a:ln>
                  <a:noFill/>
                </a:ln>
              </p:spPr>
            </p:sp>
          </p:grpSp>
          <p:sp>
            <p:nvSpPr>
              <p:cNvPr id="55" name="TextBox 55"/>
              <p:cNvSpPr txBox="1"/>
              <p:nvPr/>
            </p:nvSpPr>
            <p:spPr>
              <a:xfrm>
                <a:off x="10745343" y="1680210"/>
                <a:ext cx="702564"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能力升级</a:t>
                </a:r>
                <a:endParaRPr lang="zh-CN" sz="1200" b="1" dirty="0">
                  <a:solidFill>
                    <a:srgbClr val="263238"/>
                  </a:solidFill>
                  <a:latin typeface="Segoe UI" panose="020B0502040204020203"/>
                  <a:ea typeface="微软雅黑" panose="020B0503020204020204" charset="-122"/>
                  <a:cs typeface="Segoe UI" panose="020B0502040204020203"/>
                </a:endParaRPr>
              </a:p>
            </p:txBody>
          </p:sp>
        </p:grpSp>
      </p:grpSp>
      <p:grpSp>
        <p:nvGrpSpPr>
          <p:cNvPr id="78" name="Group 78"/>
          <p:cNvGrpSpPr/>
          <p:nvPr/>
        </p:nvGrpSpPr>
        <p:grpSpPr>
          <a:xfrm>
            <a:off x="552450" y="2219325"/>
            <a:ext cx="11068050" cy="1543050"/>
            <a:chOff x="552450" y="2219325"/>
            <a:chExt cx="11068050" cy="1543050"/>
          </a:xfrm>
        </p:grpSpPr>
        <p:sp>
          <p:nvSpPr>
            <p:cNvPr id="58" name="TextBox 58"/>
            <p:cNvSpPr txBox="1"/>
            <p:nvPr/>
          </p:nvSpPr>
          <p:spPr>
            <a:xfrm>
              <a:off x="552450" y="2219325"/>
              <a:ext cx="1928336"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知识沉淀的五步转化</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59" name="Rectangle 59"/>
            <p:cNvSpPr/>
            <p:nvPr/>
          </p:nvSpPr>
          <p:spPr>
            <a:xfrm>
              <a:off x="571500" y="2505075"/>
              <a:ext cx="381000" cy="28575"/>
            </a:xfrm>
            <a:prstGeom prst="roundRect">
              <a:avLst>
                <a:gd name="adj" fmla="val 33333"/>
              </a:avLst>
            </a:prstGeom>
            <a:solidFill>
              <a:srgbClr val="FF6F00"/>
            </a:solidFill>
            <a:ln>
              <a:noFill/>
            </a:ln>
          </p:spPr>
        </p:sp>
        <p:grpSp>
          <p:nvGrpSpPr>
            <p:cNvPr id="65" name="Group 65"/>
            <p:cNvGrpSpPr/>
            <p:nvPr/>
          </p:nvGrpSpPr>
          <p:grpSpPr>
            <a:xfrm>
              <a:off x="571500" y="2714625"/>
              <a:ext cx="3524250" cy="1047750"/>
              <a:chOff x="571500" y="2714625"/>
              <a:chExt cx="3524250" cy="1047750"/>
            </a:xfrm>
          </p:grpSpPr>
          <p:sp>
            <p:nvSpPr>
              <p:cNvPr id="60" name="Rectangle 60"/>
              <p:cNvSpPr/>
              <p:nvPr/>
            </p:nvSpPr>
            <p:spPr>
              <a:xfrm>
                <a:off x="571500" y="2714625"/>
                <a:ext cx="3524250" cy="1047750"/>
              </a:xfrm>
              <a:prstGeom prst="roundRect">
                <a:avLst>
                  <a:gd name="adj" fmla="val 9091"/>
                </a:avLst>
              </a:prstGeom>
              <a:solidFill>
                <a:srgbClr val="FFFFFF"/>
              </a:solidFill>
              <a:ln>
                <a:noFill/>
              </a:ln>
            </p:spPr>
          </p:sp>
          <p:sp>
            <p:nvSpPr>
              <p:cNvPr id="61" name="Rectangle 61"/>
              <p:cNvSpPr/>
              <p:nvPr/>
            </p:nvSpPr>
            <p:spPr>
              <a:xfrm>
                <a:off x="571500" y="2714625"/>
                <a:ext cx="3524250" cy="38100"/>
              </a:xfrm>
              <a:prstGeom prst="roundRect">
                <a:avLst>
                  <a:gd name="adj" fmla="val 50000"/>
                </a:avLst>
              </a:prstGeom>
              <a:solidFill>
                <a:srgbClr val="1565C0"/>
              </a:solidFill>
              <a:ln>
                <a:noFill/>
              </a:ln>
            </p:spPr>
          </p:sp>
          <p:sp>
            <p:nvSpPr>
              <p:cNvPr id="62" name="TextBox 62"/>
              <p:cNvSpPr txBox="1"/>
              <p:nvPr/>
            </p:nvSpPr>
            <p:spPr>
              <a:xfrm>
                <a:off x="936308" y="2910364"/>
                <a:ext cx="1442711"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Step 1: 根因分类</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937260" y="3204210"/>
                <a:ext cx="245478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需求遗漏 / 设计缺陷 / 编码错误 /</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4" name="TextBox 64"/>
              <p:cNvSpPr txBox="1"/>
              <p:nvPr/>
            </p:nvSpPr>
            <p:spPr>
              <a:xfrm>
                <a:off x="937260" y="3442335"/>
                <a:ext cx="174269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测试盲区 —— 四选一归类</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1" name="Group 71"/>
            <p:cNvGrpSpPr/>
            <p:nvPr/>
          </p:nvGrpSpPr>
          <p:grpSpPr>
            <a:xfrm>
              <a:off x="4333875" y="2714625"/>
              <a:ext cx="3524250" cy="1047750"/>
              <a:chOff x="4333875" y="2714625"/>
              <a:chExt cx="3524250" cy="1047750"/>
            </a:xfrm>
          </p:grpSpPr>
          <p:sp>
            <p:nvSpPr>
              <p:cNvPr id="66" name="Rectangle 66"/>
              <p:cNvSpPr/>
              <p:nvPr/>
            </p:nvSpPr>
            <p:spPr>
              <a:xfrm>
                <a:off x="4333875" y="2714625"/>
                <a:ext cx="3524250" cy="1047750"/>
              </a:xfrm>
              <a:prstGeom prst="roundRect">
                <a:avLst>
                  <a:gd name="adj" fmla="val 9091"/>
                </a:avLst>
              </a:prstGeom>
              <a:solidFill>
                <a:srgbClr val="FFFFFF"/>
              </a:solidFill>
              <a:ln>
                <a:noFill/>
              </a:ln>
            </p:spPr>
          </p:sp>
          <p:sp>
            <p:nvSpPr>
              <p:cNvPr id="67" name="Rectangle 67"/>
              <p:cNvSpPr/>
              <p:nvPr/>
            </p:nvSpPr>
            <p:spPr>
              <a:xfrm>
                <a:off x="4333875" y="2714625"/>
                <a:ext cx="3524250" cy="38100"/>
              </a:xfrm>
              <a:prstGeom prst="roundRect">
                <a:avLst>
                  <a:gd name="adj" fmla="val 50000"/>
                </a:avLst>
              </a:prstGeom>
              <a:solidFill>
                <a:srgbClr val="00838F"/>
              </a:solidFill>
              <a:ln>
                <a:noFill/>
              </a:ln>
            </p:spPr>
          </p:sp>
          <p:sp>
            <p:nvSpPr>
              <p:cNvPr id="68" name="TextBox 68"/>
              <p:cNvSpPr txBox="1"/>
              <p:nvPr/>
            </p:nvSpPr>
            <p:spPr>
              <a:xfrm>
                <a:off x="4698682" y="2910364"/>
                <a:ext cx="1621234" cy="259080"/>
              </a:xfrm>
              <a:prstGeom prst="rect">
                <a:avLst/>
              </a:prstGeom>
              <a:noFill/>
              <a:ln>
                <a:noFill/>
              </a:ln>
            </p:spPr>
            <p:txBody>
              <a:bodyPr wrap="none" lIns="0" tIns="0" rIns="0" bIns="0" anchor="t" anchorCtr="0">
                <a:spAutoFit/>
              </a:bodyPr>
              <a:lstStyle/>
              <a:p>
                <a:pPr algn="l"/>
                <a:r>
                  <a:rPr lang="zh-CN" sz="1275" b="1" dirty="0">
                    <a:solidFill>
                      <a:srgbClr val="00838F"/>
                    </a:solidFill>
                    <a:latin typeface="Segoe UI" panose="020B0502040204020203"/>
                    <a:ea typeface="微软雅黑" panose="020B0503020204020204" charset="-122"/>
                    <a:cs typeface="Segoe UI" panose="020B0502040204020203"/>
                  </a:rPr>
                  <a:t>Step 2: 提炼反模式</a:t>
                </a:r>
                <a:endParaRPr lang="zh-CN" sz="1275" b="1" dirty="0">
                  <a:solidFill>
                    <a:srgbClr val="00838F"/>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4699635" y="3204210"/>
                <a:ext cx="189471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从具体Bug中抽象出通用的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0" name="TextBox 70"/>
              <p:cNvSpPr txBox="1"/>
              <p:nvPr/>
            </p:nvSpPr>
            <p:spPr>
              <a:xfrm>
                <a:off x="4699635" y="3442335"/>
                <a:ext cx="14706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易错模式和触发条件</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7" name="Group 77"/>
            <p:cNvGrpSpPr/>
            <p:nvPr/>
          </p:nvGrpSpPr>
          <p:grpSpPr>
            <a:xfrm>
              <a:off x="8096250" y="2714625"/>
              <a:ext cx="3524250" cy="1047750"/>
              <a:chOff x="8096250" y="2714625"/>
              <a:chExt cx="3524250" cy="1047750"/>
            </a:xfrm>
          </p:grpSpPr>
          <p:sp>
            <p:nvSpPr>
              <p:cNvPr id="72" name="Rectangle 72"/>
              <p:cNvSpPr/>
              <p:nvPr/>
            </p:nvSpPr>
            <p:spPr>
              <a:xfrm>
                <a:off x="8096250" y="2714625"/>
                <a:ext cx="3524250" cy="1047750"/>
              </a:xfrm>
              <a:prstGeom prst="roundRect">
                <a:avLst>
                  <a:gd name="adj" fmla="val 9091"/>
                </a:avLst>
              </a:prstGeom>
              <a:solidFill>
                <a:srgbClr val="FFFFFF"/>
              </a:solidFill>
              <a:ln>
                <a:noFill/>
              </a:ln>
            </p:spPr>
          </p:sp>
          <p:sp>
            <p:nvSpPr>
              <p:cNvPr id="73" name="Rectangle 73"/>
              <p:cNvSpPr/>
              <p:nvPr/>
            </p:nvSpPr>
            <p:spPr>
              <a:xfrm>
                <a:off x="8096250" y="2714625"/>
                <a:ext cx="3524250" cy="38100"/>
              </a:xfrm>
              <a:prstGeom prst="roundRect">
                <a:avLst>
                  <a:gd name="adj" fmla="val 50000"/>
                </a:avLst>
              </a:prstGeom>
              <a:solidFill>
                <a:srgbClr val="FF6F00"/>
              </a:solidFill>
              <a:ln>
                <a:noFill/>
              </a:ln>
            </p:spPr>
          </p:sp>
          <p:sp>
            <p:nvSpPr>
              <p:cNvPr id="74" name="TextBox 74"/>
              <p:cNvSpPr txBox="1"/>
              <p:nvPr/>
            </p:nvSpPr>
            <p:spPr>
              <a:xfrm>
                <a:off x="8461058" y="2910364"/>
                <a:ext cx="1442711" cy="259080"/>
              </a:xfrm>
              <a:prstGeom prst="rect">
                <a:avLst/>
              </a:prstGeom>
              <a:noFill/>
              <a:ln>
                <a:noFill/>
              </a:ln>
            </p:spPr>
            <p:txBody>
              <a:bodyPr wrap="none" lIns="0" tIns="0" rIns="0" bIns="0" anchor="t" anchorCtr="0">
                <a:spAutoFit/>
              </a:bodyPr>
              <a:lstStyle/>
              <a:p>
                <a:pPr algn="l"/>
                <a:r>
                  <a:rPr lang="zh-CN" sz="1275" b="1" dirty="0">
                    <a:solidFill>
                      <a:srgbClr val="FF6F00"/>
                    </a:solidFill>
                    <a:latin typeface="Segoe UI" panose="020B0502040204020203"/>
                    <a:ea typeface="微软雅黑" panose="020B0503020204020204" charset="-122"/>
                    <a:cs typeface="Segoe UI" panose="020B0502040204020203"/>
                  </a:rPr>
                  <a:t>Step 3: 更新Skill</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75" name="TextBox 75"/>
              <p:cNvSpPr txBox="1"/>
              <p:nvPr/>
            </p:nvSpPr>
            <p:spPr>
              <a:xfrm>
                <a:off x="8462010" y="32042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将反模式注入AI Skill，让AI</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6" name="TextBox 76"/>
              <p:cNvSpPr txBox="1"/>
              <p:nvPr/>
            </p:nvSpPr>
            <p:spPr>
              <a:xfrm>
                <a:off x="8462010" y="3442335"/>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后续自动检测同类问题</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98" name="Group 98"/>
          <p:cNvGrpSpPr/>
          <p:nvPr/>
        </p:nvGrpSpPr>
        <p:grpSpPr>
          <a:xfrm>
            <a:off x="571500" y="4000500"/>
            <a:ext cx="11049000" cy="1059656"/>
            <a:chOff x="571500" y="4000500"/>
            <a:chExt cx="11049000" cy="1059656"/>
          </a:xfrm>
        </p:grpSpPr>
        <p:grpSp>
          <p:nvGrpSpPr>
            <p:cNvPr id="84" name="Group 84"/>
            <p:cNvGrpSpPr/>
            <p:nvPr/>
          </p:nvGrpSpPr>
          <p:grpSpPr>
            <a:xfrm>
              <a:off x="571500" y="4000500"/>
              <a:ext cx="3524250" cy="1047750"/>
              <a:chOff x="571500" y="4000500"/>
              <a:chExt cx="3524250" cy="1047750"/>
            </a:xfrm>
          </p:grpSpPr>
          <p:sp>
            <p:nvSpPr>
              <p:cNvPr id="79" name="Rectangle 79"/>
              <p:cNvSpPr/>
              <p:nvPr/>
            </p:nvSpPr>
            <p:spPr>
              <a:xfrm>
                <a:off x="571500" y="4000500"/>
                <a:ext cx="3524250" cy="1047750"/>
              </a:xfrm>
              <a:prstGeom prst="roundRect">
                <a:avLst>
                  <a:gd name="adj" fmla="val 9091"/>
                </a:avLst>
              </a:prstGeom>
              <a:solidFill>
                <a:srgbClr val="FFFFFF"/>
              </a:solidFill>
              <a:ln>
                <a:noFill/>
              </a:ln>
            </p:spPr>
          </p:sp>
          <p:sp>
            <p:nvSpPr>
              <p:cNvPr id="80" name="Rectangle 80"/>
              <p:cNvSpPr/>
              <p:nvPr/>
            </p:nvSpPr>
            <p:spPr>
              <a:xfrm>
                <a:off x="571500" y="4000500"/>
                <a:ext cx="3524250" cy="38100"/>
              </a:xfrm>
              <a:prstGeom prst="roundRect">
                <a:avLst>
                  <a:gd name="adj" fmla="val 50000"/>
                </a:avLst>
              </a:prstGeom>
              <a:solidFill>
                <a:srgbClr val="2E7D32"/>
              </a:solidFill>
              <a:ln>
                <a:noFill/>
              </a:ln>
            </p:spPr>
          </p:sp>
          <p:sp>
            <p:nvSpPr>
              <p:cNvPr id="81" name="TextBox 81"/>
              <p:cNvSpPr txBox="1"/>
              <p:nvPr/>
            </p:nvSpPr>
            <p:spPr>
              <a:xfrm>
                <a:off x="936308" y="4196239"/>
                <a:ext cx="1799756"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Segoe UI" panose="020B0502040204020203"/>
                    <a:ea typeface="微软雅黑" panose="020B0503020204020204" charset="-122"/>
                    <a:cs typeface="Segoe UI" panose="020B0502040204020203"/>
                  </a:rPr>
                  <a:t>Step 4: 测试规范更新</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82" name="TextBox 82"/>
              <p:cNvSpPr txBox="1"/>
              <p:nvPr/>
            </p:nvSpPr>
            <p:spPr>
              <a:xfrm>
                <a:off x="937260" y="4490085"/>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将易错场景纳入五维度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83" name="TextBox 83"/>
              <p:cNvSpPr txBox="1"/>
              <p:nvPr/>
            </p:nvSpPr>
            <p:spPr>
              <a:xfrm>
                <a:off x="937260" y="472821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测试覆盖体系（风险猜错维度）</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90" name="Group 90"/>
            <p:cNvGrpSpPr/>
            <p:nvPr/>
          </p:nvGrpSpPr>
          <p:grpSpPr>
            <a:xfrm>
              <a:off x="4333875" y="4000500"/>
              <a:ext cx="3524250" cy="1047750"/>
              <a:chOff x="4333875" y="4000500"/>
              <a:chExt cx="3524250" cy="1047750"/>
            </a:xfrm>
          </p:grpSpPr>
          <p:sp>
            <p:nvSpPr>
              <p:cNvPr id="85" name="Rectangle 85"/>
              <p:cNvSpPr/>
              <p:nvPr/>
            </p:nvSpPr>
            <p:spPr>
              <a:xfrm>
                <a:off x="4333875" y="4000500"/>
                <a:ext cx="3524250" cy="1047750"/>
              </a:xfrm>
              <a:prstGeom prst="roundRect">
                <a:avLst>
                  <a:gd name="adj" fmla="val 9091"/>
                </a:avLst>
              </a:prstGeom>
              <a:solidFill>
                <a:srgbClr val="FFFFFF"/>
              </a:solidFill>
              <a:ln>
                <a:noFill/>
              </a:ln>
            </p:spPr>
          </p:sp>
          <p:sp>
            <p:nvSpPr>
              <p:cNvPr id="86" name="Rectangle 86"/>
              <p:cNvSpPr/>
              <p:nvPr/>
            </p:nvSpPr>
            <p:spPr>
              <a:xfrm>
                <a:off x="4333875" y="4000500"/>
                <a:ext cx="3524250" cy="38100"/>
              </a:xfrm>
              <a:prstGeom prst="roundRect">
                <a:avLst>
                  <a:gd name="adj" fmla="val 50000"/>
                </a:avLst>
              </a:prstGeom>
              <a:solidFill>
                <a:srgbClr val="1565C0"/>
              </a:solidFill>
              <a:ln>
                <a:noFill/>
              </a:ln>
            </p:spPr>
          </p:sp>
          <p:sp>
            <p:nvSpPr>
              <p:cNvPr id="87" name="TextBox 87"/>
              <p:cNvSpPr txBox="1"/>
              <p:nvPr/>
            </p:nvSpPr>
            <p:spPr>
              <a:xfrm>
                <a:off x="4698682" y="4196239"/>
                <a:ext cx="1621234"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Step 5: 知识库更新</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88" name="TextBox 88"/>
              <p:cNvSpPr txBox="1"/>
              <p:nvPr/>
            </p:nvSpPr>
            <p:spPr>
              <a:xfrm>
                <a:off x="4699635" y="4490085"/>
                <a:ext cx="173469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沉淀到RAG知识库，成为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89" name="TextBox 89"/>
              <p:cNvSpPr txBox="1"/>
              <p:nvPr/>
            </p:nvSpPr>
            <p:spPr>
              <a:xfrm>
                <a:off x="4699635" y="4728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团队的永久资产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97" name="Group 97"/>
            <p:cNvGrpSpPr/>
            <p:nvPr/>
          </p:nvGrpSpPr>
          <p:grpSpPr>
            <a:xfrm>
              <a:off x="8096250" y="4000500"/>
              <a:ext cx="3524250" cy="1059656"/>
              <a:chOff x="8096250" y="4000500"/>
              <a:chExt cx="3524250" cy="1059656"/>
            </a:xfrm>
          </p:grpSpPr>
          <p:sp>
            <p:nvSpPr>
              <p:cNvPr id="91" name="Rectangle 91"/>
              <p:cNvSpPr/>
              <p:nvPr/>
            </p:nvSpPr>
            <p:spPr>
              <a:xfrm>
                <a:off x="8096250" y="4000500"/>
                <a:ext cx="3524250" cy="1047750"/>
              </a:xfrm>
              <a:prstGeom prst="roundRect">
                <a:avLst>
                  <a:gd name="adj" fmla="val 9091"/>
                </a:avLst>
              </a:prstGeom>
              <a:solidFill>
                <a:srgbClr val="FFFFFF"/>
              </a:solidFill>
              <a:ln>
                <a:noFill/>
              </a:ln>
            </p:spPr>
          </p:sp>
          <p:sp>
            <p:nvSpPr>
              <p:cNvPr id="92" name="Rectangle 92"/>
              <p:cNvSpPr/>
              <p:nvPr/>
            </p:nvSpPr>
            <p:spPr>
              <a:xfrm>
                <a:off x="8096250" y="4000500"/>
                <a:ext cx="3524250" cy="38100"/>
              </a:xfrm>
              <a:prstGeom prst="roundRect">
                <a:avLst>
                  <a:gd name="adj" fmla="val 50000"/>
                </a:avLst>
              </a:prstGeom>
              <a:solidFill>
                <a:srgbClr val="00838F"/>
              </a:solidFill>
              <a:ln>
                <a:noFill/>
              </a:ln>
            </p:spPr>
          </p:sp>
          <p:sp>
            <p:nvSpPr>
              <p:cNvPr id="93" name="TextBox 93"/>
              <p:cNvSpPr txBox="1"/>
              <p:nvPr/>
            </p:nvSpPr>
            <p:spPr>
              <a:xfrm>
                <a:off x="8462010" y="4204335"/>
                <a:ext cx="1567872"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案例：Excel验证Bug</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94" name="TextBox 94"/>
              <p:cNvSpPr txBox="1"/>
              <p:nvPr/>
            </p:nvSpPr>
            <p:spPr>
              <a:xfrm>
                <a:off x="8462962" y="4450556"/>
                <a:ext cx="13787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发现：隐式契约问题</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95" name="TextBox 95"/>
              <p:cNvSpPr txBox="1"/>
              <p:nvPr/>
            </p:nvSpPr>
            <p:spPr>
              <a:xfrm>
                <a:off x="8462962" y="4641056"/>
                <a:ext cx="188880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沉淀："位置依赖检测" Skill</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96" name="TextBox 96"/>
              <p:cNvSpPr txBox="1"/>
              <p:nvPr/>
            </p:nvSpPr>
            <p:spPr>
              <a:xfrm>
                <a:off x="8462962" y="4831556"/>
                <a:ext cx="227885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更新：编码规范 → AI后续自动检测</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grpSp>
        <p:nvGrpSpPr>
          <p:cNvPr id="101" name="Group 101"/>
          <p:cNvGrpSpPr/>
          <p:nvPr/>
        </p:nvGrpSpPr>
        <p:grpSpPr>
          <a:xfrm>
            <a:off x="571500" y="5286375"/>
            <a:ext cx="11049000" cy="476250"/>
            <a:chOff x="571500" y="5286375"/>
            <a:chExt cx="11049000" cy="476250"/>
          </a:xfrm>
        </p:grpSpPr>
        <p:sp>
          <p:nvSpPr>
            <p:cNvPr id="99" name="Rectangle 99"/>
            <p:cNvSpPr/>
            <p:nvPr/>
          </p:nvSpPr>
          <p:spPr>
            <a:xfrm>
              <a:off x="571500" y="5286375"/>
              <a:ext cx="11049000" cy="476250"/>
            </a:xfrm>
            <a:prstGeom prst="roundRect">
              <a:avLst>
                <a:gd name="adj" fmla="val 16000"/>
              </a:avLst>
            </a:prstGeom>
            <a:solidFill>
              <a:srgbClr val="1565C0">
                <a:alpha val="6000"/>
              </a:srgbClr>
            </a:solidFill>
            <a:ln>
              <a:noFill/>
            </a:ln>
          </p:spPr>
        </p:sp>
        <p:sp>
          <p:nvSpPr>
            <p:cNvPr id="100" name="TextBox 100"/>
            <p:cNvSpPr txBox="1"/>
            <p:nvPr/>
          </p:nvSpPr>
          <p:spPr>
            <a:xfrm>
              <a:off x="2535517" y="5452110"/>
              <a:ext cx="7120966"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核心价值：让每一次Bug都成为团队的永久资产 —— 不只是修复代码，更是沉淀知识和升级AI能力</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102" name="TextBox 102"/>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103" name="图片 10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400"/>
                                        <p:tgtEl>
                                          <p:spTgt spid="5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wipe(left)">
                                      <p:cBhvr>
                                        <p:cTn id="11" dur="400"/>
                                        <p:tgtEl>
                                          <p:spTgt spid="7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8"/>
                                        </p:tgtEl>
                                        <p:attrNameLst>
                                          <p:attrName>style.visibility</p:attrName>
                                        </p:attrNameLst>
                                      </p:cBhvr>
                                      <p:to>
                                        <p:strVal val="visible"/>
                                      </p:to>
                                    </p:set>
                                    <p:animEffect transition="in" filter="fade">
                                      <p:cBhvr>
                                        <p:cTn id="15" dur="400"/>
                                        <p:tgtEl>
                                          <p:spTgt spid="9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4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78" grpId="0"/>
      <p:bldP spid="98" grpId="0"/>
      <p:bldP spid="10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383762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本章小结：测试与质量保障</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7" name="Group 17"/>
          <p:cNvGrpSpPr/>
          <p:nvPr/>
        </p:nvGrpSpPr>
        <p:grpSpPr>
          <a:xfrm>
            <a:off x="571500" y="904875"/>
            <a:ext cx="11049000" cy="523875"/>
            <a:chOff x="571500" y="904875"/>
            <a:chExt cx="11049000" cy="523875"/>
          </a:xfrm>
        </p:grpSpPr>
        <p:sp>
          <p:nvSpPr>
            <p:cNvPr id="10" name="Rectangle 10"/>
            <p:cNvSpPr/>
            <p:nvPr/>
          </p:nvSpPr>
          <p:spPr>
            <a:xfrm>
              <a:off x="571500" y="904875"/>
              <a:ext cx="11049000" cy="523875"/>
            </a:xfrm>
            <a:prstGeom prst="roundRect">
              <a:avLst>
                <a:gd name="adj" fmla="val 14545"/>
              </a:avLst>
            </a:prstGeom>
            <a:solidFill>
              <a:srgbClr val="FFFFFF"/>
            </a:solidFill>
            <a:ln>
              <a:noFill/>
            </a:ln>
          </p:spPr>
        </p:sp>
        <p:sp>
          <p:nvSpPr>
            <p:cNvPr id="11" name="Rectangle 11"/>
            <p:cNvSpPr/>
            <p:nvPr/>
          </p:nvSpPr>
          <p:spPr>
            <a:xfrm>
              <a:off x="571500" y="904875"/>
              <a:ext cx="57150" cy="523875"/>
            </a:xfrm>
            <a:prstGeom prst="roundRect">
              <a:avLst>
                <a:gd name="adj" fmla="val 50000"/>
              </a:avLst>
            </a:prstGeom>
            <a:solidFill>
              <a:srgbClr val="1565C0"/>
            </a:solidFill>
            <a:ln>
              <a:noFill/>
            </a:ln>
          </p:spPr>
        </p:sp>
        <p:grpSp>
          <p:nvGrpSpPr>
            <p:cNvPr id="14" name="Group 14"/>
            <p:cNvGrpSpPr/>
            <p:nvPr/>
          </p:nvGrpSpPr>
          <p:grpSpPr>
            <a:xfrm>
              <a:off x="878681" y="1145381"/>
              <a:ext cx="185738" cy="185738"/>
              <a:chOff x="878681" y="1145381"/>
              <a:chExt cx="185738" cy="185738"/>
            </a:xfrm>
          </p:grpSpPr>
          <p:sp>
            <p:nvSpPr>
              <p:cNvPr id="12" name="Freeform 12"/>
              <p:cNvSpPr/>
              <p:nvPr/>
            </p:nvSpPr>
            <p:spPr>
              <a:xfrm>
                <a:off x="885825" y="1152525"/>
                <a:ext cx="171450" cy="171450"/>
              </a:xfrm>
              <a:custGeom>
                <a:avLst/>
                <a:gdLst/>
                <a:ahLst/>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1565C0">
                  <a:alpha val="20000"/>
                </a:srgbClr>
              </a:solidFill>
              <a:ln>
                <a:noFill/>
              </a:ln>
            </p:spPr>
          </p:sp>
          <p:sp>
            <p:nvSpPr>
              <p:cNvPr id="13" name="Freeform 13"/>
              <p:cNvSpPr/>
              <p:nvPr/>
            </p:nvSpPr>
            <p:spPr>
              <a:xfrm>
                <a:off x="878681" y="1145381"/>
                <a:ext cx="185738" cy="185738"/>
              </a:xfrm>
              <a:custGeom>
                <a:avLst/>
                <a:gdLst/>
                <a:ahLst/>
                <a:cxnLst/>
                <a:rect l="l" t="t" r="r" b="b"/>
                <a:pathLst>
                  <a:path w="185738" h="185738">
                    <a:moveTo>
                      <a:pt x="133642" y="66383"/>
                    </a:moveTo>
                    <a:cubicBezTo>
                      <a:pt x="134983" y="67723"/>
                      <a:pt x="135737" y="69541"/>
                      <a:pt x="135737" y="71438"/>
                    </a:cubicBezTo>
                    <a:cubicBezTo>
                      <a:pt x="135737" y="73334"/>
                      <a:pt x="134983" y="75152"/>
                      <a:pt x="133642" y="76492"/>
                    </a:cubicBezTo>
                    <a:lnTo>
                      <a:pt x="83635" y="126498"/>
                    </a:lnTo>
                    <a:cubicBezTo>
                      <a:pt x="82296" y="127839"/>
                      <a:pt x="80477" y="128593"/>
                      <a:pt x="78581" y="128593"/>
                    </a:cubicBezTo>
                    <a:cubicBezTo>
                      <a:pt x="76685" y="128593"/>
                      <a:pt x="74867" y="127839"/>
                      <a:pt x="73527" y="126498"/>
                    </a:cubicBezTo>
                    <a:lnTo>
                      <a:pt x="52096" y="105067"/>
                    </a:lnTo>
                    <a:cubicBezTo>
                      <a:pt x="49304" y="102275"/>
                      <a:pt x="49304" y="97750"/>
                      <a:pt x="52096" y="94958"/>
                    </a:cubicBezTo>
                    <a:cubicBezTo>
                      <a:pt x="54887" y="92167"/>
                      <a:pt x="59413" y="92167"/>
                      <a:pt x="62204" y="94958"/>
                    </a:cubicBezTo>
                    <a:lnTo>
                      <a:pt x="78581" y="111344"/>
                    </a:lnTo>
                    <a:lnTo>
                      <a:pt x="123533" y="66383"/>
                    </a:lnTo>
                    <a:cubicBezTo>
                      <a:pt x="124873" y="65042"/>
                      <a:pt x="126691" y="64288"/>
                      <a:pt x="128588" y="64288"/>
                    </a:cubicBezTo>
                    <a:cubicBezTo>
                      <a:pt x="130484" y="64288"/>
                      <a:pt x="132302" y="65042"/>
                      <a:pt x="133642" y="66383"/>
                    </a:cubicBezTo>
                    <a:close/>
                    <a:moveTo>
                      <a:pt x="185738" y="92869"/>
                    </a:moveTo>
                    <a:cubicBezTo>
                      <a:pt x="185738" y="144159"/>
                      <a:pt x="144159" y="185738"/>
                      <a:pt x="92869" y="185738"/>
                    </a:cubicBezTo>
                    <a:cubicBezTo>
                      <a:pt x="41579" y="185738"/>
                      <a:pt x="0" y="144159"/>
                      <a:pt x="0" y="92869"/>
                    </a:cubicBezTo>
                    <a:cubicBezTo>
                      <a:pt x="0" y="41579"/>
                      <a:pt x="41579" y="0"/>
                      <a:pt x="92869" y="0"/>
                    </a:cubicBezTo>
                    <a:cubicBezTo>
                      <a:pt x="144136" y="54"/>
                      <a:pt x="185683" y="41601"/>
                      <a:pt x="185738" y="92869"/>
                    </a:cubicBezTo>
                    <a:close/>
                    <a:moveTo>
                      <a:pt x="171450" y="92869"/>
                    </a:moveTo>
                    <a:cubicBezTo>
                      <a:pt x="171450" y="49470"/>
                      <a:pt x="136268" y="14288"/>
                      <a:pt x="92869" y="14288"/>
                    </a:cubicBezTo>
                    <a:cubicBezTo>
                      <a:pt x="49470" y="14288"/>
                      <a:pt x="14288" y="49470"/>
                      <a:pt x="14288" y="92869"/>
                    </a:cubicBezTo>
                    <a:cubicBezTo>
                      <a:pt x="14288" y="136268"/>
                      <a:pt x="49470" y="171450"/>
                      <a:pt x="92869" y="171450"/>
                    </a:cubicBezTo>
                    <a:cubicBezTo>
                      <a:pt x="136248" y="171401"/>
                      <a:pt x="171401" y="136248"/>
                      <a:pt x="171450" y="92869"/>
                    </a:cubicBezTo>
                    <a:close/>
                  </a:path>
                </a:pathLst>
              </a:custGeom>
              <a:solidFill>
                <a:srgbClr val="1565C0"/>
              </a:solidFill>
              <a:ln>
                <a:noFill/>
              </a:ln>
            </p:spPr>
          </p:sp>
        </p:grpSp>
        <p:sp>
          <p:nvSpPr>
            <p:cNvPr id="15" name="TextBox 15"/>
            <p:cNvSpPr txBox="1"/>
            <p:nvPr/>
          </p:nvSpPr>
          <p:spPr>
            <a:xfrm>
              <a:off x="1222058" y="1081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核心关系</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2461260" y="1089660"/>
              <a:ext cx="527913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测试完备度与AI编码效率正相关 —— 覆盖率每提升30%，调试时间缩短50%+</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571500" y="1571625"/>
            <a:ext cx="11049000" cy="523875"/>
            <a:chOff x="571500" y="1571625"/>
            <a:chExt cx="11049000" cy="523875"/>
          </a:xfrm>
        </p:grpSpPr>
        <p:sp>
          <p:nvSpPr>
            <p:cNvPr id="18" name="Rectangle 18"/>
            <p:cNvSpPr/>
            <p:nvPr/>
          </p:nvSpPr>
          <p:spPr>
            <a:xfrm>
              <a:off x="571500" y="1571625"/>
              <a:ext cx="11049000" cy="523875"/>
            </a:xfrm>
            <a:prstGeom prst="roundRect">
              <a:avLst>
                <a:gd name="adj" fmla="val 14545"/>
              </a:avLst>
            </a:prstGeom>
            <a:solidFill>
              <a:srgbClr val="FFFFFF"/>
            </a:solidFill>
            <a:ln>
              <a:noFill/>
            </a:ln>
          </p:spPr>
        </p:sp>
        <p:sp>
          <p:nvSpPr>
            <p:cNvPr id="19" name="Rectangle 19"/>
            <p:cNvSpPr/>
            <p:nvPr/>
          </p:nvSpPr>
          <p:spPr>
            <a:xfrm>
              <a:off x="571500" y="1571625"/>
              <a:ext cx="57150" cy="523875"/>
            </a:xfrm>
            <a:prstGeom prst="roundRect">
              <a:avLst>
                <a:gd name="adj" fmla="val 50000"/>
              </a:avLst>
            </a:prstGeom>
            <a:solidFill>
              <a:srgbClr val="00838F"/>
            </a:solidFill>
            <a:ln>
              <a:noFill/>
            </a:ln>
          </p:spPr>
        </p:sp>
        <p:grpSp>
          <p:nvGrpSpPr>
            <p:cNvPr id="22" name="Group 22"/>
            <p:cNvGrpSpPr/>
            <p:nvPr/>
          </p:nvGrpSpPr>
          <p:grpSpPr>
            <a:xfrm>
              <a:off x="877739" y="1804664"/>
              <a:ext cx="187671" cy="200672"/>
              <a:chOff x="877739" y="1804664"/>
              <a:chExt cx="187671" cy="200672"/>
            </a:xfrm>
          </p:grpSpPr>
          <p:sp>
            <p:nvSpPr>
              <p:cNvPr id="20" name="Freeform 20"/>
              <p:cNvSpPr/>
              <p:nvPr/>
            </p:nvSpPr>
            <p:spPr>
              <a:xfrm>
                <a:off x="885825" y="181213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1" name="Freeform 21"/>
              <p:cNvSpPr/>
              <p:nvPr/>
            </p:nvSpPr>
            <p:spPr>
              <a:xfrm>
                <a:off x="877739" y="180466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3" name="TextBox 23"/>
            <p:cNvSpPr txBox="1"/>
            <p:nvPr/>
          </p:nvSpPr>
          <p:spPr>
            <a:xfrm>
              <a:off x="1222058" y="1748314"/>
              <a:ext cx="567952"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方法论</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2461260" y="1756410"/>
              <a:ext cx="423900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五维度分类体系 + 后置评审迭代 + 需求探索与缺陷复盘统一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571500" y="2238375"/>
            <a:ext cx="11049000" cy="523875"/>
            <a:chOff x="571500" y="2238375"/>
            <a:chExt cx="11049000" cy="523875"/>
          </a:xfrm>
        </p:grpSpPr>
        <p:sp>
          <p:nvSpPr>
            <p:cNvPr id="26" name="Rectangle 26"/>
            <p:cNvSpPr/>
            <p:nvPr/>
          </p:nvSpPr>
          <p:spPr>
            <a:xfrm>
              <a:off x="571500" y="2238375"/>
              <a:ext cx="11049000" cy="523875"/>
            </a:xfrm>
            <a:prstGeom prst="roundRect">
              <a:avLst>
                <a:gd name="adj" fmla="val 14545"/>
              </a:avLst>
            </a:prstGeom>
            <a:solidFill>
              <a:srgbClr val="FFFFFF"/>
            </a:solidFill>
            <a:ln>
              <a:noFill/>
            </a:ln>
          </p:spPr>
        </p:sp>
        <p:sp>
          <p:nvSpPr>
            <p:cNvPr id="27" name="Rectangle 27"/>
            <p:cNvSpPr/>
            <p:nvPr/>
          </p:nvSpPr>
          <p:spPr>
            <a:xfrm>
              <a:off x="571500" y="2238375"/>
              <a:ext cx="57150" cy="523875"/>
            </a:xfrm>
            <a:prstGeom prst="roundRect">
              <a:avLst>
                <a:gd name="adj" fmla="val 50000"/>
              </a:avLst>
            </a:prstGeom>
            <a:solidFill>
              <a:srgbClr val="FF6F00"/>
            </a:solidFill>
            <a:ln>
              <a:noFill/>
            </a:ln>
          </p:spPr>
        </p:sp>
        <p:grpSp>
          <p:nvGrpSpPr>
            <p:cNvPr id="30" name="Group 30"/>
            <p:cNvGrpSpPr/>
            <p:nvPr/>
          </p:nvGrpSpPr>
          <p:grpSpPr>
            <a:xfrm>
              <a:off x="885823" y="2486025"/>
              <a:ext cx="171452" cy="171450"/>
              <a:chOff x="885823" y="2486025"/>
              <a:chExt cx="171452" cy="171450"/>
            </a:xfrm>
          </p:grpSpPr>
          <p:sp>
            <p:nvSpPr>
              <p:cNvPr id="28" name="Freeform 28"/>
              <p:cNvSpPr/>
              <p:nvPr/>
            </p:nvSpPr>
            <p:spPr>
              <a:xfrm>
                <a:off x="892969" y="2500312"/>
                <a:ext cx="157162" cy="142875"/>
              </a:xfrm>
              <a:custGeom>
                <a:avLst/>
                <a:gdLst/>
                <a:ahLst/>
                <a:cxnLst/>
                <a:rect l="l" t="t" r="r" b="b"/>
                <a:pathLst>
                  <a:path w="157162" h="142875">
                    <a:moveTo>
                      <a:pt x="157162" y="0"/>
                    </a:moveTo>
                    <a:lnTo>
                      <a:pt x="157162" y="42862"/>
                    </a:lnTo>
                    <a:lnTo>
                      <a:pt x="114300" y="42862"/>
                    </a:lnTo>
                    <a:close/>
                    <a:moveTo>
                      <a:pt x="0" y="142875"/>
                    </a:moveTo>
                    <a:lnTo>
                      <a:pt x="42862" y="100012"/>
                    </a:lnTo>
                    <a:lnTo>
                      <a:pt x="0" y="100012"/>
                    </a:lnTo>
                    <a:close/>
                  </a:path>
                </a:pathLst>
              </a:custGeom>
              <a:solidFill>
                <a:srgbClr val="FF6F00">
                  <a:alpha val="20000"/>
                </a:srgbClr>
              </a:solidFill>
              <a:ln>
                <a:noFill/>
              </a:ln>
            </p:spPr>
          </p:sp>
          <p:sp>
            <p:nvSpPr>
              <p:cNvPr id="29" name="Freeform 29"/>
              <p:cNvSpPr/>
              <p:nvPr/>
            </p:nvSpPr>
            <p:spPr>
              <a:xfrm>
                <a:off x="885823" y="2486025"/>
                <a:ext cx="171452" cy="171450"/>
              </a:xfrm>
              <a:custGeom>
                <a:avLst/>
                <a:gdLst/>
                <a:ahLst/>
                <a:cxnLst/>
                <a:rect l="l" t="t" r="r" b="b"/>
                <a:pathLst>
                  <a:path w="171452" h="171450">
                    <a:moveTo>
                      <a:pt x="167041" y="7688"/>
                    </a:moveTo>
                    <a:cubicBezTo>
                      <a:pt x="164372" y="6581"/>
                      <a:pt x="161299" y="7191"/>
                      <a:pt x="159254" y="9233"/>
                    </a:cubicBezTo>
                    <a:lnTo>
                      <a:pt x="144913" y="23583"/>
                    </a:lnTo>
                    <a:cubicBezTo>
                      <a:pt x="126920" y="8126"/>
                      <a:pt x="106587" y="0"/>
                      <a:pt x="85727" y="0"/>
                    </a:cubicBezTo>
                    <a:cubicBezTo>
                      <a:pt x="47490" y="0"/>
                      <a:pt x="24487" y="22565"/>
                      <a:pt x="23523" y="23521"/>
                    </a:cubicBezTo>
                    <a:cubicBezTo>
                      <a:pt x="20732" y="26312"/>
                      <a:pt x="20732" y="30838"/>
                      <a:pt x="23523" y="33629"/>
                    </a:cubicBezTo>
                    <a:cubicBezTo>
                      <a:pt x="26314" y="36421"/>
                      <a:pt x="30840" y="36421"/>
                      <a:pt x="33631" y="33629"/>
                    </a:cubicBezTo>
                    <a:cubicBezTo>
                      <a:pt x="33819" y="33433"/>
                      <a:pt x="53339" y="14288"/>
                      <a:pt x="85727" y="14288"/>
                    </a:cubicBezTo>
                    <a:cubicBezTo>
                      <a:pt x="106417" y="14288"/>
                      <a:pt x="123161" y="23976"/>
                      <a:pt x="134769" y="33719"/>
                    </a:cubicBezTo>
                    <a:lnTo>
                      <a:pt x="116392" y="52096"/>
                    </a:lnTo>
                    <a:cubicBezTo>
                      <a:pt x="114346" y="54139"/>
                      <a:pt x="113734" y="57214"/>
                      <a:pt x="114841" y="59885"/>
                    </a:cubicBezTo>
                    <a:cubicBezTo>
                      <a:pt x="115947" y="62555"/>
                      <a:pt x="118555" y="64296"/>
                      <a:pt x="121446" y="64294"/>
                    </a:cubicBezTo>
                    <a:lnTo>
                      <a:pt x="164309" y="64294"/>
                    </a:lnTo>
                    <a:cubicBezTo>
                      <a:pt x="168254" y="64294"/>
                      <a:pt x="171452" y="61095"/>
                      <a:pt x="171452" y="57150"/>
                    </a:cubicBezTo>
                    <a:lnTo>
                      <a:pt x="171452" y="14288"/>
                    </a:lnTo>
                    <a:cubicBezTo>
                      <a:pt x="171452" y="11398"/>
                      <a:pt x="169711" y="8794"/>
                      <a:pt x="167041" y="7688"/>
                    </a:cubicBezTo>
                    <a:close/>
                    <a:moveTo>
                      <a:pt x="157165" y="50006"/>
                    </a:moveTo>
                    <a:lnTo>
                      <a:pt x="138689" y="50006"/>
                    </a:lnTo>
                    <a:lnTo>
                      <a:pt x="157165" y="31531"/>
                    </a:lnTo>
                    <a:close/>
                    <a:moveTo>
                      <a:pt x="137823" y="137821"/>
                    </a:moveTo>
                    <a:cubicBezTo>
                      <a:pt x="137636" y="138017"/>
                      <a:pt x="118115" y="157162"/>
                      <a:pt x="85727" y="157162"/>
                    </a:cubicBezTo>
                    <a:cubicBezTo>
                      <a:pt x="65037" y="157162"/>
                      <a:pt x="48294" y="147474"/>
                      <a:pt x="36685" y="137731"/>
                    </a:cubicBezTo>
                    <a:lnTo>
                      <a:pt x="55063" y="119354"/>
                    </a:lnTo>
                    <a:cubicBezTo>
                      <a:pt x="57108" y="117311"/>
                      <a:pt x="57720" y="114236"/>
                      <a:pt x="56614" y="111565"/>
                    </a:cubicBezTo>
                    <a:cubicBezTo>
                      <a:pt x="55507" y="108895"/>
                      <a:pt x="52900" y="107154"/>
                      <a:pt x="50009" y="107156"/>
                    </a:cubicBezTo>
                    <a:lnTo>
                      <a:pt x="7146" y="107156"/>
                    </a:lnTo>
                    <a:cubicBezTo>
                      <a:pt x="3201" y="107156"/>
                      <a:pt x="2" y="110355"/>
                      <a:pt x="2" y="114300"/>
                    </a:cubicBezTo>
                    <a:lnTo>
                      <a:pt x="2" y="157162"/>
                    </a:lnTo>
                    <a:cubicBezTo>
                      <a:pt x="0" y="160054"/>
                      <a:pt x="1741" y="162661"/>
                      <a:pt x="4411" y="163768"/>
                    </a:cubicBezTo>
                    <a:cubicBezTo>
                      <a:pt x="7082" y="164874"/>
                      <a:pt x="10157" y="164262"/>
                      <a:pt x="12200" y="162217"/>
                    </a:cubicBezTo>
                    <a:lnTo>
                      <a:pt x="26541" y="147867"/>
                    </a:lnTo>
                    <a:cubicBezTo>
                      <a:pt x="44535" y="163324"/>
                      <a:pt x="64868" y="171450"/>
                      <a:pt x="85727" y="171450"/>
                    </a:cubicBezTo>
                    <a:cubicBezTo>
                      <a:pt x="123964" y="171450"/>
                      <a:pt x="146967" y="148885"/>
                      <a:pt x="147931" y="147929"/>
                    </a:cubicBezTo>
                    <a:cubicBezTo>
                      <a:pt x="150723" y="145138"/>
                      <a:pt x="150723" y="140612"/>
                      <a:pt x="147931" y="137821"/>
                    </a:cubicBezTo>
                    <a:cubicBezTo>
                      <a:pt x="145140" y="135029"/>
                      <a:pt x="140614" y="135029"/>
                      <a:pt x="137823" y="137821"/>
                    </a:cubicBezTo>
                    <a:close/>
                    <a:moveTo>
                      <a:pt x="14290" y="121444"/>
                    </a:moveTo>
                    <a:lnTo>
                      <a:pt x="32765" y="121444"/>
                    </a:lnTo>
                    <a:lnTo>
                      <a:pt x="14290" y="139919"/>
                    </a:lnTo>
                    <a:close/>
                  </a:path>
                </a:pathLst>
              </a:custGeom>
              <a:solidFill>
                <a:srgbClr val="FF6F00"/>
              </a:solidFill>
              <a:ln>
                <a:noFill/>
              </a:ln>
            </p:spPr>
          </p:sp>
        </p:grpSp>
        <p:sp>
          <p:nvSpPr>
            <p:cNvPr id="31" name="TextBox 31"/>
            <p:cNvSpPr txBox="1"/>
            <p:nvPr/>
          </p:nvSpPr>
          <p:spPr>
            <a:xfrm>
              <a:off x="1222058" y="24150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策略转变</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461260" y="2423160"/>
              <a:ext cx="49911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测试生成自动化、测试执行持续化、测试维护同步化、测试分析智能化</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571500" y="2905125"/>
            <a:ext cx="11049000" cy="523875"/>
            <a:chOff x="571500" y="2905125"/>
            <a:chExt cx="11049000" cy="523875"/>
          </a:xfrm>
        </p:grpSpPr>
        <p:sp>
          <p:nvSpPr>
            <p:cNvPr id="34" name="Rectangle 34"/>
            <p:cNvSpPr/>
            <p:nvPr/>
          </p:nvSpPr>
          <p:spPr>
            <a:xfrm>
              <a:off x="571500" y="2905125"/>
              <a:ext cx="11049000" cy="523875"/>
            </a:xfrm>
            <a:prstGeom prst="roundRect">
              <a:avLst>
                <a:gd name="adj" fmla="val 14545"/>
              </a:avLst>
            </a:prstGeom>
            <a:solidFill>
              <a:srgbClr val="FFFFFF"/>
            </a:solidFill>
            <a:ln>
              <a:noFill/>
            </a:ln>
          </p:spPr>
        </p:sp>
        <p:sp>
          <p:nvSpPr>
            <p:cNvPr id="35" name="Rectangle 35"/>
            <p:cNvSpPr/>
            <p:nvPr/>
          </p:nvSpPr>
          <p:spPr>
            <a:xfrm>
              <a:off x="571500" y="2905125"/>
              <a:ext cx="57150" cy="523875"/>
            </a:xfrm>
            <a:prstGeom prst="roundRect">
              <a:avLst>
                <a:gd name="adj" fmla="val 50000"/>
              </a:avLst>
            </a:prstGeom>
            <a:solidFill>
              <a:srgbClr val="2E7D32"/>
            </a:solidFill>
            <a:ln>
              <a:noFill/>
            </a:ln>
          </p:spPr>
        </p:sp>
        <p:grpSp>
          <p:nvGrpSpPr>
            <p:cNvPr id="38" name="Group 38"/>
            <p:cNvGrpSpPr/>
            <p:nvPr/>
          </p:nvGrpSpPr>
          <p:grpSpPr>
            <a:xfrm>
              <a:off x="885825" y="3159919"/>
              <a:ext cx="171450" cy="178837"/>
              <a:chOff x="885825" y="3159919"/>
              <a:chExt cx="171450" cy="178837"/>
            </a:xfrm>
          </p:grpSpPr>
          <p:sp>
            <p:nvSpPr>
              <p:cNvPr id="36" name="Freeform 36"/>
              <p:cNvSpPr/>
              <p:nvPr/>
            </p:nvSpPr>
            <p:spPr>
              <a:xfrm>
                <a:off x="892969" y="3167062"/>
                <a:ext cx="157162" cy="164414"/>
              </a:xfrm>
              <a:custGeom>
                <a:avLst/>
                <a:gdLst/>
                <a:ahLst/>
                <a:cxnLst/>
                <a:rect l="l" t="t" r="r" b="b"/>
                <a:pathLst>
                  <a:path w="157162" h="164414">
                    <a:moveTo>
                      <a:pt x="157162" y="7144"/>
                    </a:moveTo>
                    <a:lnTo>
                      <a:pt x="157162" y="59624"/>
                    </a:lnTo>
                    <a:cubicBezTo>
                      <a:pt x="157162" y="134794"/>
                      <a:pt x="93485" y="159699"/>
                      <a:pt x="80778" y="163922"/>
                    </a:cubicBezTo>
                    <a:cubicBezTo>
                      <a:pt x="79355" y="164414"/>
                      <a:pt x="77808" y="164414"/>
                      <a:pt x="76385" y="163922"/>
                    </a:cubicBezTo>
                    <a:cubicBezTo>
                      <a:pt x="63678" y="159716"/>
                      <a:pt x="0" y="134838"/>
                      <a:pt x="0" y="59641"/>
                    </a:cubicBezTo>
                    <a:lnTo>
                      <a:pt x="0" y="7144"/>
                    </a:lnTo>
                    <a:cubicBezTo>
                      <a:pt x="0" y="3198"/>
                      <a:pt x="3198" y="0"/>
                      <a:pt x="7144" y="0"/>
                    </a:cubicBezTo>
                    <a:lnTo>
                      <a:pt x="150019" y="0"/>
                    </a:lnTo>
                    <a:cubicBezTo>
                      <a:pt x="153964" y="0"/>
                      <a:pt x="157162" y="3198"/>
                      <a:pt x="157162" y="7144"/>
                    </a:cubicBezTo>
                    <a:close/>
                  </a:path>
                </a:pathLst>
              </a:custGeom>
              <a:solidFill>
                <a:srgbClr val="2E7D32">
                  <a:alpha val="20000"/>
                </a:srgbClr>
              </a:solidFill>
              <a:ln>
                <a:noFill/>
              </a:ln>
            </p:spPr>
          </p:sp>
          <p:sp>
            <p:nvSpPr>
              <p:cNvPr id="37" name="Freeform 37"/>
              <p:cNvSpPr/>
              <p:nvPr/>
            </p:nvSpPr>
            <p:spPr>
              <a:xfrm>
                <a:off x="885825" y="3159919"/>
                <a:ext cx="171450" cy="178837"/>
              </a:xfrm>
              <a:custGeom>
                <a:avLst/>
                <a:gdLst/>
                <a:ahLst/>
                <a:cxnLst/>
                <a:rect l="l" t="t" r="r" b="b"/>
                <a:pathLst>
                  <a:path w="171450" h="178837">
                    <a:moveTo>
                      <a:pt x="157162" y="0"/>
                    </a:moveTo>
                    <a:lnTo>
                      <a:pt x="14288" y="0"/>
                    </a:lnTo>
                    <a:cubicBezTo>
                      <a:pt x="6397" y="0"/>
                      <a:pt x="0" y="6397"/>
                      <a:pt x="0" y="14288"/>
                    </a:cubicBezTo>
                    <a:lnTo>
                      <a:pt x="0" y="66776"/>
                    </a:lnTo>
                    <a:cubicBezTo>
                      <a:pt x="0" y="146795"/>
                      <a:pt x="67705" y="173343"/>
                      <a:pt x="81260" y="177853"/>
                    </a:cubicBezTo>
                    <a:cubicBezTo>
                      <a:pt x="84155" y="178837"/>
                      <a:pt x="87295" y="178837"/>
                      <a:pt x="90190" y="177853"/>
                    </a:cubicBezTo>
                    <a:cubicBezTo>
                      <a:pt x="103763" y="173343"/>
                      <a:pt x="171450" y="146795"/>
                      <a:pt x="171450" y="66776"/>
                    </a:cubicBezTo>
                    <a:lnTo>
                      <a:pt x="171450" y="14288"/>
                    </a:lnTo>
                    <a:cubicBezTo>
                      <a:pt x="171450" y="6397"/>
                      <a:pt x="165053" y="0"/>
                      <a:pt x="157162" y="0"/>
                    </a:cubicBezTo>
                    <a:close/>
                    <a:moveTo>
                      <a:pt x="157162" y="66785"/>
                    </a:moveTo>
                    <a:cubicBezTo>
                      <a:pt x="157162" y="136812"/>
                      <a:pt x="97914" y="160208"/>
                      <a:pt x="85725" y="164279"/>
                    </a:cubicBezTo>
                    <a:cubicBezTo>
                      <a:pt x="73643" y="160252"/>
                      <a:pt x="14288" y="136874"/>
                      <a:pt x="14288" y="66785"/>
                    </a:cubicBezTo>
                    <a:lnTo>
                      <a:pt x="14288" y="14288"/>
                    </a:lnTo>
                    <a:lnTo>
                      <a:pt x="157162" y="14288"/>
                    </a:lnTo>
                    <a:close/>
                    <a:moveTo>
                      <a:pt x="44952" y="90779"/>
                    </a:moveTo>
                    <a:cubicBezTo>
                      <a:pt x="42161" y="87988"/>
                      <a:pt x="42161" y="83462"/>
                      <a:pt x="44952" y="80671"/>
                    </a:cubicBezTo>
                    <a:cubicBezTo>
                      <a:pt x="47743" y="77879"/>
                      <a:pt x="52269" y="77879"/>
                      <a:pt x="55060" y="80671"/>
                    </a:cubicBezTo>
                    <a:lnTo>
                      <a:pt x="71438" y="97048"/>
                    </a:lnTo>
                    <a:lnTo>
                      <a:pt x="116390" y="52096"/>
                    </a:lnTo>
                    <a:cubicBezTo>
                      <a:pt x="119181" y="49304"/>
                      <a:pt x="123707" y="49304"/>
                      <a:pt x="126498" y="52096"/>
                    </a:cubicBezTo>
                    <a:cubicBezTo>
                      <a:pt x="129289" y="54887"/>
                      <a:pt x="129289" y="59413"/>
                      <a:pt x="126498" y="62204"/>
                    </a:cubicBezTo>
                    <a:lnTo>
                      <a:pt x="76492" y="112210"/>
                    </a:lnTo>
                    <a:cubicBezTo>
                      <a:pt x="75152" y="113552"/>
                      <a:pt x="73334" y="114306"/>
                      <a:pt x="71438" y="114306"/>
                    </a:cubicBezTo>
                    <a:cubicBezTo>
                      <a:pt x="69541" y="114306"/>
                      <a:pt x="67723" y="113552"/>
                      <a:pt x="66383" y="112210"/>
                    </a:cubicBezTo>
                    <a:close/>
                  </a:path>
                </a:pathLst>
              </a:custGeom>
              <a:solidFill>
                <a:srgbClr val="2E7D32"/>
              </a:solidFill>
              <a:ln>
                <a:noFill/>
              </a:ln>
            </p:spPr>
          </p:sp>
        </p:grpSp>
        <p:sp>
          <p:nvSpPr>
            <p:cNvPr id="39" name="TextBox 39"/>
            <p:cNvSpPr txBox="1"/>
            <p:nvPr/>
          </p:nvSpPr>
          <p:spPr>
            <a:xfrm>
              <a:off x="1222058" y="3081814"/>
              <a:ext cx="924997"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护城河构建</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2461260" y="3089910"/>
              <a:ext cx="421500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本地 → CI → 质量门禁三层自动化防线，层层递进、不可跳过</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71500" y="3571875"/>
            <a:ext cx="11049000" cy="523875"/>
            <a:chOff x="571500" y="3571875"/>
            <a:chExt cx="11049000" cy="523875"/>
          </a:xfrm>
        </p:grpSpPr>
        <p:sp>
          <p:nvSpPr>
            <p:cNvPr id="42" name="Rectangle 42"/>
            <p:cNvSpPr/>
            <p:nvPr/>
          </p:nvSpPr>
          <p:spPr>
            <a:xfrm>
              <a:off x="571500" y="3571875"/>
              <a:ext cx="11049000" cy="523875"/>
            </a:xfrm>
            <a:prstGeom prst="roundRect">
              <a:avLst>
                <a:gd name="adj" fmla="val 14545"/>
              </a:avLst>
            </a:prstGeom>
            <a:solidFill>
              <a:srgbClr val="FFFFFF"/>
            </a:solidFill>
            <a:ln>
              <a:noFill/>
            </a:ln>
          </p:spPr>
        </p:sp>
        <p:sp>
          <p:nvSpPr>
            <p:cNvPr id="43" name="Rectangle 43"/>
            <p:cNvSpPr/>
            <p:nvPr/>
          </p:nvSpPr>
          <p:spPr>
            <a:xfrm>
              <a:off x="571500" y="3571875"/>
              <a:ext cx="57150" cy="523875"/>
            </a:xfrm>
            <a:prstGeom prst="roundRect">
              <a:avLst>
                <a:gd name="adj" fmla="val 50000"/>
              </a:avLst>
            </a:prstGeom>
            <a:solidFill>
              <a:srgbClr val="1565C0"/>
            </a:solidFill>
            <a:ln>
              <a:noFill/>
            </a:ln>
          </p:spPr>
        </p:sp>
        <p:grpSp>
          <p:nvGrpSpPr>
            <p:cNvPr id="46" name="Group 46"/>
            <p:cNvGrpSpPr/>
            <p:nvPr/>
          </p:nvGrpSpPr>
          <p:grpSpPr>
            <a:xfrm>
              <a:off x="892969" y="3811910"/>
              <a:ext cx="172762" cy="179065"/>
              <a:chOff x="892969" y="3811910"/>
              <a:chExt cx="172762" cy="179065"/>
            </a:xfrm>
          </p:grpSpPr>
          <p:sp>
            <p:nvSpPr>
              <p:cNvPr id="44" name="Freeform 44"/>
              <p:cNvSpPr/>
              <p:nvPr/>
            </p:nvSpPr>
            <p:spPr>
              <a:xfrm>
                <a:off x="900112" y="3819290"/>
                <a:ext cx="137740" cy="135966"/>
              </a:xfrm>
              <a:custGeom>
                <a:avLst/>
                <a:gdLst/>
                <a:ahLst/>
                <a:cxnLst/>
                <a:rect l="l" t="t" r="r" b="b"/>
                <a:pathLst>
                  <a:path w="137740" h="135966">
                    <a:moveTo>
                      <a:pt x="0" y="35954"/>
                    </a:moveTo>
                    <a:lnTo>
                      <a:pt x="57150" y="35954"/>
                    </a:lnTo>
                    <a:lnTo>
                      <a:pt x="57150" y="135966"/>
                    </a:lnTo>
                    <a:lnTo>
                      <a:pt x="0" y="135966"/>
                    </a:lnTo>
                    <a:close/>
                    <a:moveTo>
                      <a:pt x="127373" y="5941"/>
                    </a:moveTo>
                    <a:cubicBezTo>
                      <a:pt x="126989" y="4078"/>
                      <a:pt x="125878" y="2445"/>
                      <a:pt x="124285" y="1404"/>
                    </a:cubicBezTo>
                    <a:cubicBezTo>
                      <a:pt x="122693" y="363"/>
                      <a:pt x="120751" y="0"/>
                      <a:pt x="118890" y="396"/>
                    </a:cubicBezTo>
                    <a:lnTo>
                      <a:pt x="77090" y="9326"/>
                    </a:lnTo>
                    <a:cubicBezTo>
                      <a:pt x="73222" y="10180"/>
                      <a:pt x="70769" y="13997"/>
                      <a:pt x="71598" y="17871"/>
                    </a:cubicBezTo>
                    <a:lnTo>
                      <a:pt x="81966" y="67208"/>
                    </a:lnTo>
                    <a:lnTo>
                      <a:pt x="137740" y="55224"/>
                    </a:lnTo>
                    <a:close/>
                  </a:path>
                </a:pathLst>
              </a:custGeom>
              <a:solidFill>
                <a:srgbClr val="1565C0">
                  <a:alpha val="20000"/>
                </a:srgbClr>
              </a:solidFill>
              <a:ln>
                <a:noFill/>
              </a:ln>
            </p:spPr>
          </p:sp>
          <p:sp>
            <p:nvSpPr>
              <p:cNvPr id="45" name="Freeform 45"/>
              <p:cNvSpPr/>
              <p:nvPr/>
            </p:nvSpPr>
            <p:spPr>
              <a:xfrm>
                <a:off x="892969" y="3811910"/>
                <a:ext cx="172762" cy="179065"/>
              </a:xfrm>
              <a:custGeom>
                <a:avLst/>
                <a:gdLst/>
                <a:ahLst/>
                <a:cxnLst/>
                <a:rect l="l" t="t" r="r" b="b"/>
                <a:pathLst>
                  <a:path w="172762" h="179065">
                    <a:moveTo>
                      <a:pt x="171137" y="152767"/>
                    </a:moveTo>
                    <a:lnTo>
                      <a:pt x="141500" y="11856"/>
                    </a:lnTo>
                    <a:cubicBezTo>
                      <a:pt x="140726" y="8135"/>
                      <a:pt x="138500" y="4875"/>
                      <a:pt x="135316" y="2798"/>
                    </a:cubicBezTo>
                    <a:cubicBezTo>
                      <a:pt x="132132" y="722"/>
                      <a:pt x="128251" y="0"/>
                      <a:pt x="124533" y="792"/>
                    </a:cubicBezTo>
                    <a:lnTo>
                      <a:pt x="82734" y="9776"/>
                    </a:lnTo>
                    <a:cubicBezTo>
                      <a:pt x="75038" y="11461"/>
                      <a:pt x="70137" y="19031"/>
                      <a:pt x="71750" y="26742"/>
                    </a:cubicBezTo>
                    <a:lnTo>
                      <a:pt x="101388" y="167653"/>
                    </a:lnTo>
                    <a:cubicBezTo>
                      <a:pt x="102749" y="174279"/>
                      <a:pt x="108571" y="179042"/>
                      <a:pt x="115336" y="179065"/>
                    </a:cubicBezTo>
                    <a:cubicBezTo>
                      <a:pt x="116350" y="179063"/>
                      <a:pt x="117362" y="178956"/>
                      <a:pt x="118354" y="178743"/>
                    </a:cubicBezTo>
                    <a:lnTo>
                      <a:pt x="160154" y="169760"/>
                    </a:lnTo>
                    <a:cubicBezTo>
                      <a:pt x="167859" y="168071"/>
                      <a:pt x="172762" y="160486"/>
                      <a:pt x="171137" y="152767"/>
                    </a:cubicBezTo>
                    <a:close/>
                    <a:moveTo>
                      <a:pt x="85725" y="23822"/>
                    </a:moveTo>
                    <a:cubicBezTo>
                      <a:pt x="85725" y="23769"/>
                      <a:pt x="85725" y="23742"/>
                      <a:pt x="85725" y="23742"/>
                    </a:cubicBezTo>
                    <a:lnTo>
                      <a:pt x="127516" y="14812"/>
                    </a:lnTo>
                    <a:lnTo>
                      <a:pt x="130490" y="28983"/>
                    </a:lnTo>
                    <a:lnTo>
                      <a:pt x="88699" y="37976"/>
                    </a:lnTo>
                    <a:close/>
                    <a:moveTo>
                      <a:pt x="91636" y="51924"/>
                    </a:moveTo>
                    <a:lnTo>
                      <a:pt x="133445" y="42949"/>
                    </a:lnTo>
                    <a:lnTo>
                      <a:pt x="136428" y="57148"/>
                    </a:lnTo>
                    <a:lnTo>
                      <a:pt x="94655" y="66131"/>
                    </a:lnTo>
                    <a:close/>
                    <a:moveTo>
                      <a:pt x="97566" y="80115"/>
                    </a:moveTo>
                    <a:lnTo>
                      <a:pt x="139375" y="71132"/>
                    </a:lnTo>
                    <a:lnTo>
                      <a:pt x="151251" y="127603"/>
                    </a:lnTo>
                    <a:lnTo>
                      <a:pt x="109442" y="136586"/>
                    </a:lnTo>
                    <a:close/>
                    <a:moveTo>
                      <a:pt x="157162" y="155794"/>
                    </a:moveTo>
                    <a:lnTo>
                      <a:pt x="115372" y="164724"/>
                    </a:lnTo>
                    <a:lnTo>
                      <a:pt x="112398" y="150552"/>
                    </a:lnTo>
                    <a:lnTo>
                      <a:pt x="154189" y="141560"/>
                    </a:lnTo>
                    <a:lnTo>
                      <a:pt x="157162" y="155714"/>
                    </a:lnTo>
                    <a:cubicBezTo>
                      <a:pt x="157162" y="155767"/>
                      <a:pt x="157162" y="155794"/>
                      <a:pt x="157162" y="155794"/>
                    </a:cubicBezTo>
                    <a:close/>
                    <a:moveTo>
                      <a:pt x="57150" y="7615"/>
                    </a:moveTo>
                    <a:lnTo>
                      <a:pt x="14288" y="7615"/>
                    </a:lnTo>
                    <a:cubicBezTo>
                      <a:pt x="6397" y="7615"/>
                      <a:pt x="0" y="14011"/>
                      <a:pt x="0" y="21902"/>
                    </a:cubicBezTo>
                    <a:lnTo>
                      <a:pt x="0" y="164777"/>
                    </a:lnTo>
                    <a:cubicBezTo>
                      <a:pt x="0" y="172668"/>
                      <a:pt x="6397" y="179065"/>
                      <a:pt x="14288" y="179065"/>
                    </a:cubicBezTo>
                    <a:lnTo>
                      <a:pt x="57150" y="179065"/>
                    </a:lnTo>
                    <a:cubicBezTo>
                      <a:pt x="65041" y="179065"/>
                      <a:pt x="71438" y="172668"/>
                      <a:pt x="71438" y="164777"/>
                    </a:cubicBezTo>
                    <a:lnTo>
                      <a:pt x="71438" y="21902"/>
                    </a:lnTo>
                    <a:cubicBezTo>
                      <a:pt x="71438" y="14011"/>
                      <a:pt x="65041" y="7615"/>
                      <a:pt x="57150" y="7615"/>
                    </a:cubicBezTo>
                    <a:close/>
                    <a:moveTo>
                      <a:pt x="14288" y="21902"/>
                    </a:moveTo>
                    <a:lnTo>
                      <a:pt x="57150" y="21902"/>
                    </a:lnTo>
                    <a:lnTo>
                      <a:pt x="57150" y="36190"/>
                    </a:lnTo>
                    <a:lnTo>
                      <a:pt x="14288" y="36190"/>
                    </a:lnTo>
                    <a:close/>
                    <a:moveTo>
                      <a:pt x="14288" y="50477"/>
                    </a:moveTo>
                    <a:lnTo>
                      <a:pt x="57150" y="50477"/>
                    </a:lnTo>
                    <a:lnTo>
                      <a:pt x="57150" y="136202"/>
                    </a:lnTo>
                    <a:lnTo>
                      <a:pt x="14288" y="136202"/>
                    </a:lnTo>
                    <a:close/>
                    <a:moveTo>
                      <a:pt x="57150" y="164777"/>
                    </a:moveTo>
                    <a:lnTo>
                      <a:pt x="14288" y="164777"/>
                    </a:lnTo>
                    <a:lnTo>
                      <a:pt x="14288" y="150490"/>
                    </a:lnTo>
                    <a:lnTo>
                      <a:pt x="57150" y="150490"/>
                    </a:lnTo>
                    <a:lnTo>
                      <a:pt x="57150" y="164777"/>
                    </a:lnTo>
                    <a:close/>
                  </a:path>
                </a:pathLst>
              </a:custGeom>
              <a:solidFill>
                <a:srgbClr val="1565C0"/>
              </a:solidFill>
              <a:ln>
                <a:noFill/>
              </a:ln>
            </p:spPr>
          </p:sp>
        </p:grpSp>
        <p:sp>
          <p:nvSpPr>
            <p:cNvPr id="47" name="TextBox 47"/>
            <p:cNvSpPr txBox="1"/>
            <p:nvPr/>
          </p:nvSpPr>
          <p:spPr>
            <a:xfrm>
              <a:off x="1222058" y="3748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知识沉淀</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2461260" y="3756660"/>
              <a:ext cx="4391025"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每个Bug → 根因 → 教训 → 规范 → Skill → AI能力升级的完整闭环</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571500" y="4476750"/>
            <a:ext cx="11049000" cy="952500"/>
            <a:chOff x="571500" y="4476750"/>
            <a:chExt cx="11049000" cy="952500"/>
          </a:xfrm>
        </p:grpSpPr>
        <p:sp>
          <p:nvSpPr>
            <p:cNvPr id="50" name="Rectangle 50"/>
            <p:cNvSpPr/>
            <p:nvPr/>
          </p:nvSpPr>
          <p:spPr>
            <a:xfrm>
              <a:off x="571500" y="4476750"/>
              <a:ext cx="11049000" cy="952500"/>
            </a:xfrm>
            <a:prstGeom prst="roundRect">
              <a:avLst>
                <a:gd name="adj" fmla="val 12000"/>
              </a:avLst>
            </a:prstGeom>
            <a:solidFill>
              <a:srgbClr val="1565C0">
                <a:alpha val="6000"/>
              </a:srgbClr>
            </a:solidFill>
            <a:ln>
              <a:noFill/>
            </a:ln>
          </p:spPr>
        </p:sp>
        <p:sp>
          <p:nvSpPr>
            <p:cNvPr id="51" name="TextBox 51"/>
            <p:cNvSpPr txBox="1"/>
            <p:nvPr/>
          </p:nvSpPr>
          <p:spPr>
            <a:xfrm>
              <a:off x="935355" y="4664392"/>
              <a:ext cx="790384"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核心理念</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938212" y="4974431"/>
              <a:ext cx="756701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测试是AI编码的安全网 —— 测试越完备，AI编码越高效。在AI时代，测试不是变少了，而是变得更重要且更自动化。</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937260" y="5185410"/>
              <a:ext cx="6188450"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关键行动：构建三层护城河，建立五维度分类体系，让每次Bug修复都成为知识资产</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sp>
        <p:nvSpPr>
          <p:cNvPr id="55" name="TextBox 5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6" name="图片 5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400"/>
                                        <p:tgtEl>
                                          <p:spTgt spid="4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41" grpId="0"/>
      <p:bldP spid="49" grpId="0"/>
      <p:bldP spid="5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476250"/>
            <a:ext cx="12382500" cy="7429500"/>
            <a:chOff x="0" y="-476250"/>
            <a:chExt cx="12382500" cy="74295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476250"/>
              <a:ext cx="4762500" cy="4762500"/>
            </a:xfrm>
            <a:prstGeom prst="ellipse">
              <a:avLst/>
            </a:prstGeom>
            <a:solidFill>
              <a:srgbClr val="FFFFFF">
                <a:alpha val="4000"/>
              </a:srgbClr>
            </a:solidFill>
            <a:ln>
              <a:noFill/>
            </a:ln>
          </p:spPr>
        </p:sp>
        <p:sp>
          <p:nvSpPr>
            <p:cNvPr id="4" name="Ellipse 4"/>
            <p:cNvSpPr/>
            <p:nvPr/>
          </p:nvSpPr>
          <p:spPr>
            <a:xfrm>
              <a:off x="666750" y="3524250"/>
              <a:ext cx="3429000" cy="3429000"/>
            </a:xfrm>
            <a:prstGeom prst="ellipse">
              <a:avLst/>
            </a:prstGeom>
            <a:solidFill>
              <a:srgbClr val="FFFFFF">
                <a:alpha val="3000"/>
              </a:srgbClr>
            </a:solidFill>
            <a:ln>
              <a:noFill/>
            </a:ln>
          </p:spPr>
        </p:sp>
        <p:sp>
          <p:nvSpPr>
            <p:cNvPr id="5" name="Ellipse 5"/>
            <p:cNvSpPr/>
            <p:nvPr/>
          </p:nvSpPr>
          <p:spPr>
            <a:xfrm>
              <a:off x="7429500" y="4572000"/>
              <a:ext cx="2286000" cy="2286000"/>
            </a:xfrm>
            <a:prstGeom prst="ellipse">
              <a:avLst/>
            </a:prstGeom>
            <a:solidFill>
              <a:srgbClr val="FFFFFF">
                <a:alpha val="3000"/>
              </a:srgbClr>
            </a:solidFill>
            <a:ln>
              <a:noFill/>
            </a:ln>
          </p:spPr>
        </p:sp>
      </p:grpSp>
      <p:grpSp>
        <p:nvGrpSpPr>
          <p:cNvPr id="13" name="Group 13"/>
          <p:cNvGrpSpPr/>
          <p:nvPr/>
        </p:nvGrpSpPr>
        <p:grpSpPr>
          <a:xfrm>
            <a:off x="883920" y="1893570"/>
            <a:ext cx="4897136" cy="2976086"/>
            <a:chOff x="883920" y="1893570"/>
            <a:chExt cx="4897136" cy="2976086"/>
          </a:xfrm>
        </p:grpSpPr>
        <p:sp>
          <p:nvSpPr>
            <p:cNvPr id="8" name="Rectangle 8"/>
            <p:cNvSpPr/>
            <p:nvPr/>
          </p:nvSpPr>
          <p:spPr>
            <a:xfrm>
              <a:off x="613410" y="2809875"/>
              <a:ext cx="762000" cy="38100"/>
            </a:xfrm>
            <a:prstGeom prst="roundRect">
              <a:avLst>
                <a:gd name="adj" fmla="val 50000"/>
              </a:avLst>
            </a:prstGeom>
            <a:solidFill>
              <a:srgbClr val="FF6F00"/>
            </a:solidFill>
            <a:ln>
              <a:noFill/>
            </a:ln>
          </p:spPr>
        </p:sp>
        <p:sp>
          <p:nvSpPr>
            <p:cNvPr id="9" name="TextBox 9"/>
            <p:cNvSpPr txBox="1"/>
            <p:nvPr/>
          </p:nvSpPr>
          <p:spPr>
            <a:xfrm>
              <a:off x="571500" y="3168015"/>
              <a:ext cx="1932051"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过程体系</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92455" y="3917632"/>
              <a:ext cx="4849511"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将AI纳入软件过程管理，构建人机协作的过程体系</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613410" y="4381500"/>
              <a:ext cx="1905000" cy="19050"/>
            </a:xfrm>
            <a:prstGeom prst="rect">
              <a:avLst/>
            </a:prstGeom>
            <a:solidFill>
              <a:srgbClr val="FFFFFF">
                <a:alpha val="20000"/>
              </a:srgbClr>
            </a:solidFill>
            <a:ln>
              <a:noFill/>
            </a:ln>
          </p:spPr>
        </p:sp>
        <p:sp>
          <p:nvSpPr>
            <p:cNvPr id="12" name="TextBox 12"/>
            <p:cNvSpPr txBox="1"/>
            <p:nvPr/>
          </p:nvSpPr>
          <p:spPr>
            <a:xfrm>
              <a:off x="599122" y="4641056"/>
              <a:ext cx="4686657"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OSSP · PDP · Harness · CMMI · HMM成熟度 · LLM赋能 · 功能点度量</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4" name="TextBox 14"/>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57</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23863"/>
            <a:chOff x="541559" y="252412"/>
            <a:chExt cx="11078941" cy="423863"/>
          </a:xfrm>
        </p:grpSpPr>
        <p:sp>
          <p:nvSpPr>
            <p:cNvPr id="7" name="TextBox 7"/>
            <p:cNvSpPr txBox="1"/>
            <p:nvPr/>
          </p:nvSpPr>
          <p:spPr>
            <a:xfrm>
              <a:off x="571500" y="252412"/>
              <a:ext cx="4001135" cy="346075"/>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人类编程爱敏捷，AI编程爱</a:t>
              </a:r>
              <a:r>
                <a:rPr lang="zh-CN" sz="2250" b="1" dirty="0">
                  <a:solidFill>
                    <a:srgbClr val="263238"/>
                  </a:solidFill>
                  <a:latin typeface="Segoe UI" panose="020B0502040204020203"/>
                  <a:ea typeface="微软雅黑" panose="020B0503020204020204" charset="-122"/>
                  <a:cs typeface="Segoe UI" panose="020B0502040204020203"/>
                </a:rPr>
                <a:t>规范</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6" name="Group 26"/>
          <p:cNvGrpSpPr/>
          <p:nvPr/>
        </p:nvGrpSpPr>
        <p:grpSpPr>
          <a:xfrm>
            <a:off x="571500" y="904875"/>
            <a:ext cx="5334000" cy="3238500"/>
            <a:chOff x="571500" y="904875"/>
            <a:chExt cx="5334000" cy="3238500"/>
          </a:xfrm>
        </p:grpSpPr>
        <p:sp>
          <p:nvSpPr>
            <p:cNvPr id="10" name="Rectangle 10"/>
            <p:cNvSpPr/>
            <p:nvPr/>
          </p:nvSpPr>
          <p:spPr>
            <a:xfrm>
              <a:off x="571500" y="904875"/>
              <a:ext cx="5334000" cy="3238500"/>
            </a:xfrm>
            <a:prstGeom prst="roundRect">
              <a:avLst>
                <a:gd name="adj" fmla="val 3529"/>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207514" y="1139190"/>
              <a:ext cx="2061972" cy="365760"/>
            </a:xfrm>
            <a:prstGeom prst="rect">
              <a:avLst/>
            </a:prstGeom>
            <a:noFill/>
            <a:ln>
              <a:noFill/>
            </a:ln>
          </p:spPr>
          <p:txBody>
            <a:bodyPr wrap="none" lIns="0" tIns="0" rIns="0" bIns="0" anchor="t" anchorCtr="0">
              <a:spAutoFit/>
            </a:bodyPr>
            <a:lstStyle/>
            <a:p>
              <a:pPr algn="ctr"/>
              <a:r>
                <a:rPr lang="zh-CN" sz="1800" b="1" dirty="0">
                  <a:solidFill>
                    <a:srgbClr val="1565C0"/>
                  </a:solidFill>
                  <a:latin typeface="Segoe UI" panose="020B0502040204020203"/>
                  <a:ea typeface="微软雅黑" panose="020B0503020204020204" charset="-122"/>
                  <a:cs typeface="Segoe UI" panose="020B0502040204020203"/>
                </a:rPr>
                <a:t>人类为什么爱敏捷</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16" name="Group 16"/>
            <p:cNvGrpSpPr/>
            <p:nvPr/>
          </p:nvGrpSpPr>
          <p:grpSpPr>
            <a:xfrm>
              <a:off x="952500" y="1666875"/>
              <a:ext cx="4572000" cy="457200"/>
              <a:chOff x="952500" y="1666875"/>
              <a:chExt cx="4572000" cy="457200"/>
            </a:xfrm>
          </p:grpSpPr>
          <p:sp>
            <p:nvSpPr>
              <p:cNvPr id="14" name="Rectangle 14"/>
              <p:cNvSpPr/>
              <p:nvPr/>
            </p:nvSpPr>
            <p:spPr>
              <a:xfrm>
                <a:off x="952500" y="1666875"/>
                <a:ext cx="4572000" cy="457200"/>
              </a:xfrm>
              <a:prstGeom prst="roundRect">
                <a:avLst>
                  <a:gd name="adj" fmla="val 12500"/>
                </a:avLst>
              </a:prstGeom>
              <a:solidFill>
                <a:srgbClr val="1565C0">
                  <a:alpha val="6000"/>
                </a:srgbClr>
              </a:solidFill>
              <a:ln>
                <a:noFill/>
              </a:ln>
            </p:spPr>
          </p:sp>
          <p:sp>
            <p:nvSpPr>
              <p:cNvPr id="15" name="TextBox 15"/>
              <p:cNvSpPr txBox="1"/>
              <p:nvPr/>
            </p:nvSpPr>
            <p:spPr>
              <a:xfrm>
                <a:off x="1128712" y="1831181"/>
                <a:ext cx="437911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人类怕约束：繁琐的流程是人性天敌，人类天生抗拒标准化的束缚</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952500" y="2238375"/>
              <a:ext cx="4572000" cy="457200"/>
              <a:chOff x="952500" y="2238375"/>
              <a:chExt cx="4572000" cy="457200"/>
            </a:xfrm>
          </p:grpSpPr>
          <p:sp>
            <p:nvSpPr>
              <p:cNvPr id="17" name="Rectangle 17"/>
              <p:cNvSpPr/>
              <p:nvPr/>
            </p:nvSpPr>
            <p:spPr>
              <a:xfrm>
                <a:off x="952500" y="2238375"/>
                <a:ext cx="4572000" cy="457200"/>
              </a:xfrm>
              <a:prstGeom prst="roundRect">
                <a:avLst>
                  <a:gd name="adj" fmla="val 12500"/>
                </a:avLst>
              </a:prstGeom>
              <a:solidFill>
                <a:srgbClr val="1565C0">
                  <a:alpha val="6000"/>
                </a:srgbClr>
              </a:solidFill>
              <a:ln>
                <a:noFill/>
              </a:ln>
            </p:spPr>
          </p:sp>
          <p:sp>
            <p:nvSpPr>
              <p:cNvPr id="18" name="TextBox 18"/>
              <p:cNvSpPr txBox="1"/>
              <p:nvPr/>
            </p:nvSpPr>
            <p:spPr>
              <a:xfrm>
                <a:off x="1128712" y="2402681"/>
                <a:ext cx="302895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人类怕文档：写文档、维护文档违背人之天性</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952500" y="2809875"/>
              <a:ext cx="4572000" cy="457200"/>
              <a:chOff x="952500" y="2809875"/>
              <a:chExt cx="4572000" cy="457200"/>
            </a:xfrm>
          </p:grpSpPr>
          <p:sp>
            <p:nvSpPr>
              <p:cNvPr id="20" name="Rectangle 20"/>
              <p:cNvSpPr/>
              <p:nvPr/>
            </p:nvSpPr>
            <p:spPr>
              <a:xfrm>
                <a:off x="952500" y="2809875"/>
                <a:ext cx="4572000" cy="457200"/>
              </a:xfrm>
              <a:prstGeom prst="roundRect">
                <a:avLst>
                  <a:gd name="adj" fmla="val 12500"/>
                </a:avLst>
              </a:prstGeom>
              <a:solidFill>
                <a:srgbClr val="1565C0">
                  <a:alpha val="6000"/>
                </a:srgbClr>
              </a:solidFill>
              <a:ln>
                <a:noFill/>
              </a:ln>
            </p:spPr>
          </p:sp>
          <p:sp>
            <p:nvSpPr>
              <p:cNvPr id="21" name="TextBox 21"/>
              <p:cNvSpPr txBox="1"/>
              <p:nvPr/>
            </p:nvSpPr>
            <p:spPr>
              <a:xfrm>
                <a:off x="1128712" y="2974181"/>
                <a:ext cx="364402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人类爱灵活：敏捷强调"可工作的软件高于详尽的文档"</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952500" y="3381375"/>
              <a:ext cx="4572000" cy="457200"/>
              <a:chOff x="952500" y="3381375"/>
              <a:chExt cx="4572000" cy="457200"/>
            </a:xfrm>
          </p:grpSpPr>
          <p:sp>
            <p:nvSpPr>
              <p:cNvPr id="23" name="Rectangle 23"/>
              <p:cNvSpPr/>
              <p:nvPr/>
            </p:nvSpPr>
            <p:spPr>
              <a:xfrm>
                <a:off x="952500" y="3381375"/>
                <a:ext cx="4572000" cy="457200"/>
              </a:xfrm>
              <a:prstGeom prst="roundRect">
                <a:avLst>
                  <a:gd name="adj" fmla="val 12500"/>
                </a:avLst>
              </a:prstGeom>
              <a:solidFill>
                <a:srgbClr val="1565C0">
                  <a:alpha val="6000"/>
                </a:srgbClr>
              </a:solidFill>
              <a:ln>
                <a:noFill/>
              </a:ln>
            </p:spPr>
          </p:sp>
          <p:sp>
            <p:nvSpPr>
              <p:cNvPr id="24" name="TextBox 24"/>
              <p:cNvSpPr txBox="1"/>
              <p:nvPr/>
            </p:nvSpPr>
            <p:spPr>
              <a:xfrm>
                <a:off x="1128712" y="3545681"/>
                <a:ext cx="3328988"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敏捷的本质：减少形式化，回归人与人的沟通协作</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43" name="Group 43"/>
          <p:cNvGrpSpPr/>
          <p:nvPr/>
        </p:nvGrpSpPr>
        <p:grpSpPr>
          <a:xfrm>
            <a:off x="6286500" y="904875"/>
            <a:ext cx="5334000" cy="3238500"/>
            <a:chOff x="6286500" y="904875"/>
            <a:chExt cx="5334000" cy="3238500"/>
          </a:xfrm>
        </p:grpSpPr>
        <p:sp>
          <p:nvSpPr>
            <p:cNvPr id="27" name="Rectangle 27"/>
            <p:cNvSpPr/>
            <p:nvPr/>
          </p:nvSpPr>
          <p:spPr>
            <a:xfrm>
              <a:off x="6286500" y="904875"/>
              <a:ext cx="5334000" cy="3238500"/>
            </a:xfrm>
            <a:prstGeom prst="roundRect">
              <a:avLst>
                <a:gd name="adj" fmla="val 3529"/>
              </a:avLst>
            </a:prstGeom>
            <a:solidFill>
              <a:srgbClr val="FFFFFF"/>
            </a:solidFill>
            <a:ln>
              <a:noFill/>
            </a:ln>
          </p:spPr>
        </p:sp>
        <p:sp>
          <p:nvSpPr>
            <p:cNvPr id="28" name="Rectangle 28"/>
            <p:cNvSpPr/>
            <p:nvPr/>
          </p:nvSpPr>
          <p:spPr>
            <a:xfrm>
              <a:off x="6286500" y="904875"/>
              <a:ext cx="5334000" cy="38100"/>
            </a:xfrm>
            <a:prstGeom prst="roundRect">
              <a:avLst>
                <a:gd name="adj" fmla="val 50000"/>
              </a:avLst>
            </a:prstGeom>
            <a:solidFill>
              <a:srgbClr val="00838F"/>
            </a:solidFill>
            <a:ln>
              <a:noFill/>
            </a:ln>
          </p:spPr>
        </p:sp>
        <p:sp>
          <p:nvSpPr>
            <p:cNvPr id="29" name="TextBox 29"/>
            <p:cNvSpPr txBox="1"/>
            <p:nvPr/>
          </p:nvSpPr>
          <p:spPr>
            <a:xfrm>
              <a:off x="8154356" y="1139190"/>
              <a:ext cx="1598295" cy="276860"/>
            </a:xfrm>
            <a:prstGeom prst="rect">
              <a:avLst/>
            </a:prstGeom>
            <a:noFill/>
            <a:ln>
              <a:noFill/>
            </a:ln>
          </p:spPr>
          <p:txBody>
            <a:bodyPr wrap="none" lIns="0" tIns="0" rIns="0" bIns="0" anchor="t" anchorCtr="0">
              <a:spAutoFit/>
            </a:bodyPr>
            <a:lstStyle/>
            <a:p>
              <a:pPr algn="ctr"/>
              <a:r>
                <a:rPr lang="zh-CN" sz="1800" b="1" dirty="0">
                  <a:solidFill>
                    <a:srgbClr val="00838F"/>
                  </a:solidFill>
                  <a:latin typeface="Segoe UI" panose="020B0502040204020203"/>
                  <a:ea typeface="微软雅黑" panose="020B0503020204020204" charset="-122"/>
                  <a:cs typeface="Segoe UI" panose="020B0502040204020203"/>
                </a:rPr>
                <a:t>AI为什么爱</a:t>
              </a:r>
              <a:r>
                <a:rPr lang="zh-CN" sz="1800" b="1" dirty="0">
                  <a:solidFill>
                    <a:srgbClr val="00838F"/>
                  </a:solidFill>
                  <a:latin typeface="Segoe UI" panose="020B0502040204020203"/>
                  <a:ea typeface="微软雅黑" panose="020B0503020204020204" charset="-122"/>
                  <a:cs typeface="Segoe UI" panose="020B0502040204020203"/>
                </a:rPr>
                <a:t>规范</a:t>
              </a:r>
              <a:endParaRPr lang="zh-CN" sz="1800" b="1" dirty="0">
                <a:solidFill>
                  <a:srgbClr val="00838F"/>
                </a:solidFill>
                <a:latin typeface="Segoe UI" panose="020B0502040204020203"/>
                <a:ea typeface="微软雅黑" panose="020B0503020204020204" charset="-122"/>
                <a:cs typeface="Segoe UI" panose="020B0502040204020203"/>
              </a:endParaRPr>
            </a:p>
          </p:txBody>
        </p:sp>
        <p:sp>
          <p:nvSpPr>
            <p:cNvPr id="30" name="Line 30"/>
            <p:cNvSpPr/>
            <p:nvPr/>
          </p:nvSpPr>
          <p:spPr>
            <a:xfrm>
              <a:off x="6667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33" name="Group 33"/>
            <p:cNvGrpSpPr/>
            <p:nvPr/>
          </p:nvGrpSpPr>
          <p:grpSpPr>
            <a:xfrm>
              <a:off x="6667500" y="1666875"/>
              <a:ext cx="4572000" cy="457200"/>
              <a:chOff x="6667500" y="1666875"/>
              <a:chExt cx="4572000" cy="457200"/>
            </a:xfrm>
          </p:grpSpPr>
          <p:sp>
            <p:nvSpPr>
              <p:cNvPr id="31" name="Rectangle 31"/>
              <p:cNvSpPr/>
              <p:nvPr/>
            </p:nvSpPr>
            <p:spPr>
              <a:xfrm>
                <a:off x="6667500" y="1666875"/>
                <a:ext cx="4572000" cy="457200"/>
              </a:xfrm>
              <a:prstGeom prst="roundRect">
                <a:avLst>
                  <a:gd name="adj" fmla="val 12500"/>
                </a:avLst>
              </a:prstGeom>
              <a:solidFill>
                <a:srgbClr val="00838F">
                  <a:alpha val="6000"/>
                </a:srgbClr>
              </a:solidFill>
              <a:ln>
                <a:noFill/>
              </a:ln>
            </p:spPr>
          </p:sp>
          <p:sp>
            <p:nvSpPr>
              <p:cNvPr id="32" name="TextBox 32"/>
              <p:cNvSpPr txBox="1"/>
              <p:nvPr/>
            </p:nvSpPr>
            <p:spPr>
              <a:xfrm>
                <a:off x="6843712" y="1831181"/>
                <a:ext cx="358401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AI守规则：AI天生遵守规则，无惰性、不抵触、不偷懒</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6667500" y="2238375"/>
              <a:ext cx="4572000" cy="457200"/>
              <a:chOff x="6667500" y="2238375"/>
              <a:chExt cx="4572000" cy="457200"/>
            </a:xfrm>
          </p:grpSpPr>
          <p:sp>
            <p:nvSpPr>
              <p:cNvPr id="34" name="Rectangle 34"/>
              <p:cNvSpPr/>
              <p:nvPr/>
            </p:nvSpPr>
            <p:spPr>
              <a:xfrm>
                <a:off x="6667500" y="2238375"/>
                <a:ext cx="4572000" cy="457200"/>
              </a:xfrm>
              <a:prstGeom prst="roundRect">
                <a:avLst>
                  <a:gd name="adj" fmla="val 12500"/>
                </a:avLst>
              </a:prstGeom>
              <a:solidFill>
                <a:srgbClr val="00838F">
                  <a:alpha val="6000"/>
                </a:srgbClr>
              </a:solidFill>
              <a:ln>
                <a:noFill/>
              </a:ln>
            </p:spPr>
          </p:sp>
          <p:sp>
            <p:nvSpPr>
              <p:cNvPr id="35" name="TextBox 35"/>
              <p:cNvSpPr txBox="1"/>
              <p:nvPr/>
            </p:nvSpPr>
            <p:spPr>
              <a:xfrm>
                <a:off x="6843712" y="2402681"/>
                <a:ext cx="418409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AI不怕文档：全流程留痕、标准化输出、量化度量正是AI的强项</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6667500" y="2809875"/>
              <a:ext cx="4572000" cy="457200"/>
              <a:chOff x="6667500" y="2809875"/>
              <a:chExt cx="4572000" cy="457200"/>
            </a:xfrm>
          </p:grpSpPr>
          <p:sp>
            <p:nvSpPr>
              <p:cNvPr id="37" name="Rectangle 37"/>
              <p:cNvSpPr/>
              <p:nvPr/>
            </p:nvSpPr>
            <p:spPr>
              <a:xfrm>
                <a:off x="6667500" y="2809875"/>
                <a:ext cx="4572000" cy="457200"/>
              </a:xfrm>
              <a:prstGeom prst="roundRect">
                <a:avLst>
                  <a:gd name="adj" fmla="val 12500"/>
                </a:avLst>
              </a:prstGeom>
              <a:solidFill>
                <a:srgbClr val="00838F">
                  <a:alpha val="6000"/>
                </a:srgbClr>
              </a:solidFill>
              <a:ln>
                <a:noFill/>
              </a:ln>
            </p:spPr>
          </p:sp>
          <p:sp>
            <p:nvSpPr>
              <p:cNvPr id="38" name="TextBox 38"/>
              <p:cNvSpPr txBox="1"/>
              <p:nvPr/>
            </p:nvSpPr>
            <p:spPr>
              <a:xfrm>
                <a:off x="6843712" y="2974181"/>
                <a:ext cx="365902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AI不抵触流程：严格执行每一个CMMI过程域的所有要求</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6667500" y="3381375"/>
              <a:ext cx="4572000" cy="457200"/>
              <a:chOff x="6667500" y="3381375"/>
              <a:chExt cx="4572000" cy="457200"/>
            </a:xfrm>
          </p:grpSpPr>
          <p:sp>
            <p:nvSpPr>
              <p:cNvPr id="40" name="Rectangle 40"/>
              <p:cNvSpPr/>
              <p:nvPr/>
            </p:nvSpPr>
            <p:spPr>
              <a:xfrm>
                <a:off x="6667500" y="3381375"/>
                <a:ext cx="4572000" cy="457200"/>
              </a:xfrm>
              <a:prstGeom prst="roundRect">
                <a:avLst>
                  <a:gd name="adj" fmla="val 12500"/>
                </a:avLst>
              </a:prstGeom>
              <a:solidFill>
                <a:srgbClr val="00838F">
                  <a:alpha val="6000"/>
                </a:srgbClr>
              </a:solidFill>
              <a:ln>
                <a:noFill/>
              </a:ln>
            </p:spPr>
          </p:sp>
          <p:sp>
            <p:nvSpPr>
              <p:cNvPr id="41" name="TextBox 41"/>
              <p:cNvSpPr txBox="1"/>
              <p:nvPr/>
            </p:nvSpPr>
            <p:spPr>
              <a:xfrm>
                <a:off x="6843712" y="3545681"/>
                <a:ext cx="391406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CMMI的本质：标准化、可度量、持续改进 —— AI的天然优势</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46" name="Group 46"/>
          <p:cNvGrpSpPr/>
          <p:nvPr/>
        </p:nvGrpSpPr>
        <p:grpSpPr>
          <a:xfrm>
            <a:off x="571500" y="4381500"/>
            <a:ext cx="11049000" cy="476250"/>
            <a:chOff x="571500" y="4381500"/>
            <a:chExt cx="11049000" cy="476250"/>
          </a:xfrm>
        </p:grpSpPr>
        <p:sp>
          <p:nvSpPr>
            <p:cNvPr id="44" name="Rectangle 44"/>
            <p:cNvSpPr/>
            <p:nvPr/>
          </p:nvSpPr>
          <p:spPr>
            <a:xfrm>
              <a:off x="571500" y="4381500"/>
              <a:ext cx="11049000" cy="476250"/>
            </a:xfrm>
            <a:prstGeom prst="roundRect">
              <a:avLst>
                <a:gd name="adj" fmla="val 16000"/>
              </a:avLst>
            </a:prstGeom>
            <a:solidFill>
              <a:srgbClr val="1565C0">
                <a:alpha val="6000"/>
              </a:srgbClr>
            </a:solidFill>
            <a:ln>
              <a:noFill/>
            </a:ln>
          </p:spPr>
        </p:sp>
        <p:sp>
          <p:nvSpPr>
            <p:cNvPr id="45" name="TextBox 45"/>
            <p:cNvSpPr txBox="1"/>
            <p:nvPr/>
          </p:nvSpPr>
          <p:spPr>
            <a:xfrm>
              <a:off x="2585923" y="4547235"/>
              <a:ext cx="7020154"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核心洞察：真相不是CMMI过时，而是人性拒绝CMMI的繁琐 —— AI恰好能轻松落地CMMI的全流程</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47" name="TextBox 47"/>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8" name="图片 47"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image">
                                      <p:cBhvr>
                                        <p:cTn id="7" dur="400"/>
                                        <p:tgtEl>
                                          <p:spTgt spid="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3" grpId="0"/>
      <p:bldP spid="4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70448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从OSSP到Harness：AI时代的软件过程演进之路</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571500" y="904875"/>
            <a:ext cx="11049000" cy="1333500"/>
            <a:chOff x="571500" y="904875"/>
            <a:chExt cx="11049000" cy="1333500"/>
          </a:xfrm>
        </p:grpSpPr>
        <p:sp>
          <p:nvSpPr>
            <p:cNvPr id="10" name="Rectangle 10"/>
            <p:cNvSpPr/>
            <p:nvPr/>
          </p:nvSpPr>
          <p:spPr>
            <a:xfrm>
              <a:off x="571500" y="904875"/>
              <a:ext cx="11049000" cy="1333500"/>
            </a:xfrm>
            <a:prstGeom prst="roundRect">
              <a:avLst>
                <a:gd name="adj" fmla="val 8571"/>
              </a:avLst>
            </a:prstGeom>
            <a:solidFill>
              <a:srgbClr val="FFFFFF"/>
            </a:solidFill>
            <a:ln>
              <a:noFill/>
            </a:ln>
          </p:spPr>
        </p:sp>
        <p:sp>
          <p:nvSpPr>
            <p:cNvPr id="11" name="Rectangle 11"/>
            <p:cNvSpPr/>
            <p:nvPr/>
          </p:nvSpPr>
          <p:spPr>
            <a:xfrm>
              <a:off x="571500" y="904875"/>
              <a:ext cx="57150" cy="1333500"/>
            </a:xfrm>
            <a:prstGeom prst="roundRect">
              <a:avLst>
                <a:gd name="adj" fmla="val 50000"/>
              </a:avLst>
            </a:prstGeom>
            <a:solidFill>
              <a:srgbClr val="FF6F00"/>
            </a:solidFill>
            <a:ln>
              <a:noFill/>
            </a:ln>
          </p:spPr>
        </p:sp>
        <p:sp>
          <p:nvSpPr>
            <p:cNvPr id="12" name="TextBox 12"/>
            <p:cNvSpPr txBox="1"/>
            <p:nvPr/>
          </p:nvSpPr>
          <p:spPr>
            <a:xfrm>
              <a:off x="931545" y="1107758"/>
              <a:ext cx="3438034" cy="335280"/>
            </a:xfrm>
            <a:prstGeom prst="rect">
              <a:avLst/>
            </a:prstGeom>
            <a:noFill/>
            <a:ln>
              <a:noFill/>
            </a:ln>
          </p:spPr>
          <p:txBody>
            <a:bodyPr wrap="none" lIns="0" tIns="0" rIns="0" bIns="0" anchor="t" anchorCtr="0">
              <a:spAutoFit/>
            </a:bodyPr>
            <a:lstStyle/>
            <a:p>
              <a:pPr algn="l"/>
              <a:r>
                <a:rPr lang="zh-CN" sz="1650" b="1" dirty="0">
                  <a:solidFill>
                    <a:srgbClr val="FF6F00"/>
                  </a:solidFill>
                  <a:latin typeface="Segoe UI" panose="020B0502040204020203"/>
                  <a:ea typeface="微软雅黑" panose="020B0503020204020204" charset="-122"/>
                  <a:cs typeface="Segoe UI" panose="020B0502040204020203"/>
                </a:rPr>
                <a:t>第三层：Harness（AI协同规则）</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8212" y="1497806"/>
              <a:ext cx="731198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将过程规范转化为AI可识别、可执行、可校验的结构化规则 —— 四大组件：Principles / Rules / Skills / Specs</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952500" y="1809750"/>
              <a:ext cx="4572000" cy="228600"/>
            </a:xfrm>
            <a:prstGeom prst="roundRect">
              <a:avLst>
                <a:gd name="adj" fmla="val 25000"/>
              </a:avLst>
            </a:prstGeom>
            <a:solidFill>
              <a:srgbClr val="FF6F00">
                <a:alpha val="8000"/>
              </a:srgbClr>
            </a:solidFill>
            <a:ln>
              <a:noFill/>
            </a:ln>
          </p:spPr>
        </p:sp>
        <p:sp>
          <p:nvSpPr>
            <p:cNvPr id="15" name="TextBox 15"/>
            <p:cNvSpPr txBox="1"/>
            <p:nvPr/>
          </p:nvSpPr>
          <p:spPr>
            <a:xfrm>
              <a:off x="1081088" y="1850231"/>
              <a:ext cx="3516511"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AI可执行 · 结构化 · 组织级-项目级-个人级三级分层</a:t>
              </a:r>
              <a:endParaRPr lang="zh-CN" sz="1125" dirty="0">
                <a:solidFill>
                  <a:srgbClr val="FF6F00"/>
                </a:solidFill>
                <a:latin typeface="Segoe UI" panose="020B0502040204020203"/>
                <a:ea typeface="微软雅黑" panose="020B0503020204020204" charset="-122"/>
                <a:cs typeface="Segoe UI" panose="020B0502040204020203"/>
              </a:endParaRPr>
            </a:p>
          </p:txBody>
        </p:sp>
      </p:grpSp>
      <p:sp>
        <p:nvSpPr>
          <p:cNvPr id="17" name="TextBox 17"/>
          <p:cNvSpPr txBox="1"/>
          <p:nvPr/>
        </p:nvSpPr>
        <p:spPr>
          <a:xfrm>
            <a:off x="4658820" y="229743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571500" y="2714625"/>
            <a:ext cx="11049000" cy="1333500"/>
            <a:chOff x="571500" y="2714625"/>
            <a:chExt cx="11049000" cy="1333500"/>
          </a:xfrm>
        </p:grpSpPr>
        <p:sp>
          <p:nvSpPr>
            <p:cNvPr id="18" name="Rectangle 18"/>
            <p:cNvSpPr/>
            <p:nvPr/>
          </p:nvSpPr>
          <p:spPr>
            <a:xfrm>
              <a:off x="571500" y="2714625"/>
              <a:ext cx="11049000" cy="1333500"/>
            </a:xfrm>
            <a:prstGeom prst="roundRect">
              <a:avLst>
                <a:gd name="adj" fmla="val 8571"/>
              </a:avLst>
            </a:prstGeom>
            <a:solidFill>
              <a:srgbClr val="FFFFFF"/>
            </a:solidFill>
            <a:ln>
              <a:noFill/>
            </a:ln>
          </p:spPr>
        </p:sp>
        <p:sp>
          <p:nvSpPr>
            <p:cNvPr id="19" name="Rectangle 19"/>
            <p:cNvSpPr/>
            <p:nvPr/>
          </p:nvSpPr>
          <p:spPr>
            <a:xfrm>
              <a:off x="571500" y="2714625"/>
              <a:ext cx="57150" cy="1333500"/>
            </a:xfrm>
            <a:prstGeom prst="roundRect">
              <a:avLst>
                <a:gd name="adj" fmla="val 50000"/>
              </a:avLst>
            </a:prstGeom>
            <a:solidFill>
              <a:srgbClr val="00838F"/>
            </a:solidFill>
            <a:ln>
              <a:noFill/>
            </a:ln>
          </p:spPr>
        </p:sp>
        <p:sp>
          <p:nvSpPr>
            <p:cNvPr id="20" name="TextBox 20"/>
            <p:cNvSpPr txBox="1"/>
            <p:nvPr/>
          </p:nvSpPr>
          <p:spPr>
            <a:xfrm>
              <a:off x="931545" y="2917508"/>
              <a:ext cx="3195454" cy="335280"/>
            </a:xfrm>
            <a:prstGeom prst="rect">
              <a:avLst/>
            </a:prstGeom>
            <a:noFill/>
            <a:ln>
              <a:noFill/>
            </a:ln>
          </p:spPr>
          <p:txBody>
            <a:bodyPr wrap="none" lIns="0" tIns="0" rIns="0" bIns="0" anchor="t" anchorCtr="0">
              <a:spAutoFit/>
            </a:bodyPr>
            <a:lstStyle/>
            <a:p>
              <a:pPr algn="l"/>
              <a:r>
                <a:rPr lang="zh-CN" sz="1650" b="1" dirty="0">
                  <a:solidFill>
                    <a:srgbClr val="00838F"/>
                  </a:solidFill>
                  <a:latin typeface="Segoe UI" panose="020B0502040204020203"/>
                  <a:ea typeface="微软雅黑" panose="020B0503020204020204" charset="-122"/>
                  <a:cs typeface="Segoe UI" panose="020B0502040204020203"/>
                </a:rPr>
                <a:t>第二层：PDP（项目定制流程）</a:t>
              </a:r>
              <a:endParaRPr lang="zh-CN" sz="1650" b="1" dirty="0">
                <a:solidFill>
                  <a:srgbClr val="00838F"/>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307556"/>
              <a:ext cx="567678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基于OSSP的项目柔性适配 —— 支持重装/轻装双模式，根据项目类型灵活调整过程资产</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952500" y="3619500"/>
              <a:ext cx="3810000" cy="228600"/>
            </a:xfrm>
            <a:prstGeom prst="roundRect">
              <a:avLst>
                <a:gd name="adj" fmla="val 25000"/>
              </a:avLst>
            </a:prstGeom>
            <a:solidFill>
              <a:srgbClr val="00838F">
                <a:alpha val="8000"/>
              </a:srgbClr>
            </a:solidFill>
            <a:ln>
              <a:noFill/>
            </a:ln>
          </p:spPr>
        </p:sp>
        <p:sp>
          <p:nvSpPr>
            <p:cNvPr id="23" name="TextBox 23"/>
            <p:cNvSpPr txBox="1"/>
            <p:nvPr/>
          </p:nvSpPr>
          <p:spPr>
            <a:xfrm>
              <a:off x="1081088" y="3659981"/>
              <a:ext cx="3201472" cy="228600"/>
            </a:xfrm>
            <a:prstGeom prst="rect">
              <a:avLst/>
            </a:prstGeom>
            <a:noFill/>
            <a:ln>
              <a:noFill/>
            </a:ln>
          </p:spPr>
          <p:txBody>
            <a:bodyPr wrap="none" lIns="0" tIns="0" rIns="0" bIns="0" anchor="t" anchorCtr="0">
              <a:spAutoFit/>
            </a:bodyPr>
            <a:lstStyle/>
            <a:p>
              <a:pPr algn="l"/>
              <a:r>
                <a:rPr lang="zh-CN" sz="1125" dirty="0">
                  <a:solidFill>
                    <a:srgbClr val="00838F"/>
                  </a:solidFill>
                  <a:latin typeface="Segoe UI" panose="020B0502040204020203"/>
                  <a:ea typeface="微软雅黑" panose="020B0503020204020204" charset="-122"/>
                  <a:cs typeface="Segoe UI" panose="020B0502040204020203"/>
                </a:rPr>
                <a:t>重装模式（全量过程） · 轻装模式（裁剪过程）</a:t>
              </a:r>
              <a:endParaRPr lang="zh-CN" sz="1125" dirty="0">
                <a:solidFill>
                  <a:srgbClr val="00838F"/>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4658820" y="410718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571500" y="4524375"/>
            <a:ext cx="11049000" cy="1333500"/>
            <a:chOff x="571500" y="4524375"/>
            <a:chExt cx="11049000" cy="1333500"/>
          </a:xfrm>
        </p:grpSpPr>
        <p:sp>
          <p:nvSpPr>
            <p:cNvPr id="26" name="Rectangle 26"/>
            <p:cNvSpPr/>
            <p:nvPr/>
          </p:nvSpPr>
          <p:spPr>
            <a:xfrm>
              <a:off x="571500" y="4524375"/>
              <a:ext cx="11049000" cy="1333500"/>
            </a:xfrm>
            <a:prstGeom prst="roundRect">
              <a:avLst>
                <a:gd name="adj" fmla="val 8571"/>
              </a:avLst>
            </a:prstGeom>
            <a:solidFill>
              <a:srgbClr val="FFFFFF"/>
            </a:solidFill>
            <a:ln>
              <a:noFill/>
            </a:ln>
          </p:spPr>
        </p:sp>
        <p:sp>
          <p:nvSpPr>
            <p:cNvPr id="27" name="Rectangle 27"/>
            <p:cNvSpPr/>
            <p:nvPr/>
          </p:nvSpPr>
          <p:spPr>
            <a:xfrm>
              <a:off x="571500" y="4524375"/>
              <a:ext cx="57150" cy="1333500"/>
            </a:xfrm>
            <a:prstGeom prst="roundRect">
              <a:avLst>
                <a:gd name="adj" fmla="val 50000"/>
              </a:avLst>
            </a:prstGeom>
            <a:solidFill>
              <a:srgbClr val="1565C0"/>
            </a:solidFill>
            <a:ln>
              <a:noFill/>
            </a:ln>
          </p:spPr>
        </p:sp>
        <p:sp>
          <p:nvSpPr>
            <p:cNvPr id="28" name="TextBox 28"/>
            <p:cNvSpPr txBox="1"/>
            <p:nvPr/>
          </p:nvSpPr>
          <p:spPr>
            <a:xfrm>
              <a:off x="931545" y="4727258"/>
              <a:ext cx="3368726"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Segoe UI" panose="020B0502040204020203"/>
                  <a:ea typeface="微软雅黑" panose="020B0503020204020204" charset="-122"/>
                  <a:cs typeface="Segoe UI" panose="020B0502040204020203"/>
                </a:rPr>
                <a:t>第一层：OSSP（组织标准流程）</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38212" y="5117306"/>
              <a:ext cx="478416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企业通用研发基线 —— 定义组织级的软件工程标准，覆盖所有关键过程域</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952500" y="5429250"/>
              <a:ext cx="3429000" cy="228600"/>
            </a:xfrm>
            <a:prstGeom prst="roundRect">
              <a:avLst>
                <a:gd name="adj" fmla="val 25000"/>
              </a:avLst>
            </a:prstGeom>
            <a:solidFill>
              <a:srgbClr val="1565C0">
                <a:alpha val="8000"/>
              </a:srgbClr>
            </a:solidFill>
            <a:ln>
              <a:noFill/>
            </a:ln>
          </p:spPr>
        </p:sp>
        <p:sp>
          <p:nvSpPr>
            <p:cNvPr id="31" name="TextBox 31"/>
            <p:cNvSpPr txBox="1"/>
            <p:nvPr/>
          </p:nvSpPr>
          <p:spPr>
            <a:xfrm>
              <a:off x="1081088" y="5469731"/>
              <a:ext cx="2473881"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Segoe UI" panose="020B0502040204020203"/>
                  <a:ea typeface="微软雅黑" panose="020B0503020204020204" charset="-122"/>
                  <a:cs typeface="Segoe UI" panose="020B0502040204020203"/>
                </a:rPr>
                <a:t>组织基线 · 通用标准 · 过程资产沉淀</a:t>
              </a:r>
              <a:endParaRPr lang="zh-CN" sz="1125" dirty="0">
                <a:solidFill>
                  <a:srgbClr val="1565C0"/>
                </a:solidFill>
                <a:latin typeface="Segoe UI" panose="020B0502040204020203"/>
                <a:ea typeface="微软雅黑" panose="020B0503020204020204" charset="-122"/>
                <a:cs typeface="Segoe UI" panose="020B0502040204020203"/>
              </a:endParaRPr>
            </a:p>
          </p:txBody>
        </p:sp>
      </p:grpSp>
      <p:sp>
        <p:nvSpPr>
          <p:cNvPr id="33" name="TextBox 3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Bottom)">
                                      <p:cBhvr>
                                        <p:cTn id="7" dur="400"/>
                                        <p:tgtEl>
                                          <p:spTgt spid="16"/>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image">
                                      <p:cBhvr>
                                        <p:cTn id="11" dur="400"/>
                                        <p:tgtEl>
                                          <p:spTgt spid="2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91617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Harness成熟度模型（HMM）：如何度量你的人机协作体系（一）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4" name="Group 14"/>
          <p:cNvGrpSpPr/>
          <p:nvPr/>
        </p:nvGrpSpPr>
        <p:grpSpPr>
          <a:xfrm>
            <a:off x="571500" y="904875"/>
            <a:ext cx="11049000" cy="552450"/>
            <a:chOff x="571500" y="904875"/>
            <a:chExt cx="11049000" cy="552450"/>
          </a:xfrm>
        </p:grpSpPr>
        <p:sp>
          <p:nvSpPr>
            <p:cNvPr id="10" name="Rectangle 10"/>
            <p:cNvSpPr/>
            <p:nvPr/>
          </p:nvSpPr>
          <p:spPr>
            <a:xfrm>
              <a:off x="571500" y="904875"/>
              <a:ext cx="11049000" cy="552450"/>
            </a:xfrm>
            <a:prstGeom prst="roundRect">
              <a:avLst>
                <a:gd name="adj" fmla="val 17241"/>
              </a:avLst>
            </a:prstGeom>
            <a:solidFill>
              <a:srgbClr val="FFFFFF"/>
            </a:solidFill>
            <a:ln>
              <a:noFill/>
            </a:ln>
          </p:spPr>
        </p:sp>
        <p:sp>
          <p:nvSpPr>
            <p:cNvPr id="11" name="Rectangle 11"/>
            <p:cNvSpPr/>
            <p:nvPr/>
          </p:nvSpPr>
          <p:spPr>
            <a:xfrm>
              <a:off x="571500" y="904875"/>
              <a:ext cx="57150" cy="552450"/>
            </a:xfrm>
            <a:prstGeom prst="roundRect">
              <a:avLst>
                <a:gd name="adj" fmla="val 50000"/>
              </a:avLst>
            </a:prstGeom>
            <a:solidFill>
              <a:srgbClr val="90A4AE"/>
            </a:solidFill>
            <a:ln>
              <a:noFill/>
            </a:ln>
          </p:spPr>
        </p:sp>
        <p:sp>
          <p:nvSpPr>
            <p:cNvPr id="12" name="TextBox 12"/>
            <p:cNvSpPr txBox="1"/>
            <p:nvPr/>
          </p:nvSpPr>
          <p:spPr>
            <a:xfrm>
              <a:off x="933450" y="1076325"/>
              <a:ext cx="962216" cy="304800"/>
            </a:xfrm>
            <a:prstGeom prst="rect">
              <a:avLst/>
            </a:prstGeom>
            <a:noFill/>
            <a:ln>
              <a:noFill/>
            </a:ln>
          </p:spPr>
          <p:txBody>
            <a:bodyPr wrap="none" lIns="0" tIns="0" rIns="0" bIns="0" anchor="t" anchorCtr="0">
              <a:spAutoFit/>
            </a:bodyPr>
            <a:lstStyle/>
            <a:p>
              <a:pPr algn="l"/>
              <a:r>
                <a:rPr lang="zh-CN" sz="1500" b="1" dirty="0">
                  <a:solidFill>
                    <a:srgbClr val="90A4AE"/>
                  </a:solidFill>
                  <a:latin typeface="Segoe UI" panose="020B0502040204020203"/>
                  <a:ea typeface="微软雅黑" panose="020B0503020204020204" charset="-122"/>
                  <a:cs typeface="Segoe UI" panose="020B0502040204020203"/>
                </a:rPr>
                <a:t>L1 初始级</a:t>
              </a:r>
              <a:endParaRPr lang="zh-CN" sz="1500" b="1" dirty="0">
                <a:solidFill>
                  <a:srgbClr val="90A4AE"/>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2462212" y="1116806"/>
              <a:ext cx="330648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个人英雄主义，无统一规范，AI使用全靠个人能力</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571500" y="1600200"/>
            <a:ext cx="11049000" cy="552450"/>
            <a:chOff x="571500" y="1600200"/>
            <a:chExt cx="11049000" cy="552450"/>
          </a:xfrm>
        </p:grpSpPr>
        <p:sp>
          <p:nvSpPr>
            <p:cNvPr id="15" name="Rectangle 15"/>
            <p:cNvSpPr/>
            <p:nvPr/>
          </p:nvSpPr>
          <p:spPr>
            <a:xfrm>
              <a:off x="571500" y="1600200"/>
              <a:ext cx="11049000" cy="552450"/>
            </a:xfrm>
            <a:prstGeom prst="roundRect">
              <a:avLst>
                <a:gd name="adj" fmla="val 17241"/>
              </a:avLst>
            </a:prstGeom>
            <a:solidFill>
              <a:srgbClr val="FFFFFF"/>
            </a:solidFill>
            <a:ln>
              <a:noFill/>
            </a:ln>
          </p:spPr>
        </p:sp>
        <p:sp>
          <p:nvSpPr>
            <p:cNvPr id="16" name="Rectangle 16"/>
            <p:cNvSpPr/>
            <p:nvPr/>
          </p:nvSpPr>
          <p:spPr>
            <a:xfrm>
              <a:off x="571500" y="1600200"/>
              <a:ext cx="57150" cy="552450"/>
            </a:xfrm>
            <a:prstGeom prst="roundRect">
              <a:avLst>
                <a:gd name="adj" fmla="val 50000"/>
              </a:avLst>
            </a:prstGeom>
            <a:solidFill>
              <a:srgbClr val="CFD8DC"/>
            </a:solidFill>
            <a:ln>
              <a:noFill/>
            </a:ln>
          </p:spPr>
        </p:sp>
        <p:sp>
          <p:nvSpPr>
            <p:cNvPr id="17" name="TextBox 17"/>
            <p:cNvSpPr txBox="1"/>
            <p:nvPr/>
          </p:nvSpPr>
          <p:spPr>
            <a:xfrm>
              <a:off x="933450" y="1771650"/>
              <a:ext cx="1172242" cy="304800"/>
            </a:xfrm>
            <a:prstGeom prst="rect">
              <a:avLst/>
            </a:prstGeom>
            <a:noFill/>
            <a:ln>
              <a:noFill/>
            </a:ln>
          </p:spPr>
          <p:txBody>
            <a:bodyPr wrap="none" lIns="0" tIns="0" rIns="0" bIns="0" anchor="t" anchorCtr="0">
              <a:spAutoFit/>
            </a:bodyPr>
            <a:lstStyle/>
            <a:p>
              <a:pPr algn="l"/>
              <a:r>
                <a:rPr lang="zh-CN" sz="1500" b="1" dirty="0">
                  <a:solidFill>
                    <a:srgbClr val="546E7A"/>
                  </a:solidFill>
                  <a:latin typeface="Segoe UI" panose="020B0502040204020203"/>
                  <a:ea typeface="微软雅黑" panose="020B0503020204020204" charset="-122"/>
                  <a:cs typeface="Segoe UI" panose="020B0502040204020203"/>
                </a:rPr>
                <a:t>L2 可管理级</a:t>
              </a:r>
              <a:endParaRPr lang="zh-CN" sz="1500" b="1"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2462212" y="1812131"/>
              <a:ext cx="473166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项目级规则初现，团队开始共享Prompt和Skill，AI使用从个人走向团队</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4" name="Group 24"/>
          <p:cNvGrpSpPr/>
          <p:nvPr/>
        </p:nvGrpSpPr>
        <p:grpSpPr>
          <a:xfrm>
            <a:off x="571500" y="2295525"/>
            <a:ext cx="11049000" cy="552450"/>
            <a:chOff x="571500" y="2295525"/>
            <a:chExt cx="11049000" cy="552450"/>
          </a:xfrm>
        </p:grpSpPr>
        <p:sp>
          <p:nvSpPr>
            <p:cNvPr id="20" name="Rectangle 20"/>
            <p:cNvSpPr/>
            <p:nvPr/>
          </p:nvSpPr>
          <p:spPr>
            <a:xfrm>
              <a:off x="571500" y="2295525"/>
              <a:ext cx="11049000" cy="552450"/>
            </a:xfrm>
            <a:prstGeom prst="roundRect">
              <a:avLst>
                <a:gd name="adj" fmla="val 17241"/>
              </a:avLst>
            </a:prstGeom>
            <a:solidFill>
              <a:srgbClr val="FFFFFF"/>
            </a:solidFill>
            <a:ln>
              <a:noFill/>
            </a:ln>
          </p:spPr>
        </p:sp>
        <p:sp>
          <p:nvSpPr>
            <p:cNvPr id="21" name="Rectangle 21"/>
            <p:cNvSpPr/>
            <p:nvPr/>
          </p:nvSpPr>
          <p:spPr>
            <a:xfrm>
              <a:off x="571500" y="2295525"/>
              <a:ext cx="57150" cy="552450"/>
            </a:xfrm>
            <a:prstGeom prst="roundRect">
              <a:avLst>
                <a:gd name="adj" fmla="val 50000"/>
              </a:avLst>
            </a:prstGeom>
            <a:solidFill>
              <a:srgbClr val="00838F"/>
            </a:solidFill>
            <a:ln>
              <a:noFill/>
            </a:ln>
          </p:spPr>
        </p:sp>
        <p:sp>
          <p:nvSpPr>
            <p:cNvPr id="22" name="TextBox 22"/>
            <p:cNvSpPr txBox="1"/>
            <p:nvPr/>
          </p:nvSpPr>
          <p:spPr>
            <a:xfrm>
              <a:off x="933450" y="2466975"/>
              <a:ext cx="1172242" cy="304800"/>
            </a:xfrm>
            <a:prstGeom prst="rect">
              <a:avLst/>
            </a:prstGeom>
            <a:noFill/>
            <a:ln>
              <a:noFill/>
            </a:ln>
          </p:spPr>
          <p:txBody>
            <a:bodyPr wrap="none" lIns="0" tIns="0" rIns="0" bIns="0" anchor="t" anchorCtr="0">
              <a:spAutoFit/>
            </a:bodyPr>
            <a:lstStyle/>
            <a:p>
              <a:pPr algn="l"/>
              <a:r>
                <a:rPr lang="zh-CN" sz="1500" b="1" dirty="0">
                  <a:solidFill>
                    <a:srgbClr val="00838F"/>
                  </a:solidFill>
                  <a:latin typeface="Segoe UI" panose="020B0502040204020203"/>
                  <a:ea typeface="微软雅黑" panose="020B0503020204020204" charset="-122"/>
                  <a:cs typeface="Segoe UI" panose="020B0502040204020203"/>
                </a:rPr>
                <a:t>L3 已定义级</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2462212" y="2507456"/>
              <a:ext cx="431161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组织级标准确立 —— 统一的Skill库和知识库，标准化的AI协作流程</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571500" y="2990850"/>
            <a:ext cx="11049000" cy="552450"/>
            <a:chOff x="571500" y="2990850"/>
            <a:chExt cx="11049000" cy="552450"/>
          </a:xfrm>
        </p:grpSpPr>
        <p:sp>
          <p:nvSpPr>
            <p:cNvPr id="25" name="Rectangle 25"/>
            <p:cNvSpPr/>
            <p:nvPr/>
          </p:nvSpPr>
          <p:spPr>
            <a:xfrm>
              <a:off x="571500" y="2990850"/>
              <a:ext cx="11049000" cy="552450"/>
            </a:xfrm>
            <a:prstGeom prst="roundRect">
              <a:avLst>
                <a:gd name="adj" fmla="val 17241"/>
              </a:avLst>
            </a:prstGeom>
            <a:solidFill>
              <a:srgbClr val="FFFFFF"/>
            </a:solidFill>
            <a:ln>
              <a:noFill/>
            </a:ln>
          </p:spPr>
        </p:sp>
        <p:sp>
          <p:nvSpPr>
            <p:cNvPr id="26" name="Rectangle 26"/>
            <p:cNvSpPr/>
            <p:nvPr/>
          </p:nvSpPr>
          <p:spPr>
            <a:xfrm>
              <a:off x="571500" y="2990850"/>
              <a:ext cx="57150" cy="552450"/>
            </a:xfrm>
            <a:prstGeom prst="roundRect">
              <a:avLst>
                <a:gd name="adj" fmla="val 50000"/>
              </a:avLst>
            </a:prstGeom>
            <a:solidFill>
              <a:srgbClr val="1565C0"/>
            </a:solidFill>
            <a:ln>
              <a:noFill/>
            </a:ln>
          </p:spPr>
        </p:sp>
        <p:sp>
          <p:nvSpPr>
            <p:cNvPr id="27" name="TextBox 27"/>
            <p:cNvSpPr txBox="1"/>
            <p:nvPr/>
          </p:nvSpPr>
          <p:spPr>
            <a:xfrm>
              <a:off x="933450" y="3162300"/>
              <a:ext cx="1382268" cy="304800"/>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L4 量化管理级</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2462212" y="3202781"/>
              <a:ext cx="431161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数据驱动持续优化 —— 度量AI协作效率，量化质量指标，建立基线</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571500" y="3686175"/>
            <a:ext cx="11049000" cy="552450"/>
            <a:chOff x="571500" y="3686175"/>
            <a:chExt cx="11049000" cy="552450"/>
          </a:xfrm>
        </p:grpSpPr>
        <p:sp>
          <p:nvSpPr>
            <p:cNvPr id="30" name="Rectangle 30"/>
            <p:cNvSpPr/>
            <p:nvPr/>
          </p:nvSpPr>
          <p:spPr>
            <a:xfrm>
              <a:off x="571500" y="3686175"/>
              <a:ext cx="11049000" cy="552450"/>
            </a:xfrm>
            <a:prstGeom prst="roundRect">
              <a:avLst>
                <a:gd name="adj" fmla="val 17241"/>
              </a:avLst>
            </a:prstGeom>
            <a:solidFill>
              <a:srgbClr val="FFFFFF"/>
            </a:solidFill>
            <a:ln>
              <a:noFill/>
            </a:ln>
          </p:spPr>
        </p:sp>
        <p:sp>
          <p:nvSpPr>
            <p:cNvPr id="31" name="Rectangle 31"/>
            <p:cNvSpPr/>
            <p:nvPr/>
          </p:nvSpPr>
          <p:spPr>
            <a:xfrm>
              <a:off x="571500" y="3686175"/>
              <a:ext cx="57150" cy="552450"/>
            </a:xfrm>
            <a:prstGeom prst="roundRect">
              <a:avLst>
                <a:gd name="adj" fmla="val 50000"/>
              </a:avLst>
            </a:prstGeom>
            <a:solidFill>
              <a:srgbClr val="FF6F00"/>
            </a:solidFill>
            <a:ln>
              <a:noFill/>
            </a:ln>
          </p:spPr>
        </p:sp>
        <p:sp>
          <p:nvSpPr>
            <p:cNvPr id="32" name="TextBox 32"/>
            <p:cNvSpPr txBox="1"/>
            <p:nvPr/>
          </p:nvSpPr>
          <p:spPr>
            <a:xfrm>
              <a:off x="933450" y="3857625"/>
              <a:ext cx="962216" cy="304800"/>
            </a:xfrm>
            <a:prstGeom prst="rect">
              <a:avLst/>
            </a:prstGeom>
            <a:noFill/>
            <a:ln>
              <a:noFill/>
            </a:ln>
          </p:spPr>
          <p:txBody>
            <a:bodyPr wrap="none" lIns="0" tIns="0" rIns="0" bIns="0" anchor="t" anchorCtr="0">
              <a:spAutoFit/>
            </a:bodyPr>
            <a:lstStyle/>
            <a:p>
              <a:pPr algn="l"/>
              <a:r>
                <a:rPr lang="zh-CN" sz="1500" b="1" dirty="0">
                  <a:solidFill>
                    <a:srgbClr val="FF6F00"/>
                  </a:solidFill>
                  <a:latin typeface="Segoe UI" panose="020B0502040204020203"/>
                  <a:ea typeface="微软雅黑" panose="020B0503020204020204" charset="-122"/>
                  <a:cs typeface="Segoe UI" panose="020B0502040204020203"/>
                </a:rPr>
                <a:t>L5 优化级</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2462212" y="3898106"/>
              <a:ext cx="503920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AI自驱动演进 —— AI主动识别改进机会，自动更新规则和Skill，持续自我优化</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571500" y="4524375"/>
            <a:ext cx="11049000" cy="666750"/>
            <a:chOff x="571500" y="4524375"/>
            <a:chExt cx="11049000" cy="666750"/>
          </a:xfrm>
        </p:grpSpPr>
        <p:sp>
          <p:nvSpPr>
            <p:cNvPr id="35" name="Rectangle 35"/>
            <p:cNvSpPr/>
            <p:nvPr/>
          </p:nvSpPr>
          <p:spPr>
            <a:xfrm>
              <a:off x="571500" y="4524375"/>
              <a:ext cx="11049000" cy="666750"/>
            </a:xfrm>
            <a:prstGeom prst="roundRect">
              <a:avLst>
                <a:gd name="adj" fmla="val 17143"/>
              </a:avLst>
            </a:prstGeom>
            <a:solidFill>
              <a:srgbClr val="1565C0">
                <a:alpha val="6000"/>
              </a:srgbClr>
            </a:solidFill>
            <a:ln>
              <a:noFill/>
            </a:ln>
          </p:spPr>
        </p:sp>
        <p:sp>
          <p:nvSpPr>
            <p:cNvPr id="36" name="TextBox 36"/>
            <p:cNvSpPr txBox="1"/>
            <p:nvPr/>
          </p:nvSpPr>
          <p:spPr>
            <a:xfrm>
              <a:off x="936308" y="4701064"/>
              <a:ext cx="746474"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关键洞察</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938212" y="4955381"/>
              <a:ext cx="795706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HMM衡量的是组织在AI协作方面的成熟度 —— 从L1的"个人英雄主义"到L5的"AI自驱动演进"，每一步都有明确的升级路径</a:t>
              </a:r>
              <a:endParaRPr lang="zh-CN" sz="1125" dirty="0">
                <a:solidFill>
                  <a:srgbClr val="263238"/>
                </a:solidFill>
                <a:latin typeface="Segoe UI" panose="020B0502040204020203"/>
                <a:ea typeface="微软雅黑" panose="020B0503020204020204" charset="-122"/>
                <a:cs typeface="Segoe UI" panose="020B0502040204020203"/>
              </a:endParaRPr>
            </a:p>
          </p:txBody>
        </p:sp>
      </p:grpSp>
      <p:sp>
        <p:nvSpPr>
          <p:cNvPr id="39" name="TextBox 3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0" name="图片 3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400"/>
                                        <p:tgtEl>
                                          <p:spTgt spid="1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Bottom)">
                                      <p:cBhvr>
                                        <p:cTn id="11" dur="400"/>
                                        <p:tgtEl>
                                          <p:spTgt spid="19"/>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image">
                                      <p:cBhvr>
                                        <p:cTn id="15" dur="400"/>
                                        <p:tgtEl>
                                          <p:spTgt spid="2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left)">
                                      <p:cBhvr>
                                        <p:cTn id="23" dur="400"/>
                                        <p:tgtEl>
                                          <p:spTgt spid="34"/>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4" grpId="0"/>
      <p:bldP spid="29" grpId="0"/>
      <p:bldP spid="34" grpId="0"/>
      <p:bldP spid="3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506627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Harness成熟度模型（HMM）（二）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0" name="Group 30"/>
          <p:cNvGrpSpPr/>
          <p:nvPr/>
        </p:nvGrpSpPr>
        <p:grpSpPr>
          <a:xfrm>
            <a:off x="571500" y="904875"/>
            <a:ext cx="5334000" cy="3619500"/>
            <a:chOff x="571500" y="904875"/>
            <a:chExt cx="5334000" cy="3619500"/>
          </a:xfrm>
        </p:grpSpPr>
        <p:sp>
          <p:nvSpPr>
            <p:cNvPr id="10" name="Rectangle 10"/>
            <p:cNvSpPr/>
            <p:nvPr/>
          </p:nvSpPr>
          <p:spPr>
            <a:xfrm>
              <a:off x="571500" y="904875"/>
              <a:ext cx="5334000" cy="3619500"/>
            </a:xfrm>
            <a:prstGeom prst="roundRect">
              <a:avLst>
                <a:gd name="adj" fmla="val 3158"/>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589371" y="1123950"/>
              <a:ext cx="1298258"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panose="020B0503020204020204" charset="-122"/>
                  <a:cs typeface="Segoe UI" panose="020B0502040204020203"/>
                </a:rPr>
                <a:t>每级关键能力</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428750"/>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16" name="Group 16"/>
            <p:cNvGrpSpPr/>
            <p:nvPr/>
          </p:nvGrpSpPr>
          <p:grpSpPr>
            <a:xfrm>
              <a:off x="762000" y="1619250"/>
              <a:ext cx="4953000" cy="361950"/>
              <a:chOff x="762000" y="1619250"/>
              <a:chExt cx="4953000" cy="361950"/>
            </a:xfrm>
          </p:grpSpPr>
          <p:sp>
            <p:nvSpPr>
              <p:cNvPr id="14" name="Rectangle 14"/>
              <p:cNvSpPr/>
              <p:nvPr/>
            </p:nvSpPr>
            <p:spPr>
              <a:xfrm>
                <a:off x="762000" y="1619250"/>
                <a:ext cx="4953000" cy="361950"/>
              </a:xfrm>
              <a:prstGeom prst="roundRect">
                <a:avLst>
                  <a:gd name="adj" fmla="val 15789"/>
                </a:avLst>
              </a:prstGeom>
              <a:solidFill>
                <a:srgbClr val="90A4AE">
                  <a:alpha val="8000"/>
                </a:srgbClr>
              </a:solidFill>
              <a:ln>
                <a:noFill/>
              </a:ln>
            </p:spPr>
          </p:sp>
          <p:sp>
            <p:nvSpPr>
              <p:cNvPr id="15" name="TextBox 15"/>
              <p:cNvSpPr txBox="1"/>
              <p:nvPr/>
            </p:nvSpPr>
            <p:spPr>
              <a:xfrm>
                <a:off x="937260" y="1727835"/>
                <a:ext cx="2926842"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L1→L2: 建立统一Prompt模板和Skill仓库</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762000" y="2095500"/>
              <a:ext cx="4953000" cy="361950"/>
              <a:chOff x="762000" y="2095500"/>
              <a:chExt cx="4953000" cy="361950"/>
            </a:xfrm>
          </p:grpSpPr>
          <p:sp>
            <p:nvSpPr>
              <p:cNvPr id="17" name="Rectangle 17"/>
              <p:cNvSpPr/>
              <p:nvPr/>
            </p:nvSpPr>
            <p:spPr>
              <a:xfrm>
                <a:off x="762000" y="2095500"/>
                <a:ext cx="4953000" cy="361950"/>
              </a:xfrm>
              <a:prstGeom prst="roundRect">
                <a:avLst>
                  <a:gd name="adj" fmla="val 15789"/>
                </a:avLst>
              </a:prstGeom>
              <a:solidFill>
                <a:srgbClr val="CFD8DC">
                  <a:alpha val="15000"/>
                </a:srgbClr>
              </a:solidFill>
              <a:ln>
                <a:noFill/>
              </a:ln>
            </p:spPr>
          </p:sp>
          <p:sp>
            <p:nvSpPr>
              <p:cNvPr id="18" name="TextBox 18"/>
              <p:cNvSpPr txBox="1"/>
              <p:nvPr/>
            </p:nvSpPr>
            <p:spPr>
              <a:xfrm>
                <a:off x="937260" y="2204085"/>
                <a:ext cx="2982849"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L2→L3: 制定组织级AI协作标准和度量体系</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762000" y="2571750"/>
              <a:ext cx="4953000" cy="361950"/>
              <a:chOff x="762000" y="2571750"/>
              <a:chExt cx="4953000" cy="361950"/>
            </a:xfrm>
          </p:grpSpPr>
          <p:sp>
            <p:nvSpPr>
              <p:cNvPr id="20" name="Rectangle 20"/>
              <p:cNvSpPr/>
              <p:nvPr/>
            </p:nvSpPr>
            <p:spPr>
              <a:xfrm>
                <a:off x="762000" y="2571750"/>
                <a:ext cx="4953000" cy="361950"/>
              </a:xfrm>
              <a:prstGeom prst="roundRect">
                <a:avLst>
                  <a:gd name="adj" fmla="val 15789"/>
                </a:avLst>
              </a:prstGeom>
              <a:solidFill>
                <a:srgbClr val="00838F">
                  <a:alpha val="8000"/>
                </a:srgbClr>
              </a:solidFill>
              <a:ln>
                <a:noFill/>
              </a:ln>
            </p:spPr>
          </p:sp>
          <p:sp>
            <p:nvSpPr>
              <p:cNvPr id="21" name="TextBox 21"/>
              <p:cNvSpPr txBox="1"/>
              <p:nvPr/>
            </p:nvSpPr>
            <p:spPr>
              <a:xfrm>
                <a:off x="937260" y="2680335"/>
                <a:ext cx="3486912"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L3→L4: 数据采集和分析基础设施、量化基线建立</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762000" y="3048000"/>
              <a:ext cx="4953000" cy="361950"/>
              <a:chOff x="762000" y="3048000"/>
              <a:chExt cx="4953000" cy="361950"/>
            </a:xfrm>
          </p:grpSpPr>
          <p:sp>
            <p:nvSpPr>
              <p:cNvPr id="23" name="Rectangle 23"/>
              <p:cNvSpPr/>
              <p:nvPr/>
            </p:nvSpPr>
            <p:spPr>
              <a:xfrm>
                <a:off x="762000" y="3048000"/>
                <a:ext cx="4953000" cy="361950"/>
              </a:xfrm>
              <a:prstGeom prst="roundRect">
                <a:avLst>
                  <a:gd name="adj" fmla="val 15789"/>
                </a:avLst>
              </a:prstGeom>
              <a:solidFill>
                <a:srgbClr val="1565C0">
                  <a:alpha val="8000"/>
                </a:srgbClr>
              </a:solidFill>
              <a:ln>
                <a:noFill/>
              </a:ln>
            </p:spPr>
          </p:sp>
          <p:sp>
            <p:nvSpPr>
              <p:cNvPr id="24" name="TextBox 24"/>
              <p:cNvSpPr txBox="1"/>
              <p:nvPr/>
            </p:nvSpPr>
            <p:spPr>
              <a:xfrm>
                <a:off x="937260" y="3156585"/>
                <a:ext cx="2662809"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L4→L5: AI自反馈闭环、自动规则优化</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762000" y="3524250"/>
              <a:ext cx="4953000" cy="361950"/>
              <a:chOff x="762000" y="3524250"/>
              <a:chExt cx="4953000" cy="361950"/>
            </a:xfrm>
          </p:grpSpPr>
          <p:sp>
            <p:nvSpPr>
              <p:cNvPr id="26" name="Rectangle 26"/>
              <p:cNvSpPr/>
              <p:nvPr/>
            </p:nvSpPr>
            <p:spPr>
              <a:xfrm>
                <a:off x="762000" y="3524250"/>
                <a:ext cx="4953000" cy="361950"/>
              </a:xfrm>
              <a:prstGeom prst="roundRect">
                <a:avLst>
                  <a:gd name="adj" fmla="val 15789"/>
                </a:avLst>
              </a:prstGeom>
              <a:solidFill>
                <a:srgbClr val="FF6F00">
                  <a:alpha val="8000"/>
                </a:srgbClr>
              </a:solidFill>
              <a:ln>
                <a:noFill/>
              </a:ln>
            </p:spPr>
          </p:sp>
          <p:sp>
            <p:nvSpPr>
              <p:cNvPr id="27" name="TextBox 27"/>
              <p:cNvSpPr txBox="1"/>
              <p:nvPr/>
            </p:nvSpPr>
            <p:spPr>
              <a:xfrm>
                <a:off x="937260" y="3632835"/>
                <a:ext cx="4094988"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L5 特征: AI主动发现改进机会 → 自动更新规则 → 持续优化</a:t>
                </a:r>
                <a:endParaRPr lang="zh-CN" sz="1200" dirty="0">
                  <a:solidFill>
                    <a:srgbClr val="263238"/>
                  </a:solidFill>
                  <a:latin typeface="Segoe UI" panose="020B0502040204020203"/>
                  <a:ea typeface="微软雅黑" panose="020B0503020204020204" charset="-122"/>
                  <a:cs typeface="Segoe UI" panose="020B0502040204020203"/>
                </a:endParaRPr>
              </a:p>
            </p:txBody>
          </p:sp>
        </p:grpSp>
        <p:sp>
          <p:nvSpPr>
            <p:cNvPr id="29" name="TextBox 29"/>
            <p:cNvSpPr txBox="1"/>
            <p:nvPr/>
          </p:nvSpPr>
          <p:spPr>
            <a:xfrm>
              <a:off x="2099072" y="4117181"/>
              <a:ext cx="2278856"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每一步升级都是可控的渐进式改进</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6286500" y="904875"/>
            <a:ext cx="5334000" cy="3619500"/>
            <a:chOff x="6286500" y="904875"/>
            <a:chExt cx="5334000" cy="3619500"/>
          </a:xfrm>
        </p:grpSpPr>
        <p:sp>
          <p:nvSpPr>
            <p:cNvPr id="31" name="Rectangle 31"/>
            <p:cNvSpPr/>
            <p:nvPr/>
          </p:nvSpPr>
          <p:spPr>
            <a:xfrm>
              <a:off x="6286500" y="904875"/>
              <a:ext cx="5334000" cy="3619500"/>
            </a:xfrm>
            <a:prstGeom prst="roundRect">
              <a:avLst>
                <a:gd name="adj" fmla="val 3158"/>
              </a:avLst>
            </a:prstGeom>
            <a:solidFill>
              <a:srgbClr val="FFFFFF"/>
            </a:solidFill>
            <a:ln>
              <a:noFill/>
            </a:ln>
          </p:spPr>
        </p:sp>
        <p:sp>
          <p:nvSpPr>
            <p:cNvPr id="32" name="Rectangle 32"/>
            <p:cNvSpPr/>
            <p:nvPr/>
          </p:nvSpPr>
          <p:spPr>
            <a:xfrm>
              <a:off x="6286500" y="904875"/>
              <a:ext cx="5334000" cy="38100"/>
            </a:xfrm>
            <a:prstGeom prst="roundRect">
              <a:avLst>
                <a:gd name="adj" fmla="val 50000"/>
              </a:avLst>
            </a:prstGeom>
            <a:solidFill>
              <a:srgbClr val="FF6F00"/>
            </a:solidFill>
            <a:ln>
              <a:noFill/>
            </a:ln>
          </p:spPr>
        </p:sp>
        <p:sp>
          <p:nvSpPr>
            <p:cNvPr id="33" name="TextBox 33"/>
            <p:cNvSpPr txBox="1"/>
            <p:nvPr/>
          </p:nvSpPr>
          <p:spPr>
            <a:xfrm>
              <a:off x="8514398" y="1123950"/>
              <a:ext cx="878205" cy="304800"/>
            </a:xfrm>
            <a:prstGeom prst="rect">
              <a:avLst/>
            </a:prstGeom>
            <a:noFill/>
            <a:ln>
              <a:noFill/>
            </a:ln>
          </p:spPr>
          <p:txBody>
            <a:bodyPr wrap="none" lIns="0" tIns="0" rIns="0" bIns="0" anchor="t" anchorCtr="0">
              <a:spAutoFit/>
            </a:bodyPr>
            <a:lstStyle/>
            <a:p>
              <a:pPr algn="ctr"/>
              <a:r>
                <a:rPr lang="zh-CN" sz="1500" b="1" dirty="0">
                  <a:solidFill>
                    <a:srgbClr val="FF6F00"/>
                  </a:solidFill>
                  <a:latin typeface="Segoe UI" panose="020B0502040204020203"/>
                  <a:ea typeface="微软雅黑" panose="020B0503020204020204" charset="-122"/>
                  <a:cs typeface="Segoe UI" panose="020B0502040204020203"/>
                </a:rPr>
                <a:t>自评问卷</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34" name="Line 34"/>
            <p:cNvSpPr/>
            <p:nvPr/>
          </p:nvSpPr>
          <p:spPr>
            <a:xfrm>
              <a:off x="6667500" y="1428750"/>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37" name="Group 37"/>
            <p:cNvGrpSpPr/>
            <p:nvPr/>
          </p:nvGrpSpPr>
          <p:grpSpPr>
            <a:xfrm>
              <a:off x="6667500" y="1619250"/>
              <a:ext cx="4572000" cy="400050"/>
              <a:chOff x="6667500" y="1619250"/>
              <a:chExt cx="4572000" cy="400050"/>
            </a:xfrm>
          </p:grpSpPr>
          <p:sp>
            <p:nvSpPr>
              <p:cNvPr id="35" name="Rectangle 35"/>
              <p:cNvSpPr/>
              <p:nvPr/>
            </p:nvSpPr>
            <p:spPr>
              <a:xfrm>
                <a:off x="6667500" y="1619250"/>
                <a:ext cx="4572000" cy="400050"/>
              </a:xfrm>
              <a:prstGeom prst="roundRect">
                <a:avLst>
                  <a:gd name="adj" fmla="val 14286"/>
                </a:avLst>
              </a:prstGeom>
              <a:solidFill>
                <a:srgbClr val="FF6F00">
                  <a:alpha val="4000"/>
                </a:srgbClr>
              </a:solidFill>
              <a:ln>
                <a:noFill/>
              </a:ln>
            </p:spPr>
          </p:sp>
          <p:sp>
            <p:nvSpPr>
              <p:cNvPr id="36" name="TextBox 36"/>
              <p:cNvSpPr txBox="1"/>
              <p:nvPr/>
            </p:nvSpPr>
            <p:spPr>
              <a:xfrm>
                <a:off x="6842760" y="1737360"/>
                <a:ext cx="259080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Q1: 团队是否有统一的AI使用规范？</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0" name="Group 40"/>
            <p:cNvGrpSpPr/>
            <p:nvPr/>
          </p:nvGrpSpPr>
          <p:grpSpPr>
            <a:xfrm>
              <a:off x="6667500" y="2114550"/>
              <a:ext cx="4572000" cy="400050"/>
              <a:chOff x="6667500" y="2114550"/>
              <a:chExt cx="4572000" cy="400050"/>
            </a:xfrm>
          </p:grpSpPr>
          <p:sp>
            <p:nvSpPr>
              <p:cNvPr id="38" name="Rectangle 38"/>
              <p:cNvSpPr/>
              <p:nvPr/>
            </p:nvSpPr>
            <p:spPr>
              <a:xfrm>
                <a:off x="6667500" y="2114550"/>
                <a:ext cx="4572000" cy="400050"/>
              </a:xfrm>
              <a:prstGeom prst="roundRect">
                <a:avLst>
                  <a:gd name="adj" fmla="val 14286"/>
                </a:avLst>
              </a:prstGeom>
              <a:solidFill>
                <a:srgbClr val="FF6F00">
                  <a:alpha val="4000"/>
                </a:srgbClr>
              </a:solidFill>
              <a:ln>
                <a:noFill/>
              </a:ln>
            </p:spPr>
          </p:sp>
          <p:sp>
            <p:nvSpPr>
              <p:cNvPr id="39" name="TextBox 39"/>
              <p:cNvSpPr txBox="1"/>
              <p:nvPr/>
            </p:nvSpPr>
            <p:spPr>
              <a:xfrm>
                <a:off x="6842760" y="2232660"/>
                <a:ext cx="318287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Q2: Skill是否跨项目复用？（至少3个项目）</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6667500" y="2609850"/>
              <a:ext cx="4572000" cy="400050"/>
              <a:chOff x="6667500" y="2609850"/>
              <a:chExt cx="4572000" cy="400050"/>
            </a:xfrm>
          </p:grpSpPr>
          <p:sp>
            <p:nvSpPr>
              <p:cNvPr id="41" name="Rectangle 41"/>
              <p:cNvSpPr/>
              <p:nvPr/>
            </p:nvSpPr>
            <p:spPr>
              <a:xfrm>
                <a:off x="6667500" y="2609850"/>
                <a:ext cx="4572000" cy="400050"/>
              </a:xfrm>
              <a:prstGeom prst="roundRect">
                <a:avLst>
                  <a:gd name="adj" fmla="val 14286"/>
                </a:avLst>
              </a:prstGeom>
              <a:solidFill>
                <a:srgbClr val="FF6F00">
                  <a:alpha val="4000"/>
                </a:srgbClr>
              </a:solidFill>
              <a:ln>
                <a:noFill/>
              </a:ln>
            </p:spPr>
          </p:sp>
          <p:sp>
            <p:nvSpPr>
              <p:cNvPr id="42" name="TextBox 42"/>
              <p:cNvSpPr txBox="1"/>
              <p:nvPr/>
            </p:nvSpPr>
            <p:spPr>
              <a:xfrm>
                <a:off x="6842760" y="2727960"/>
                <a:ext cx="243078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Q3: AI协作效率是否有数据度量？</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6" name="Group 46"/>
            <p:cNvGrpSpPr/>
            <p:nvPr/>
          </p:nvGrpSpPr>
          <p:grpSpPr>
            <a:xfrm>
              <a:off x="6667500" y="3105150"/>
              <a:ext cx="4572000" cy="400050"/>
              <a:chOff x="6667500" y="3105150"/>
              <a:chExt cx="4572000" cy="400050"/>
            </a:xfrm>
          </p:grpSpPr>
          <p:sp>
            <p:nvSpPr>
              <p:cNvPr id="44" name="Rectangle 44"/>
              <p:cNvSpPr/>
              <p:nvPr/>
            </p:nvSpPr>
            <p:spPr>
              <a:xfrm>
                <a:off x="6667500" y="3105150"/>
                <a:ext cx="4572000" cy="400050"/>
              </a:xfrm>
              <a:prstGeom prst="roundRect">
                <a:avLst>
                  <a:gd name="adj" fmla="val 14286"/>
                </a:avLst>
              </a:prstGeom>
              <a:solidFill>
                <a:srgbClr val="FF6F00">
                  <a:alpha val="4000"/>
                </a:srgbClr>
              </a:solidFill>
              <a:ln>
                <a:noFill/>
              </a:ln>
            </p:spPr>
          </p:sp>
          <p:sp>
            <p:nvSpPr>
              <p:cNvPr id="45" name="TextBox 45"/>
              <p:cNvSpPr txBox="1"/>
              <p:nvPr/>
            </p:nvSpPr>
            <p:spPr>
              <a:xfrm>
                <a:off x="6842760" y="3223260"/>
                <a:ext cx="3094863"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Q4: 代码生成质量是否有量化基线和趋势？</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6667500" y="3600450"/>
              <a:ext cx="4572000" cy="400050"/>
              <a:chOff x="6667500" y="3600450"/>
              <a:chExt cx="4572000" cy="400050"/>
            </a:xfrm>
          </p:grpSpPr>
          <p:sp>
            <p:nvSpPr>
              <p:cNvPr id="47" name="Rectangle 47"/>
              <p:cNvSpPr/>
              <p:nvPr/>
            </p:nvSpPr>
            <p:spPr>
              <a:xfrm>
                <a:off x="6667500" y="3600450"/>
                <a:ext cx="4572000" cy="400050"/>
              </a:xfrm>
              <a:prstGeom prst="roundRect">
                <a:avLst>
                  <a:gd name="adj" fmla="val 14286"/>
                </a:avLst>
              </a:prstGeom>
              <a:solidFill>
                <a:srgbClr val="FF6F00">
                  <a:alpha val="4000"/>
                </a:srgbClr>
              </a:solidFill>
              <a:ln>
                <a:noFill/>
              </a:ln>
            </p:spPr>
          </p:sp>
          <p:sp>
            <p:nvSpPr>
              <p:cNvPr id="48" name="TextBox 48"/>
              <p:cNvSpPr txBox="1"/>
              <p:nvPr/>
            </p:nvSpPr>
            <p:spPr>
              <a:xfrm>
                <a:off x="6842760" y="3718560"/>
                <a:ext cx="291084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Q5: 是否建立了AI自动反馈和改进闭环？</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52" name="Group 52"/>
            <p:cNvGrpSpPr/>
            <p:nvPr/>
          </p:nvGrpSpPr>
          <p:grpSpPr>
            <a:xfrm>
              <a:off x="6667500" y="4095750"/>
              <a:ext cx="4572000" cy="400050"/>
              <a:chOff x="6667500" y="4095750"/>
              <a:chExt cx="4572000" cy="400050"/>
            </a:xfrm>
          </p:grpSpPr>
          <p:sp>
            <p:nvSpPr>
              <p:cNvPr id="50" name="Rectangle 50"/>
              <p:cNvSpPr/>
              <p:nvPr/>
            </p:nvSpPr>
            <p:spPr>
              <a:xfrm>
                <a:off x="6667500" y="4095750"/>
                <a:ext cx="4572000" cy="400050"/>
              </a:xfrm>
              <a:prstGeom prst="roundRect">
                <a:avLst>
                  <a:gd name="adj" fmla="val 14286"/>
                </a:avLst>
              </a:prstGeom>
              <a:solidFill>
                <a:srgbClr val="FF6F00">
                  <a:alpha val="4000"/>
                </a:srgbClr>
              </a:solidFill>
              <a:ln>
                <a:noFill/>
              </a:ln>
            </p:spPr>
          </p:sp>
          <p:sp>
            <p:nvSpPr>
              <p:cNvPr id="51" name="TextBox 51"/>
              <p:cNvSpPr txBox="1"/>
              <p:nvPr/>
            </p:nvSpPr>
            <p:spPr>
              <a:xfrm>
                <a:off x="6842760" y="4213860"/>
                <a:ext cx="262280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Q6: 团队当前的HMM成熟度等级是？</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sp>
        <p:nvSpPr>
          <p:cNvPr id="54" name="TextBox 5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5" name="图片 5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image">
                                      <p:cBhvr>
                                        <p:cTn id="7" dur="400"/>
                                        <p:tgtEl>
                                          <p:spTgt spid="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5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90063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LLM赋能CMMI的实施（一）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2" name="Group 22"/>
          <p:cNvGrpSpPr/>
          <p:nvPr/>
        </p:nvGrpSpPr>
        <p:grpSpPr>
          <a:xfrm>
            <a:off x="571500" y="952500"/>
            <a:ext cx="11049000" cy="952500"/>
            <a:chOff x="571500" y="952500"/>
            <a:chExt cx="11049000" cy="952500"/>
          </a:xfrm>
        </p:grpSpPr>
        <p:sp>
          <p:nvSpPr>
            <p:cNvPr id="10" name="Rectangle 10"/>
            <p:cNvSpPr/>
            <p:nvPr/>
          </p:nvSpPr>
          <p:spPr>
            <a:xfrm>
              <a:off x="571500" y="952500"/>
              <a:ext cx="11049000" cy="952500"/>
            </a:xfrm>
            <a:prstGeom prst="roundRect">
              <a:avLst>
                <a:gd name="adj" fmla="val 12000"/>
              </a:avLst>
            </a:prstGeom>
            <a:solidFill>
              <a:srgbClr val="FFFFFF"/>
            </a:solidFill>
            <a:ln>
              <a:noFill/>
            </a:ln>
          </p:spPr>
        </p:sp>
        <p:sp>
          <p:nvSpPr>
            <p:cNvPr id="11" name="Rectangle 11"/>
            <p:cNvSpPr/>
            <p:nvPr/>
          </p:nvSpPr>
          <p:spPr>
            <a:xfrm>
              <a:off x="571500" y="952500"/>
              <a:ext cx="11049000" cy="38100"/>
            </a:xfrm>
            <a:prstGeom prst="roundRect">
              <a:avLst>
                <a:gd name="adj" fmla="val 50000"/>
              </a:avLst>
            </a:prstGeom>
            <a:solidFill>
              <a:srgbClr val="1565C0"/>
            </a:solidFill>
            <a:ln>
              <a:noFill/>
            </a:ln>
          </p:spPr>
        </p:sp>
        <p:sp>
          <p:nvSpPr>
            <p:cNvPr id="12" name="TextBox 12"/>
            <p:cNvSpPr txBox="1"/>
            <p:nvPr/>
          </p:nvSpPr>
          <p:spPr>
            <a:xfrm>
              <a:off x="5511784" y="1140142"/>
              <a:ext cx="1168432"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核心协作模式</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127760" y="1470660"/>
              <a:ext cx="213474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动态项目特征 + 静态组织资产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379285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4366260" y="1470660"/>
              <a:ext cx="9906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结构化提示词</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617410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6747510" y="1470660"/>
              <a:ext cx="4865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AI输出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798385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557260" y="1470660"/>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人审核执行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1007935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652760" y="14706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经验沉淀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9" name="Group 59"/>
          <p:cNvGrpSpPr/>
          <p:nvPr/>
        </p:nvGrpSpPr>
        <p:grpSpPr>
          <a:xfrm>
            <a:off x="571500" y="2143125"/>
            <a:ext cx="11049000" cy="2667000"/>
            <a:chOff x="571500" y="2143125"/>
            <a:chExt cx="11049000" cy="2667000"/>
          </a:xfrm>
        </p:grpSpPr>
        <p:sp>
          <p:nvSpPr>
            <p:cNvPr id="23" name="Rectangle 23"/>
            <p:cNvSpPr/>
            <p:nvPr/>
          </p:nvSpPr>
          <p:spPr>
            <a:xfrm>
              <a:off x="571500" y="2143125"/>
              <a:ext cx="11049000" cy="2667000"/>
            </a:xfrm>
            <a:prstGeom prst="roundRect">
              <a:avLst>
                <a:gd name="adj" fmla="val 4286"/>
              </a:avLst>
            </a:prstGeom>
            <a:solidFill>
              <a:srgbClr val="FFFFFF"/>
            </a:solidFill>
            <a:ln>
              <a:noFill/>
            </a:ln>
          </p:spPr>
        </p:sp>
        <p:sp>
          <p:nvSpPr>
            <p:cNvPr id="24" name="TextBox 24"/>
            <p:cNvSpPr txBox="1"/>
            <p:nvPr/>
          </p:nvSpPr>
          <p:spPr>
            <a:xfrm>
              <a:off x="4249722" y="2314575"/>
              <a:ext cx="3692557" cy="304800"/>
            </a:xfrm>
            <a:prstGeom prst="rect">
              <a:avLst/>
            </a:prstGeom>
            <a:noFill/>
            <a:ln>
              <a:noFill/>
            </a:ln>
          </p:spPr>
          <p:txBody>
            <a:bodyPr wrap="none" lIns="0" tIns="0" rIns="0" bIns="0" anchor="t" anchorCtr="0">
              <a:spAutoFit/>
            </a:bodyPr>
            <a:lstStyle/>
            <a:p>
              <a:pPr algn="ctr"/>
              <a:r>
                <a:rPr lang="zh-CN" sz="1500" b="1" dirty="0">
                  <a:solidFill>
                    <a:srgbClr val="263238"/>
                  </a:solidFill>
                  <a:latin typeface="Segoe UI" panose="020B0502040204020203"/>
                  <a:ea typeface="微软雅黑" panose="020B0503020204020204" charset="-122"/>
                  <a:cs typeface="Segoe UI" panose="020B0502040204020203"/>
                </a:rPr>
                <a:t>CMMI PLAN实践域 —— AI辅助结构化输出</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5" name="Line 25"/>
            <p:cNvSpPr/>
            <p:nvPr/>
          </p:nvSpPr>
          <p:spPr>
            <a:xfrm>
              <a:off x="952500" y="2619375"/>
              <a:ext cx="10287000" cy="9525"/>
            </a:xfrm>
            <a:custGeom>
              <a:avLst/>
              <a:gdLst/>
              <a:ahLst/>
              <a:cxnLst/>
              <a:rect l="l" t="t" r="r" b="b"/>
              <a:pathLst>
                <a:path w="10287000" h="9525">
                  <a:moveTo>
                    <a:pt x="0" y="0"/>
                  </a:moveTo>
                  <a:lnTo>
                    <a:pt x="10287000" y="0"/>
                  </a:lnTo>
                </a:path>
              </a:pathLst>
            </a:custGeom>
            <a:noFill/>
            <a:ln w="9525">
              <a:solidFill>
                <a:srgbClr val="CFD8DC"/>
              </a:solidFill>
            </a:ln>
          </p:spPr>
        </p:sp>
        <p:grpSp>
          <p:nvGrpSpPr>
            <p:cNvPr id="31" name="Group 31"/>
            <p:cNvGrpSpPr/>
            <p:nvPr/>
          </p:nvGrpSpPr>
          <p:grpSpPr>
            <a:xfrm>
              <a:off x="762000" y="2809875"/>
              <a:ext cx="5238750" cy="409575"/>
              <a:chOff x="762000" y="2809875"/>
              <a:chExt cx="5238750" cy="409575"/>
            </a:xfrm>
          </p:grpSpPr>
          <p:sp>
            <p:nvSpPr>
              <p:cNvPr id="26" name="Rectangle 26"/>
              <p:cNvSpPr/>
              <p:nvPr/>
            </p:nvSpPr>
            <p:spPr>
              <a:xfrm>
                <a:off x="762000" y="2809875"/>
                <a:ext cx="5238750" cy="400050"/>
              </a:xfrm>
              <a:prstGeom prst="roundRect">
                <a:avLst>
                  <a:gd name="adj" fmla="val 14286"/>
                </a:avLst>
              </a:prstGeom>
              <a:solidFill>
                <a:srgbClr val="1565C0">
                  <a:alpha val="6000"/>
                </a:srgbClr>
              </a:solidFill>
              <a:ln>
                <a:noFill/>
              </a:ln>
            </p:spPr>
          </p:sp>
          <p:grpSp>
            <p:nvGrpSpPr>
              <p:cNvPr id="29" name="Group 29"/>
              <p:cNvGrpSpPr/>
              <p:nvPr/>
            </p:nvGrpSpPr>
            <p:grpSpPr>
              <a:xfrm>
                <a:off x="963216" y="2993231"/>
                <a:ext cx="144661" cy="128588"/>
                <a:chOff x="963216" y="2993231"/>
                <a:chExt cx="144661" cy="128588"/>
              </a:xfrm>
            </p:grpSpPr>
            <p:sp>
              <p:nvSpPr>
                <p:cNvPr id="27" name="Freeform 27"/>
                <p:cNvSpPr/>
                <p:nvPr/>
              </p:nvSpPr>
              <p:spPr>
                <a:xfrm>
                  <a:off x="968573" y="2998589"/>
                  <a:ext cx="133945" cy="117872"/>
                </a:xfrm>
                <a:custGeom>
                  <a:avLst/>
                  <a:gdLst/>
                  <a:ahLst/>
                  <a:cxnLst/>
                  <a:rect l="l" t="t" r="r" b="b"/>
                  <a:pathLst>
                    <a:path w="133945" h="117872">
                      <a:moveTo>
                        <a:pt x="32147" y="48220"/>
                      </a:moveTo>
                      <a:lnTo>
                        <a:pt x="32147" y="69652"/>
                      </a:lnTo>
                      <a:cubicBezTo>
                        <a:pt x="32147" y="72611"/>
                        <a:pt x="29748" y="75009"/>
                        <a:pt x="26789" y="75009"/>
                      </a:cubicBezTo>
                      <a:lnTo>
                        <a:pt x="5358" y="75009"/>
                      </a:lnTo>
                      <a:cubicBezTo>
                        <a:pt x="2399" y="75009"/>
                        <a:pt x="0" y="72611"/>
                        <a:pt x="0" y="69652"/>
                      </a:cubicBezTo>
                      <a:lnTo>
                        <a:pt x="0" y="48220"/>
                      </a:lnTo>
                      <a:cubicBezTo>
                        <a:pt x="0" y="45261"/>
                        <a:pt x="2399" y="42862"/>
                        <a:pt x="5358" y="42862"/>
                      </a:cubicBezTo>
                      <a:lnTo>
                        <a:pt x="26789" y="42862"/>
                      </a:lnTo>
                      <a:cubicBezTo>
                        <a:pt x="29748" y="42862"/>
                        <a:pt x="32147" y="45261"/>
                        <a:pt x="32147" y="48220"/>
                      </a:cubicBezTo>
                      <a:close/>
                      <a:moveTo>
                        <a:pt x="128588" y="0"/>
                      </a:moveTo>
                      <a:lnTo>
                        <a:pt x="96441" y="0"/>
                      </a:lnTo>
                      <a:cubicBezTo>
                        <a:pt x="93482" y="0"/>
                        <a:pt x="91083" y="2399"/>
                        <a:pt x="91083" y="5358"/>
                      </a:cubicBezTo>
                      <a:lnTo>
                        <a:pt x="91083" y="37505"/>
                      </a:lnTo>
                      <a:cubicBezTo>
                        <a:pt x="91083" y="40464"/>
                        <a:pt x="93482" y="42862"/>
                        <a:pt x="96441" y="42862"/>
                      </a:cubicBezTo>
                      <a:lnTo>
                        <a:pt x="128588" y="42862"/>
                      </a:lnTo>
                      <a:cubicBezTo>
                        <a:pt x="131547" y="42862"/>
                        <a:pt x="133945" y="40464"/>
                        <a:pt x="133945" y="37505"/>
                      </a:cubicBezTo>
                      <a:lnTo>
                        <a:pt x="133945" y="5358"/>
                      </a:lnTo>
                      <a:cubicBezTo>
                        <a:pt x="133945" y="2399"/>
                        <a:pt x="131547" y="0"/>
                        <a:pt x="128588" y="0"/>
                      </a:cubicBezTo>
                      <a:close/>
                      <a:moveTo>
                        <a:pt x="128588" y="75009"/>
                      </a:moveTo>
                      <a:lnTo>
                        <a:pt x="96441" y="75009"/>
                      </a:lnTo>
                      <a:cubicBezTo>
                        <a:pt x="93482" y="75009"/>
                        <a:pt x="91083" y="77408"/>
                        <a:pt x="91083" y="80367"/>
                      </a:cubicBezTo>
                      <a:lnTo>
                        <a:pt x="91083" y="112514"/>
                      </a:lnTo>
                      <a:cubicBezTo>
                        <a:pt x="91083" y="115473"/>
                        <a:pt x="93482" y="117872"/>
                        <a:pt x="96441" y="117872"/>
                      </a:cubicBezTo>
                      <a:lnTo>
                        <a:pt x="128588" y="117872"/>
                      </a:lnTo>
                      <a:cubicBezTo>
                        <a:pt x="131547" y="117872"/>
                        <a:pt x="133945" y="115473"/>
                        <a:pt x="133945" y="112514"/>
                      </a:cubicBezTo>
                      <a:lnTo>
                        <a:pt x="133945" y="80367"/>
                      </a:lnTo>
                      <a:cubicBezTo>
                        <a:pt x="133945" y="77408"/>
                        <a:pt x="131547" y="75009"/>
                        <a:pt x="128588" y="75009"/>
                      </a:cubicBezTo>
                      <a:close/>
                    </a:path>
                  </a:pathLst>
                </a:custGeom>
                <a:solidFill>
                  <a:srgbClr val="1565C0">
                    <a:alpha val="20000"/>
                  </a:srgbClr>
                </a:solidFill>
                <a:ln>
                  <a:noFill/>
                </a:ln>
              </p:spPr>
            </p:sp>
            <p:sp>
              <p:nvSpPr>
                <p:cNvPr id="28" name="Freeform 28"/>
                <p:cNvSpPr/>
                <p:nvPr/>
              </p:nvSpPr>
              <p:spPr>
                <a:xfrm>
                  <a:off x="963216" y="2993231"/>
                  <a:ext cx="144661" cy="128588"/>
                </a:xfrm>
                <a:custGeom>
                  <a:avLst/>
                  <a:gdLst/>
                  <a:ahLst/>
                  <a:cxnLst/>
                  <a:rect l="l" t="t" r="r" b="b"/>
                  <a:pathLst>
                    <a:path w="144661" h="128588">
                      <a:moveTo>
                        <a:pt x="101798" y="53578"/>
                      </a:moveTo>
                      <a:lnTo>
                        <a:pt x="133945" y="53578"/>
                      </a:lnTo>
                      <a:cubicBezTo>
                        <a:pt x="139863" y="53578"/>
                        <a:pt x="144661" y="48781"/>
                        <a:pt x="144661" y="42862"/>
                      </a:cubicBezTo>
                      <a:lnTo>
                        <a:pt x="144661" y="10716"/>
                      </a:lnTo>
                      <a:cubicBezTo>
                        <a:pt x="144661" y="4798"/>
                        <a:pt x="139863" y="0"/>
                        <a:pt x="133945" y="0"/>
                      </a:cubicBezTo>
                      <a:lnTo>
                        <a:pt x="101798" y="0"/>
                      </a:lnTo>
                      <a:cubicBezTo>
                        <a:pt x="95880" y="0"/>
                        <a:pt x="91083" y="4798"/>
                        <a:pt x="91083" y="10716"/>
                      </a:cubicBezTo>
                      <a:lnTo>
                        <a:pt x="91083" y="21431"/>
                      </a:lnTo>
                      <a:lnTo>
                        <a:pt x="85725" y="21431"/>
                      </a:lnTo>
                      <a:cubicBezTo>
                        <a:pt x="73889" y="21431"/>
                        <a:pt x="64294" y="31026"/>
                        <a:pt x="64294" y="42862"/>
                      </a:cubicBezTo>
                      <a:lnTo>
                        <a:pt x="64294" y="58936"/>
                      </a:lnTo>
                      <a:lnTo>
                        <a:pt x="42862" y="58936"/>
                      </a:lnTo>
                      <a:lnTo>
                        <a:pt x="42862" y="53578"/>
                      </a:lnTo>
                      <a:cubicBezTo>
                        <a:pt x="42862" y="47660"/>
                        <a:pt x="38065" y="42862"/>
                        <a:pt x="32147" y="42862"/>
                      </a:cubicBezTo>
                      <a:lnTo>
                        <a:pt x="10716" y="42862"/>
                      </a:lnTo>
                      <a:cubicBezTo>
                        <a:pt x="4798" y="42862"/>
                        <a:pt x="0" y="47660"/>
                        <a:pt x="0" y="53578"/>
                      </a:cubicBezTo>
                      <a:lnTo>
                        <a:pt x="0" y="75009"/>
                      </a:lnTo>
                      <a:cubicBezTo>
                        <a:pt x="0" y="80927"/>
                        <a:pt x="4798" y="85725"/>
                        <a:pt x="10716" y="85725"/>
                      </a:cubicBezTo>
                      <a:lnTo>
                        <a:pt x="32147" y="85725"/>
                      </a:lnTo>
                      <a:cubicBezTo>
                        <a:pt x="38065" y="85725"/>
                        <a:pt x="42862" y="80927"/>
                        <a:pt x="42862" y="75009"/>
                      </a:cubicBezTo>
                      <a:lnTo>
                        <a:pt x="42862" y="69652"/>
                      </a:lnTo>
                      <a:lnTo>
                        <a:pt x="64294" y="69652"/>
                      </a:lnTo>
                      <a:lnTo>
                        <a:pt x="64294" y="85725"/>
                      </a:lnTo>
                      <a:cubicBezTo>
                        <a:pt x="64294" y="97561"/>
                        <a:pt x="73889" y="107156"/>
                        <a:pt x="85725" y="107156"/>
                      </a:cubicBezTo>
                      <a:lnTo>
                        <a:pt x="91083" y="107156"/>
                      </a:lnTo>
                      <a:lnTo>
                        <a:pt x="91083" y="117872"/>
                      </a:lnTo>
                      <a:cubicBezTo>
                        <a:pt x="91083" y="123790"/>
                        <a:pt x="95880" y="128588"/>
                        <a:pt x="101798" y="128588"/>
                      </a:cubicBezTo>
                      <a:lnTo>
                        <a:pt x="133945" y="128588"/>
                      </a:lnTo>
                      <a:cubicBezTo>
                        <a:pt x="139863" y="128588"/>
                        <a:pt x="144661" y="123790"/>
                        <a:pt x="144661" y="117872"/>
                      </a:cubicBezTo>
                      <a:lnTo>
                        <a:pt x="144661" y="85725"/>
                      </a:lnTo>
                      <a:cubicBezTo>
                        <a:pt x="144661" y="79807"/>
                        <a:pt x="139863" y="75009"/>
                        <a:pt x="133945" y="75009"/>
                      </a:cubicBezTo>
                      <a:lnTo>
                        <a:pt x="101798" y="75009"/>
                      </a:lnTo>
                      <a:cubicBezTo>
                        <a:pt x="95880" y="75009"/>
                        <a:pt x="91083" y="79807"/>
                        <a:pt x="91083" y="85725"/>
                      </a:cubicBezTo>
                      <a:lnTo>
                        <a:pt x="91083" y="96441"/>
                      </a:lnTo>
                      <a:lnTo>
                        <a:pt x="85725" y="96441"/>
                      </a:lnTo>
                      <a:cubicBezTo>
                        <a:pt x="79807" y="96441"/>
                        <a:pt x="75009" y="91643"/>
                        <a:pt x="75009" y="85725"/>
                      </a:cubicBezTo>
                      <a:lnTo>
                        <a:pt x="75009" y="42862"/>
                      </a:lnTo>
                      <a:cubicBezTo>
                        <a:pt x="75009" y="36944"/>
                        <a:pt x="79807" y="32147"/>
                        <a:pt x="85725" y="32147"/>
                      </a:cubicBezTo>
                      <a:lnTo>
                        <a:pt x="91083" y="32147"/>
                      </a:lnTo>
                      <a:lnTo>
                        <a:pt x="91083" y="42862"/>
                      </a:lnTo>
                      <a:cubicBezTo>
                        <a:pt x="91083" y="48781"/>
                        <a:pt x="95880" y="53578"/>
                        <a:pt x="101798" y="53578"/>
                      </a:cubicBezTo>
                      <a:close/>
                      <a:moveTo>
                        <a:pt x="32147" y="75009"/>
                      </a:moveTo>
                      <a:lnTo>
                        <a:pt x="10716" y="75009"/>
                      </a:lnTo>
                      <a:lnTo>
                        <a:pt x="10716" y="53578"/>
                      </a:lnTo>
                      <a:lnTo>
                        <a:pt x="32147" y="53578"/>
                      </a:lnTo>
                      <a:lnTo>
                        <a:pt x="32147" y="75009"/>
                      </a:lnTo>
                      <a:close/>
                      <a:moveTo>
                        <a:pt x="101798" y="85725"/>
                      </a:moveTo>
                      <a:lnTo>
                        <a:pt x="133945" y="85725"/>
                      </a:lnTo>
                      <a:lnTo>
                        <a:pt x="133945" y="117872"/>
                      </a:lnTo>
                      <a:lnTo>
                        <a:pt x="101798" y="117872"/>
                      </a:lnTo>
                      <a:close/>
                      <a:moveTo>
                        <a:pt x="101798" y="10716"/>
                      </a:moveTo>
                      <a:lnTo>
                        <a:pt x="133945" y="10716"/>
                      </a:lnTo>
                      <a:lnTo>
                        <a:pt x="133945" y="42862"/>
                      </a:lnTo>
                      <a:lnTo>
                        <a:pt x="101798" y="42862"/>
                      </a:lnTo>
                      <a:close/>
                    </a:path>
                  </a:pathLst>
                </a:custGeom>
                <a:solidFill>
                  <a:srgbClr val="1565C0"/>
                </a:solidFill>
                <a:ln>
                  <a:noFill/>
                </a:ln>
              </p:spPr>
            </p:sp>
          </p:grpSp>
          <p:sp>
            <p:nvSpPr>
              <p:cNvPr id="30" name="TextBox 30"/>
              <p:cNvSpPr txBox="1"/>
              <p:nvPr/>
            </p:nvSpPr>
            <p:spPr>
              <a:xfrm>
                <a:off x="1203960" y="2975610"/>
                <a:ext cx="318287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WBS分解：AI根据需求自动生成工作分解结构</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37" name="Group 37"/>
            <p:cNvGrpSpPr/>
            <p:nvPr/>
          </p:nvGrpSpPr>
          <p:grpSpPr>
            <a:xfrm>
              <a:off x="6191250" y="2809875"/>
              <a:ext cx="5238750" cy="409575"/>
              <a:chOff x="6191250" y="2809875"/>
              <a:chExt cx="5238750" cy="409575"/>
            </a:xfrm>
          </p:grpSpPr>
          <p:sp>
            <p:nvSpPr>
              <p:cNvPr id="32" name="Rectangle 32"/>
              <p:cNvSpPr/>
              <p:nvPr/>
            </p:nvSpPr>
            <p:spPr>
              <a:xfrm>
                <a:off x="6191250" y="2809875"/>
                <a:ext cx="5238750" cy="400050"/>
              </a:xfrm>
              <a:prstGeom prst="roundRect">
                <a:avLst>
                  <a:gd name="adj" fmla="val 14286"/>
                </a:avLst>
              </a:prstGeom>
              <a:solidFill>
                <a:srgbClr val="00838F">
                  <a:alpha val="6000"/>
                </a:srgbClr>
              </a:solidFill>
              <a:ln>
                <a:noFill/>
              </a:ln>
            </p:spPr>
          </p:sp>
          <p:grpSp>
            <p:nvGrpSpPr>
              <p:cNvPr id="35" name="Group 35"/>
              <p:cNvGrpSpPr/>
              <p:nvPr/>
            </p:nvGrpSpPr>
            <p:grpSpPr>
              <a:xfrm>
                <a:off x="6382904" y="2999193"/>
                <a:ext cx="169548" cy="112655"/>
                <a:chOff x="6382904" y="2999193"/>
                <a:chExt cx="169548" cy="112655"/>
              </a:xfrm>
            </p:grpSpPr>
            <p:sp>
              <p:nvSpPr>
                <p:cNvPr id="33" name="Freeform 33"/>
                <p:cNvSpPr/>
                <p:nvPr/>
              </p:nvSpPr>
              <p:spPr>
                <a:xfrm>
                  <a:off x="6403181" y="3009305"/>
                  <a:ext cx="69652" cy="69652"/>
                </a:xfrm>
                <a:custGeom>
                  <a:avLst/>
                  <a:gdLst/>
                  <a:ahLst/>
                  <a:cxnLst/>
                  <a:rect l="l" t="t" r="r" b="b"/>
                  <a:pathLst>
                    <a:path w="69652" h="69652">
                      <a:moveTo>
                        <a:pt x="69652" y="34826"/>
                      </a:moveTo>
                      <a:cubicBezTo>
                        <a:pt x="69652" y="54060"/>
                        <a:pt x="54060" y="69652"/>
                        <a:pt x="34826" y="69652"/>
                      </a:cubicBezTo>
                      <a:cubicBezTo>
                        <a:pt x="15592" y="69652"/>
                        <a:pt x="0" y="54060"/>
                        <a:pt x="0" y="34826"/>
                      </a:cubicBezTo>
                      <a:cubicBezTo>
                        <a:pt x="0" y="15592"/>
                        <a:pt x="15592" y="0"/>
                        <a:pt x="34826" y="0"/>
                      </a:cubicBezTo>
                      <a:cubicBezTo>
                        <a:pt x="54060" y="0"/>
                        <a:pt x="69652" y="15592"/>
                        <a:pt x="69652" y="34826"/>
                      </a:cubicBezTo>
                      <a:close/>
                    </a:path>
                  </a:pathLst>
                </a:custGeom>
                <a:solidFill>
                  <a:srgbClr val="00838F">
                    <a:alpha val="20000"/>
                  </a:srgbClr>
                </a:solidFill>
                <a:ln>
                  <a:noFill/>
                </a:ln>
              </p:spPr>
            </p:sp>
            <p:sp>
              <p:nvSpPr>
                <p:cNvPr id="34" name="Freeform 34"/>
                <p:cNvSpPr/>
                <p:nvPr/>
              </p:nvSpPr>
              <p:spPr>
                <a:xfrm>
                  <a:off x="6382904" y="2999193"/>
                  <a:ext cx="169548" cy="112655"/>
                </a:xfrm>
                <a:custGeom>
                  <a:avLst/>
                  <a:gdLst/>
                  <a:ahLst/>
                  <a:cxnLst/>
                  <a:rect l="l" t="t" r="r" b="b"/>
                  <a:pathLst>
                    <a:path w="169548" h="112655">
                      <a:moveTo>
                        <a:pt x="77372" y="78370"/>
                      </a:moveTo>
                      <a:cubicBezTo>
                        <a:pt x="92116" y="68554"/>
                        <a:pt x="98694" y="50243"/>
                        <a:pt x="93567" y="33289"/>
                      </a:cubicBezTo>
                      <a:cubicBezTo>
                        <a:pt x="88439" y="16335"/>
                        <a:pt x="72816" y="4737"/>
                        <a:pt x="55103" y="4737"/>
                      </a:cubicBezTo>
                      <a:cubicBezTo>
                        <a:pt x="37391" y="4737"/>
                        <a:pt x="21768" y="16335"/>
                        <a:pt x="16640" y="33289"/>
                      </a:cubicBezTo>
                      <a:cubicBezTo>
                        <a:pt x="11513" y="50243"/>
                        <a:pt x="18091" y="68554"/>
                        <a:pt x="32835" y="78370"/>
                      </a:cubicBezTo>
                      <a:cubicBezTo>
                        <a:pt x="19846" y="83157"/>
                        <a:pt x="8752" y="92017"/>
                        <a:pt x="1211" y="103625"/>
                      </a:cubicBezTo>
                      <a:cubicBezTo>
                        <a:pt x="132" y="105229"/>
                        <a:pt x="0" y="107289"/>
                        <a:pt x="866" y="109016"/>
                      </a:cubicBezTo>
                      <a:cubicBezTo>
                        <a:pt x="1731" y="110744"/>
                        <a:pt x="3460" y="111872"/>
                        <a:pt x="5390" y="111968"/>
                      </a:cubicBezTo>
                      <a:cubicBezTo>
                        <a:pt x="7320" y="112063"/>
                        <a:pt x="9152" y="111112"/>
                        <a:pt x="10185" y="109479"/>
                      </a:cubicBezTo>
                      <a:cubicBezTo>
                        <a:pt x="20069" y="94277"/>
                        <a:pt x="36971" y="85106"/>
                        <a:pt x="55103" y="85106"/>
                      </a:cubicBezTo>
                      <a:cubicBezTo>
                        <a:pt x="73236" y="85106"/>
                        <a:pt x="90138" y="94277"/>
                        <a:pt x="100022" y="109479"/>
                      </a:cubicBezTo>
                      <a:cubicBezTo>
                        <a:pt x="101657" y="111909"/>
                        <a:pt x="104941" y="112576"/>
                        <a:pt x="107394" y="110976"/>
                      </a:cubicBezTo>
                      <a:cubicBezTo>
                        <a:pt x="109848" y="109375"/>
                        <a:pt x="110561" y="106101"/>
                        <a:pt x="108996" y="103625"/>
                      </a:cubicBezTo>
                      <a:cubicBezTo>
                        <a:pt x="101454" y="92017"/>
                        <a:pt x="90361" y="83157"/>
                        <a:pt x="77372" y="78370"/>
                      </a:cubicBezTo>
                      <a:close/>
                      <a:moveTo>
                        <a:pt x="25635" y="44937"/>
                      </a:moveTo>
                      <a:cubicBezTo>
                        <a:pt x="25635" y="28663"/>
                        <a:pt x="38829" y="15469"/>
                        <a:pt x="55103" y="15469"/>
                      </a:cubicBezTo>
                      <a:cubicBezTo>
                        <a:pt x="71378" y="15469"/>
                        <a:pt x="84571" y="28663"/>
                        <a:pt x="84571" y="44937"/>
                      </a:cubicBezTo>
                      <a:cubicBezTo>
                        <a:pt x="84571" y="61212"/>
                        <a:pt x="71378" y="74405"/>
                        <a:pt x="55103" y="74405"/>
                      </a:cubicBezTo>
                      <a:cubicBezTo>
                        <a:pt x="38836" y="74387"/>
                        <a:pt x="25654" y="61204"/>
                        <a:pt x="25635" y="44937"/>
                      </a:cubicBezTo>
                      <a:close/>
                      <a:moveTo>
                        <a:pt x="166372" y="111039"/>
                      </a:moveTo>
                      <a:cubicBezTo>
                        <a:pt x="163894" y="112655"/>
                        <a:pt x="160574" y="111957"/>
                        <a:pt x="158958" y="109479"/>
                      </a:cubicBezTo>
                      <a:cubicBezTo>
                        <a:pt x="149085" y="94267"/>
                        <a:pt x="132174" y="85097"/>
                        <a:pt x="114039" y="85121"/>
                      </a:cubicBezTo>
                      <a:cubicBezTo>
                        <a:pt x="111080" y="85121"/>
                        <a:pt x="108682" y="82722"/>
                        <a:pt x="108682" y="79763"/>
                      </a:cubicBezTo>
                      <a:cubicBezTo>
                        <a:pt x="108682" y="76804"/>
                        <a:pt x="111080" y="74405"/>
                        <a:pt x="114039" y="74405"/>
                      </a:cubicBezTo>
                      <a:cubicBezTo>
                        <a:pt x="125907" y="74394"/>
                        <a:pt x="136610" y="67264"/>
                        <a:pt x="141194" y="56317"/>
                      </a:cubicBezTo>
                      <a:cubicBezTo>
                        <a:pt x="145777" y="45370"/>
                        <a:pt x="143345" y="32741"/>
                        <a:pt x="135025" y="24278"/>
                      </a:cubicBezTo>
                      <a:cubicBezTo>
                        <a:pt x="126705" y="15815"/>
                        <a:pt x="114120" y="13169"/>
                        <a:pt x="103096" y="17566"/>
                      </a:cubicBezTo>
                      <a:cubicBezTo>
                        <a:pt x="101307" y="18339"/>
                        <a:pt x="99239" y="18080"/>
                        <a:pt x="97696" y="16888"/>
                      </a:cubicBezTo>
                      <a:cubicBezTo>
                        <a:pt x="96153" y="15697"/>
                        <a:pt x="95379" y="13762"/>
                        <a:pt x="95674" y="11835"/>
                      </a:cubicBezTo>
                      <a:cubicBezTo>
                        <a:pt x="95970" y="9908"/>
                        <a:pt x="97289" y="8294"/>
                        <a:pt x="99118" y="7620"/>
                      </a:cubicBezTo>
                      <a:cubicBezTo>
                        <a:pt x="118225" y="0"/>
                        <a:pt x="140001" y="8040"/>
                        <a:pt x="149572" y="26248"/>
                      </a:cubicBezTo>
                      <a:cubicBezTo>
                        <a:pt x="159144" y="44456"/>
                        <a:pt x="153418" y="66952"/>
                        <a:pt x="136308" y="78370"/>
                      </a:cubicBezTo>
                      <a:cubicBezTo>
                        <a:pt x="149297" y="83157"/>
                        <a:pt x="160390" y="92017"/>
                        <a:pt x="167932" y="103625"/>
                      </a:cubicBezTo>
                      <a:cubicBezTo>
                        <a:pt x="169548" y="106104"/>
                        <a:pt x="168850" y="109423"/>
                        <a:pt x="166372" y="111039"/>
                      </a:cubicBezTo>
                      <a:close/>
                    </a:path>
                  </a:pathLst>
                </a:custGeom>
                <a:solidFill>
                  <a:srgbClr val="00838F"/>
                </a:solidFill>
                <a:ln>
                  <a:noFill/>
                </a:ln>
              </p:spPr>
            </p:sp>
          </p:grpSp>
          <p:sp>
            <p:nvSpPr>
              <p:cNvPr id="36" name="TextBox 36"/>
              <p:cNvSpPr txBox="1"/>
              <p:nvPr/>
            </p:nvSpPr>
            <p:spPr>
              <a:xfrm>
                <a:off x="6633210" y="2975610"/>
                <a:ext cx="275082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任务分配：基于技能矩阵自动匹配人员</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762000" y="3305175"/>
              <a:ext cx="5238750" cy="409575"/>
              <a:chOff x="762000" y="3305175"/>
              <a:chExt cx="5238750" cy="409575"/>
            </a:xfrm>
          </p:grpSpPr>
          <p:sp>
            <p:nvSpPr>
              <p:cNvPr id="38" name="Rectangle 38"/>
              <p:cNvSpPr/>
              <p:nvPr/>
            </p:nvSpPr>
            <p:spPr>
              <a:xfrm>
                <a:off x="762000" y="3305175"/>
                <a:ext cx="5238750" cy="400050"/>
              </a:xfrm>
              <a:prstGeom prst="roundRect">
                <a:avLst>
                  <a:gd name="adj" fmla="val 14286"/>
                </a:avLst>
              </a:prstGeom>
              <a:solidFill>
                <a:srgbClr val="1565C0">
                  <a:alpha val="6000"/>
                </a:srgbClr>
              </a:solidFill>
              <a:ln>
                <a:noFill/>
              </a:ln>
            </p:spPr>
          </p:sp>
          <p:grpSp>
            <p:nvGrpSpPr>
              <p:cNvPr id="41" name="Group 41"/>
              <p:cNvGrpSpPr/>
              <p:nvPr/>
            </p:nvGrpSpPr>
            <p:grpSpPr>
              <a:xfrm>
                <a:off x="968573" y="3483173"/>
                <a:ext cx="139303" cy="139303"/>
                <a:chOff x="968573" y="3483173"/>
                <a:chExt cx="139303" cy="139303"/>
              </a:xfrm>
            </p:grpSpPr>
            <p:sp>
              <p:nvSpPr>
                <p:cNvPr id="39" name="Freeform 39"/>
                <p:cNvSpPr/>
                <p:nvPr/>
              </p:nvSpPr>
              <p:spPr>
                <a:xfrm>
                  <a:off x="973931" y="3488531"/>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1565C0">
                    <a:alpha val="20000"/>
                  </a:srgbClr>
                </a:solidFill>
                <a:ln>
                  <a:noFill/>
                </a:ln>
              </p:spPr>
            </p:sp>
            <p:sp>
              <p:nvSpPr>
                <p:cNvPr id="40" name="Freeform 40"/>
                <p:cNvSpPr/>
                <p:nvPr/>
              </p:nvSpPr>
              <p:spPr>
                <a:xfrm>
                  <a:off x="968573" y="3483173"/>
                  <a:ext cx="139303" cy="139303"/>
                </a:xfrm>
                <a:custGeom>
                  <a:avLst/>
                  <a:gdLst/>
                  <a:ahLst/>
                  <a:cxnLst/>
                  <a:rect l="l" t="t" r="r" b="b"/>
                  <a:pathLst>
                    <a:path w="139303" h="139303">
                      <a:moveTo>
                        <a:pt x="69652" y="0"/>
                      </a:moveTo>
                      <a:cubicBezTo>
                        <a:pt x="31184" y="0"/>
                        <a:pt x="0" y="31184"/>
                        <a:pt x="0" y="69652"/>
                      </a:cubicBezTo>
                      <a:cubicBezTo>
                        <a:pt x="0" y="108119"/>
                        <a:pt x="31184" y="139303"/>
                        <a:pt x="69652" y="139303"/>
                      </a:cubicBezTo>
                      <a:cubicBezTo>
                        <a:pt x="108119" y="139303"/>
                        <a:pt x="139303" y="108119"/>
                        <a:pt x="139303" y="69652"/>
                      </a:cubicBezTo>
                      <a:cubicBezTo>
                        <a:pt x="139263" y="31201"/>
                        <a:pt x="108102" y="41"/>
                        <a:pt x="69652" y="0"/>
                      </a:cubicBezTo>
                      <a:close/>
                      <a:moveTo>
                        <a:pt x="69652" y="128588"/>
                      </a:moveTo>
                      <a:cubicBezTo>
                        <a:pt x="37102" y="128588"/>
                        <a:pt x="10716" y="102201"/>
                        <a:pt x="10716" y="69652"/>
                      </a:cubicBezTo>
                      <a:cubicBezTo>
                        <a:pt x="10716" y="37102"/>
                        <a:pt x="37102" y="10716"/>
                        <a:pt x="69652" y="10716"/>
                      </a:cubicBezTo>
                      <a:cubicBezTo>
                        <a:pt x="102201" y="10716"/>
                        <a:pt x="128588" y="37102"/>
                        <a:pt x="128588" y="69652"/>
                      </a:cubicBezTo>
                      <a:cubicBezTo>
                        <a:pt x="128551" y="102186"/>
                        <a:pt x="102186" y="128551"/>
                        <a:pt x="69652" y="128588"/>
                      </a:cubicBezTo>
                      <a:close/>
                      <a:moveTo>
                        <a:pt x="112514" y="69652"/>
                      </a:moveTo>
                      <a:cubicBezTo>
                        <a:pt x="112514" y="72611"/>
                        <a:pt x="110115" y="75009"/>
                        <a:pt x="107156" y="75009"/>
                      </a:cubicBezTo>
                      <a:lnTo>
                        <a:pt x="69652" y="75009"/>
                      </a:lnTo>
                      <a:cubicBezTo>
                        <a:pt x="66693" y="75009"/>
                        <a:pt x="64294" y="72611"/>
                        <a:pt x="64294" y="69652"/>
                      </a:cubicBezTo>
                      <a:lnTo>
                        <a:pt x="64294" y="32147"/>
                      </a:lnTo>
                      <a:cubicBezTo>
                        <a:pt x="64294" y="29188"/>
                        <a:pt x="66693" y="26789"/>
                        <a:pt x="69652" y="26789"/>
                      </a:cubicBezTo>
                      <a:cubicBezTo>
                        <a:pt x="72611" y="26789"/>
                        <a:pt x="75009" y="29188"/>
                        <a:pt x="75009" y="32147"/>
                      </a:cubicBezTo>
                      <a:lnTo>
                        <a:pt x="75009" y="64294"/>
                      </a:lnTo>
                      <a:lnTo>
                        <a:pt x="107156" y="64294"/>
                      </a:lnTo>
                      <a:cubicBezTo>
                        <a:pt x="110115" y="64294"/>
                        <a:pt x="112514" y="66693"/>
                        <a:pt x="112514" y="69652"/>
                      </a:cubicBezTo>
                      <a:close/>
                    </a:path>
                  </a:pathLst>
                </a:custGeom>
                <a:solidFill>
                  <a:srgbClr val="1565C0"/>
                </a:solidFill>
                <a:ln>
                  <a:noFill/>
                </a:ln>
              </p:spPr>
            </p:sp>
          </p:grpSp>
          <p:sp>
            <p:nvSpPr>
              <p:cNvPr id="42" name="TextBox 42"/>
              <p:cNvSpPr txBox="1"/>
              <p:nvPr/>
            </p:nvSpPr>
            <p:spPr>
              <a:xfrm>
                <a:off x="1203960" y="3470910"/>
                <a:ext cx="3294888"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工作量估算：历史数据+功能点估算结合AI分析</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6191250" y="3305175"/>
              <a:ext cx="5238750" cy="409575"/>
              <a:chOff x="6191250" y="3305175"/>
              <a:chExt cx="5238750" cy="409575"/>
            </a:xfrm>
          </p:grpSpPr>
          <p:sp>
            <p:nvSpPr>
              <p:cNvPr id="44" name="Rectangle 44"/>
              <p:cNvSpPr/>
              <p:nvPr/>
            </p:nvSpPr>
            <p:spPr>
              <a:xfrm>
                <a:off x="6191250" y="3305175"/>
                <a:ext cx="5238750" cy="400050"/>
              </a:xfrm>
              <a:prstGeom prst="roundRect">
                <a:avLst>
                  <a:gd name="adj" fmla="val 14286"/>
                </a:avLst>
              </a:prstGeom>
              <a:solidFill>
                <a:srgbClr val="00838F">
                  <a:alpha val="6000"/>
                </a:srgbClr>
              </a:solidFill>
              <a:ln>
                <a:noFill/>
              </a:ln>
            </p:spPr>
          </p:sp>
          <p:grpSp>
            <p:nvGrpSpPr>
              <p:cNvPr id="47" name="Group 47"/>
              <p:cNvGrpSpPr/>
              <p:nvPr/>
            </p:nvGrpSpPr>
            <p:grpSpPr>
              <a:xfrm>
                <a:off x="6403181" y="3477816"/>
                <a:ext cx="128588" cy="139303"/>
                <a:chOff x="6403181" y="3477816"/>
                <a:chExt cx="128588" cy="139303"/>
              </a:xfrm>
            </p:grpSpPr>
            <p:sp>
              <p:nvSpPr>
                <p:cNvPr id="45" name="Freeform 45"/>
                <p:cNvSpPr/>
                <p:nvPr/>
              </p:nvSpPr>
              <p:spPr>
                <a:xfrm>
                  <a:off x="6408539" y="3493889"/>
                  <a:ext cx="117872" cy="32147"/>
                </a:xfrm>
                <a:custGeom>
                  <a:avLst/>
                  <a:gdLst/>
                  <a:ahLst/>
                  <a:cxnLst/>
                  <a:rect l="l" t="t" r="r" b="b"/>
                  <a:pathLst>
                    <a:path w="117872" h="32147">
                      <a:moveTo>
                        <a:pt x="117872" y="5358"/>
                      </a:moveTo>
                      <a:lnTo>
                        <a:pt x="117872" y="32147"/>
                      </a:lnTo>
                      <a:lnTo>
                        <a:pt x="0" y="32147"/>
                      </a:lnTo>
                      <a:lnTo>
                        <a:pt x="0" y="5358"/>
                      </a:lnTo>
                      <a:cubicBezTo>
                        <a:pt x="0" y="2399"/>
                        <a:pt x="2399" y="0"/>
                        <a:pt x="5358" y="0"/>
                      </a:cubicBezTo>
                      <a:lnTo>
                        <a:pt x="112514" y="0"/>
                      </a:lnTo>
                      <a:cubicBezTo>
                        <a:pt x="115473" y="0"/>
                        <a:pt x="117872" y="2399"/>
                        <a:pt x="117872" y="5358"/>
                      </a:cubicBezTo>
                      <a:close/>
                    </a:path>
                  </a:pathLst>
                </a:custGeom>
                <a:solidFill>
                  <a:srgbClr val="00838F">
                    <a:alpha val="20000"/>
                  </a:srgbClr>
                </a:solidFill>
                <a:ln>
                  <a:noFill/>
                </a:ln>
              </p:spPr>
            </p:sp>
            <p:sp>
              <p:nvSpPr>
                <p:cNvPr id="46" name="Freeform 46"/>
                <p:cNvSpPr/>
                <p:nvPr/>
              </p:nvSpPr>
              <p:spPr>
                <a:xfrm>
                  <a:off x="6403181" y="3477816"/>
                  <a:ext cx="128588" cy="139303"/>
                </a:xfrm>
                <a:custGeom>
                  <a:avLst/>
                  <a:gdLst/>
                  <a:ahLst/>
                  <a:cxnLst/>
                  <a:rect l="l" t="t" r="r" b="b"/>
                  <a:pathLst>
                    <a:path w="128588" h="139303">
                      <a:moveTo>
                        <a:pt x="117872" y="10716"/>
                      </a:moveTo>
                      <a:lnTo>
                        <a:pt x="101798" y="10716"/>
                      </a:lnTo>
                      <a:lnTo>
                        <a:pt x="101798" y="5358"/>
                      </a:lnTo>
                      <a:cubicBezTo>
                        <a:pt x="101798" y="2399"/>
                        <a:pt x="99400" y="0"/>
                        <a:pt x="96441" y="0"/>
                      </a:cubicBezTo>
                      <a:cubicBezTo>
                        <a:pt x="93482" y="0"/>
                        <a:pt x="91083" y="2399"/>
                        <a:pt x="91083" y="5358"/>
                      </a:cubicBezTo>
                      <a:lnTo>
                        <a:pt x="91083" y="10716"/>
                      </a:lnTo>
                      <a:lnTo>
                        <a:pt x="37505" y="10716"/>
                      </a:lnTo>
                      <a:lnTo>
                        <a:pt x="37505" y="5358"/>
                      </a:lnTo>
                      <a:cubicBezTo>
                        <a:pt x="37505" y="2399"/>
                        <a:pt x="35106" y="0"/>
                        <a:pt x="32147" y="0"/>
                      </a:cubicBezTo>
                      <a:cubicBezTo>
                        <a:pt x="29188" y="0"/>
                        <a:pt x="26789" y="2399"/>
                        <a:pt x="26789" y="5358"/>
                      </a:cubicBezTo>
                      <a:lnTo>
                        <a:pt x="26789" y="10716"/>
                      </a:lnTo>
                      <a:lnTo>
                        <a:pt x="10716" y="10716"/>
                      </a:lnTo>
                      <a:cubicBezTo>
                        <a:pt x="4798" y="10716"/>
                        <a:pt x="0" y="15513"/>
                        <a:pt x="0" y="21431"/>
                      </a:cubicBezTo>
                      <a:lnTo>
                        <a:pt x="0" y="128588"/>
                      </a:lnTo>
                      <a:cubicBezTo>
                        <a:pt x="0" y="134506"/>
                        <a:pt x="4798" y="139303"/>
                        <a:pt x="10716" y="139303"/>
                      </a:cubicBezTo>
                      <a:lnTo>
                        <a:pt x="117872" y="139303"/>
                      </a:lnTo>
                      <a:cubicBezTo>
                        <a:pt x="123790" y="139303"/>
                        <a:pt x="128588" y="134506"/>
                        <a:pt x="128588" y="128588"/>
                      </a:cubicBezTo>
                      <a:lnTo>
                        <a:pt x="128588" y="21431"/>
                      </a:lnTo>
                      <a:cubicBezTo>
                        <a:pt x="128588" y="15513"/>
                        <a:pt x="123790" y="10716"/>
                        <a:pt x="117872" y="10716"/>
                      </a:cubicBezTo>
                      <a:close/>
                      <a:moveTo>
                        <a:pt x="26789" y="21431"/>
                      </a:moveTo>
                      <a:lnTo>
                        <a:pt x="26789" y="26789"/>
                      </a:lnTo>
                      <a:cubicBezTo>
                        <a:pt x="26789" y="29748"/>
                        <a:pt x="29188" y="32147"/>
                        <a:pt x="32147" y="32147"/>
                      </a:cubicBezTo>
                      <a:cubicBezTo>
                        <a:pt x="35106" y="32147"/>
                        <a:pt x="37505" y="29748"/>
                        <a:pt x="37505" y="26789"/>
                      </a:cubicBezTo>
                      <a:lnTo>
                        <a:pt x="37505" y="21431"/>
                      </a:lnTo>
                      <a:lnTo>
                        <a:pt x="91083" y="21431"/>
                      </a:lnTo>
                      <a:lnTo>
                        <a:pt x="91083" y="26789"/>
                      </a:lnTo>
                      <a:cubicBezTo>
                        <a:pt x="91083" y="29748"/>
                        <a:pt x="93482" y="32147"/>
                        <a:pt x="96441" y="32147"/>
                      </a:cubicBezTo>
                      <a:cubicBezTo>
                        <a:pt x="99400" y="32147"/>
                        <a:pt x="101798" y="29748"/>
                        <a:pt x="101798" y="26789"/>
                      </a:cubicBezTo>
                      <a:lnTo>
                        <a:pt x="101798" y="21431"/>
                      </a:lnTo>
                      <a:lnTo>
                        <a:pt x="117872" y="21431"/>
                      </a:lnTo>
                      <a:lnTo>
                        <a:pt x="117872" y="42862"/>
                      </a:lnTo>
                      <a:lnTo>
                        <a:pt x="10716" y="42862"/>
                      </a:lnTo>
                      <a:lnTo>
                        <a:pt x="10716" y="21431"/>
                      </a:lnTo>
                      <a:close/>
                      <a:moveTo>
                        <a:pt x="117872" y="128588"/>
                      </a:moveTo>
                      <a:lnTo>
                        <a:pt x="10716" y="128588"/>
                      </a:lnTo>
                      <a:lnTo>
                        <a:pt x="10716" y="53578"/>
                      </a:lnTo>
                      <a:lnTo>
                        <a:pt x="117872" y="53578"/>
                      </a:lnTo>
                      <a:lnTo>
                        <a:pt x="117872" y="128588"/>
                      </a:lnTo>
                      <a:close/>
                    </a:path>
                  </a:pathLst>
                </a:custGeom>
                <a:solidFill>
                  <a:srgbClr val="00838F"/>
                </a:solidFill>
                <a:ln>
                  <a:noFill/>
                </a:ln>
              </p:spPr>
            </p:sp>
          </p:grpSp>
          <p:sp>
            <p:nvSpPr>
              <p:cNvPr id="48" name="TextBox 48"/>
              <p:cNvSpPr txBox="1"/>
              <p:nvPr/>
            </p:nvSpPr>
            <p:spPr>
              <a:xfrm>
                <a:off x="6633210" y="3470910"/>
                <a:ext cx="2838831"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进度编排：依赖关系+资源约束自动排程</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55" name="Group 55"/>
            <p:cNvGrpSpPr/>
            <p:nvPr/>
          </p:nvGrpSpPr>
          <p:grpSpPr>
            <a:xfrm>
              <a:off x="762000" y="3800475"/>
              <a:ext cx="5238750" cy="409575"/>
              <a:chOff x="762000" y="3800475"/>
              <a:chExt cx="5238750" cy="409575"/>
            </a:xfrm>
          </p:grpSpPr>
          <p:sp>
            <p:nvSpPr>
              <p:cNvPr id="50" name="Rectangle 50"/>
              <p:cNvSpPr/>
              <p:nvPr/>
            </p:nvSpPr>
            <p:spPr>
              <a:xfrm>
                <a:off x="762000" y="3800475"/>
                <a:ext cx="5238750" cy="400050"/>
              </a:xfrm>
              <a:prstGeom prst="roundRect">
                <a:avLst>
                  <a:gd name="adj" fmla="val 14286"/>
                </a:avLst>
              </a:prstGeom>
              <a:solidFill>
                <a:srgbClr val="1565C0">
                  <a:alpha val="6000"/>
                </a:srgbClr>
              </a:solidFill>
              <a:ln>
                <a:noFill/>
              </a:ln>
            </p:spPr>
          </p:sp>
          <p:grpSp>
            <p:nvGrpSpPr>
              <p:cNvPr id="53" name="Group 53"/>
              <p:cNvGrpSpPr/>
              <p:nvPr/>
            </p:nvGrpSpPr>
            <p:grpSpPr>
              <a:xfrm>
                <a:off x="968573" y="3983831"/>
                <a:ext cx="139303" cy="123230"/>
                <a:chOff x="968573" y="3983831"/>
                <a:chExt cx="139303" cy="123230"/>
              </a:xfrm>
            </p:grpSpPr>
            <p:sp>
              <p:nvSpPr>
                <p:cNvPr id="51" name="Freeform 51"/>
                <p:cNvSpPr/>
                <p:nvPr/>
              </p:nvSpPr>
              <p:spPr>
                <a:xfrm>
                  <a:off x="1054298" y="3989189"/>
                  <a:ext cx="37505" cy="112514"/>
                </a:xfrm>
                <a:custGeom>
                  <a:avLst/>
                  <a:gdLst/>
                  <a:ahLst/>
                  <a:cxnLst/>
                  <a:rect l="l" t="t" r="r" b="b"/>
                  <a:pathLst>
                    <a:path w="37505" h="112514">
                      <a:moveTo>
                        <a:pt x="37505" y="0"/>
                      </a:moveTo>
                      <a:lnTo>
                        <a:pt x="37505" y="112514"/>
                      </a:lnTo>
                      <a:lnTo>
                        <a:pt x="0" y="112514"/>
                      </a:lnTo>
                      <a:lnTo>
                        <a:pt x="0" y="0"/>
                      </a:lnTo>
                      <a:close/>
                    </a:path>
                  </a:pathLst>
                </a:custGeom>
                <a:solidFill>
                  <a:srgbClr val="1565C0">
                    <a:alpha val="20000"/>
                  </a:srgbClr>
                </a:solidFill>
                <a:ln>
                  <a:noFill/>
                </a:ln>
              </p:spPr>
            </p:sp>
            <p:sp>
              <p:nvSpPr>
                <p:cNvPr id="52" name="Freeform 52"/>
                <p:cNvSpPr/>
                <p:nvPr/>
              </p:nvSpPr>
              <p:spPr>
                <a:xfrm>
                  <a:off x="968573" y="3983831"/>
                  <a:ext cx="139303" cy="123230"/>
                </a:xfrm>
                <a:custGeom>
                  <a:avLst/>
                  <a:gdLst/>
                  <a:ahLst/>
                  <a:cxnLst/>
                  <a:rect l="l" t="t" r="r" b="b"/>
                  <a:pathLst>
                    <a:path w="139303" h="123230">
                      <a:moveTo>
                        <a:pt x="133945" y="112514"/>
                      </a:moveTo>
                      <a:lnTo>
                        <a:pt x="128588" y="112514"/>
                      </a:lnTo>
                      <a:lnTo>
                        <a:pt x="128588" y="5358"/>
                      </a:lnTo>
                      <a:cubicBezTo>
                        <a:pt x="128588" y="2399"/>
                        <a:pt x="126189" y="0"/>
                        <a:pt x="123230" y="0"/>
                      </a:cubicBezTo>
                      <a:lnTo>
                        <a:pt x="85725" y="0"/>
                      </a:lnTo>
                      <a:cubicBezTo>
                        <a:pt x="82766" y="0"/>
                        <a:pt x="80367" y="2399"/>
                        <a:pt x="80367" y="5358"/>
                      </a:cubicBezTo>
                      <a:lnTo>
                        <a:pt x="80367" y="32147"/>
                      </a:lnTo>
                      <a:lnTo>
                        <a:pt x="48220" y="32147"/>
                      </a:lnTo>
                      <a:cubicBezTo>
                        <a:pt x="45261" y="32147"/>
                        <a:pt x="42862" y="34546"/>
                        <a:pt x="42862" y="37505"/>
                      </a:cubicBezTo>
                      <a:lnTo>
                        <a:pt x="42862" y="64294"/>
                      </a:lnTo>
                      <a:lnTo>
                        <a:pt x="16073" y="64294"/>
                      </a:lnTo>
                      <a:cubicBezTo>
                        <a:pt x="13114" y="64294"/>
                        <a:pt x="10716" y="66693"/>
                        <a:pt x="10716" y="69652"/>
                      </a:cubicBezTo>
                      <a:lnTo>
                        <a:pt x="10716" y="112514"/>
                      </a:lnTo>
                      <a:lnTo>
                        <a:pt x="5358" y="112514"/>
                      </a:lnTo>
                      <a:cubicBezTo>
                        <a:pt x="2399" y="112514"/>
                        <a:pt x="0" y="114913"/>
                        <a:pt x="0" y="117872"/>
                      </a:cubicBezTo>
                      <a:cubicBezTo>
                        <a:pt x="0" y="120831"/>
                        <a:pt x="2399" y="123230"/>
                        <a:pt x="5358" y="123230"/>
                      </a:cubicBezTo>
                      <a:lnTo>
                        <a:pt x="133945" y="123230"/>
                      </a:lnTo>
                      <a:cubicBezTo>
                        <a:pt x="136904" y="123230"/>
                        <a:pt x="139303" y="120831"/>
                        <a:pt x="139303" y="117872"/>
                      </a:cubicBezTo>
                      <a:cubicBezTo>
                        <a:pt x="139303" y="114913"/>
                        <a:pt x="136904" y="112514"/>
                        <a:pt x="133945" y="112514"/>
                      </a:cubicBezTo>
                      <a:close/>
                      <a:moveTo>
                        <a:pt x="91083" y="10716"/>
                      </a:moveTo>
                      <a:lnTo>
                        <a:pt x="117872" y="10716"/>
                      </a:lnTo>
                      <a:lnTo>
                        <a:pt x="117872" y="112514"/>
                      </a:lnTo>
                      <a:lnTo>
                        <a:pt x="91083" y="112514"/>
                      </a:lnTo>
                      <a:close/>
                      <a:moveTo>
                        <a:pt x="53578" y="42862"/>
                      </a:moveTo>
                      <a:lnTo>
                        <a:pt x="80367" y="42862"/>
                      </a:lnTo>
                      <a:lnTo>
                        <a:pt x="80367" y="112514"/>
                      </a:lnTo>
                      <a:lnTo>
                        <a:pt x="53578" y="112514"/>
                      </a:lnTo>
                      <a:close/>
                      <a:moveTo>
                        <a:pt x="21431" y="75009"/>
                      </a:moveTo>
                      <a:lnTo>
                        <a:pt x="42862" y="75009"/>
                      </a:lnTo>
                      <a:lnTo>
                        <a:pt x="42862" y="112514"/>
                      </a:lnTo>
                      <a:lnTo>
                        <a:pt x="21431" y="112514"/>
                      </a:lnTo>
                      <a:close/>
                    </a:path>
                  </a:pathLst>
                </a:custGeom>
                <a:solidFill>
                  <a:srgbClr val="1565C0"/>
                </a:solidFill>
                <a:ln>
                  <a:noFill/>
                </a:ln>
              </p:spPr>
            </p:sp>
          </p:grpSp>
          <p:sp>
            <p:nvSpPr>
              <p:cNvPr id="54" name="TextBox 54"/>
              <p:cNvSpPr txBox="1"/>
              <p:nvPr/>
            </p:nvSpPr>
            <p:spPr>
              <a:xfrm>
                <a:off x="1203960" y="3966210"/>
                <a:ext cx="307086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风险识别：基于历史项目数据自动标记风险</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6191250" y="3800475"/>
              <a:ext cx="5238750" cy="400050"/>
              <a:chOff x="6191250" y="3800475"/>
              <a:chExt cx="5238750" cy="400050"/>
            </a:xfrm>
          </p:grpSpPr>
          <p:sp>
            <p:nvSpPr>
              <p:cNvPr id="56" name="Rectangle 56"/>
              <p:cNvSpPr/>
              <p:nvPr/>
            </p:nvSpPr>
            <p:spPr>
              <a:xfrm>
                <a:off x="6191250" y="3800475"/>
                <a:ext cx="5238750" cy="400050"/>
              </a:xfrm>
              <a:prstGeom prst="roundRect">
                <a:avLst>
                  <a:gd name="adj" fmla="val 14286"/>
                </a:avLst>
              </a:prstGeom>
              <a:solidFill>
                <a:srgbClr val="FF6F00">
                  <a:alpha val="8000"/>
                </a:srgbClr>
              </a:solidFill>
              <a:ln>
                <a:noFill/>
              </a:ln>
            </p:spPr>
          </p:sp>
          <p:sp>
            <p:nvSpPr>
              <p:cNvPr id="57" name="TextBox 57"/>
              <p:cNvSpPr txBox="1"/>
              <p:nvPr/>
            </p:nvSpPr>
            <p:spPr>
              <a:xfrm>
                <a:off x="6366510" y="3928110"/>
                <a:ext cx="3365697"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分工原则：人聚焦决策判断，AI负责信息处理</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grpSp>
      <p:grpSp>
        <p:nvGrpSpPr>
          <p:cNvPr id="62" name="Group 62"/>
          <p:cNvGrpSpPr/>
          <p:nvPr/>
        </p:nvGrpSpPr>
        <p:grpSpPr>
          <a:xfrm>
            <a:off x="571500" y="5095875"/>
            <a:ext cx="11049000" cy="476250"/>
            <a:chOff x="571500" y="5095875"/>
            <a:chExt cx="11049000" cy="476250"/>
          </a:xfrm>
        </p:grpSpPr>
        <p:sp>
          <p:nvSpPr>
            <p:cNvPr id="60" name="Rectangle 60"/>
            <p:cNvSpPr/>
            <p:nvPr/>
          </p:nvSpPr>
          <p:spPr>
            <a:xfrm>
              <a:off x="571500" y="5095875"/>
              <a:ext cx="11049000" cy="476250"/>
            </a:xfrm>
            <a:prstGeom prst="roundRect">
              <a:avLst>
                <a:gd name="adj" fmla="val 16000"/>
              </a:avLst>
            </a:prstGeom>
            <a:solidFill>
              <a:srgbClr val="1565C0">
                <a:alpha val="6000"/>
              </a:srgbClr>
            </a:solidFill>
            <a:ln>
              <a:noFill/>
            </a:ln>
          </p:spPr>
        </p:sp>
        <p:sp>
          <p:nvSpPr>
            <p:cNvPr id="61" name="TextBox 61"/>
            <p:cNvSpPr txBox="1"/>
            <p:nvPr/>
          </p:nvSpPr>
          <p:spPr>
            <a:xfrm>
              <a:off x="2741343" y="5261610"/>
              <a:ext cx="6709315"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将LLM从聊天工具升级为CMMI过程的智能协作者 —— 让AI赋能过程执行，让人聚焦决策判断</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63" name="TextBox 6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4" name="图片 6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400"/>
                                        <p:tgtEl>
                                          <p:spTgt spid="2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slide(fromBottom)">
                                      <p:cBhvr>
                                        <p:cTn id="11" dur="400"/>
                                        <p:tgtEl>
                                          <p:spTgt spid="5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9" grpId="0"/>
      <p:bldP spid="6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90063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LLM赋能CMMI的实施（二）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66" name="Group 66"/>
          <p:cNvGrpSpPr/>
          <p:nvPr/>
        </p:nvGrpSpPr>
        <p:grpSpPr>
          <a:xfrm>
            <a:off x="571500" y="857250"/>
            <a:ext cx="11049000" cy="2667000"/>
            <a:chOff x="571500" y="857250"/>
            <a:chExt cx="11049000" cy="2667000"/>
          </a:xfrm>
        </p:grpSpPr>
        <p:grpSp>
          <p:nvGrpSpPr>
            <p:cNvPr id="16" name="Group 16"/>
            <p:cNvGrpSpPr/>
            <p:nvPr/>
          </p:nvGrpSpPr>
          <p:grpSpPr>
            <a:xfrm>
              <a:off x="571500" y="857250"/>
              <a:ext cx="2667000" cy="1238250"/>
              <a:chOff x="571500" y="857250"/>
              <a:chExt cx="2667000" cy="1238250"/>
            </a:xfrm>
          </p:grpSpPr>
          <p:sp>
            <p:nvSpPr>
              <p:cNvPr id="10" name="Rectangle 10"/>
              <p:cNvSpPr/>
              <p:nvPr/>
            </p:nvSpPr>
            <p:spPr>
              <a:xfrm>
                <a:off x="571500" y="857250"/>
                <a:ext cx="2667000" cy="1238250"/>
              </a:xfrm>
              <a:prstGeom prst="roundRect">
                <a:avLst>
                  <a:gd name="adj" fmla="val 7692"/>
                </a:avLst>
              </a:prstGeom>
              <a:solidFill>
                <a:srgbClr val="FFFFFF"/>
              </a:solidFill>
              <a:ln>
                <a:noFill/>
              </a:ln>
            </p:spPr>
          </p:sp>
          <p:sp>
            <p:nvSpPr>
              <p:cNvPr id="11" name="Rectangle 11"/>
              <p:cNvSpPr/>
              <p:nvPr/>
            </p:nvSpPr>
            <p:spPr>
              <a:xfrm>
                <a:off x="571500" y="857250"/>
                <a:ext cx="2667000" cy="38100"/>
              </a:xfrm>
              <a:prstGeom prst="roundRect">
                <a:avLst>
                  <a:gd name="adj" fmla="val 50000"/>
                </a:avLst>
              </a:prstGeom>
              <a:solidFill>
                <a:srgbClr val="1565C0"/>
              </a:solidFill>
              <a:ln>
                <a:noFill/>
              </a:ln>
            </p:spPr>
          </p:sp>
          <p:sp>
            <p:nvSpPr>
              <p:cNvPr id="12" name="TextBox 12"/>
              <p:cNvSpPr txBox="1"/>
              <p:nvPr/>
            </p:nvSpPr>
            <p:spPr>
              <a:xfrm>
                <a:off x="1518374" y="1005364"/>
                <a:ext cx="773253" cy="259080"/>
              </a:xfrm>
              <a:prstGeom prst="rect">
                <a:avLst/>
              </a:prstGeom>
              <a:noFill/>
              <a:ln>
                <a:noFill/>
              </a:ln>
            </p:spPr>
            <p:txBody>
              <a:bodyPr wrap="none" lIns="0" tIns="0" rIns="0" bIns="0" anchor="t" anchorCtr="0">
                <a:spAutoFit/>
              </a:bodyPr>
              <a:lstStyle/>
              <a:p>
                <a:pPr algn="ctr"/>
                <a:r>
                  <a:rPr lang="zh-CN" sz="1275" b="1" dirty="0">
                    <a:solidFill>
                      <a:srgbClr val="1565C0"/>
                    </a:solidFill>
                    <a:latin typeface="Segoe UI" panose="020B0502040204020203"/>
                    <a:ea typeface="微软雅黑" panose="020B0503020204020204" charset="-122"/>
                    <a:cs typeface="Segoe UI" panose="020B0502040204020203"/>
                  </a:rPr>
                  <a:t>PLAN 2.1</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409700" y="1299210"/>
                <a:ext cx="99060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工作方法制定</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205675" y="1565910"/>
                <a:ext cx="139865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动态知识→静态检索</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45655" y="1756410"/>
                <a:ext cx="171869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→Prompt→AI→人审→沉淀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3" name="Group 23"/>
            <p:cNvGrpSpPr/>
            <p:nvPr/>
          </p:nvGrpSpPr>
          <p:grpSpPr>
            <a:xfrm>
              <a:off x="3429000" y="857250"/>
              <a:ext cx="2667000" cy="1238250"/>
              <a:chOff x="3429000" y="857250"/>
              <a:chExt cx="2667000" cy="1238250"/>
            </a:xfrm>
          </p:grpSpPr>
          <p:sp>
            <p:nvSpPr>
              <p:cNvPr id="17" name="Rectangle 17"/>
              <p:cNvSpPr/>
              <p:nvPr/>
            </p:nvSpPr>
            <p:spPr>
              <a:xfrm>
                <a:off x="3429000" y="857250"/>
                <a:ext cx="2667000" cy="1238250"/>
              </a:xfrm>
              <a:prstGeom prst="roundRect">
                <a:avLst>
                  <a:gd name="adj" fmla="val 7692"/>
                </a:avLst>
              </a:prstGeom>
              <a:solidFill>
                <a:srgbClr val="FFFFFF"/>
              </a:solidFill>
              <a:ln>
                <a:noFill/>
              </a:ln>
            </p:spPr>
          </p:sp>
          <p:sp>
            <p:nvSpPr>
              <p:cNvPr id="18" name="Rectangle 18"/>
              <p:cNvSpPr/>
              <p:nvPr/>
            </p:nvSpPr>
            <p:spPr>
              <a:xfrm>
                <a:off x="3429000" y="857250"/>
                <a:ext cx="2667000" cy="38100"/>
              </a:xfrm>
              <a:prstGeom prst="roundRect">
                <a:avLst>
                  <a:gd name="adj" fmla="val 50000"/>
                </a:avLst>
              </a:prstGeom>
              <a:solidFill>
                <a:srgbClr val="00838F"/>
              </a:solidFill>
              <a:ln>
                <a:noFill/>
              </a:ln>
            </p:spPr>
          </p:sp>
          <p:sp>
            <p:nvSpPr>
              <p:cNvPr id="19" name="TextBox 19"/>
              <p:cNvSpPr txBox="1"/>
              <p:nvPr/>
            </p:nvSpPr>
            <p:spPr>
              <a:xfrm>
                <a:off x="4375874" y="1005364"/>
                <a:ext cx="773253" cy="259080"/>
              </a:xfrm>
              <a:prstGeom prst="rect">
                <a:avLst/>
              </a:prstGeom>
              <a:noFill/>
              <a:ln>
                <a:noFill/>
              </a:ln>
            </p:spPr>
            <p:txBody>
              <a:bodyPr wrap="none" lIns="0" tIns="0" rIns="0" bIns="0" anchor="t" anchorCtr="0">
                <a:spAutoFit/>
              </a:bodyPr>
              <a:lstStyle/>
              <a:p>
                <a:pPr algn="ctr"/>
                <a:r>
                  <a:rPr lang="zh-CN" sz="1275" b="1" dirty="0">
                    <a:solidFill>
                      <a:srgbClr val="00838F"/>
                    </a:solidFill>
                    <a:latin typeface="Segoe UI" panose="020B0502040204020203"/>
                    <a:ea typeface="微软雅黑" panose="020B0503020204020204" charset="-122"/>
                    <a:cs typeface="Segoe UI" panose="020B0502040204020203"/>
                  </a:rPr>
                  <a:t>PLAN 2.2</a:t>
                </a:r>
                <a:endParaRPr lang="zh-CN" sz="1275" b="1" dirty="0">
                  <a:solidFill>
                    <a:srgbClr val="00838F"/>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4427220" y="129921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技能规划</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107180" y="1565910"/>
                <a:ext cx="13106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技能矩阵自动匹配</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191190" y="1756410"/>
                <a:ext cx="1142619"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→AI推荐→人确认</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0" name="Group 30"/>
            <p:cNvGrpSpPr/>
            <p:nvPr/>
          </p:nvGrpSpPr>
          <p:grpSpPr>
            <a:xfrm>
              <a:off x="6286500" y="857250"/>
              <a:ext cx="2667000" cy="1238250"/>
              <a:chOff x="6286500" y="857250"/>
              <a:chExt cx="2667000" cy="1238250"/>
            </a:xfrm>
          </p:grpSpPr>
          <p:sp>
            <p:nvSpPr>
              <p:cNvPr id="24" name="Rectangle 24"/>
              <p:cNvSpPr/>
              <p:nvPr/>
            </p:nvSpPr>
            <p:spPr>
              <a:xfrm>
                <a:off x="6286500" y="857250"/>
                <a:ext cx="2667000" cy="1238250"/>
              </a:xfrm>
              <a:prstGeom prst="roundRect">
                <a:avLst>
                  <a:gd name="adj" fmla="val 7692"/>
                </a:avLst>
              </a:prstGeom>
              <a:solidFill>
                <a:srgbClr val="FFFFFF"/>
              </a:solidFill>
              <a:ln>
                <a:noFill/>
              </a:ln>
            </p:spPr>
          </p:sp>
          <p:sp>
            <p:nvSpPr>
              <p:cNvPr id="25" name="Rectangle 25"/>
              <p:cNvSpPr/>
              <p:nvPr/>
            </p:nvSpPr>
            <p:spPr>
              <a:xfrm>
                <a:off x="6286500" y="857250"/>
                <a:ext cx="2667000" cy="38100"/>
              </a:xfrm>
              <a:prstGeom prst="roundRect">
                <a:avLst>
                  <a:gd name="adj" fmla="val 50000"/>
                </a:avLst>
              </a:prstGeom>
              <a:solidFill>
                <a:srgbClr val="FF6F00"/>
              </a:solidFill>
              <a:ln>
                <a:noFill/>
              </a:ln>
            </p:spPr>
          </p:sp>
          <p:sp>
            <p:nvSpPr>
              <p:cNvPr id="26" name="TextBox 26"/>
              <p:cNvSpPr txBox="1"/>
              <p:nvPr/>
            </p:nvSpPr>
            <p:spPr>
              <a:xfrm>
                <a:off x="7233374" y="1005364"/>
                <a:ext cx="773253" cy="259080"/>
              </a:xfrm>
              <a:prstGeom prst="rect">
                <a:avLst/>
              </a:prstGeom>
              <a:noFill/>
              <a:ln>
                <a:noFill/>
              </a:ln>
            </p:spPr>
            <p:txBody>
              <a:bodyPr wrap="none" lIns="0" tIns="0" rIns="0" bIns="0" anchor="t" anchorCtr="0">
                <a:spAutoFit/>
              </a:bodyPr>
              <a:lstStyle/>
              <a:p>
                <a:pPr algn="ctr"/>
                <a:r>
                  <a:rPr lang="zh-CN" sz="1275" b="1" dirty="0">
                    <a:solidFill>
                      <a:srgbClr val="FF6F00"/>
                    </a:solidFill>
                    <a:latin typeface="Segoe UI" panose="020B0502040204020203"/>
                    <a:ea typeface="微软雅黑" panose="020B0503020204020204" charset="-122"/>
                    <a:cs typeface="Segoe UI" panose="020B0502040204020203"/>
                  </a:rPr>
                  <a:t>PLAN 2.3</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7124700" y="1299210"/>
                <a:ext cx="99060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预算进度编制</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6840664" y="1565910"/>
                <a:ext cx="155867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历史数据+功能点估算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7172706" y="1756410"/>
                <a:ext cx="894588"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→AI生成排程</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7" name="Group 37"/>
            <p:cNvGrpSpPr/>
            <p:nvPr/>
          </p:nvGrpSpPr>
          <p:grpSpPr>
            <a:xfrm>
              <a:off x="9144000" y="857250"/>
              <a:ext cx="2476500" cy="1238250"/>
              <a:chOff x="9144000" y="857250"/>
              <a:chExt cx="2476500" cy="1238250"/>
            </a:xfrm>
          </p:grpSpPr>
          <p:sp>
            <p:nvSpPr>
              <p:cNvPr id="31" name="Rectangle 31"/>
              <p:cNvSpPr/>
              <p:nvPr/>
            </p:nvSpPr>
            <p:spPr>
              <a:xfrm>
                <a:off x="9144000" y="857250"/>
                <a:ext cx="2476500" cy="1238250"/>
              </a:xfrm>
              <a:prstGeom prst="roundRect">
                <a:avLst>
                  <a:gd name="adj" fmla="val 7692"/>
                </a:avLst>
              </a:prstGeom>
              <a:solidFill>
                <a:srgbClr val="FFFFFF"/>
              </a:solidFill>
              <a:ln>
                <a:noFill/>
              </a:ln>
            </p:spPr>
          </p:sp>
          <p:sp>
            <p:nvSpPr>
              <p:cNvPr id="32" name="Rectangle 32"/>
              <p:cNvSpPr/>
              <p:nvPr/>
            </p:nvSpPr>
            <p:spPr>
              <a:xfrm>
                <a:off x="9144000" y="857250"/>
                <a:ext cx="2476500" cy="38100"/>
              </a:xfrm>
              <a:prstGeom prst="roundRect">
                <a:avLst>
                  <a:gd name="adj" fmla="val 50000"/>
                </a:avLst>
              </a:prstGeom>
              <a:solidFill>
                <a:srgbClr val="2E7D32"/>
              </a:solidFill>
              <a:ln>
                <a:noFill/>
              </a:ln>
            </p:spPr>
          </p:sp>
          <p:sp>
            <p:nvSpPr>
              <p:cNvPr id="33" name="TextBox 33"/>
              <p:cNvSpPr txBox="1"/>
              <p:nvPr/>
            </p:nvSpPr>
            <p:spPr>
              <a:xfrm>
                <a:off x="9995624" y="1005364"/>
                <a:ext cx="773253"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Segoe UI" panose="020B0502040204020203"/>
                    <a:ea typeface="微软雅黑" panose="020B0503020204020204" charset="-122"/>
                    <a:cs typeface="Segoe UI" panose="020B0502040204020203"/>
                  </a:rPr>
                  <a:t>PLAN 2.4</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9966960" y="1299210"/>
                <a:ext cx="83058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干系人参与</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9806940" y="1565910"/>
                <a:ext cx="115062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自动识别干系人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9842945" y="1756410"/>
                <a:ext cx="107861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→生成参与计划</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4" name="Group 44"/>
            <p:cNvGrpSpPr/>
            <p:nvPr/>
          </p:nvGrpSpPr>
          <p:grpSpPr>
            <a:xfrm>
              <a:off x="571500" y="2286000"/>
              <a:ext cx="2667000" cy="1238250"/>
              <a:chOff x="571500" y="2286000"/>
              <a:chExt cx="2667000" cy="1238250"/>
            </a:xfrm>
          </p:grpSpPr>
          <p:sp>
            <p:nvSpPr>
              <p:cNvPr id="38" name="Rectangle 38"/>
              <p:cNvSpPr/>
              <p:nvPr/>
            </p:nvSpPr>
            <p:spPr>
              <a:xfrm>
                <a:off x="571500" y="2286000"/>
                <a:ext cx="2667000" cy="1238250"/>
              </a:xfrm>
              <a:prstGeom prst="roundRect">
                <a:avLst>
                  <a:gd name="adj" fmla="val 7692"/>
                </a:avLst>
              </a:prstGeom>
              <a:solidFill>
                <a:srgbClr val="FFFFFF"/>
              </a:solidFill>
              <a:ln>
                <a:noFill/>
              </a:ln>
            </p:spPr>
          </p:sp>
          <p:sp>
            <p:nvSpPr>
              <p:cNvPr id="39" name="Rectangle 39"/>
              <p:cNvSpPr/>
              <p:nvPr/>
            </p:nvSpPr>
            <p:spPr>
              <a:xfrm>
                <a:off x="571500" y="2286000"/>
                <a:ext cx="2667000" cy="38100"/>
              </a:xfrm>
              <a:prstGeom prst="roundRect">
                <a:avLst>
                  <a:gd name="adj" fmla="val 50000"/>
                </a:avLst>
              </a:prstGeom>
              <a:solidFill>
                <a:srgbClr val="1565C0"/>
              </a:solidFill>
              <a:ln>
                <a:noFill/>
              </a:ln>
            </p:spPr>
          </p:sp>
          <p:sp>
            <p:nvSpPr>
              <p:cNvPr id="40" name="TextBox 40"/>
              <p:cNvSpPr txBox="1"/>
              <p:nvPr/>
            </p:nvSpPr>
            <p:spPr>
              <a:xfrm>
                <a:off x="1518374" y="2434114"/>
                <a:ext cx="773253" cy="259080"/>
              </a:xfrm>
              <a:prstGeom prst="rect">
                <a:avLst/>
              </a:prstGeom>
              <a:noFill/>
              <a:ln>
                <a:noFill/>
              </a:ln>
            </p:spPr>
            <p:txBody>
              <a:bodyPr wrap="none" lIns="0" tIns="0" rIns="0" bIns="0" anchor="t" anchorCtr="0">
                <a:spAutoFit/>
              </a:bodyPr>
              <a:lstStyle/>
              <a:p>
                <a:pPr algn="ctr"/>
                <a:r>
                  <a:rPr lang="zh-CN" sz="1275" b="1" dirty="0">
                    <a:solidFill>
                      <a:srgbClr val="1565C0"/>
                    </a:solidFill>
                    <a:latin typeface="Segoe UI" panose="020B0502040204020203"/>
                    <a:ea typeface="微软雅黑" panose="020B0503020204020204" charset="-122"/>
                    <a:cs typeface="Segoe UI" panose="020B0502040204020203"/>
                  </a:rPr>
                  <a:t>PLAN 2.5</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1569720" y="272796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移交策划</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1341692" y="2994660"/>
                <a:ext cx="1126617"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AI生成移交清单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445704" y="3185160"/>
                <a:ext cx="91859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→人审核确认</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1" name="Group 51"/>
            <p:cNvGrpSpPr/>
            <p:nvPr/>
          </p:nvGrpSpPr>
          <p:grpSpPr>
            <a:xfrm>
              <a:off x="3429000" y="2286000"/>
              <a:ext cx="2667000" cy="1238250"/>
              <a:chOff x="3429000" y="2286000"/>
              <a:chExt cx="2667000" cy="1238250"/>
            </a:xfrm>
          </p:grpSpPr>
          <p:sp>
            <p:nvSpPr>
              <p:cNvPr id="45" name="Rectangle 45"/>
              <p:cNvSpPr/>
              <p:nvPr/>
            </p:nvSpPr>
            <p:spPr>
              <a:xfrm>
                <a:off x="3429000" y="2286000"/>
                <a:ext cx="2667000" cy="1238250"/>
              </a:xfrm>
              <a:prstGeom prst="roundRect">
                <a:avLst>
                  <a:gd name="adj" fmla="val 7692"/>
                </a:avLst>
              </a:prstGeom>
              <a:solidFill>
                <a:srgbClr val="FFFFFF"/>
              </a:solidFill>
              <a:ln>
                <a:noFill/>
              </a:ln>
            </p:spPr>
          </p:sp>
          <p:sp>
            <p:nvSpPr>
              <p:cNvPr id="46" name="Rectangle 46"/>
              <p:cNvSpPr/>
              <p:nvPr/>
            </p:nvSpPr>
            <p:spPr>
              <a:xfrm>
                <a:off x="3429000" y="2286000"/>
                <a:ext cx="2667000" cy="38100"/>
              </a:xfrm>
              <a:prstGeom prst="roundRect">
                <a:avLst>
                  <a:gd name="adj" fmla="val 50000"/>
                </a:avLst>
              </a:prstGeom>
              <a:solidFill>
                <a:srgbClr val="00838F"/>
              </a:solidFill>
              <a:ln>
                <a:noFill/>
              </a:ln>
            </p:spPr>
          </p:sp>
          <p:sp>
            <p:nvSpPr>
              <p:cNvPr id="47" name="TextBox 47"/>
              <p:cNvSpPr txBox="1"/>
              <p:nvPr/>
            </p:nvSpPr>
            <p:spPr>
              <a:xfrm>
                <a:off x="4375874" y="2434114"/>
                <a:ext cx="773253" cy="259080"/>
              </a:xfrm>
              <a:prstGeom prst="rect">
                <a:avLst/>
              </a:prstGeom>
              <a:noFill/>
              <a:ln>
                <a:noFill/>
              </a:ln>
            </p:spPr>
            <p:txBody>
              <a:bodyPr wrap="none" lIns="0" tIns="0" rIns="0" bIns="0" anchor="t" anchorCtr="0">
                <a:spAutoFit/>
              </a:bodyPr>
              <a:lstStyle/>
              <a:p>
                <a:pPr algn="ctr"/>
                <a:r>
                  <a:rPr lang="zh-CN" sz="1275" b="1" dirty="0">
                    <a:solidFill>
                      <a:srgbClr val="00838F"/>
                    </a:solidFill>
                    <a:latin typeface="Segoe UI" panose="020B0502040204020203"/>
                    <a:ea typeface="微软雅黑" panose="020B0503020204020204" charset="-122"/>
                    <a:cs typeface="Segoe UI" panose="020B0502040204020203"/>
                  </a:rPr>
                  <a:t>PLAN 3.1</a:t>
                </a:r>
                <a:endParaRPr lang="zh-CN" sz="1275" b="1" dirty="0">
                  <a:solidFill>
                    <a:srgbClr val="00838F"/>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4427220" y="272796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资源协调</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3903154" y="2994660"/>
                <a:ext cx="171869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资源依赖分析+冲突检测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4155186" y="3185160"/>
                <a:ext cx="1214628"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→AI提出协调方案</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6286500" y="2286000"/>
              <a:ext cx="2667000" cy="1238250"/>
              <a:chOff x="6286500" y="2286000"/>
              <a:chExt cx="2667000" cy="1238250"/>
            </a:xfrm>
          </p:grpSpPr>
          <p:sp>
            <p:nvSpPr>
              <p:cNvPr id="52" name="Rectangle 52"/>
              <p:cNvSpPr/>
              <p:nvPr/>
            </p:nvSpPr>
            <p:spPr>
              <a:xfrm>
                <a:off x="6286500" y="2286000"/>
                <a:ext cx="2667000" cy="1238250"/>
              </a:xfrm>
              <a:prstGeom prst="roundRect">
                <a:avLst>
                  <a:gd name="adj" fmla="val 7692"/>
                </a:avLst>
              </a:prstGeom>
              <a:solidFill>
                <a:srgbClr val="FFFFFF"/>
              </a:solidFill>
              <a:ln>
                <a:noFill/>
              </a:ln>
            </p:spPr>
          </p:sp>
          <p:sp>
            <p:nvSpPr>
              <p:cNvPr id="53" name="Rectangle 53"/>
              <p:cNvSpPr/>
              <p:nvPr/>
            </p:nvSpPr>
            <p:spPr>
              <a:xfrm>
                <a:off x="6286500" y="2286000"/>
                <a:ext cx="2667000" cy="38100"/>
              </a:xfrm>
              <a:prstGeom prst="roundRect">
                <a:avLst>
                  <a:gd name="adj" fmla="val 50000"/>
                </a:avLst>
              </a:prstGeom>
              <a:solidFill>
                <a:srgbClr val="FF6F00"/>
              </a:solidFill>
              <a:ln>
                <a:noFill/>
              </a:ln>
            </p:spPr>
          </p:sp>
          <p:sp>
            <p:nvSpPr>
              <p:cNvPr id="54" name="TextBox 54"/>
              <p:cNvSpPr txBox="1"/>
              <p:nvPr/>
            </p:nvSpPr>
            <p:spPr>
              <a:xfrm>
                <a:off x="7233374" y="2434114"/>
                <a:ext cx="773253" cy="259080"/>
              </a:xfrm>
              <a:prstGeom prst="rect">
                <a:avLst/>
              </a:prstGeom>
              <a:noFill/>
              <a:ln>
                <a:noFill/>
              </a:ln>
            </p:spPr>
            <p:txBody>
              <a:bodyPr wrap="none" lIns="0" tIns="0" rIns="0" bIns="0" anchor="t" anchorCtr="0">
                <a:spAutoFit/>
              </a:bodyPr>
              <a:lstStyle/>
              <a:p>
                <a:pPr algn="ctr"/>
                <a:r>
                  <a:rPr lang="zh-CN" sz="1275" b="1" dirty="0">
                    <a:solidFill>
                      <a:srgbClr val="FF6F00"/>
                    </a:solidFill>
                    <a:latin typeface="Segoe UI" panose="020B0502040204020203"/>
                    <a:ea typeface="微软雅黑" panose="020B0503020204020204" charset="-122"/>
                    <a:cs typeface="Segoe UI" panose="020B0502040204020203"/>
                  </a:rPr>
                  <a:t>PLAN 3.2</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7284720" y="272796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计划集成</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7044690" y="2994660"/>
                <a:ext cx="115062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多计划自动合并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6956679" y="3185160"/>
                <a:ext cx="1326642"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→冲突检测→人决策</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65" name="Group 65"/>
            <p:cNvGrpSpPr/>
            <p:nvPr/>
          </p:nvGrpSpPr>
          <p:grpSpPr>
            <a:xfrm>
              <a:off x="9144000" y="2286000"/>
              <a:ext cx="2476500" cy="1238250"/>
              <a:chOff x="9144000" y="2286000"/>
              <a:chExt cx="2476500" cy="1238250"/>
            </a:xfrm>
          </p:grpSpPr>
          <p:sp>
            <p:nvSpPr>
              <p:cNvPr id="59" name="Rectangle 59"/>
              <p:cNvSpPr/>
              <p:nvPr/>
            </p:nvSpPr>
            <p:spPr>
              <a:xfrm>
                <a:off x="9144000" y="2286000"/>
                <a:ext cx="2476500" cy="1238250"/>
              </a:xfrm>
              <a:prstGeom prst="roundRect">
                <a:avLst>
                  <a:gd name="adj" fmla="val 7692"/>
                </a:avLst>
              </a:prstGeom>
              <a:solidFill>
                <a:srgbClr val="FFFFFF"/>
              </a:solidFill>
              <a:ln>
                <a:noFill/>
              </a:ln>
            </p:spPr>
          </p:sp>
          <p:sp>
            <p:nvSpPr>
              <p:cNvPr id="60" name="Rectangle 60"/>
              <p:cNvSpPr/>
              <p:nvPr/>
            </p:nvSpPr>
            <p:spPr>
              <a:xfrm>
                <a:off x="9144000" y="2286000"/>
                <a:ext cx="2476500" cy="38100"/>
              </a:xfrm>
              <a:prstGeom prst="roundRect">
                <a:avLst>
                  <a:gd name="adj" fmla="val 50000"/>
                </a:avLst>
              </a:prstGeom>
              <a:solidFill>
                <a:srgbClr val="2E7D32"/>
              </a:solidFill>
              <a:ln>
                <a:noFill/>
              </a:ln>
            </p:spPr>
          </p:sp>
          <p:sp>
            <p:nvSpPr>
              <p:cNvPr id="61" name="TextBox 61"/>
              <p:cNvSpPr txBox="1"/>
              <p:nvPr/>
            </p:nvSpPr>
            <p:spPr>
              <a:xfrm>
                <a:off x="9995624" y="2434114"/>
                <a:ext cx="773253"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Segoe UI" panose="020B0502040204020203"/>
                    <a:ea typeface="微软雅黑" panose="020B0503020204020204" charset="-122"/>
                    <a:cs typeface="Segoe UI" panose="020B0502040204020203"/>
                  </a:rPr>
                  <a:t>PLAN 4.1</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62" name="TextBox 62"/>
              <p:cNvSpPr txBox="1"/>
              <p:nvPr/>
            </p:nvSpPr>
            <p:spPr>
              <a:xfrm>
                <a:off x="9886950" y="2727960"/>
                <a:ext cx="99060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量化过程设计</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9682924" y="2994660"/>
                <a:ext cx="139865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基线建立+指标定义</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4" name="TextBox 64"/>
              <p:cNvSpPr txBox="1"/>
              <p:nvPr/>
            </p:nvSpPr>
            <p:spPr>
              <a:xfrm>
                <a:off x="9774936" y="3185160"/>
                <a:ext cx="1214628"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→AI辅助量化分析</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69" name="Group 69"/>
          <p:cNvGrpSpPr/>
          <p:nvPr/>
        </p:nvGrpSpPr>
        <p:grpSpPr>
          <a:xfrm>
            <a:off x="571500" y="3762375"/>
            <a:ext cx="11049000" cy="523875"/>
            <a:chOff x="571500" y="3762375"/>
            <a:chExt cx="11049000" cy="523875"/>
          </a:xfrm>
        </p:grpSpPr>
        <p:sp>
          <p:nvSpPr>
            <p:cNvPr id="67" name="Rectangle 67"/>
            <p:cNvSpPr/>
            <p:nvPr/>
          </p:nvSpPr>
          <p:spPr>
            <a:xfrm>
              <a:off x="571500" y="3762375"/>
              <a:ext cx="11049000" cy="523875"/>
            </a:xfrm>
            <a:prstGeom prst="roundRect">
              <a:avLst>
                <a:gd name="adj" fmla="val 14545"/>
              </a:avLst>
            </a:prstGeom>
            <a:solidFill>
              <a:srgbClr val="1565C0">
                <a:alpha val="6000"/>
              </a:srgbClr>
            </a:solidFill>
            <a:ln>
              <a:noFill/>
            </a:ln>
          </p:spPr>
        </p:sp>
        <p:sp>
          <p:nvSpPr>
            <p:cNvPr id="68" name="TextBox 68"/>
            <p:cNvSpPr txBox="1"/>
            <p:nvPr/>
          </p:nvSpPr>
          <p:spPr>
            <a:xfrm>
              <a:off x="2291886" y="3947160"/>
              <a:ext cx="7608227"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每条实践遵循统一模式：动态知识输入 → 静态知识检索 → 结构化Prompt → AI执行 → 人审核 → 知识沉淀</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0" name="TextBox 70"/>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1" name="图片 7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fade">
                                      <p:cBhvr>
                                        <p:cTn id="11"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2955512"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当Harness遇上CMMI</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571500" y="904875"/>
            <a:ext cx="11049000" cy="342900"/>
            <a:chOff x="571500" y="904875"/>
            <a:chExt cx="11049000" cy="342900"/>
          </a:xfrm>
        </p:grpSpPr>
        <p:sp>
          <p:nvSpPr>
            <p:cNvPr id="10" name="Rectangle 10"/>
            <p:cNvSpPr/>
            <p:nvPr/>
          </p:nvSpPr>
          <p:spPr>
            <a:xfrm>
              <a:off x="571500" y="904875"/>
              <a:ext cx="3810000" cy="342900"/>
            </a:xfrm>
            <a:prstGeom prst="roundRect">
              <a:avLst>
                <a:gd name="adj" fmla="val 16667"/>
              </a:avLst>
            </a:prstGeom>
            <a:solidFill>
              <a:srgbClr val="1565C0"/>
            </a:solidFill>
            <a:ln>
              <a:noFill/>
            </a:ln>
          </p:spPr>
        </p:sp>
        <p:sp>
          <p:nvSpPr>
            <p:cNvPr id="11" name="TextBox 11"/>
            <p:cNvSpPr txBox="1"/>
            <p:nvPr/>
          </p:nvSpPr>
          <p:spPr>
            <a:xfrm>
              <a:off x="1843783" y="1003935"/>
              <a:ext cx="126543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CMMI关键过程域</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2" name="Rectangle 12"/>
            <p:cNvSpPr/>
            <p:nvPr/>
          </p:nvSpPr>
          <p:spPr>
            <a:xfrm>
              <a:off x="4381500" y="904875"/>
              <a:ext cx="952500" cy="342900"/>
            </a:xfrm>
            <a:prstGeom prst="roundRect">
              <a:avLst>
                <a:gd name="adj" fmla="val 16667"/>
              </a:avLst>
            </a:prstGeom>
            <a:solidFill>
              <a:srgbClr val="CFD8DC"/>
            </a:solidFill>
            <a:ln>
              <a:noFill/>
            </a:ln>
          </p:spPr>
        </p:sp>
        <p:sp>
          <p:nvSpPr>
            <p:cNvPr id="13" name="TextBox 13"/>
            <p:cNvSpPr txBox="1"/>
            <p:nvPr/>
          </p:nvSpPr>
          <p:spPr>
            <a:xfrm>
              <a:off x="4796304" y="1003935"/>
              <a:ext cx="122892" cy="243840"/>
            </a:xfrm>
            <a:prstGeom prst="rect">
              <a:avLst/>
            </a:prstGeom>
            <a:noFill/>
            <a:ln>
              <a:noFill/>
            </a:ln>
          </p:spPr>
          <p:txBody>
            <a:bodyPr wrap="none" lIns="0" tIns="0" rIns="0" bIns="0" anchor="t" anchorCtr="0">
              <a:spAutoFit/>
            </a:bodyPr>
            <a:lstStyle/>
            <a:p>
              <a:pPr algn="ctr"/>
              <a:r>
                <a:rPr lang="zh-CN" sz="1200" b="1" dirty="0">
                  <a:solidFill>
                    <a:srgbClr val="546E7A"/>
                  </a:solidFill>
                  <a:latin typeface="Segoe UI" panose="020B0502040204020203"/>
                  <a:ea typeface="微软雅黑" panose="020B0503020204020204" charset="-122"/>
                  <a:cs typeface="Segoe UI" panose="020B0502040204020203"/>
                </a:rPr>
                <a:t>→</a:t>
              </a:r>
              <a:endParaRPr lang="zh-CN" sz="1200" b="1" dirty="0">
                <a:solidFill>
                  <a:srgbClr val="546E7A"/>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5334000" y="904875"/>
              <a:ext cx="6286500" cy="342900"/>
            </a:xfrm>
            <a:prstGeom prst="roundRect">
              <a:avLst>
                <a:gd name="adj" fmla="val 16667"/>
              </a:avLst>
            </a:prstGeom>
            <a:solidFill>
              <a:srgbClr val="00838F"/>
            </a:solidFill>
            <a:ln>
              <a:noFill/>
            </a:ln>
          </p:spPr>
        </p:sp>
        <p:sp>
          <p:nvSpPr>
            <p:cNvPr id="15" name="TextBox 15"/>
            <p:cNvSpPr txBox="1"/>
            <p:nvPr/>
          </p:nvSpPr>
          <p:spPr>
            <a:xfrm>
              <a:off x="7802528" y="1003935"/>
              <a:ext cx="134944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Harness工程实践</a:t>
              </a:r>
              <a:endParaRPr lang="zh-CN" sz="1200" b="1" dirty="0">
                <a:solidFill>
                  <a:srgbClr val="FFFFFF"/>
                </a:solidFill>
                <a:latin typeface="Segoe UI" panose="020B0502040204020203"/>
                <a:ea typeface="微软雅黑" panose="020B0503020204020204" charset="-122"/>
                <a:cs typeface="Segoe UI" panose="020B0502040204020203"/>
              </a:endParaRPr>
            </a:p>
          </p:txBody>
        </p:sp>
      </p:grpSp>
      <p:grpSp>
        <p:nvGrpSpPr>
          <p:cNvPr id="21" name="Group 21"/>
          <p:cNvGrpSpPr/>
          <p:nvPr/>
        </p:nvGrpSpPr>
        <p:grpSpPr>
          <a:xfrm>
            <a:off x="571500" y="1381125"/>
            <a:ext cx="11049000" cy="457200"/>
            <a:chOff x="571500" y="1381125"/>
            <a:chExt cx="11049000" cy="457200"/>
          </a:xfrm>
        </p:grpSpPr>
        <p:sp>
          <p:nvSpPr>
            <p:cNvPr id="17" name="Rectangle 17"/>
            <p:cNvSpPr/>
            <p:nvPr/>
          </p:nvSpPr>
          <p:spPr>
            <a:xfrm>
              <a:off x="571500" y="1381125"/>
              <a:ext cx="11049000" cy="457200"/>
            </a:xfrm>
            <a:prstGeom prst="roundRect">
              <a:avLst>
                <a:gd name="adj" fmla="val 12500"/>
              </a:avLst>
            </a:prstGeom>
            <a:solidFill>
              <a:srgbClr val="FFFFFF"/>
            </a:solidFill>
            <a:ln>
              <a:noFill/>
            </a:ln>
          </p:spPr>
        </p:sp>
        <p:sp>
          <p:nvSpPr>
            <p:cNvPr id="18" name="TextBox 18"/>
            <p:cNvSpPr txBox="1"/>
            <p:nvPr/>
          </p:nvSpPr>
          <p:spPr>
            <a:xfrm>
              <a:off x="842962" y="1535906"/>
              <a:ext cx="1312360"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RDM 需求开发管理</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4462462" y="15359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5319712" y="1535906"/>
              <a:ext cx="363652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Spec规范 + 需求Skill —— 需求结构化、可追溯、可校验</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6" name="Group 26"/>
          <p:cNvGrpSpPr/>
          <p:nvPr/>
        </p:nvGrpSpPr>
        <p:grpSpPr>
          <a:xfrm>
            <a:off x="571500" y="1952625"/>
            <a:ext cx="11049000" cy="457200"/>
            <a:chOff x="571500" y="1952625"/>
            <a:chExt cx="11049000" cy="457200"/>
          </a:xfrm>
        </p:grpSpPr>
        <p:sp>
          <p:nvSpPr>
            <p:cNvPr id="22" name="Rectangle 22"/>
            <p:cNvSpPr/>
            <p:nvPr/>
          </p:nvSpPr>
          <p:spPr>
            <a:xfrm>
              <a:off x="571500" y="1952625"/>
              <a:ext cx="11049000" cy="457200"/>
            </a:xfrm>
            <a:prstGeom prst="roundRect">
              <a:avLst>
                <a:gd name="adj" fmla="val 12500"/>
              </a:avLst>
            </a:prstGeom>
            <a:solidFill>
              <a:srgbClr val="FFFFFF"/>
            </a:solidFill>
            <a:ln>
              <a:noFill/>
            </a:ln>
          </p:spPr>
        </p:sp>
        <p:sp>
          <p:nvSpPr>
            <p:cNvPr id="23" name="TextBox 23"/>
            <p:cNvSpPr txBox="1"/>
            <p:nvPr/>
          </p:nvSpPr>
          <p:spPr>
            <a:xfrm>
              <a:off x="842962" y="2107406"/>
              <a:ext cx="150138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PLAN+MC 计划与监控</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4462462" y="21074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5319712" y="2107406"/>
              <a:ext cx="39815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Rules规则 + 工作流Skill —— 计划生成、进度监控、偏差分析</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571500" y="2524125"/>
            <a:ext cx="11049000" cy="457200"/>
            <a:chOff x="571500" y="2524125"/>
            <a:chExt cx="11049000" cy="457200"/>
          </a:xfrm>
        </p:grpSpPr>
        <p:sp>
          <p:nvSpPr>
            <p:cNvPr id="27" name="Rectangle 27"/>
            <p:cNvSpPr/>
            <p:nvPr/>
          </p:nvSpPr>
          <p:spPr>
            <a:xfrm>
              <a:off x="571500" y="2524125"/>
              <a:ext cx="11049000" cy="457200"/>
            </a:xfrm>
            <a:prstGeom prst="roundRect">
              <a:avLst>
                <a:gd name="adj" fmla="val 12500"/>
              </a:avLst>
            </a:prstGeom>
            <a:solidFill>
              <a:srgbClr val="FFFFFF"/>
            </a:solidFill>
            <a:ln>
              <a:noFill/>
            </a:ln>
          </p:spPr>
        </p:sp>
        <p:sp>
          <p:nvSpPr>
            <p:cNvPr id="28" name="TextBox 28"/>
            <p:cNvSpPr txBox="1"/>
            <p:nvPr/>
          </p:nvSpPr>
          <p:spPr>
            <a:xfrm>
              <a:off x="842962" y="2678906"/>
              <a:ext cx="910685"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CM 配置管理</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4462462" y="26789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5319712" y="2678906"/>
              <a:ext cx="368153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版本控制Skill + 变更管理Rules —— 基线管理、变更追溯</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571500" y="3095625"/>
            <a:ext cx="11049000" cy="457200"/>
            <a:chOff x="571500" y="3095625"/>
            <a:chExt cx="11049000" cy="457200"/>
          </a:xfrm>
        </p:grpSpPr>
        <p:sp>
          <p:nvSpPr>
            <p:cNvPr id="32" name="Rectangle 32"/>
            <p:cNvSpPr/>
            <p:nvPr/>
          </p:nvSpPr>
          <p:spPr>
            <a:xfrm>
              <a:off x="571500" y="3095625"/>
              <a:ext cx="11049000" cy="457200"/>
            </a:xfrm>
            <a:prstGeom prst="roundRect">
              <a:avLst>
                <a:gd name="adj" fmla="val 12500"/>
              </a:avLst>
            </a:prstGeom>
            <a:solidFill>
              <a:srgbClr val="FFFFFF"/>
            </a:solidFill>
            <a:ln>
              <a:noFill/>
            </a:ln>
          </p:spPr>
        </p:sp>
        <p:sp>
          <p:nvSpPr>
            <p:cNvPr id="33" name="TextBox 33"/>
            <p:cNvSpPr txBox="1"/>
            <p:nvPr/>
          </p:nvSpPr>
          <p:spPr>
            <a:xfrm>
              <a:off x="842962" y="3250406"/>
              <a:ext cx="1280857"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PAD 过程资产开发</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4462462" y="32504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5319712" y="3250406"/>
              <a:ext cx="375654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Skill库 + 知识库管理 —— 资产标准化、可复用、持续演进</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571500" y="3667125"/>
            <a:ext cx="11049000" cy="457200"/>
            <a:chOff x="571500" y="3667125"/>
            <a:chExt cx="11049000" cy="457200"/>
          </a:xfrm>
        </p:grpSpPr>
        <p:sp>
          <p:nvSpPr>
            <p:cNvPr id="37" name="Rectangle 37"/>
            <p:cNvSpPr/>
            <p:nvPr/>
          </p:nvSpPr>
          <p:spPr>
            <a:xfrm>
              <a:off x="571500" y="3667125"/>
              <a:ext cx="11049000" cy="457200"/>
            </a:xfrm>
            <a:prstGeom prst="roundRect">
              <a:avLst>
                <a:gd name="adj" fmla="val 12500"/>
              </a:avLst>
            </a:prstGeom>
            <a:solidFill>
              <a:srgbClr val="FFFFFF"/>
            </a:solidFill>
            <a:ln>
              <a:noFill/>
            </a:ln>
          </p:spPr>
        </p:sp>
        <p:sp>
          <p:nvSpPr>
            <p:cNvPr id="38" name="TextBox 38"/>
            <p:cNvSpPr txBox="1"/>
            <p:nvPr/>
          </p:nvSpPr>
          <p:spPr>
            <a:xfrm>
              <a:off x="842962" y="3821906"/>
              <a:ext cx="879181"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VV 验证确认</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462462" y="38219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319712" y="3821906"/>
              <a:ext cx="3531513"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测试Skill + 质量门禁Rules —— 自动化验证、不可跳过</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6" name="Group 46"/>
          <p:cNvGrpSpPr/>
          <p:nvPr/>
        </p:nvGrpSpPr>
        <p:grpSpPr>
          <a:xfrm>
            <a:off x="571500" y="4238625"/>
            <a:ext cx="11049000" cy="457200"/>
            <a:chOff x="571500" y="4238625"/>
            <a:chExt cx="11049000" cy="457200"/>
          </a:xfrm>
        </p:grpSpPr>
        <p:sp>
          <p:nvSpPr>
            <p:cNvPr id="42" name="Rectangle 42"/>
            <p:cNvSpPr/>
            <p:nvPr/>
          </p:nvSpPr>
          <p:spPr>
            <a:xfrm>
              <a:off x="571500" y="4238625"/>
              <a:ext cx="11049000" cy="457200"/>
            </a:xfrm>
            <a:prstGeom prst="roundRect">
              <a:avLst>
                <a:gd name="adj" fmla="val 12500"/>
              </a:avLst>
            </a:prstGeom>
            <a:solidFill>
              <a:srgbClr val="FFFFFF"/>
            </a:solidFill>
            <a:ln>
              <a:noFill/>
            </a:ln>
          </p:spPr>
        </p:sp>
        <p:sp>
          <p:nvSpPr>
            <p:cNvPr id="43" name="TextBox 43"/>
            <p:cNvSpPr txBox="1"/>
            <p:nvPr/>
          </p:nvSpPr>
          <p:spPr>
            <a:xfrm>
              <a:off x="842962" y="4393406"/>
              <a:ext cx="1028825"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MPM 绩效管理</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4462462" y="43934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5319712" y="4393406"/>
              <a:ext cx="346400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HMM度量 + 量化分析Skill —— 成熟度评估、趋势分析</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71500" y="4953000"/>
            <a:ext cx="11049000" cy="571500"/>
            <a:chOff x="571500" y="4953000"/>
            <a:chExt cx="11049000" cy="571500"/>
          </a:xfrm>
        </p:grpSpPr>
        <p:sp>
          <p:nvSpPr>
            <p:cNvPr id="47" name="Rectangle 47"/>
            <p:cNvSpPr/>
            <p:nvPr/>
          </p:nvSpPr>
          <p:spPr>
            <a:xfrm>
              <a:off x="571500" y="4953000"/>
              <a:ext cx="11049000" cy="571500"/>
            </a:xfrm>
            <a:prstGeom prst="roundRect">
              <a:avLst>
                <a:gd name="adj" fmla="val 13333"/>
              </a:avLst>
            </a:prstGeom>
            <a:solidFill>
              <a:srgbClr val="1565C0">
                <a:alpha val="6000"/>
              </a:srgbClr>
            </a:solidFill>
            <a:ln>
              <a:noFill/>
            </a:ln>
          </p:spPr>
        </p:sp>
        <p:sp>
          <p:nvSpPr>
            <p:cNvPr id="48" name="TextBox 48"/>
            <p:cNvSpPr txBox="1"/>
            <p:nvPr/>
          </p:nvSpPr>
          <p:spPr>
            <a:xfrm>
              <a:off x="2233079" y="5090160"/>
              <a:ext cx="772584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Harness工程解决"AI能不能把事做成"，CMMI解决"AI是否持续可靠可控地把正确的事做成" —— 两者互补</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0" name="TextBox 50"/>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1" name="图片 5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400"/>
                                        <p:tgtEl>
                                          <p:spTgt spid="21"/>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image">
                                      <p:cBhvr>
                                        <p:cTn id="11" dur="400"/>
                                        <p:tgtEl>
                                          <p:spTgt spid="2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400"/>
                                        <p:tgtEl>
                                          <p:spTgt spid="36"/>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slide(fromBottom)">
                                      <p:cBhvr>
                                        <p:cTn id="23" dur="400"/>
                                        <p:tgtEl>
                                          <p:spTgt spid="41"/>
                                        </p:tgtEl>
                                      </p:cBhvr>
                                    </p:animEffect>
                                  </p:childTnLst>
                                </p:cTn>
                              </p:par>
                            </p:childTnLst>
                          </p:cTn>
                        </p:par>
                        <p:par>
                          <p:cTn id="24" fill="hold">
                            <p:stCondLst>
                              <p:cond delay="2500"/>
                            </p:stCondLst>
                            <p:childTnLst>
                              <p:par>
                                <p:cTn id="25" presetID="23" presetClass="entr" presetSubtype="16"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image">
                                      <p:cBhvr>
                                        <p:cTn id="27" dur="400"/>
                                        <p:tgtEl>
                                          <p:spTgt spid="46"/>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31" grpId="0"/>
      <p:bldP spid="36" grpId="0"/>
      <p:bldP spid="41" grpId="0"/>
      <p:bldP spid="46" grpId="0"/>
      <p:bldP spid="4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51607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以智取胜：LLM赋能CMMI实践的落地</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3" name="Group 13"/>
          <p:cNvGrpSpPr/>
          <p:nvPr/>
        </p:nvGrpSpPr>
        <p:grpSpPr>
          <a:xfrm>
            <a:off x="571500" y="952500"/>
            <a:ext cx="11049000" cy="619125"/>
            <a:chOff x="571500" y="952500"/>
            <a:chExt cx="11049000" cy="619125"/>
          </a:xfrm>
        </p:grpSpPr>
        <p:sp>
          <p:nvSpPr>
            <p:cNvPr id="10" name="Rectangle 10"/>
            <p:cNvSpPr/>
            <p:nvPr/>
          </p:nvSpPr>
          <p:spPr>
            <a:xfrm>
              <a:off x="571500" y="952500"/>
              <a:ext cx="11049000" cy="619125"/>
            </a:xfrm>
            <a:prstGeom prst="roundRect">
              <a:avLst>
                <a:gd name="adj" fmla="val 15385"/>
              </a:avLst>
            </a:prstGeom>
            <a:solidFill>
              <a:srgbClr val="1565C0">
                <a:alpha val="8000"/>
              </a:srgbClr>
            </a:solidFill>
            <a:ln>
              <a:noFill/>
            </a:ln>
          </p:spPr>
        </p:sp>
        <p:sp>
          <p:nvSpPr>
            <p:cNvPr id="11" name="TextBox 11"/>
            <p:cNvSpPr txBox="1"/>
            <p:nvPr/>
          </p:nvSpPr>
          <p:spPr>
            <a:xfrm>
              <a:off x="5544241" y="1100614"/>
              <a:ext cx="1103519" cy="259080"/>
            </a:xfrm>
            <a:prstGeom prst="rect">
              <a:avLst/>
            </a:prstGeom>
            <a:noFill/>
            <a:ln>
              <a:noFill/>
            </a:ln>
          </p:spPr>
          <p:txBody>
            <a:bodyPr wrap="none" lIns="0" tIns="0" rIns="0" bIns="0" anchor="t" anchorCtr="0">
              <a:spAutoFit/>
            </a:bodyPr>
            <a:lstStyle/>
            <a:p>
              <a:pPr algn="ctr"/>
              <a:r>
                <a:rPr lang="zh-CN" sz="1275" b="1" dirty="0">
                  <a:solidFill>
                    <a:srgbClr val="1565C0"/>
                  </a:solidFill>
                  <a:latin typeface="Segoe UI" panose="020B0502040204020203"/>
                  <a:ea typeface="微软雅黑" panose="020B0503020204020204" charset="-122"/>
                  <a:cs typeface="Segoe UI" panose="020B0502040204020203"/>
                </a:rPr>
                <a:t>统一协作模式</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3280410" y="1318260"/>
              <a:ext cx="563118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动态项目特征+静态组织资产 → 结构化提示词 → AI输出 → 人审核执行 → 经验沉淀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4" name="Group 74"/>
          <p:cNvGrpSpPr/>
          <p:nvPr/>
        </p:nvGrpSpPr>
        <p:grpSpPr>
          <a:xfrm>
            <a:off x="571500" y="1762125"/>
            <a:ext cx="11049000" cy="2288381"/>
            <a:chOff x="571500" y="1762125"/>
            <a:chExt cx="11049000" cy="2288381"/>
          </a:xfrm>
        </p:grpSpPr>
        <p:grpSp>
          <p:nvGrpSpPr>
            <p:cNvPr id="18" name="Group 18"/>
            <p:cNvGrpSpPr/>
            <p:nvPr/>
          </p:nvGrpSpPr>
          <p:grpSpPr>
            <a:xfrm>
              <a:off x="571500" y="1762125"/>
              <a:ext cx="2667000" cy="669131"/>
              <a:chOff x="571500" y="1762125"/>
              <a:chExt cx="2667000" cy="669131"/>
            </a:xfrm>
          </p:grpSpPr>
          <p:sp>
            <p:nvSpPr>
              <p:cNvPr id="14" name="Rectangle 14"/>
              <p:cNvSpPr/>
              <p:nvPr/>
            </p:nvSpPr>
            <p:spPr>
              <a:xfrm>
                <a:off x="571500" y="1762125"/>
                <a:ext cx="2667000" cy="666750"/>
              </a:xfrm>
              <a:prstGeom prst="roundRect">
                <a:avLst>
                  <a:gd name="adj" fmla="val 11429"/>
                </a:avLst>
              </a:prstGeom>
              <a:solidFill>
                <a:srgbClr val="FFFFFF"/>
              </a:solidFill>
              <a:ln>
                <a:noFill/>
              </a:ln>
            </p:spPr>
          </p:sp>
          <p:sp>
            <p:nvSpPr>
              <p:cNvPr id="15" name="Rectangle 15"/>
              <p:cNvSpPr/>
              <p:nvPr/>
            </p:nvSpPr>
            <p:spPr>
              <a:xfrm>
                <a:off x="571500" y="1762125"/>
                <a:ext cx="57150" cy="666750"/>
              </a:xfrm>
              <a:prstGeom prst="roundRect">
                <a:avLst>
                  <a:gd name="adj" fmla="val 50000"/>
                </a:avLst>
              </a:prstGeom>
              <a:solidFill>
                <a:srgbClr val="1565C0"/>
              </a:solidFill>
              <a:ln>
                <a:noFill/>
              </a:ln>
            </p:spPr>
          </p:sp>
          <p:sp>
            <p:nvSpPr>
              <p:cNvPr id="16" name="TextBox 16"/>
              <p:cNvSpPr txBox="1"/>
              <p:nvPr/>
            </p:nvSpPr>
            <p:spPr>
              <a:xfrm>
                <a:off x="794385" y="1965960"/>
                <a:ext cx="1399851"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RDM 需求开发管理</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95338" y="2202656"/>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需求结构化·可追溯</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3" name="Group 23"/>
            <p:cNvGrpSpPr/>
            <p:nvPr/>
          </p:nvGrpSpPr>
          <p:grpSpPr>
            <a:xfrm>
              <a:off x="3429000" y="1762125"/>
              <a:ext cx="2667000" cy="669131"/>
              <a:chOff x="3429000" y="1762125"/>
              <a:chExt cx="2667000" cy="669131"/>
            </a:xfrm>
          </p:grpSpPr>
          <p:sp>
            <p:nvSpPr>
              <p:cNvPr id="19" name="Rectangle 19"/>
              <p:cNvSpPr/>
              <p:nvPr/>
            </p:nvSpPr>
            <p:spPr>
              <a:xfrm>
                <a:off x="3429000" y="1762125"/>
                <a:ext cx="2667000" cy="666750"/>
              </a:xfrm>
              <a:prstGeom prst="roundRect">
                <a:avLst>
                  <a:gd name="adj" fmla="val 11429"/>
                </a:avLst>
              </a:prstGeom>
              <a:solidFill>
                <a:srgbClr val="FFFFFF"/>
              </a:solidFill>
              <a:ln>
                <a:noFill/>
              </a:ln>
            </p:spPr>
          </p:sp>
          <p:sp>
            <p:nvSpPr>
              <p:cNvPr id="20" name="Rectangle 20"/>
              <p:cNvSpPr/>
              <p:nvPr/>
            </p:nvSpPr>
            <p:spPr>
              <a:xfrm>
                <a:off x="3429000" y="1762125"/>
                <a:ext cx="57150" cy="666750"/>
              </a:xfrm>
              <a:prstGeom prst="roundRect">
                <a:avLst>
                  <a:gd name="adj" fmla="val 50000"/>
                </a:avLst>
              </a:prstGeom>
              <a:solidFill>
                <a:srgbClr val="00838F"/>
              </a:solidFill>
              <a:ln>
                <a:noFill/>
              </a:ln>
            </p:spPr>
          </p:sp>
          <p:sp>
            <p:nvSpPr>
              <p:cNvPr id="21" name="TextBox 21"/>
              <p:cNvSpPr txBox="1"/>
              <p:nvPr/>
            </p:nvSpPr>
            <p:spPr>
              <a:xfrm>
                <a:off x="3651885" y="1965960"/>
                <a:ext cx="937793"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TS 技术方案</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3652838" y="2202656"/>
                <a:ext cx="105620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AI辅助架构设计</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6286500" y="1762125"/>
              <a:ext cx="2667000" cy="669131"/>
              <a:chOff x="6286500" y="1762125"/>
              <a:chExt cx="2667000" cy="669131"/>
            </a:xfrm>
          </p:grpSpPr>
          <p:sp>
            <p:nvSpPr>
              <p:cNvPr id="24" name="Rectangle 24"/>
              <p:cNvSpPr/>
              <p:nvPr/>
            </p:nvSpPr>
            <p:spPr>
              <a:xfrm>
                <a:off x="6286500" y="1762125"/>
                <a:ext cx="2667000" cy="666750"/>
              </a:xfrm>
              <a:prstGeom prst="roundRect">
                <a:avLst>
                  <a:gd name="adj" fmla="val 11429"/>
                </a:avLst>
              </a:prstGeom>
              <a:solidFill>
                <a:srgbClr val="FFFFFF"/>
              </a:solidFill>
              <a:ln>
                <a:noFill/>
              </a:ln>
            </p:spPr>
          </p:sp>
          <p:sp>
            <p:nvSpPr>
              <p:cNvPr id="25" name="Rectangle 25"/>
              <p:cNvSpPr/>
              <p:nvPr/>
            </p:nvSpPr>
            <p:spPr>
              <a:xfrm>
                <a:off x="6286500" y="1762125"/>
                <a:ext cx="57150" cy="666750"/>
              </a:xfrm>
              <a:prstGeom prst="roundRect">
                <a:avLst>
                  <a:gd name="adj" fmla="val 50000"/>
                </a:avLst>
              </a:prstGeom>
              <a:solidFill>
                <a:srgbClr val="FF6F00"/>
              </a:solidFill>
              <a:ln>
                <a:noFill/>
              </a:ln>
            </p:spPr>
          </p:sp>
          <p:sp>
            <p:nvSpPr>
              <p:cNvPr id="26" name="TextBox 26"/>
              <p:cNvSpPr txBox="1"/>
              <p:nvPr/>
            </p:nvSpPr>
            <p:spPr>
              <a:xfrm>
                <a:off x="6509385" y="1965960"/>
                <a:ext cx="895788"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PI 产品集成</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6510338" y="220265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自动化集成策略</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9144000" y="1762125"/>
              <a:ext cx="2476500" cy="669131"/>
              <a:chOff x="9144000" y="1762125"/>
              <a:chExt cx="2476500" cy="669131"/>
            </a:xfrm>
          </p:grpSpPr>
          <p:sp>
            <p:nvSpPr>
              <p:cNvPr id="29" name="Rectangle 29"/>
              <p:cNvSpPr/>
              <p:nvPr/>
            </p:nvSpPr>
            <p:spPr>
              <a:xfrm>
                <a:off x="9144000" y="1762125"/>
                <a:ext cx="2476500" cy="666750"/>
              </a:xfrm>
              <a:prstGeom prst="roundRect">
                <a:avLst>
                  <a:gd name="adj" fmla="val 11429"/>
                </a:avLst>
              </a:prstGeom>
              <a:solidFill>
                <a:srgbClr val="FFFFFF"/>
              </a:solidFill>
              <a:ln>
                <a:noFill/>
              </a:ln>
            </p:spPr>
          </p:sp>
          <p:sp>
            <p:nvSpPr>
              <p:cNvPr id="30" name="Rectangle 30"/>
              <p:cNvSpPr/>
              <p:nvPr/>
            </p:nvSpPr>
            <p:spPr>
              <a:xfrm>
                <a:off x="9144000" y="1762125"/>
                <a:ext cx="57150" cy="666750"/>
              </a:xfrm>
              <a:prstGeom prst="roundRect">
                <a:avLst>
                  <a:gd name="adj" fmla="val 50000"/>
                </a:avLst>
              </a:prstGeom>
              <a:solidFill>
                <a:srgbClr val="2E7D32"/>
              </a:solidFill>
              <a:ln>
                <a:noFill/>
              </a:ln>
            </p:spPr>
          </p:sp>
          <p:sp>
            <p:nvSpPr>
              <p:cNvPr id="31" name="TextBox 31"/>
              <p:cNvSpPr txBox="1"/>
              <p:nvPr/>
            </p:nvSpPr>
            <p:spPr>
              <a:xfrm>
                <a:off x="9366885" y="1965960"/>
                <a:ext cx="937793"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PR 同行评审</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9367838" y="2202656"/>
                <a:ext cx="105620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AI辅助代码审查</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571500" y="2571750"/>
              <a:ext cx="2667000" cy="669131"/>
              <a:chOff x="571500" y="2571750"/>
              <a:chExt cx="2667000" cy="669131"/>
            </a:xfrm>
          </p:grpSpPr>
          <p:sp>
            <p:nvSpPr>
              <p:cNvPr id="34" name="Rectangle 34"/>
              <p:cNvSpPr/>
              <p:nvPr/>
            </p:nvSpPr>
            <p:spPr>
              <a:xfrm>
                <a:off x="571500" y="2571750"/>
                <a:ext cx="2667000" cy="666750"/>
              </a:xfrm>
              <a:prstGeom prst="roundRect">
                <a:avLst>
                  <a:gd name="adj" fmla="val 11429"/>
                </a:avLst>
              </a:prstGeom>
              <a:solidFill>
                <a:srgbClr val="FFFFFF"/>
              </a:solidFill>
              <a:ln>
                <a:noFill/>
              </a:ln>
            </p:spPr>
          </p:sp>
          <p:sp>
            <p:nvSpPr>
              <p:cNvPr id="35" name="Rectangle 35"/>
              <p:cNvSpPr/>
              <p:nvPr/>
            </p:nvSpPr>
            <p:spPr>
              <a:xfrm>
                <a:off x="571500" y="2571750"/>
                <a:ext cx="57150" cy="666750"/>
              </a:xfrm>
              <a:prstGeom prst="roundRect">
                <a:avLst>
                  <a:gd name="adj" fmla="val 50000"/>
                </a:avLst>
              </a:prstGeom>
              <a:solidFill>
                <a:srgbClr val="1565C0"/>
              </a:solidFill>
              <a:ln>
                <a:noFill/>
              </a:ln>
            </p:spPr>
          </p:sp>
          <p:sp>
            <p:nvSpPr>
              <p:cNvPr id="36" name="TextBox 36"/>
              <p:cNvSpPr txBox="1"/>
              <p:nvPr/>
            </p:nvSpPr>
            <p:spPr>
              <a:xfrm>
                <a:off x="794385" y="2775585"/>
                <a:ext cx="937793"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VV 验证确认</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95338" y="3012281"/>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测试自动化·全覆盖</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3429000" y="2571750"/>
              <a:ext cx="2667000" cy="669131"/>
              <a:chOff x="3429000" y="2571750"/>
              <a:chExt cx="2667000" cy="669131"/>
            </a:xfrm>
          </p:grpSpPr>
          <p:sp>
            <p:nvSpPr>
              <p:cNvPr id="39" name="Rectangle 39"/>
              <p:cNvSpPr/>
              <p:nvPr/>
            </p:nvSpPr>
            <p:spPr>
              <a:xfrm>
                <a:off x="3429000" y="2571750"/>
                <a:ext cx="2667000" cy="666750"/>
              </a:xfrm>
              <a:prstGeom prst="roundRect">
                <a:avLst>
                  <a:gd name="adj" fmla="val 11429"/>
                </a:avLst>
              </a:prstGeom>
              <a:solidFill>
                <a:srgbClr val="FFFFFF"/>
              </a:solidFill>
              <a:ln>
                <a:noFill/>
              </a:ln>
            </p:spPr>
          </p:sp>
          <p:sp>
            <p:nvSpPr>
              <p:cNvPr id="40" name="Rectangle 40"/>
              <p:cNvSpPr/>
              <p:nvPr/>
            </p:nvSpPr>
            <p:spPr>
              <a:xfrm>
                <a:off x="3429000" y="2571750"/>
                <a:ext cx="57150" cy="666750"/>
              </a:xfrm>
              <a:prstGeom prst="roundRect">
                <a:avLst>
                  <a:gd name="adj" fmla="val 50000"/>
                </a:avLst>
              </a:prstGeom>
              <a:solidFill>
                <a:srgbClr val="00838F"/>
              </a:solidFill>
              <a:ln>
                <a:noFill/>
              </a:ln>
            </p:spPr>
          </p:sp>
          <p:sp>
            <p:nvSpPr>
              <p:cNvPr id="41" name="TextBox 41"/>
              <p:cNvSpPr txBox="1"/>
              <p:nvPr/>
            </p:nvSpPr>
            <p:spPr>
              <a:xfrm>
                <a:off x="3651885" y="2775585"/>
                <a:ext cx="1063809"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PQA 质量保证</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3652838" y="3012281"/>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质量门禁·自动拦截</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6286500" y="2571750"/>
              <a:ext cx="2667000" cy="669131"/>
              <a:chOff x="6286500" y="2571750"/>
              <a:chExt cx="2667000" cy="669131"/>
            </a:xfrm>
          </p:grpSpPr>
          <p:sp>
            <p:nvSpPr>
              <p:cNvPr id="44" name="Rectangle 44"/>
              <p:cNvSpPr/>
              <p:nvPr/>
            </p:nvSpPr>
            <p:spPr>
              <a:xfrm>
                <a:off x="6286500" y="2571750"/>
                <a:ext cx="2667000" cy="666750"/>
              </a:xfrm>
              <a:prstGeom prst="roundRect">
                <a:avLst>
                  <a:gd name="adj" fmla="val 11429"/>
                </a:avLst>
              </a:prstGeom>
              <a:solidFill>
                <a:srgbClr val="FFFFFF"/>
              </a:solidFill>
              <a:ln>
                <a:noFill/>
              </a:ln>
            </p:spPr>
          </p:sp>
          <p:sp>
            <p:nvSpPr>
              <p:cNvPr id="45" name="Rectangle 45"/>
              <p:cNvSpPr/>
              <p:nvPr/>
            </p:nvSpPr>
            <p:spPr>
              <a:xfrm>
                <a:off x="6286500" y="2571750"/>
                <a:ext cx="57150" cy="666750"/>
              </a:xfrm>
              <a:prstGeom prst="roundRect">
                <a:avLst>
                  <a:gd name="adj" fmla="val 50000"/>
                </a:avLst>
              </a:prstGeom>
              <a:solidFill>
                <a:srgbClr val="FF6F00"/>
              </a:solidFill>
              <a:ln>
                <a:noFill/>
              </a:ln>
            </p:spPr>
          </p:sp>
          <p:sp>
            <p:nvSpPr>
              <p:cNvPr id="46" name="TextBox 46"/>
              <p:cNvSpPr txBox="1"/>
              <p:nvPr/>
            </p:nvSpPr>
            <p:spPr>
              <a:xfrm>
                <a:off x="6509385" y="2775585"/>
                <a:ext cx="786575"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PLAN 计划</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6510338" y="3012281"/>
                <a:ext cx="105620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AI辅助排程估算</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9144000" y="2571750"/>
              <a:ext cx="2476500" cy="669131"/>
              <a:chOff x="9144000" y="2571750"/>
              <a:chExt cx="2476500" cy="669131"/>
            </a:xfrm>
          </p:grpSpPr>
          <p:sp>
            <p:nvSpPr>
              <p:cNvPr id="49" name="Rectangle 49"/>
              <p:cNvSpPr/>
              <p:nvPr/>
            </p:nvSpPr>
            <p:spPr>
              <a:xfrm>
                <a:off x="9144000" y="2571750"/>
                <a:ext cx="2476500" cy="666750"/>
              </a:xfrm>
              <a:prstGeom prst="roundRect">
                <a:avLst>
                  <a:gd name="adj" fmla="val 11429"/>
                </a:avLst>
              </a:prstGeom>
              <a:solidFill>
                <a:srgbClr val="FFFFFF"/>
              </a:solidFill>
              <a:ln>
                <a:noFill/>
              </a:ln>
            </p:spPr>
          </p:sp>
          <p:sp>
            <p:nvSpPr>
              <p:cNvPr id="50" name="Rectangle 50"/>
              <p:cNvSpPr/>
              <p:nvPr/>
            </p:nvSpPr>
            <p:spPr>
              <a:xfrm>
                <a:off x="9144000" y="2571750"/>
                <a:ext cx="57150" cy="666750"/>
              </a:xfrm>
              <a:prstGeom prst="roundRect">
                <a:avLst>
                  <a:gd name="adj" fmla="val 50000"/>
                </a:avLst>
              </a:prstGeom>
              <a:solidFill>
                <a:srgbClr val="2E7D32"/>
              </a:solidFill>
              <a:ln>
                <a:noFill/>
              </a:ln>
            </p:spPr>
          </p:sp>
          <p:sp>
            <p:nvSpPr>
              <p:cNvPr id="51" name="TextBox 51"/>
              <p:cNvSpPr txBox="1"/>
              <p:nvPr/>
            </p:nvSpPr>
            <p:spPr>
              <a:xfrm>
                <a:off x="9366885" y="2775585"/>
                <a:ext cx="635356"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MC 监控</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9367838" y="3012281"/>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自动偏差分析</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571500" y="3381375"/>
              <a:ext cx="2667000" cy="669131"/>
              <a:chOff x="571500" y="3381375"/>
              <a:chExt cx="2667000" cy="669131"/>
            </a:xfrm>
          </p:grpSpPr>
          <p:sp>
            <p:nvSpPr>
              <p:cNvPr id="54" name="Rectangle 54"/>
              <p:cNvSpPr/>
              <p:nvPr/>
            </p:nvSpPr>
            <p:spPr>
              <a:xfrm>
                <a:off x="571500" y="3381375"/>
                <a:ext cx="2667000" cy="666750"/>
              </a:xfrm>
              <a:prstGeom prst="roundRect">
                <a:avLst>
                  <a:gd name="adj" fmla="val 11429"/>
                </a:avLst>
              </a:prstGeom>
              <a:solidFill>
                <a:srgbClr val="FFFFFF"/>
              </a:solidFill>
              <a:ln>
                <a:noFill/>
              </a:ln>
            </p:spPr>
          </p:sp>
          <p:sp>
            <p:nvSpPr>
              <p:cNvPr id="55" name="Rectangle 55"/>
              <p:cNvSpPr/>
              <p:nvPr/>
            </p:nvSpPr>
            <p:spPr>
              <a:xfrm>
                <a:off x="571500" y="3381375"/>
                <a:ext cx="57150" cy="666750"/>
              </a:xfrm>
              <a:prstGeom prst="roundRect">
                <a:avLst>
                  <a:gd name="adj" fmla="val 50000"/>
                </a:avLst>
              </a:prstGeom>
              <a:solidFill>
                <a:srgbClr val="1565C0"/>
              </a:solidFill>
              <a:ln>
                <a:noFill/>
              </a:ln>
            </p:spPr>
          </p:sp>
          <p:sp>
            <p:nvSpPr>
              <p:cNvPr id="56" name="TextBox 56"/>
              <p:cNvSpPr txBox="1"/>
              <p:nvPr/>
            </p:nvSpPr>
            <p:spPr>
              <a:xfrm>
                <a:off x="794385" y="3585210"/>
                <a:ext cx="971398"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CM 配置管理</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795338" y="3821906"/>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版本控制·变更追溯</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63" name="Group 63"/>
            <p:cNvGrpSpPr/>
            <p:nvPr/>
          </p:nvGrpSpPr>
          <p:grpSpPr>
            <a:xfrm>
              <a:off x="3429000" y="3381375"/>
              <a:ext cx="2667000" cy="669131"/>
              <a:chOff x="3429000" y="3381375"/>
              <a:chExt cx="2667000" cy="669131"/>
            </a:xfrm>
          </p:grpSpPr>
          <p:sp>
            <p:nvSpPr>
              <p:cNvPr id="59" name="Rectangle 59"/>
              <p:cNvSpPr/>
              <p:nvPr/>
            </p:nvSpPr>
            <p:spPr>
              <a:xfrm>
                <a:off x="3429000" y="3381375"/>
                <a:ext cx="2667000" cy="666750"/>
              </a:xfrm>
              <a:prstGeom prst="roundRect">
                <a:avLst>
                  <a:gd name="adj" fmla="val 11429"/>
                </a:avLst>
              </a:prstGeom>
              <a:solidFill>
                <a:srgbClr val="FFFFFF"/>
              </a:solidFill>
              <a:ln>
                <a:noFill/>
              </a:ln>
            </p:spPr>
          </p:sp>
          <p:sp>
            <p:nvSpPr>
              <p:cNvPr id="60" name="Rectangle 60"/>
              <p:cNvSpPr/>
              <p:nvPr/>
            </p:nvSpPr>
            <p:spPr>
              <a:xfrm>
                <a:off x="3429000" y="3381375"/>
                <a:ext cx="57150" cy="666750"/>
              </a:xfrm>
              <a:prstGeom prst="roundRect">
                <a:avLst>
                  <a:gd name="adj" fmla="val 50000"/>
                </a:avLst>
              </a:prstGeom>
              <a:solidFill>
                <a:srgbClr val="00838F"/>
              </a:solidFill>
              <a:ln>
                <a:noFill/>
              </a:ln>
            </p:spPr>
          </p:sp>
          <p:sp>
            <p:nvSpPr>
              <p:cNvPr id="61" name="TextBox 61"/>
              <p:cNvSpPr txBox="1"/>
              <p:nvPr/>
            </p:nvSpPr>
            <p:spPr>
              <a:xfrm>
                <a:off x="3651885" y="3585210"/>
                <a:ext cx="1030205"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PAD 过程资产</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62" name="TextBox 62"/>
              <p:cNvSpPr txBox="1"/>
              <p:nvPr/>
            </p:nvSpPr>
            <p:spPr>
              <a:xfrm>
                <a:off x="3652838" y="3821906"/>
                <a:ext cx="116121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Skill·知识库管理</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68" name="Group 68"/>
            <p:cNvGrpSpPr/>
            <p:nvPr/>
          </p:nvGrpSpPr>
          <p:grpSpPr>
            <a:xfrm>
              <a:off x="6286500" y="3381375"/>
              <a:ext cx="2667000" cy="669131"/>
              <a:chOff x="6286500" y="3381375"/>
              <a:chExt cx="2667000" cy="669131"/>
            </a:xfrm>
          </p:grpSpPr>
          <p:sp>
            <p:nvSpPr>
              <p:cNvPr id="64" name="Rectangle 64"/>
              <p:cNvSpPr/>
              <p:nvPr/>
            </p:nvSpPr>
            <p:spPr>
              <a:xfrm>
                <a:off x="6286500" y="3381375"/>
                <a:ext cx="2667000" cy="666750"/>
              </a:xfrm>
              <a:prstGeom prst="roundRect">
                <a:avLst>
                  <a:gd name="adj" fmla="val 11429"/>
                </a:avLst>
              </a:prstGeom>
              <a:solidFill>
                <a:srgbClr val="FFFFFF"/>
              </a:solidFill>
              <a:ln>
                <a:noFill/>
              </a:ln>
            </p:spPr>
          </p:sp>
          <p:sp>
            <p:nvSpPr>
              <p:cNvPr id="65" name="Rectangle 65"/>
              <p:cNvSpPr/>
              <p:nvPr/>
            </p:nvSpPr>
            <p:spPr>
              <a:xfrm>
                <a:off x="6286500" y="3381375"/>
                <a:ext cx="57150" cy="666750"/>
              </a:xfrm>
              <a:prstGeom prst="roundRect">
                <a:avLst>
                  <a:gd name="adj" fmla="val 50000"/>
                </a:avLst>
              </a:prstGeom>
              <a:solidFill>
                <a:srgbClr val="FF6F00"/>
              </a:solidFill>
              <a:ln>
                <a:noFill/>
              </a:ln>
            </p:spPr>
          </p:sp>
          <p:sp>
            <p:nvSpPr>
              <p:cNvPr id="66" name="TextBox 66"/>
              <p:cNvSpPr txBox="1"/>
              <p:nvPr/>
            </p:nvSpPr>
            <p:spPr>
              <a:xfrm>
                <a:off x="6509385" y="3585210"/>
                <a:ext cx="1097413"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MPM 绩效管理</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67" name="TextBox 67"/>
              <p:cNvSpPr txBox="1"/>
              <p:nvPr/>
            </p:nvSpPr>
            <p:spPr>
              <a:xfrm>
                <a:off x="6510338" y="3821906"/>
                <a:ext cx="131873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HMM度量·量化分析</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73" name="Group 73"/>
            <p:cNvGrpSpPr/>
            <p:nvPr/>
          </p:nvGrpSpPr>
          <p:grpSpPr>
            <a:xfrm>
              <a:off x="9144000" y="3381375"/>
              <a:ext cx="2476500" cy="669131"/>
              <a:chOff x="9144000" y="3381375"/>
              <a:chExt cx="2476500" cy="669131"/>
            </a:xfrm>
          </p:grpSpPr>
          <p:sp>
            <p:nvSpPr>
              <p:cNvPr id="69" name="Rectangle 69"/>
              <p:cNvSpPr/>
              <p:nvPr/>
            </p:nvSpPr>
            <p:spPr>
              <a:xfrm>
                <a:off x="9144000" y="3381375"/>
                <a:ext cx="2476500" cy="666750"/>
              </a:xfrm>
              <a:prstGeom prst="roundRect">
                <a:avLst>
                  <a:gd name="adj" fmla="val 11429"/>
                </a:avLst>
              </a:prstGeom>
              <a:solidFill>
                <a:srgbClr val="FFFFFF"/>
              </a:solidFill>
              <a:ln>
                <a:noFill/>
              </a:ln>
            </p:spPr>
          </p:sp>
          <p:sp>
            <p:nvSpPr>
              <p:cNvPr id="70" name="Rectangle 70"/>
              <p:cNvSpPr/>
              <p:nvPr/>
            </p:nvSpPr>
            <p:spPr>
              <a:xfrm>
                <a:off x="9144000" y="3381375"/>
                <a:ext cx="57150" cy="666750"/>
              </a:xfrm>
              <a:prstGeom prst="roundRect">
                <a:avLst>
                  <a:gd name="adj" fmla="val 50000"/>
                </a:avLst>
              </a:prstGeom>
              <a:solidFill>
                <a:srgbClr val="2E7D32"/>
              </a:solidFill>
              <a:ln>
                <a:noFill/>
              </a:ln>
            </p:spPr>
          </p:sp>
          <p:sp>
            <p:nvSpPr>
              <p:cNvPr id="71" name="TextBox 71"/>
              <p:cNvSpPr txBox="1"/>
              <p:nvPr/>
            </p:nvSpPr>
            <p:spPr>
              <a:xfrm>
                <a:off x="9366885" y="3585210"/>
                <a:ext cx="1162050" cy="18415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共2</a:t>
                </a:r>
                <a:r>
                  <a:rPr lang="en-US" altLang="zh-CN" sz="1200" b="1" dirty="0">
                    <a:solidFill>
                      <a:srgbClr val="2E7D32"/>
                    </a:solidFill>
                    <a:latin typeface="Segoe UI" panose="020B0502040204020203"/>
                    <a:ea typeface="微软雅黑" panose="020B0503020204020204" charset="-122"/>
                    <a:cs typeface="Segoe UI" panose="020B0502040204020203"/>
                  </a:rPr>
                  <a:t>1</a:t>
                </a:r>
                <a:r>
                  <a:rPr lang="zh-CN" sz="1200" b="1" dirty="0">
                    <a:solidFill>
                      <a:srgbClr val="2E7D32"/>
                    </a:solidFill>
                    <a:latin typeface="Segoe UI" panose="020B0502040204020203"/>
                    <a:ea typeface="微软雅黑" panose="020B0503020204020204" charset="-122"/>
                    <a:cs typeface="Segoe UI" panose="020B0502040204020203"/>
                  </a:rPr>
                  <a:t>个实践域</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9367838" y="3821906"/>
                <a:ext cx="1281232"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覆盖完整CMMI体系</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grpSp>
        <p:nvGrpSpPr>
          <p:cNvPr id="77" name="Group 77"/>
          <p:cNvGrpSpPr/>
          <p:nvPr/>
        </p:nvGrpSpPr>
        <p:grpSpPr>
          <a:xfrm>
            <a:off x="571500" y="4286250"/>
            <a:ext cx="11049000" cy="523875"/>
            <a:chOff x="571500" y="4286250"/>
            <a:chExt cx="11049000" cy="523875"/>
          </a:xfrm>
        </p:grpSpPr>
        <p:sp>
          <p:nvSpPr>
            <p:cNvPr id="75" name="Rectangle 75"/>
            <p:cNvSpPr/>
            <p:nvPr/>
          </p:nvSpPr>
          <p:spPr>
            <a:xfrm>
              <a:off x="571500" y="4286250"/>
              <a:ext cx="11049000" cy="523875"/>
            </a:xfrm>
            <a:prstGeom prst="roundRect">
              <a:avLst>
                <a:gd name="adj" fmla="val 14545"/>
              </a:avLst>
            </a:prstGeom>
            <a:solidFill>
              <a:srgbClr val="1565C0">
                <a:alpha val="6000"/>
              </a:srgbClr>
            </a:solidFill>
            <a:ln>
              <a:noFill/>
            </a:ln>
          </p:spPr>
        </p:sp>
        <p:sp>
          <p:nvSpPr>
            <p:cNvPr id="76" name="TextBox 76"/>
            <p:cNvSpPr txBox="1"/>
            <p:nvPr/>
          </p:nvSpPr>
          <p:spPr>
            <a:xfrm>
              <a:off x="2537144" y="4471035"/>
              <a:ext cx="7117715" cy="18415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核心理念：让AI赋能过程执行、让人聚焦决策判断、让数据驱动持续改进 —— 覆盖CMMI全部2</a:t>
              </a:r>
              <a:r>
                <a:rPr lang="en-US" altLang="zh-CN" sz="1200" b="1" dirty="0">
                  <a:solidFill>
                    <a:srgbClr val="1565C0"/>
                  </a:solidFill>
                  <a:latin typeface="Segoe UI" panose="020B0502040204020203"/>
                  <a:ea typeface="微软雅黑" panose="020B0503020204020204" charset="-122"/>
                  <a:cs typeface="Segoe UI" panose="020B0502040204020203"/>
                </a:rPr>
                <a:t>1</a:t>
              </a:r>
              <a:r>
                <a:rPr lang="zh-CN" sz="1200" b="1" dirty="0">
                  <a:solidFill>
                    <a:srgbClr val="1565C0"/>
                  </a:solidFill>
                  <a:latin typeface="Segoe UI" panose="020B0502040204020203"/>
                  <a:ea typeface="微软雅黑" panose="020B0503020204020204" charset="-122"/>
                  <a:cs typeface="Segoe UI" panose="020B0502040204020203"/>
                </a:rPr>
                <a:t>个实践域</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8" name="TextBox 78"/>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9" name="图片 78"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4"/>
                                        </p:tgtEl>
                                        <p:attrNameLst>
                                          <p:attrName>style.visibility</p:attrName>
                                        </p:attrNameLst>
                                      </p:cBhvr>
                                      <p:to>
                                        <p:strVal val="visible"/>
                                      </p:to>
                                    </p:set>
                                    <p:animEffect transition="in" filter="slide(fromBottom)">
                                      <p:cBhvr>
                                        <p:cTn id="11" dur="400"/>
                                        <p:tgtEl>
                                          <p:spTgt spid="7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fade">
                                      <p:cBhvr>
                                        <p:cTn id="15"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4" grpId="0"/>
      <p:bldP spid="7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352258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过程体系的核心原则总结</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4" name="Group 24"/>
          <p:cNvGrpSpPr/>
          <p:nvPr/>
        </p:nvGrpSpPr>
        <p:grpSpPr>
          <a:xfrm>
            <a:off x="571500" y="904875"/>
            <a:ext cx="3524250" cy="3333750"/>
            <a:chOff x="571500" y="904875"/>
            <a:chExt cx="3524250" cy="3333750"/>
          </a:xfrm>
        </p:grpSpPr>
        <p:sp>
          <p:nvSpPr>
            <p:cNvPr id="10" name="Rectangle 10"/>
            <p:cNvSpPr/>
            <p:nvPr/>
          </p:nvSpPr>
          <p:spPr>
            <a:xfrm>
              <a:off x="571500" y="904875"/>
              <a:ext cx="3524250" cy="3333750"/>
            </a:xfrm>
            <a:prstGeom prst="roundRect">
              <a:avLst>
                <a:gd name="adj" fmla="val 3429"/>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grpSp>
          <p:nvGrpSpPr>
            <p:cNvPr id="14" name="Group 14"/>
            <p:cNvGrpSpPr/>
            <p:nvPr/>
          </p:nvGrpSpPr>
          <p:grpSpPr>
            <a:xfrm>
              <a:off x="2048579" y="1357117"/>
              <a:ext cx="377014" cy="262138"/>
              <a:chOff x="2048579" y="1357117"/>
              <a:chExt cx="377014" cy="262138"/>
            </a:xfrm>
          </p:grpSpPr>
          <p:sp>
            <p:nvSpPr>
              <p:cNvPr id="12" name="Freeform 12"/>
              <p:cNvSpPr/>
              <p:nvPr/>
            </p:nvSpPr>
            <p:spPr>
              <a:xfrm>
                <a:off x="2107406" y="1369219"/>
                <a:ext cx="238125" cy="202406"/>
              </a:xfrm>
              <a:custGeom>
                <a:avLst/>
                <a:gdLst/>
                <a:ahLst/>
                <a:cxnLst/>
                <a:rect l="l" t="t" r="r" b="b"/>
                <a:pathLst>
                  <a:path w="238125" h="202406">
                    <a:moveTo>
                      <a:pt x="238125" y="142875"/>
                    </a:moveTo>
                    <a:lnTo>
                      <a:pt x="178594" y="202406"/>
                    </a:lnTo>
                    <a:lnTo>
                      <a:pt x="83344" y="178594"/>
                    </a:lnTo>
                    <a:lnTo>
                      <a:pt x="0" y="119062"/>
                    </a:lnTo>
                    <a:lnTo>
                      <a:pt x="47625" y="23812"/>
                    </a:lnTo>
                    <a:lnTo>
                      <a:pt x="130969" y="0"/>
                    </a:lnTo>
                    <a:lnTo>
                      <a:pt x="214312" y="23812"/>
                    </a:lnTo>
                    <a:lnTo>
                      <a:pt x="154781" y="23812"/>
                    </a:lnTo>
                    <a:lnTo>
                      <a:pt x="86826" y="89728"/>
                    </a:lnTo>
                    <a:cubicBezTo>
                      <a:pt x="84267" y="92286"/>
                      <a:pt x="83010" y="95869"/>
                      <a:pt x="83410" y="99464"/>
                    </a:cubicBezTo>
                    <a:cubicBezTo>
                      <a:pt x="83809" y="103060"/>
                      <a:pt x="85822" y="106279"/>
                      <a:pt x="88880" y="108213"/>
                    </a:cubicBezTo>
                    <a:cubicBezTo>
                      <a:pt x="114940" y="124867"/>
                      <a:pt x="150316" y="123721"/>
                      <a:pt x="178594" y="95250"/>
                    </a:cubicBezTo>
                    <a:close/>
                  </a:path>
                </a:pathLst>
              </a:custGeom>
              <a:solidFill>
                <a:srgbClr val="1565C0">
                  <a:alpha val="20000"/>
                </a:srgbClr>
              </a:solidFill>
              <a:ln>
                <a:noFill/>
              </a:ln>
            </p:spPr>
          </p:sp>
          <p:sp>
            <p:nvSpPr>
              <p:cNvPr id="13" name="Freeform 13"/>
              <p:cNvSpPr/>
              <p:nvPr/>
            </p:nvSpPr>
            <p:spPr>
              <a:xfrm>
                <a:off x="2048579" y="1357117"/>
                <a:ext cx="377014" cy="262138"/>
              </a:xfrm>
              <a:custGeom>
                <a:avLst/>
                <a:gdLst/>
                <a:ahLst/>
                <a:cxnLst/>
                <a:rect l="l" t="t" r="r" b="b"/>
                <a:pathLst>
                  <a:path w="377014" h="262138">
                    <a:moveTo>
                      <a:pt x="177533" y="253114"/>
                    </a:moveTo>
                    <a:cubicBezTo>
                      <a:pt x="176208" y="258414"/>
                      <a:pt x="171446" y="262132"/>
                      <a:pt x="165983" y="262133"/>
                    </a:cubicBezTo>
                    <a:cubicBezTo>
                      <a:pt x="164980" y="262138"/>
                      <a:pt x="163980" y="262018"/>
                      <a:pt x="163007" y="261776"/>
                    </a:cubicBezTo>
                    <a:lnTo>
                      <a:pt x="115382" y="249869"/>
                    </a:lnTo>
                    <a:cubicBezTo>
                      <a:pt x="114056" y="249536"/>
                      <a:pt x="112797" y="248978"/>
                      <a:pt x="111661" y="248217"/>
                    </a:cubicBezTo>
                    <a:lnTo>
                      <a:pt x="75942" y="224405"/>
                    </a:lnTo>
                    <a:cubicBezTo>
                      <a:pt x="70472" y="220755"/>
                      <a:pt x="68996" y="213363"/>
                      <a:pt x="72646" y="207892"/>
                    </a:cubicBezTo>
                    <a:cubicBezTo>
                      <a:pt x="76295" y="202422"/>
                      <a:pt x="83688" y="200946"/>
                      <a:pt x="89158" y="204596"/>
                    </a:cubicBezTo>
                    <a:lnTo>
                      <a:pt x="123151" y="227262"/>
                    </a:lnTo>
                    <a:lnTo>
                      <a:pt x="168781" y="238678"/>
                    </a:lnTo>
                    <a:cubicBezTo>
                      <a:pt x="171861" y="239424"/>
                      <a:pt x="174515" y="241367"/>
                      <a:pt x="176158" y="244077"/>
                    </a:cubicBezTo>
                    <a:cubicBezTo>
                      <a:pt x="177800" y="246786"/>
                      <a:pt x="178295" y="250039"/>
                      <a:pt x="177533" y="253114"/>
                    </a:cubicBezTo>
                    <a:close/>
                    <a:moveTo>
                      <a:pt x="375013" y="109554"/>
                    </a:moveTo>
                    <a:cubicBezTo>
                      <a:pt x="373039" y="115548"/>
                      <a:pt x="368753" y="120504"/>
                      <a:pt x="363106" y="123321"/>
                    </a:cubicBezTo>
                    <a:lnTo>
                      <a:pt x="327864" y="140942"/>
                    </a:lnTo>
                    <a:lnTo>
                      <a:pt x="245889" y="222932"/>
                    </a:lnTo>
                    <a:cubicBezTo>
                      <a:pt x="242930" y="225888"/>
                      <a:pt x="238636" y="227074"/>
                      <a:pt x="234578" y="226057"/>
                    </a:cubicBezTo>
                    <a:lnTo>
                      <a:pt x="139328" y="202244"/>
                    </a:lnTo>
                    <a:cubicBezTo>
                      <a:pt x="137880" y="201881"/>
                      <a:pt x="136512" y="201250"/>
                      <a:pt x="135295" y="200384"/>
                    </a:cubicBezTo>
                    <a:lnTo>
                      <a:pt x="52666" y="141389"/>
                    </a:lnTo>
                    <a:lnTo>
                      <a:pt x="16530" y="123321"/>
                    </a:lnTo>
                    <a:cubicBezTo>
                      <a:pt x="4770" y="117442"/>
                      <a:pt x="0" y="103145"/>
                      <a:pt x="5874" y="91382"/>
                    </a:cubicBezTo>
                    <a:lnTo>
                      <a:pt x="42858" y="17430"/>
                    </a:lnTo>
                    <a:lnTo>
                      <a:pt x="42858" y="17430"/>
                    </a:lnTo>
                    <a:cubicBezTo>
                      <a:pt x="48737" y="5670"/>
                      <a:pt x="63034" y="899"/>
                      <a:pt x="74796" y="6774"/>
                    </a:cubicBezTo>
                    <a:lnTo>
                      <a:pt x="107628" y="23145"/>
                    </a:lnTo>
                    <a:lnTo>
                      <a:pt x="186507" y="612"/>
                    </a:lnTo>
                    <a:cubicBezTo>
                      <a:pt x="188647" y="0"/>
                      <a:pt x="190915" y="0"/>
                      <a:pt x="193055" y="612"/>
                    </a:cubicBezTo>
                    <a:lnTo>
                      <a:pt x="271934" y="23145"/>
                    </a:lnTo>
                    <a:lnTo>
                      <a:pt x="304766" y="6774"/>
                    </a:lnTo>
                    <a:cubicBezTo>
                      <a:pt x="316528" y="899"/>
                      <a:pt x="330825" y="5670"/>
                      <a:pt x="336704" y="17430"/>
                    </a:cubicBezTo>
                    <a:lnTo>
                      <a:pt x="373688" y="91382"/>
                    </a:lnTo>
                    <a:cubicBezTo>
                      <a:pt x="376537" y="97020"/>
                      <a:pt x="377014" y="103563"/>
                      <a:pt x="375013" y="109554"/>
                    </a:cubicBezTo>
                    <a:close/>
                    <a:moveTo>
                      <a:pt x="306284" y="128813"/>
                    </a:moveTo>
                    <a:lnTo>
                      <a:pt x="265788" y="47820"/>
                    </a:lnTo>
                    <a:lnTo>
                      <a:pt x="218430" y="47820"/>
                    </a:lnTo>
                    <a:lnTo>
                      <a:pt x="154077" y="110328"/>
                    </a:lnTo>
                    <a:cubicBezTo>
                      <a:pt x="172919" y="122368"/>
                      <a:pt x="202461" y="125687"/>
                      <a:pt x="228968" y="98973"/>
                    </a:cubicBezTo>
                    <a:cubicBezTo>
                      <a:pt x="233255" y="94651"/>
                      <a:pt x="240111" y="94260"/>
                      <a:pt x="244862" y="98065"/>
                    </a:cubicBezTo>
                    <a:lnTo>
                      <a:pt x="296074" y="139097"/>
                    </a:lnTo>
                    <a:close/>
                    <a:moveTo>
                      <a:pt x="27171" y="102024"/>
                    </a:moveTo>
                    <a:lnTo>
                      <a:pt x="53499" y="115195"/>
                    </a:lnTo>
                    <a:lnTo>
                      <a:pt x="90483" y="41242"/>
                    </a:lnTo>
                    <a:lnTo>
                      <a:pt x="64155" y="28071"/>
                    </a:lnTo>
                    <a:close/>
                    <a:moveTo>
                      <a:pt x="279093" y="155959"/>
                    </a:moveTo>
                    <a:lnTo>
                      <a:pt x="237853" y="122934"/>
                    </a:lnTo>
                    <a:cubicBezTo>
                      <a:pt x="208772" y="146746"/>
                      <a:pt x="171847" y="149887"/>
                      <a:pt x="141248" y="130375"/>
                    </a:cubicBezTo>
                    <a:cubicBezTo>
                      <a:pt x="135151" y="126497"/>
                      <a:pt x="131145" y="120060"/>
                      <a:pt x="130358" y="112877"/>
                    </a:cubicBezTo>
                    <a:cubicBezTo>
                      <a:pt x="129571" y="105695"/>
                      <a:pt x="132088" y="98543"/>
                      <a:pt x="137200" y="93436"/>
                    </a:cubicBezTo>
                    <a:cubicBezTo>
                      <a:pt x="137236" y="93393"/>
                      <a:pt x="137276" y="93353"/>
                      <a:pt x="137319" y="93317"/>
                    </a:cubicBezTo>
                    <a:lnTo>
                      <a:pt x="204083" y="28562"/>
                    </a:lnTo>
                    <a:lnTo>
                      <a:pt x="189796" y="24484"/>
                    </a:lnTo>
                    <a:lnTo>
                      <a:pt x="114757" y="45930"/>
                    </a:lnTo>
                    <a:lnTo>
                      <a:pt x="74023" y="127384"/>
                    </a:lnTo>
                    <a:lnTo>
                      <a:pt x="147246" y="179697"/>
                    </a:lnTo>
                    <a:lnTo>
                      <a:pt x="233775" y="201322"/>
                    </a:lnTo>
                    <a:close/>
                    <a:moveTo>
                      <a:pt x="352376" y="102024"/>
                    </a:moveTo>
                    <a:lnTo>
                      <a:pt x="315437" y="28071"/>
                    </a:lnTo>
                    <a:lnTo>
                      <a:pt x="289109" y="41242"/>
                    </a:lnTo>
                    <a:lnTo>
                      <a:pt x="326093" y="115195"/>
                    </a:lnTo>
                    <a:close/>
                  </a:path>
                </a:pathLst>
              </a:custGeom>
              <a:solidFill>
                <a:srgbClr val="1565C0"/>
              </a:solidFill>
              <a:ln>
                <a:noFill/>
              </a:ln>
            </p:spPr>
          </p:sp>
        </p:grpSp>
        <p:sp>
          <p:nvSpPr>
            <p:cNvPr id="15" name="TextBox 15"/>
            <p:cNvSpPr txBox="1"/>
            <p:nvPr/>
          </p:nvSpPr>
          <p:spPr>
            <a:xfrm>
              <a:off x="1619583" y="1726882"/>
              <a:ext cx="1428083" cy="335280"/>
            </a:xfrm>
            <a:prstGeom prst="rect">
              <a:avLst/>
            </a:prstGeom>
            <a:noFill/>
            <a:ln>
              <a:noFill/>
            </a:ln>
          </p:spPr>
          <p:txBody>
            <a:bodyPr wrap="none" lIns="0" tIns="0" rIns="0" bIns="0" anchor="t" anchorCtr="0">
              <a:spAutoFit/>
            </a:bodyPr>
            <a:lstStyle/>
            <a:p>
              <a:pPr algn="ctr"/>
              <a:r>
                <a:rPr lang="zh-CN" sz="1650" b="1" dirty="0">
                  <a:solidFill>
                    <a:srgbClr val="1565C0"/>
                  </a:solidFill>
                  <a:latin typeface="Segoe UI" panose="020B0502040204020203"/>
                  <a:ea typeface="微软雅黑" panose="020B0503020204020204" charset="-122"/>
                  <a:cs typeface="Segoe UI" panose="020B0502040204020203"/>
                </a:rPr>
                <a:t>人机分工原则</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16" name="Line 16"/>
            <p:cNvSpPr/>
            <p:nvPr/>
          </p:nvSpPr>
          <p:spPr>
            <a:xfrm>
              <a:off x="952500" y="2095500"/>
              <a:ext cx="2762250" cy="9525"/>
            </a:xfrm>
            <a:custGeom>
              <a:avLst/>
              <a:gdLst/>
              <a:ahLst/>
              <a:cxnLst/>
              <a:rect l="l" t="t" r="r" b="b"/>
              <a:pathLst>
                <a:path w="2762250" h="9525">
                  <a:moveTo>
                    <a:pt x="0" y="0"/>
                  </a:moveTo>
                  <a:lnTo>
                    <a:pt x="2762250" y="0"/>
                  </a:lnTo>
                </a:path>
              </a:pathLst>
            </a:custGeom>
            <a:noFill/>
            <a:ln w="9525">
              <a:solidFill>
                <a:srgbClr val="CFD8DC"/>
              </a:solidFill>
            </a:ln>
          </p:spPr>
        </p:sp>
        <p:sp>
          <p:nvSpPr>
            <p:cNvPr id="17" name="TextBox 17"/>
            <p:cNvSpPr txBox="1"/>
            <p:nvPr/>
          </p:nvSpPr>
          <p:spPr>
            <a:xfrm>
              <a:off x="938212" y="2355056"/>
              <a:ext cx="7786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人做决策：</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37260" y="2632710"/>
              <a:ext cx="1862709"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判断 · 取舍 · 创新 · 决策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952500" y="2952750"/>
              <a:ext cx="2762250" cy="9525"/>
            </a:xfrm>
            <a:prstGeom prst="rect">
              <a:avLst/>
            </a:prstGeom>
            <a:solidFill>
              <a:srgbClr val="CFD8DC"/>
            </a:solidFill>
            <a:ln>
              <a:noFill/>
            </a:ln>
          </p:spPr>
        </p:sp>
        <p:sp>
          <p:nvSpPr>
            <p:cNvPr id="20" name="TextBox 20"/>
            <p:cNvSpPr txBox="1"/>
            <p:nvPr/>
          </p:nvSpPr>
          <p:spPr>
            <a:xfrm>
              <a:off x="938212" y="3117056"/>
              <a:ext cx="75616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AI做执行：</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7260" y="3394710"/>
              <a:ext cx="1862709"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生成 · 检查 · 记录 · 分析</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952500" y="3714750"/>
              <a:ext cx="2762250" cy="285750"/>
            </a:xfrm>
            <a:prstGeom prst="roundRect">
              <a:avLst>
                <a:gd name="adj" fmla="val 20000"/>
              </a:avLst>
            </a:prstGeom>
            <a:solidFill>
              <a:srgbClr val="1565C0">
                <a:alpha val="6000"/>
              </a:srgbClr>
            </a:solidFill>
            <a:ln>
              <a:noFill/>
            </a:ln>
          </p:spPr>
        </p:sp>
        <p:sp>
          <p:nvSpPr>
            <p:cNvPr id="23" name="TextBox 23"/>
            <p:cNvSpPr txBox="1"/>
            <p:nvPr/>
          </p:nvSpPr>
          <p:spPr>
            <a:xfrm>
              <a:off x="1569244" y="3783806"/>
              <a:ext cx="1528762" cy="228600"/>
            </a:xfrm>
            <a:prstGeom prst="rect">
              <a:avLst/>
            </a:prstGeom>
            <a:noFill/>
            <a:ln>
              <a:noFill/>
            </a:ln>
          </p:spPr>
          <p:txBody>
            <a:bodyPr wrap="none" lIns="0" tIns="0" rIns="0" bIns="0" anchor="t" anchorCtr="0">
              <a:spAutoFit/>
            </a:bodyPr>
            <a:lstStyle/>
            <a:p>
              <a:pPr algn="ctr"/>
              <a:r>
                <a:rPr lang="zh-CN" sz="1125" dirty="0">
                  <a:solidFill>
                    <a:srgbClr val="1565C0"/>
                  </a:solidFill>
                  <a:latin typeface="Segoe UI" panose="020B0502040204020203"/>
                  <a:ea typeface="微软雅黑" panose="020B0503020204020204" charset="-122"/>
                  <a:cs typeface="Segoe UI" panose="020B0502040204020203"/>
                </a:rPr>
                <a:t>分工越清晰，效率越高</a:t>
              </a:r>
              <a:endParaRPr lang="zh-CN" sz="1125" dirty="0">
                <a:solidFill>
                  <a:srgbClr val="1565C0"/>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4333875" y="904875"/>
            <a:ext cx="3524250" cy="3333750"/>
            <a:chOff x="4333875" y="904875"/>
            <a:chExt cx="3524250" cy="3333750"/>
          </a:xfrm>
        </p:grpSpPr>
        <p:sp>
          <p:nvSpPr>
            <p:cNvPr id="25" name="Rectangle 25"/>
            <p:cNvSpPr/>
            <p:nvPr/>
          </p:nvSpPr>
          <p:spPr>
            <a:xfrm>
              <a:off x="4333875" y="904875"/>
              <a:ext cx="3524250" cy="3333750"/>
            </a:xfrm>
            <a:prstGeom prst="roundRect">
              <a:avLst>
                <a:gd name="adj" fmla="val 3429"/>
              </a:avLst>
            </a:prstGeom>
            <a:solidFill>
              <a:srgbClr val="FFFFFF"/>
            </a:solidFill>
            <a:ln>
              <a:noFill/>
            </a:ln>
          </p:spPr>
        </p:sp>
        <p:sp>
          <p:nvSpPr>
            <p:cNvPr id="26" name="Rectangle 26"/>
            <p:cNvSpPr/>
            <p:nvPr/>
          </p:nvSpPr>
          <p:spPr>
            <a:xfrm>
              <a:off x="4333875" y="904875"/>
              <a:ext cx="3524250" cy="38100"/>
            </a:xfrm>
            <a:prstGeom prst="roundRect">
              <a:avLst>
                <a:gd name="adj" fmla="val 50000"/>
              </a:avLst>
            </a:prstGeom>
            <a:solidFill>
              <a:srgbClr val="FF6F00"/>
            </a:solidFill>
            <a:ln>
              <a:noFill/>
            </a:ln>
          </p:spPr>
        </p:sp>
        <p:grpSp>
          <p:nvGrpSpPr>
            <p:cNvPr id="29" name="Group 29"/>
            <p:cNvGrpSpPr/>
            <p:nvPr/>
          </p:nvGrpSpPr>
          <p:grpSpPr>
            <a:xfrm>
              <a:off x="5869781" y="1321591"/>
              <a:ext cx="261940" cy="309565"/>
              <a:chOff x="5869781" y="1321591"/>
              <a:chExt cx="261940" cy="309565"/>
            </a:xfrm>
          </p:grpSpPr>
          <p:sp>
            <p:nvSpPr>
              <p:cNvPr id="27" name="Freeform 27"/>
              <p:cNvSpPr/>
              <p:nvPr/>
            </p:nvSpPr>
            <p:spPr>
              <a:xfrm>
                <a:off x="6036469" y="1333500"/>
                <a:ext cx="83344" cy="83344"/>
              </a:xfrm>
              <a:custGeom>
                <a:avLst/>
                <a:gdLst/>
                <a:ahLst/>
                <a:cxnLst/>
                <a:rect l="l" t="t" r="r" b="b"/>
                <a:pathLst>
                  <a:path w="83344" h="83344">
                    <a:moveTo>
                      <a:pt x="83344" y="83344"/>
                    </a:moveTo>
                    <a:lnTo>
                      <a:pt x="0" y="83344"/>
                    </a:lnTo>
                    <a:lnTo>
                      <a:pt x="0" y="0"/>
                    </a:lnTo>
                    <a:close/>
                  </a:path>
                </a:pathLst>
              </a:custGeom>
              <a:solidFill>
                <a:srgbClr val="FF6F00">
                  <a:alpha val="20000"/>
                </a:srgbClr>
              </a:solidFill>
              <a:ln>
                <a:noFill/>
              </a:ln>
            </p:spPr>
          </p:sp>
          <p:sp>
            <p:nvSpPr>
              <p:cNvPr id="28" name="Freeform 28"/>
              <p:cNvSpPr/>
              <p:nvPr/>
            </p:nvSpPr>
            <p:spPr>
              <a:xfrm>
                <a:off x="5869781" y="1321591"/>
                <a:ext cx="261940" cy="309565"/>
              </a:xfrm>
              <a:custGeom>
                <a:avLst/>
                <a:gdLst/>
                <a:ahLst/>
                <a:cxnLst/>
                <a:rect l="l" t="t" r="r" b="b"/>
                <a:pathLst>
                  <a:path w="261940" h="309565">
                    <a:moveTo>
                      <a:pt x="258455" y="86829"/>
                    </a:moveTo>
                    <a:lnTo>
                      <a:pt x="175111" y="3485"/>
                    </a:lnTo>
                    <a:cubicBezTo>
                      <a:pt x="172876" y="1253"/>
                      <a:pt x="169846" y="0"/>
                      <a:pt x="166688" y="2"/>
                    </a:cubicBezTo>
                    <a:lnTo>
                      <a:pt x="23812" y="2"/>
                    </a:lnTo>
                    <a:cubicBezTo>
                      <a:pt x="10661" y="2"/>
                      <a:pt x="0" y="10664"/>
                      <a:pt x="0" y="23815"/>
                    </a:cubicBezTo>
                    <a:lnTo>
                      <a:pt x="0" y="285752"/>
                    </a:lnTo>
                    <a:cubicBezTo>
                      <a:pt x="0" y="298904"/>
                      <a:pt x="10661" y="309565"/>
                      <a:pt x="23812" y="309565"/>
                    </a:cubicBezTo>
                    <a:lnTo>
                      <a:pt x="238125" y="309565"/>
                    </a:lnTo>
                    <a:cubicBezTo>
                      <a:pt x="251276" y="309565"/>
                      <a:pt x="261938" y="298904"/>
                      <a:pt x="261938" y="285752"/>
                    </a:cubicBezTo>
                    <a:lnTo>
                      <a:pt x="261938" y="95252"/>
                    </a:lnTo>
                    <a:cubicBezTo>
                      <a:pt x="261940" y="92094"/>
                      <a:pt x="260687" y="89064"/>
                      <a:pt x="258455" y="86829"/>
                    </a:cubicBezTo>
                    <a:close/>
                    <a:moveTo>
                      <a:pt x="178594" y="40647"/>
                    </a:moveTo>
                    <a:lnTo>
                      <a:pt x="221293" y="83346"/>
                    </a:lnTo>
                    <a:lnTo>
                      <a:pt x="178594" y="83346"/>
                    </a:lnTo>
                    <a:close/>
                    <a:moveTo>
                      <a:pt x="238125" y="285752"/>
                    </a:moveTo>
                    <a:lnTo>
                      <a:pt x="23812" y="285752"/>
                    </a:lnTo>
                    <a:lnTo>
                      <a:pt x="23812" y="23815"/>
                    </a:lnTo>
                    <a:lnTo>
                      <a:pt x="154781" y="23815"/>
                    </a:lnTo>
                    <a:lnTo>
                      <a:pt x="154781" y="95252"/>
                    </a:lnTo>
                    <a:cubicBezTo>
                      <a:pt x="154781" y="101828"/>
                      <a:pt x="160112" y="107159"/>
                      <a:pt x="166688" y="107159"/>
                    </a:cubicBezTo>
                    <a:lnTo>
                      <a:pt x="238125" y="107159"/>
                    </a:lnTo>
                    <a:lnTo>
                      <a:pt x="238125" y="285752"/>
                    </a:lnTo>
                    <a:close/>
                    <a:moveTo>
                      <a:pt x="190500" y="166690"/>
                    </a:moveTo>
                    <a:cubicBezTo>
                      <a:pt x="190500" y="173266"/>
                      <a:pt x="185169" y="178596"/>
                      <a:pt x="178594" y="178596"/>
                    </a:cubicBezTo>
                    <a:lnTo>
                      <a:pt x="83344" y="178596"/>
                    </a:lnTo>
                    <a:cubicBezTo>
                      <a:pt x="76768" y="178596"/>
                      <a:pt x="71438" y="173266"/>
                      <a:pt x="71438" y="166690"/>
                    </a:cubicBezTo>
                    <a:cubicBezTo>
                      <a:pt x="71438" y="160114"/>
                      <a:pt x="76768" y="154784"/>
                      <a:pt x="83344" y="154784"/>
                    </a:cubicBezTo>
                    <a:lnTo>
                      <a:pt x="178594" y="154784"/>
                    </a:lnTo>
                    <a:cubicBezTo>
                      <a:pt x="185169" y="154784"/>
                      <a:pt x="190500" y="160114"/>
                      <a:pt x="190500" y="166690"/>
                    </a:cubicBezTo>
                    <a:close/>
                    <a:moveTo>
                      <a:pt x="190500" y="214315"/>
                    </a:moveTo>
                    <a:cubicBezTo>
                      <a:pt x="190500" y="220891"/>
                      <a:pt x="185169" y="226221"/>
                      <a:pt x="178594" y="226221"/>
                    </a:cubicBezTo>
                    <a:lnTo>
                      <a:pt x="83344" y="226221"/>
                    </a:lnTo>
                    <a:cubicBezTo>
                      <a:pt x="76768" y="226221"/>
                      <a:pt x="71438" y="220891"/>
                      <a:pt x="71438" y="214315"/>
                    </a:cubicBezTo>
                    <a:cubicBezTo>
                      <a:pt x="71438" y="207739"/>
                      <a:pt x="76768" y="202409"/>
                      <a:pt x="83344" y="202409"/>
                    </a:cubicBezTo>
                    <a:lnTo>
                      <a:pt x="178594" y="202409"/>
                    </a:lnTo>
                    <a:cubicBezTo>
                      <a:pt x="185169" y="202409"/>
                      <a:pt x="190500" y="207739"/>
                      <a:pt x="190500" y="214315"/>
                    </a:cubicBezTo>
                    <a:close/>
                  </a:path>
                </a:pathLst>
              </a:custGeom>
              <a:solidFill>
                <a:srgbClr val="FF6F00"/>
              </a:solidFill>
              <a:ln>
                <a:noFill/>
              </a:ln>
            </p:spPr>
          </p:sp>
        </p:grpSp>
        <p:sp>
          <p:nvSpPr>
            <p:cNvPr id="30" name="TextBox 30"/>
            <p:cNvSpPr txBox="1"/>
            <p:nvPr/>
          </p:nvSpPr>
          <p:spPr>
            <a:xfrm>
              <a:off x="5381958" y="1726882"/>
              <a:ext cx="1428083" cy="335280"/>
            </a:xfrm>
            <a:prstGeom prst="rect">
              <a:avLst/>
            </a:prstGeom>
            <a:noFill/>
            <a:ln>
              <a:noFill/>
            </a:ln>
          </p:spPr>
          <p:txBody>
            <a:bodyPr wrap="none" lIns="0" tIns="0" rIns="0" bIns="0" anchor="t" anchorCtr="0">
              <a:spAutoFit/>
            </a:bodyPr>
            <a:lstStyle/>
            <a:p>
              <a:pPr algn="ctr"/>
              <a:r>
                <a:rPr lang="zh-CN" sz="1650" b="1" dirty="0">
                  <a:solidFill>
                    <a:srgbClr val="FF6F00"/>
                  </a:solidFill>
                  <a:latin typeface="Segoe UI" panose="020B0502040204020203"/>
                  <a:ea typeface="微软雅黑" panose="020B0503020204020204" charset="-122"/>
                  <a:cs typeface="Segoe UI" panose="020B0502040204020203"/>
                </a:rPr>
                <a:t>标准先行原则</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31" name="Line 31"/>
            <p:cNvSpPr/>
            <p:nvPr/>
          </p:nvSpPr>
          <p:spPr>
            <a:xfrm>
              <a:off x="4714875" y="2095500"/>
              <a:ext cx="2762250" cy="9525"/>
            </a:xfrm>
            <a:custGeom>
              <a:avLst/>
              <a:gdLst/>
              <a:ahLst/>
              <a:cxnLst/>
              <a:rect l="l" t="t" r="r" b="b"/>
              <a:pathLst>
                <a:path w="2762250" h="9525">
                  <a:moveTo>
                    <a:pt x="0" y="0"/>
                  </a:moveTo>
                  <a:lnTo>
                    <a:pt x="2762250" y="0"/>
                  </a:lnTo>
                </a:path>
              </a:pathLst>
            </a:custGeom>
            <a:noFill/>
            <a:ln w="9525">
              <a:solidFill>
                <a:srgbClr val="CFD8DC"/>
              </a:solidFill>
            </a:ln>
          </p:spPr>
        </p:sp>
        <p:sp>
          <p:nvSpPr>
            <p:cNvPr id="32" name="TextBox 32"/>
            <p:cNvSpPr txBox="1"/>
            <p:nvPr/>
          </p:nvSpPr>
          <p:spPr>
            <a:xfrm>
              <a:off x="4700588" y="2355056"/>
              <a:ext cx="122872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先有标准后有执行</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4699635" y="26327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AI需要明确的规则才能高效工作</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4714875" y="2952750"/>
              <a:ext cx="2762250" cy="9525"/>
            </a:xfrm>
            <a:prstGeom prst="rect">
              <a:avLst/>
            </a:prstGeom>
            <a:solidFill>
              <a:srgbClr val="CFD8DC"/>
            </a:solidFill>
            <a:ln>
              <a:noFill/>
            </a:ln>
          </p:spPr>
        </p:sp>
        <p:sp>
          <p:nvSpPr>
            <p:cNvPr id="35" name="TextBox 35"/>
            <p:cNvSpPr txBox="1"/>
            <p:nvPr/>
          </p:nvSpPr>
          <p:spPr>
            <a:xfrm>
              <a:off x="4700588" y="3117056"/>
              <a:ext cx="170128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模糊的标准 = 模糊的输出</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4699635" y="33947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标准化过程资产是AI协作的基础</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714875" y="3714750"/>
              <a:ext cx="2762250" cy="285750"/>
            </a:xfrm>
            <a:prstGeom prst="roundRect">
              <a:avLst>
                <a:gd name="adj" fmla="val 20000"/>
              </a:avLst>
            </a:prstGeom>
            <a:solidFill>
              <a:srgbClr val="FF6F00">
                <a:alpha val="6000"/>
              </a:srgbClr>
            </a:solidFill>
            <a:ln>
              <a:noFill/>
            </a:ln>
          </p:spPr>
        </p:sp>
        <p:sp>
          <p:nvSpPr>
            <p:cNvPr id="38" name="TextBox 38"/>
            <p:cNvSpPr txBox="1"/>
            <p:nvPr/>
          </p:nvSpPr>
          <p:spPr>
            <a:xfrm>
              <a:off x="5642908" y="3783806"/>
              <a:ext cx="906185" cy="228600"/>
            </a:xfrm>
            <a:prstGeom prst="rect">
              <a:avLst/>
            </a:prstGeom>
            <a:noFill/>
            <a:ln>
              <a:noFill/>
            </a:ln>
          </p:spPr>
          <p:txBody>
            <a:bodyPr wrap="none" lIns="0" tIns="0" rIns="0" bIns="0" anchor="t" anchorCtr="0">
              <a:spAutoFit/>
            </a:bodyPr>
            <a:lstStyle/>
            <a:p>
              <a:pPr algn="ctr"/>
              <a:r>
                <a:rPr lang="zh-CN" sz="1125" dirty="0">
                  <a:solidFill>
                    <a:srgbClr val="FF6F00"/>
                  </a:solidFill>
                  <a:latin typeface="Segoe UI" panose="020B0502040204020203"/>
                  <a:ea typeface="微软雅黑" panose="020B0503020204020204" charset="-122"/>
                  <a:cs typeface="Segoe UI" panose="020B0502040204020203"/>
                </a:rPr>
                <a:t>无标准，不AI</a:t>
              </a:r>
              <a:endParaRPr lang="zh-CN" sz="1125" dirty="0">
                <a:solidFill>
                  <a:srgbClr val="FF6F00"/>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8096250" y="904875"/>
            <a:ext cx="3524250" cy="3333750"/>
            <a:chOff x="8096250" y="904875"/>
            <a:chExt cx="3524250" cy="3333750"/>
          </a:xfrm>
        </p:grpSpPr>
        <p:sp>
          <p:nvSpPr>
            <p:cNvPr id="40" name="Rectangle 40"/>
            <p:cNvSpPr/>
            <p:nvPr/>
          </p:nvSpPr>
          <p:spPr>
            <a:xfrm>
              <a:off x="8096250" y="904875"/>
              <a:ext cx="3524250" cy="3333750"/>
            </a:xfrm>
            <a:prstGeom prst="roundRect">
              <a:avLst>
                <a:gd name="adj" fmla="val 3429"/>
              </a:avLst>
            </a:prstGeom>
            <a:solidFill>
              <a:srgbClr val="FFFFFF"/>
            </a:solidFill>
            <a:ln>
              <a:noFill/>
            </a:ln>
          </p:spPr>
        </p:sp>
        <p:sp>
          <p:nvSpPr>
            <p:cNvPr id="41" name="Rectangle 41"/>
            <p:cNvSpPr/>
            <p:nvPr/>
          </p:nvSpPr>
          <p:spPr>
            <a:xfrm>
              <a:off x="8096250" y="904875"/>
              <a:ext cx="3524250" cy="38100"/>
            </a:xfrm>
            <a:prstGeom prst="roundRect">
              <a:avLst>
                <a:gd name="adj" fmla="val 50000"/>
              </a:avLst>
            </a:prstGeom>
            <a:solidFill>
              <a:srgbClr val="2E7D32"/>
            </a:solidFill>
            <a:ln>
              <a:noFill/>
            </a:ln>
          </p:spPr>
        </p:sp>
        <p:grpSp>
          <p:nvGrpSpPr>
            <p:cNvPr id="44" name="Group 44"/>
            <p:cNvGrpSpPr/>
            <p:nvPr/>
          </p:nvGrpSpPr>
          <p:grpSpPr>
            <a:xfrm>
              <a:off x="9608344" y="1333500"/>
              <a:ext cx="309562" cy="273844"/>
              <a:chOff x="9608344" y="1333500"/>
              <a:chExt cx="309562" cy="273844"/>
            </a:xfrm>
          </p:grpSpPr>
          <p:sp>
            <p:nvSpPr>
              <p:cNvPr id="42" name="Freeform 42"/>
              <p:cNvSpPr/>
              <p:nvPr/>
            </p:nvSpPr>
            <p:spPr>
              <a:xfrm>
                <a:off x="9798844" y="1345406"/>
                <a:ext cx="83344" cy="250031"/>
              </a:xfrm>
              <a:custGeom>
                <a:avLst/>
                <a:gdLst/>
                <a:ahLst/>
                <a:cxnLst/>
                <a:rect l="l" t="t" r="r" b="b"/>
                <a:pathLst>
                  <a:path w="83344" h="250031">
                    <a:moveTo>
                      <a:pt x="83344" y="0"/>
                    </a:moveTo>
                    <a:lnTo>
                      <a:pt x="83344" y="250031"/>
                    </a:lnTo>
                    <a:lnTo>
                      <a:pt x="0" y="250031"/>
                    </a:lnTo>
                    <a:lnTo>
                      <a:pt x="0" y="0"/>
                    </a:lnTo>
                    <a:close/>
                  </a:path>
                </a:pathLst>
              </a:custGeom>
              <a:solidFill>
                <a:srgbClr val="2E7D32">
                  <a:alpha val="20000"/>
                </a:srgbClr>
              </a:solidFill>
              <a:ln>
                <a:noFill/>
              </a:ln>
            </p:spPr>
          </p:sp>
          <p:sp>
            <p:nvSpPr>
              <p:cNvPr id="43" name="Freeform 43"/>
              <p:cNvSpPr/>
              <p:nvPr/>
            </p:nvSpPr>
            <p:spPr>
              <a:xfrm>
                <a:off x="9608344" y="1333500"/>
                <a:ext cx="309562" cy="273844"/>
              </a:xfrm>
              <a:custGeom>
                <a:avLst/>
                <a:gdLst/>
                <a:ahLst/>
                <a:cxnLst/>
                <a:rect l="l" t="t" r="r" b="b"/>
                <a:pathLst>
                  <a:path w="309562" h="273844">
                    <a:moveTo>
                      <a:pt x="297656" y="250031"/>
                    </a:moveTo>
                    <a:lnTo>
                      <a:pt x="285750" y="250031"/>
                    </a:lnTo>
                    <a:lnTo>
                      <a:pt x="285750" y="11906"/>
                    </a:lnTo>
                    <a:cubicBezTo>
                      <a:pt x="285750" y="5331"/>
                      <a:pt x="280419" y="0"/>
                      <a:pt x="273844" y="0"/>
                    </a:cubicBezTo>
                    <a:lnTo>
                      <a:pt x="190500" y="0"/>
                    </a:lnTo>
                    <a:cubicBezTo>
                      <a:pt x="183924" y="0"/>
                      <a:pt x="178594" y="5331"/>
                      <a:pt x="178594" y="11906"/>
                    </a:cubicBezTo>
                    <a:lnTo>
                      <a:pt x="178594" y="71438"/>
                    </a:lnTo>
                    <a:lnTo>
                      <a:pt x="107156" y="71438"/>
                    </a:lnTo>
                    <a:cubicBezTo>
                      <a:pt x="100581" y="71438"/>
                      <a:pt x="95250" y="76768"/>
                      <a:pt x="95250" y="83344"/>
                    </a:cubicBezTo>
                    <a:lnTo>
                      <a:pt x="95250" y="142875"/>
                    </a:lnTo>
                    <a:lnTo>
                      <a:pt x="35719" y="142875"/>
                    </a:lnTo>
                    <a:cubicBezTo>
                      <a:pt x="29143" y="142875"/>
                      <a:pt x="23812" y="148206"/>
                      <a:pt x="23812" y="154781"/>
                    </a:cubicBezTo>
                    <a:lnTo>
                      <a:pt x="23812" y="250031"/>
                    </a:lnTo>
                    <a:lnTo>
                      <a:pt x="11906" y="250031"/>
                    </a:lnTo>
                    <a:cubicBezTo>
                      <a:pt x="5331" y="250031"/>
                      <a:pt x="0" y="255362"/>
                      <a:pt x="0" y="261938"/>
                    </a:cubicBezTo>
                    <a:cubicBezTo>
                      <a:pt x="0" y="268513"/>
                      <a:pt x="5331" y="273844"/>
                      <a:pt x="11906" y="273844"/>
                    </a:cubicBezTo>
                    <a:lnTo>
                      <a:pt x="297656" y="273844"/>
                    </a:lnTo>
                    <a:cubicBezTo>
                      <a:pt x="304232" y="273844"/>
                      <a:pt x="309562" y="268513"/>
                      <a:pt x="309562" y="261938"/>
                    </a:cubicBezTo>
                    <a:cubicBezTo>
                      <a:pt x="309562" y="255362"/>
                      <a:pt x="304232" y="250031"/>
                      <a:pt x="297656" y="250031"/>
                    </a:cubicBezTo>
                    <a:close/>
                    <a:moveTo>
                      <a:pt x="202406" y="23812"/>
                    </a:moveTo>
                    <a:lnTo>
                      <a:pt x="261938" y="23812"/>
                    </a:lnTo>
                    <a:lnTo>
                      <a:pt x="261938" y="250031"/>
                    </a:lnTo>
                    <a:lnTo>
                      <a:pt x="202406" y="250031"/>
                    </a:lnTo>
                    <a:close/>
                    <a:moveTo>
                      <a:pt x="119062" y="95250"/>
                    </a:moveTo>
                    <a:lnTo>
                      <a:pt x="178594" y="95250"/>
                    </a:lnTo>
                    <a:lnTo>
                      <a:pt x="178594" y="250031"/>
                    </a:lnTo>
                    <a:lnTo>
                      <a:pt x="119062" y="250031"/>
                    </a:lnTo>
                    <a:close/>
                    <a:moveTo>
                      <a:pt x="47625" y="166688"/>
                    </a:moveTo>
                    <a:lnTo>
                      <a:pt x="95250" y="166688"/>
                    </a:lnTo>
                    <a:lnTo>
                      <a:pt x="95250" y="250031"/>
                    </a:lnTo>
                    <a:lnTo>
                      <a:pt x="47625" y="250031"/>
                    </a:lnTo>
                    <a:close/>
                  </a:path>
                </a:pathLst>
              </a:custGeom>
              <a:solidFill>
                <a:srgbClr val="2E7D32"/>
              </a:solidFill>
              <a:ln>
                <a:noFill/>
              </a:ln>
            </p:spPr>
          </p:sp>
        </p:grpSp>
        <p:sp>
          <p:nvSpPr>
            <p:cNvPr id="45" name="TextBox 45"/>
            <p:cNvSpPr txBox="1"/>
            <p:nvPr/>
          </p:nvSpPr>
          <p:spPr>
            <a:xfrm>
              <a:off x="9144333" y="1726882"/>
              <a:ext cx="1428083"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Segoe UI" panose="020B0502040204020203"/>
                  <a:ea typeface="微软雅黑" panose="020B0503020204020204" charset="-122"/>
                  <a:cs typeface="Segoe UI" panose="020B0502040204020203"/>
                </a:rPr>
                <a:t>持续度量原则</a:t>
              </a:r>
              <a:endParaRPr lang="zh-CN" sz="1650" b="1" dirty="0">
                <a:solidFill>
                  <a:srgbClr val="2E7D32"/>
                </a:solidFill>
                <a:latin typeface="Segoe UI" panose="020B0502040204020203"/>
                <a:ea typeface="微软雅黑" panose="020B0503020204020204" charset="-122"/>
                <a:cs typeface="Segoe UI" panose="020B0502040204020203"/>
              </a:endParaRPr>
            </a:p>
          </p:txBody>
        </p:sp>
        <p:sp>
          <p:nvSpPr>
            <p:cNvPr id="46" name="Line 46"/>
            <p:cNvSpPr/>
            <p:nvPr/>
          </p:nvSpPr>
          <p:spPr>
            <a:xfrm>
              <a:off x="8477250" y="2095500"/>
              <a:ext cx="2762250" cy="9525"/>
            </a:xfrm>
            <a:custGeom>
              <a:avLst/>
              <a:gdLst/>
              <a:ahLst/>
              <a:cxnLst/>
              <a:rect l="l" t="t" r="r" b="b"/>
              <a:pathLst>
                <a:path w="2762250" h="9525">
                  <a:moveTo>
                    <a:pt x="0" y="0"/>
                  </a:moveTo>
                  <a:lnTo>
                    <a:pt x="2762250" y="0"/>
                  </a:lnTo>
                </a:path>
              </a:pathLst>
            </a:custGeom>
            <a:noFill/>
            <a:ln w="9525">
              <a:solidFill>
                <a:srgbClr val="CFD8DC"/>
              </a:solidFill>
            </a:ln>
          </p:spPr>
        </p:sp>
        <p:sp>
          <p:nvSpPr>
            <p:cNvPr id="47" name="TextBox 47"/>
            <p:cNvSpPr txBox="1"/>
            <p:nvPr/>
          </p:nvSpPr>
          <p:spPr>
            <a:xfrm>
              <a:off x="8462962" y="2355056"/>
              <a:ext cx="137874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没有度量就没有改进</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8462010" y="2632710"/>
              <a:ext cx="211874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HMM五级提供清晰的升级路径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8477250" y="2952750"/>
              <a:ext cx="2762250" cy="9525"/>
            </a:xfrm>
            <a:prstGeom prst="rect">
              <a:avLst/>
            </a:prstGeom>
            <a:solidFill>
              <a:srgbClr val="CFD8DC"/>
            </a:solidFill>
            <a:ln>
              <a:noFill/>
            </a:ln>
          </p:spPr>
        </p:sp>
        <p:sp>
          <p:nvSpPr>
            <p:cNvPr id="50" name="TextBox 50"/>
            <p:cNvSpPr txBox="1"/>
            <p:nvPr/>
          </p:nvSpPr>
          <p:spPr>
            <a:xfrm>
              <a:off x="8462962" y="3117056"/>
              <a:ext cx="137874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每个级别可量化衡量</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8462010" y="33947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L1→L2→L3→L4→L5 渐进升级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8477250" y="3714750"/>
              <a:ext cx="2762250" cy="285750"/>
            </a:xfrm>
            <a:prstGeom prst="roundRect">
              <a:avLst>
                <a:gd name="adj" fmla="val 20000"/>
              </a:avLst>
            </a:prstGeom>
            <a:solidFill>
              <a:srgbClr val="2E7D32">
                <a:alpha val="6000"/>
              </a:srgbClr>
            </a:solidFill>
            <a:ln>
              <a:noFill/>
            </a:ln>
          </p:spPr>
        </p:sp>
        <p:sp>
          <p:nvSpPr>
            <p:cNvPr id="53" name="TextBox 53"/>
            <p:cNvSpPr txBox="1"/>
            <p:nvPr/>
          </p:nvSpPr>
          <p:spPr>
            <a:xfrm>
              <a:off x="9018984" y="3783806"/>
              <a:ext cx="1678781" cy="228600"/>
            </a:xfrm>
            <a:prstGeom prst="rect">
              <a:avLst/>
            </a:prstGeom>
            <a:noFill/>
            <a:ln>
              <a:noFill/>
            </a:ln>
          </p:spPr>
          <p:txBody>
            <a:bodyPr wrap="none" lIns="0" tIns="0" rIns="0" bIns="0" anchor="t" anchorCtr="0">
              <a:spAutoFit/>
            </a:bodyPr>
            <a:lstStyle/>
            <a:p>
              <a:pPr algn="ctr"/>
              <a:r>
                <a:rPr lang="zh-CN" sz="1125" dirty="0">
                  <a:solidFill>
                    <a:srgbClr val="2E7D32"/>
                  </a:solidFill>
                  <a:latin typeface="Segoe UI" panose="020B0502040204020203"/>
                  <a:ea typeface="微软雅黑" panose="020B0503020204020204" charset="-122"/>
                  <a:cs typeface="Segoe UI" panose="020B0502040204020203"/>
                </a:rPr>
                <a:t>可度量，可改进，可进化</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57" name="Group 57"/>
          <p:cNvGrpSpPr/>
          <p:nvPr/>
        </p:nvGrpSpPr>
        <p:grpSpPr>
          <a:xfrm>
            <a:off x="571500" y="4524375"/>
            <a:ext cx="11049000" cy="571500"/>
            <a:chOff x="571500" y="4524375"/>
            <a:chExt cx="11049000" cy="571500"/>
          </a:xfrm>
        </p:grpSpPr>
        <p:sp>
          <p:nvSpPr>
            <p:cNvPr id="55" name="Rectangle 55"/>
            <p:cNvSpPr/>
            <p:nvPr/>
          </p:nvSpPr>
          <p:spPr>
            <a:xfrm>
              <a:off x="571500" y="4524375"/>
              <a:ext cx="11049000" cy="571500"/>
            </a:xfrm>
            <a:prstGeom prst="roundRect">
              <a:avLst>
                <a:gd name="adj" fmla="val 13333"/>
              </a:avLst>
            </a:prstGeom>
            <a:solidFill>
              <a:srgbClr val="1565C0">
                <a:alpha val="6000"/>
              </a:srgbClr>
            </a:solidFill>
            <a:ln>
              <a:noFill/>
            </a:ln>
          </p:spPr>
        </p:sp>
        <p:sp>
          <p:nvSpPr>
            <p:cNvPr id="56" name="TextBox 56"/>
            <p:cNvSpPr txBox="1"/>
            <p:nvPr/>
          </p:nvSpPr>
          <p:spPr>
            <a:xfrm>
              <a:off x="2564921" y="4709160"/>
              <a:ext cx="7062159"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三大核心原则构成AI时代过程体系的基石：人机分工是前提，标准先行是基础，持续度量是保障</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8" name="TextBox 58"/>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9" name="图片 58"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400"/>
                                        <p:tgtEl>
                                          <p:spTgt spid="2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slide(fromBottom)">
                                      <p:cBhvr>
                                        <p:cTn id="15" dur="400"/>
                                        <p:tgtEl>
                                          <p:spTgt spid="5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9" grpId="0"/>
      <p:bldP spid="54" grpId="0"/>
      <p:bldP spid="5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5240" y="1524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4479912"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三大懒人法则 + 五大阶段总览</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4" name="Group 14"/>
          <p:cNvGrpSpPr/>
          <p:nvPr/>
        </p:nvGrpSpPr>
        <p:grpSpPr>
          <a:xfrm>
            <a:off x="571500" y="762000"/>
            <a:ext cx="4436746" cy="904875"/>
            <a:chOff x="571500" y="762000"/>
            <a:chExt cx="4436746" cy="904875"/>
          </a:xfrm>
        </p:grpSpPr>
        <p:sp>
          <p:nvSpPr>
            <p:cNvPr id="10" name="Rectangle 10"/>
            <p:cNvSpPr/>
            <p:nvPr/>
          </p:nvSpPr>
          <p:spPr>
            <a:xfrm>
              <a:off x="571500" y="762000"/>
              <a:ext cx="3524250" cy="904875"/>
            </a:xfrm>
            <a:prstGeom prst="roundRect">
              <a:avLst>
                <a:gd name="adj" fmla="val 10526"/>
              </a:avLst>
            </a:prstGeom>
            <a:solidFill>
              <a:srgbClr val="FFFFFF"/>
            </a:solidFill>
            <a:ln>
              <a:noFill/>
            </a:ln>
          </p:spPr>
        </p:sp>
        <p:sp>
          <p:nvSpPr>
            <p:cNvPr id="11" name="Rectangle 11"/>
            <p:cNvSpPr/>
            <p:nvPr/>
          </p:nvSpPr>
          <p:spPr>
            <a:xfrm>
              <a:off x="571500" y="762000"/>
              <a:ext cx="3524250" cy="38100"/>
            </a:xfrm>
            <a:prstGeom prst="roundRect">
              <a:avLst>
                <a:gd name="adj" fmla="val 50000"/>
              </a:avLst>
            </a:prstGeom>
            <a:solidFill>
              <a:srgbClr val="FF6F00"/>
            </a:solidFill>
            <a:ln>
              <a:noFill/>
            </a:ln>
          </p:spPr>
        </p:sp>
        <p:sp>
          <p:nvSpPr>
            <p:cNvPr id="12" name="TextBox 12"/>
            <p:cNvSpPr txBox="1"/>
            <p:nvPr/>
          </p:nvSpPr>
          <p:spPr>
            <a:xfrm>
              <a:off x="787718" y="880586"/>
              <a:ext cx="3219937" cy="350520"/>
            </a:xfrm>
            <a:prstGeom prst="rect">
              <a:avLst/>
            </a:prstGeom>
            <a:noFill/>
            <a:ln>
              <a:noFill/>
            </a:ln>
          </p:spPr>
          <p:txBody>
            <a:bodyPr wrap="none" lIns="0" tIns="0" rIns="0" bIns="0" anchor="t" anchorCtr="0">
              <a:spAutoFit/>
            </a:bodyPr>
            <a:lstStyle/>
            <a:p>
              <a:pPr algn="l"/>
              <a:r>
                <a:rPr lang="zh-CN" sz="1725" b="1" dirty="0">
                  <a:solidFill>
                    <a:srgbClr val="FF6F00"/>
                  </a:solidFill>
                  <a:latin typeface="Segoe UI" panose="020B0502040204020203"/>
                  <a:ea typeface="微软雅黑"/>
                  <a:cs typeface="Segoe UI" panose="020B0502040204020203"/>
                </a:rPr>
                <a:t>法则一 先想清楚，再让AI动手</a:t>
              </a:r>
              <a:endParaRPr lang="zh-CN" sz="1725" b="1" dirty="0">
                <a:solidFill>
                  <a:srgbClr val="FF6F00"/>
                </a:solidFill>
                <a:latin typeface="Segoe UI" panose="020B0502040204020203"/>
                <a:ea typeface="微软雅黑"/>
                <a:cs typeface="Segoe UI" panose="020B0502040204020203"/>
              </a:endParaRPr>
            </a:p>
          </p:txBody>
        </p:sp>
        <p:sp>
          <p:nvSpPr>
            <p:cNvPr id="13" name="TextBox 13"/>
            <p:cNvSpPr txBox="1"/>
            <p:nvPr/>
          </p:nvSpPr>
          <p:spPr>
            <a:xfrm>
              <a:off x="791528" y="1198721"/>
              <a:ext cx="42167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想清楚一步，少做两遍功。方案先行，杜绝返工。</a:t>
              </a:r>
              <a:endParaRPr lang="zh-CN" sz="1425" dirty="0">
                <a:solidFill>
                  <a:srgbClr val="546E7A"/>
                </a:solidFill>
                <a:latin typeface="Segoe UI" panose="020B0502040204020203"/>
                <a:ea typeface="微软雅黑"/>
                <a:cs typeface="Segoe UI" panose="020B0502040204020203"/>
              </a:endParaRPr>
            </a:p>
          </p:txBody>
        </p:sp>
      </p:grpSp>
      <p:grpSp>
        <p:nvGrpSpPr>
          <p:cNvPr id="19" name="Group 19"/>
          <p:cNvGrpSpPr/>
          <p:nvPr/>
        </p:nvGrpSpPr>
        <p:grpSpPr>
          <a:xfrm>
            <a:off x="4333875" y="762000"/>
            <a:ext cx="4436745" cy="904875"/>
            <a:chOff x="4333875" y="762000"/>
            <a:chExt cx="4436745" cy="904875"/>
          </a:xfrm>
        </p:grpSpPr>
        <p:sp>
          <p:nvSpPr>
            <p:cNvPr id="15" name="Rectangle 15"/>
            <p:cNvSpPr/>
            <p:nvPr/>
          </p:nvSpPr>
          <p:spPr>
            <a:xfrm>
              <a:off x="4333875" y="762000"/>
              <a:ext cx="3524250" cy="904875"/>
            </a:xfrm>
            <a:prstGeom prst="roundRect">
              <a:avLst>
                <a:gd name="adj" fmla="val 10526"/>
              </a:avLst>
            </a:prstGeom>
            <a:solidFill>
              <a:srgbClr val="FFFFFF"/>
            </a:solidFill>
            <a:ln>
              <a:noFill/>
            </a:ln>
          </p:spPr>
        </p:sp>
        <p:sp>
          <p:nvSpPr>
            <p:cNvPr id="16" name="Rectangle 16"/>
            <p:cNvSpPr/>
            <p:nvPr/>
          </p:nvSpPr>
          <p:spPr>
            <a:xfrm>
              <a:off x="4333875" y="762000"/>
              <a:ext cx="3524250" cy="38100"/>
            </a:xfrm>
            <a:prstGeom prst="roundRect">
              <a:avLst>
                <a:gd name="adj" fmla="val 50000"/>
              </a:avLst>
            </a:prstGeom>
            <a:solidFill>
              <a:srgbClr val="00838F"/>
            </a:solidFill>
            <a:ln>
              <a:noFill/>
            </a:ln>
          </p:spPr>
        </p:sp>
        <p:sp>
          <p:nvSpPr>
            <p:cNvPr id="17" name="TextBox 17"/>
            <p:cNvSpPr txBox="1"/>
            <p:nvPr/>
          </p:nvSpPr>
          <p:spPr>
            <a:xfrm>
              <a:off x="4550092" y="880586"/>
              <a:ext cx="3497697" cy="350520"/>
            </a:xfrm>
            <a:prstGeom prst="rect">
              <a:avLst/>
            </a:prstGeom>
            <a:noFill/>
            <a:ln>
              <a:noFill/>
            </a:ln>
          </p:spPr>
          <p:txBody>
            <a:bodyPr wrap="none" lIns="0" tIns="0" rIns="0" bIns="0" anchor="t" anchorCtr="0">
              <a:spAutoFit/>
            </a:bodyPr>
            <a:lstStyle/>
            <a:p>
              <a:pPr algn="l"/>
              <a:r>
                <a:rPr lang="zh-CN" sz="1725" b="1" dirty="0">
                  <a:solidFill>
                    <a:srgbClr val="00838F"/>
                  </a:solidFill>
                  <a:latin typeface="Segoe UI" panose="020B0502040204020203"/>
                  <a:ea typeface="微软雅黑"/>
                  <a:cs typeface="Segoe UI" panose="020B0502040204020203"/>
                </a:rPr>
                <a:t>法则二 改哪里说哪里，圈外不动</a:t>
              </a:r>
              <a:endParaRPr lang="zh-CN" sz="1725" b="1" dirty="0">
                <a:solidFill>
                  <a:srgbClr val="00838F"/>
                </a:solidFill>
                <a:latin typeface="Segoe UI" panose="020B0502040204020203"/>
                <a:ea typeface="微软雅黑"/>
                <a:cs typeface="Segoe UI" panose="020B0502040204020203"/>
              </a:endParaRPr>
            </a:p>
          </p:txBody>
        </p:sp>
        <p:sp>
          <p:nvSpPr>
            <p:cNvPr id="18" name="TextBox 18"/>
            <p:cNvSpPr txBox="1"/>
            <p:nvPr/>
          </p:nvSpPr>
          <p:spPr>
            <a:xfrm>
              <a:off x="4553902" y="1198721"/>
              <a:ext cx="42167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改得越少，错得越少。冻结无关区域，精准修改。</a:t>
              </a:r>
              <a:endParaRPr lang="zh-CN" sz="1425" dirty="0">
                <a:solidFill>
                  <a:srgbClr val="546E7A"/>
                </a:solidFill>
                <a:latin typeface="Segoe UI" panose="020B0502040204020203"/>
                <a:ea typeface="微软雅黑"/>
                <a:cs typeface="Segoe UI" panose="020B0502040204020203"/>
              </a:endParaRPr>
            </a:p>
          </p:txBody>
        </p:sp>
      </p:grpSp>
      <p:grpSp>
        <p:nvGrpSpPr>
          <p:cNvPr id="24" name="Group 24"/>
          <p:cNvGrpSpPr/>
          <p:nvPr/>
        </p:nvGrpSpPr>
        <p:grpSpPr>
          <a:xfrm>
            <a:off x="8096250" y="762000"/>
            <a:ext cx="4056698" cy="904875"/>
            <a:chOff x="8096250" y="762000"/>
            <a:chExt cx="4056698" cy="904875"/>
          </a:xfrm>
        </p:grpSpPr>
        <p:sp>
          <p:nvSpPr>
            <p:cNvPr id="20" name="Rectangle 20"/>
            <p:cNvSpPr/>
            <p:nvPr/>
          </p:nvSpPr>
          <p:spPr>
            <a:xfrm>
              <a:off x="8096250" y="762000"/>
              <a:ext cx="3524250" cy="904875"/>
            </a:xfrm>
            <a:prstGeom prst="roundRect">
              <a:avLst>
                <a:gd name="adj" fmla="val 10526"/>
              </a:avLst>
            </a:prstGeom>
            <a:solidFill>
              <a:srgbClr val="FFFFFF"/>
            </a:solidFill>
            <a:ln>
              <a:noFill/>
            </a:ln>
          </p:spPr>
        </p:sp>
        <p:sp>
          <p:nvSpPr>
            <p:cNvPr id="21" name="Rectangle 21"/>
            <p:cNvSpPr/>
            <p:nvPr/>
          </p:nvSpPr>
          <p:spPr>
            <a:xfrm>
              <a:off x="8096250" y="762000"/>
              <a:ext cx="3524250" cy="38100"/>
            </a:xfrm>
            <a:prstGeom prst="roundRect">
              <a:avLst>
                <a:gd name="adj" fmla="val 50000"/>
              </a:avLst>
            </a:prstGeom>
            <a:solidFill>
              <a:srgbClr val="2E7D32"/>
            </a:solidFill>
            <a:ln>
              <a:noFill/>
            </a:ln>
          </p:spPr>
        </p:sp>
        <p:sp>
          <p:nvSpPr>
            <p:cNvPr id="22" name="TextBox 22"/>
            <p:cNvSpPr txBox="1"/>
            <p:nvPr/>
          </p:nvSpPr>
          <p:spPr>
            <a:xfrm>
              <a:off x="8312468" y="880586"/>
              <a:ext cx="3497697" cy="350520"/>
            </a:xfrm>
            <a:prstGeom prst="rect">
              <a:avLst/>
            </a:prstGeom>
            <a:noFill/>
            <a:ln>
              <a:noFill/>
            </a:ln>
          </p:spPr>
          <p:txBody>
            <a:bodyPr wrap="none" lIns="0" tIns="0" rIns="0" bIns="0" anchor="t" anchorCtr="0">
              <a:spAutoFit/>
            </a:bodyPr>
            <a:lstStyle/>
            <a:p>
              <a:pPr algn="l"/>
              <a:r>
                <a:rPr lang="zh-CN" sz="1725" b="1" dirty="0">
                  <a:solidFill>
                    <a:srgbClr val="2E7D32"/>
                  </a:solidFill>
                  <a:latin typeface="Segoe UI" panose="020B0502040204020203"/>
                  <a:ea typeface="微软雅黑"/>
                  <a:cs typeface="Segoe UI" panose="020B0502040204020203"/>
                </a:rPr>
                <a:t>法则三 先跑通主干，再完善枝叶</a:t>
              </a:r>
              <a:endParaRPr lang="zh-CN" sz="1725" b="1" dirty="0">
                <a:solidFill>
                  <a:srgbClr val="2E7D32"/>
                </a:solidFill>
                <a:latin typeface="Segoe UI" panose="020B0502040204020203"/>
                <a:ea typeface="微软雅黑"/>
                <a:cs typeface="Segoe UI" panose="020B0502040204020203"/>
              </a:endParaRPr>
            </a:p>
          </p:txBody>
        </p:sp>
        <p:sp>
          <p:nvSpPr>
            <p:cNvPr id="23" name="TextBox 23"/>
            <p:cNvSpPr txBox="1"/>
            <p:nvPr/>
          </p:nvSpPr>
          <p:spPr>
            <a:xfrm>
              <a:off x="8316278" y="1198721"/>
              <a:ext cx="383667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先能用，再好用。不做无用优化，逐步迭代。</a:t>
              </a:r>
              <a:endParaRPr lang="zh-CN" sz="1425" dirty="0">
                <a:solidFill>
                  <a:srgbClr val="546E7A"/>
                </a:solidFill>
                <a:latin typeface="Segoe UI" panose="020B0502040204020203"/>
                <a:ea typeface="微软雅黑"/>
                <a:cs typeface="Segoe UI" panose="020B0502040204020203"/>
              </a:endParaRPr>
            </a:p>
          </p:txBody>
        </p:sp>
      </p:grpSp>
      <p:grpSp>
        <p:nvGrpSpPr>
          <p:cNvPr id="27" name="Group 27"/>
          <p:cNvGrpSpPr/>
          <p:nvPr/>
        </p:nvGrpSpPr>
        <p:grpSpPr>
          <a:xfrm>
            <a:off x="571500" y="1809750"/>
            <a:ext cx="11049000" cy="390525"/>
            <a:chOff x="571500" y="1809750"/>
            <a:chExt cx="11049000" cy="390525"/>
          </a:xfrm>
        </p:grpSpPr>
        <p:sp>
          <p:nvSpPr>
            <p:cNvPr id="25" name="Rectangle 25"/>
            <p:cNvSpPr/>
            <p:nvPr/>
          </p:nvSpPr>
          <p:spPr>
            <a:xfrm>
              <a:off x="571500" y="1809750"/>
              <a:ext cx="11049000" cy="381000"/>
            </a:xfrm>
            <a:prstGeom prst="roundRect">
              <a:avLst>
                <a:gd name="adj" fmla="val 20000"/>
              </a:avLst>
            </a:prstGeom>
            <a:solidFill>
              <a:srgbClr val="1565C0">
                <a:alpha val="6000"/>
              </a:srgbClr>
            </a:solidFill>
            <a:ln>
              <a:noFill/>
            </a:ln>
          </p:spPr>
        </p:sp>
        <p:sp>
          <p:nvSpPr>
            <p:cNvPr id="26" name="TextBox 26"/>
            <p:cNvSpPr txBox="1"/>
            <p:nvPr/>
          </p:nvSpPr>
          <p:spPr>
            <a:xfrm>
              <a:off x="1666399" y="1895475"/>
              <a:ext cx="8859202"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真正的懒人智慧：用最省劲儿的方法做对事，避免无用功。不是啥都不做，而是先想清楚再做。</a:t>
              </a:r>
              <a:endParaRPr lang="zh-CN" sz="1500" b="1" dirty="0">
                <a:solidFill>
                  <a:srgbClr val="1565C0"/>
                </a:solidFill>
                <a:latin typeface="Segoe UI" panose="020B0502040204020203"/>
                <a:ea typeface="微软雅黑"/>
                <a:cs typeface="Segoe UI" panose="020B0502040204020203"/>
              </a:endParaRPr>
            </a:p>
          </p:txBody>
        </p:sp>
      </p:grpSp>
      <p:grpSp>
        <p:nvGrpSpPr>
          <p:cNvPr id="39" name="Group 39"/>
          <p:cNvGrpSpPr/>
          <p:nvPr/>
        </p:nvGrpSpPr>
        <p:grpSpPr>
          <a:xfrm>
            <a:off x="571500" y="2381250"/>
            <a:ext cx="2095500" cy="2012156"/>
            <a:chOff x="571500" y="2381250"/>
            <a:chExt cx="2095500" cy="2012156"/>
          </a:xfrm>
        </p:grpSpPr>
        <p:sp>
          <p:nvSpPr>
            <p:cNvPr id="28" name="Rectangle 28"/>
            <p:cNvSpPr/>
            <p:nvPr/>
          </p:nvSpPr>
          <p:spPr>
            <a:xfrm>
              <a:off x="571500" y="2381250"/>
              <a:ext cx="2095500" cy="1905000"/>
            </a:xfrm>
            <a:prstGeom prst="roundRect">
              <a:avLst>
                <a:gd name="adj" fmla="val 5000"/>
              </a:avLst>
            </a:prstGeom>
            <a:solidFill>
              <a:srgbClr val="FFFFFF"/>
            </a:solidFill>
            <a:ln>
              <a:noFill/>
            </a:ln>
          </p:spPr>
        </p:sp>
        <p:sp>
          <p:nvSpPr>
            <p:cNvPr id="29" name="Rectangle 29"/>
            <p:cNvSpPr/>
            <p:nvPr/>
          </p:nvSpPr>
          <p:spPr>
            <a:xfrm>
              <a:off x="571500" y="2381250"/>
              <a:ext cx="2095500" cy="38100"/>
            </a:xfrm>
            <a:prstGeom prst="roundRect">
              <a:avLst>
                <a:gd name="adj" fmla="val 50000"/>
              </a:avLst>
            </a:prstGeom>
            <a:solidFill>
              <a:srgbClr val="1565C0"/>
            </a:solidFill>
            <a:ln>
              <a:noFill/>
            </a:ln>
          </p:spPr>
        </p:sp>
        <p:grpSp>
          <p:nvGrpSpPr>
            <p:cNvPr id="32" name="Group 32"/>
            <p:cNvGrpSpPr/>
            <p:nvPr/>
          </p:nvGrpSpPr>
          <p:grpSpPr>
            <a:xfrm>
              <a:off x="829270" y="2634855"/>
              <a:ext cx="170259" cy="208953"/>
              <a:chOff x="829270" y="2634855"/>
              <a:chExt cx="170259" cy="208953"/>
            </a:xfrm>
          </p:grpSpPr>
          <p:sp>
            <p:nvSpPr>
              <p:cNvPr id="30" name="Freeform 30"/>
              <p:cNvSpPr/>
              <p:nvPr/>
            </p:nvSpPr>
            <p:spPr>
              <a:xfrm>
                <a:off x="837009" y="2658070"/>
                <a:ext cx="154781" cy="177998"/>
              </a:xfrm>
              <a:custGeom>
                <a:avLst/>
                <a:gdLst/>
                <a:ahLst/>
                <a:cxnLst/>
                <a:rect l="l" t="t" r="r" b="b"/>
                <a:pathLst>
                  <a:path w="154781" h="177998">
                    <a:moveTo>
                      <a:pt x="154781" y="7739"/>
                    </a:moveTo>
                    <a:lnTo>
                      <a:pt x="154781" y="170259"/>
                    </a:lnTo>
                    <a:cubicBezTo>
                      <a:pt x="154781" y="174534"/>
                      <a:pt x="151316" y="177998"/>
                      <a:pt x="147042" y="177998"/>
                    </a:cubicBezTo>
                    <a:lnTo>
                      <a:pt x="7739" y="177998"/>
                    </a:lnTo>
                    <a:cubicBezTo>
                      <a:pt x="3465" y="177998"/>
                      <a:pt x="0" y="174534"/>
                      <a:pt x="0" y="170259"/>
                    </a:cubicBezTo>
                    <a:lnTo>
                      <a:pt x="0" y="7739"/>
                    </a:lnTo>
                    <a:cubicBezTo>
                      <a:pt x="0" y="3465"/>
                      <a:pt x="3465" y="0"/>
                      <a:pt x="7739" y="0"/>
                    </a:cubicBezTo>
                    <a:lnTo>
                      <a:pt x="46434" y="0"/>
                    </a:lnTo>
                    <a:cubicBezTo>
                      <a:pt x="41400" y="6692"/>
                      <a:pt x="38683" y="14843"/>
                      <a:pt x="38695" y="23217"/>
                    </a:cubicBezTo>
                    <a:lnTo>
                      <a:pt x="38695" y="30956"/>
                    </a:lnTo>
                    <a:lnTo>
                      <a:pt x="116086" y="30956"/>
                    </a:lnTo>
                    <a:lnTo>
                      <a:pt x="116086" y="23217"/>
                    </a:lnTo>
                    <a:cubicBezTo>
                      <a:pt x="116098" y="14843"/>
                      <a:pt x="113381" y="6692"/>
                      <a:pt x="108347" y="0"/>
                    </a:cubicBezTo>
                    <a:lnTo>
                      <a:pt x="147042" y="0"/>
                    </a:lnTo>
                    <a:cubicBezTo>
                      <a:pt x="151316" y="0"/>
                      <a:pt x="154781" y="3465"/>
                      <a:pt x="154781" y="7739"/>
                    </a:cubicBezTo>
                    <a:close/>
                  </a:path>
                </a:pathLst>
              </a:custGeom>
              <a:solidFill>
                <a:srgbClr val="1565C0">
                  <a:alpha val="20000"/>
                </a:srgbClr>
              </a:solidFill>
              <a:ln>
                <a:noFill/>
              </a:ln>
            </p:spPr>
          </p:sp>
          <p:sp>
            <p:nvSpPr>
              <p:cNvPr id="31" name="Freeform 31"/>
              <p:cNvSpPr/>
              <p:nvPr/>
            </p:nvSpPr>
            <p:spPr>
              <a:xfrm>
                <a:off x="829270" y="2634855"/>
                <a:ext cx="170259" cy="208953"/>
              </a:xfrm>
              <a:custGeom>
                <a:avLst/>
                <a:gdLst/>
                <a:ahLst/>
                <a:cxnLst/>
                <a:rect l="l" t="t" r="r" b="b"/>
                <a:pathLst>
                  <a:path w="170259" h="208953">
                    <a:moveTo>
                      <a:pt x="123825" y="131563"/>
                    </a:moveTo>
                    <a:cubicBezTo>
                      <a:pt x="123825" y="135837"/>
                      <a:pt x="120360" y="139302"/>
                      <a:pt x="116086" y="139302"/>
                    </a:cubicBezTo>
                    <a:lnTo>
                      <a:pt x="54173" y="139302"/>
                    </a:lnTo>
                    <a:cubicBezTo>
                      <a:pt x="49899" y="139302"/>
                      <a:pt x="46434" y="135837"/>
                      <a:pt x="46434" y="131563"/>
                    </a:cubicBezTo>
                    <a:cubicBezTo>
                      <a:pt x="46434" y="127288"/>
                      <a:pt x="49899" y="123824"/>
                      <a:pt x="54173" y="123824"/>
                    </a:cubicBezTo>
                    <a:lnTo>
                      <a:pt x="116086" y="123824"/>
                    </a:lnTo>
                    <a:cubicBezTo>
                      <a:pt x="120360" y="123824"/>
                      <a:pt x="123825" y="127288"/>
                      <a:pt x="123825" y="131563"/>
                    </a:cubicBezTo>
                    <a:close/>
                    <a:moveTo>
                      <a:pt x="116086" y="92867"/>
                    </a:moveTo>
                    <a:lnTo>
                      <a:pt x="54173" y="92867"/>
                    </a:lnTo>
                    <a:cubicBezTo>
                      <a:pt x="49899" y="92867"/>
                      <a:pt x="46434" y="96332"/>
                      <a:pt x="46434" y="100606"/>
                    </a:cubicBezTo>
                    <a:cubicBezTo>
                      <a:pt x="46434" y="104881"/>
                      <a:pt x="49899" y="108345"/>
                      <a:pt x="54173" y="108345"/>
                    </a:cubicBezTo>
                    <a:lnTo>
                      <a:pt x="116086" y="108345"/>
                    </a:lnTo>
                    <a:cubicBezTo>
                      <a:pt x="120360" y="108345"/>
                      <a:pt x="123825" y="104881"/>
                      <a:pt x="123825" y="100606"/>
                    </a:cubicBezTo>
                    <a:cubicBezTo>
                      <a:pt x="123825" y="96332"/>
                      <a:pt x="120360" y="92867"/>
                      <a:pt x="116086" y="92867"/>
                    </a:cubicBezTo>
                    <a:close/>
                    <a:moveTo>
                      <a:pt x="170259" y="30955"/>
                    </a:moveTo>
                    <a:lnTo>
                      <a:pt x="170259" y="193475"/>
                    </a:lnTo>
                    <a:cubicBezTo>
                      <a:pt x="170259" y="202023"/>
                      <a:pt x="163330" y="208953"/>
                      <a:pt x="154781" y="208953"/>
                    </a:cubicBezTo>
                    <a:lnTo>
                      <a:pt x="15478" y="208953"/>
                    </a:lnTo>
                    <a:cubicBezTo>
                      <a:pt x="6930" y="208953"/>
                      <a:pt x="0" y="202023"/>
                      <a:pt x="0" y="193475"/>
                    </a:cubicBezTo>
                    <a:lnTo>
                      <a:pt x="0" y="30955"/>
                    </a:lnTo>
                    <a:cubicBezTo>
                      <a:pt x="0" y="22407"/>
                      <a:pt x="6930" y="15477"/>
                      <a:pt x="15478" y="15477"/>
                    </a:cubicBezTo>
                    <a:lnTo>
                      <a:pt x="50555" y="15477"/>
                    </a:lnTo>
                    <a:cubicBezTo>
                      <a:pt x="59350" y="5630"/>
                      <a:pt x="71927" y="0"/>
                      <a:pt x="85130" y="0"/>
                    </a:cubicBezTo>
                    <a:cubicBezTo>
                      <a:pt x="98333" y="0"/>
                      <a:pt x="110909" y="5630"/>
                      <a:pt x="119704" y="15477"/>
                    </a:cubicBezTo>
                    <a:lnTo>
                      <a:pt x="154781" y="15477"/>
                    </a:lnTo>
                    <a:cubicBezTo>
                      <a:pt x="163330" y="15477"/>
                      <a:pt x="170259" y="22407"/>
                      <a:pt x="170259" y="30955"/>
                    </a:cubicBezTo>
                    <a:close/>
                    <a:moveTo>
                      <a:pt x="54173" y="46433"/>
                    </a:moveTo>
                    <a:lnTo>
                      <a:pt x="116086" y="46433"/>
                    </a:lnTo>
                    <a:cubicBezTo>
                      <a:pt x="116086" y="29336"/>
                      <a:pt x="102226" y="15477"/>
                      <a:pt x="85130" y="15477"/>
                    </a:cubicBezTo>
                    <a:cubicBezTo>
                      <a:pt x="68033" y="15477"/>
                      <a:pt x="54173" y="29336"/>
                      <a:pt x="54173" y="46433"/>
                    </a:cubicBezTo>
                    <a:close/>
                    <a:moveTo>
                      <a:pt x="154781" y="30955"/>
                    </a:moveTo>
                    <a:lnTo>
                      <a:pt x="128904" y="30955"/>
                    </a:lnTo>
                    <a:cubicBezTo>
                      <a:pt x="130664" y="35925"/>
                      <a:pt x="131564" y="41160"/>
                      <a:pt x="131564" y="46433"/>
                    </a:cubicBezTo>
                    <a:lnTo>
                      <a:pt x="131564" y="54172"/>
                    </a:lnTo>
                    <a:cubicBezTo>
                      <a:pt x="131564" y="58446"/>
                      <a:pt x="128099" y="61911"/>
                      <a:pt x="123825" y="61911"/>
                    </a:cubicBezTo>
                    <a:lnTo>
                      <a:pt x="46434" y="61911"/>
                    </a:lnTo>
                    <a:cubicBezTo>
                      <a:pt x="42160" y="61911"/>
                      <a:pt x="38695" y="58446"/>
                      <a:pt x="38695" y="54172"/>
                    </a:cubicBezTo>
                    <a:lnTo>
                      <a:pt x="38695" y="46433"/>
                    </a:lnTo>
                    <a:cubicBezTo>
                      <a:pt x="38695" y="41160"/>
                      <a:pt x="39595" y="35925"/>
                      <a:pt x="41356" y="30955"/>
                    </a:cubicBezTo>
                    <a:lnTo>
                      <a:pt x="15478" y="30955"/>
                    </a:lnTo>
                    <a:lnTo>
                      <a:pt x="15478" y="193475"/>
                    </a:lnTo>
                    <a:lnTo>
                      <a:pt x="154781" y="193475"/>
                    </a:lnTo>
                    <a:close/>
                  </a:path>
                </a:pathLst>
              </a:custGeom>
              <a:solidFill>
                <a:srgbClr val="1565C0"/>
              </a:solidFill>
              <a:ln>
                <a:noFill/>
              </a:ln>
            </p:spPr>
          </p:sp>
        </p:grpSp>
        <p:sp>
          <p:nvSpPr>
            <p:cNvPr id="33" name="TextBox 33"/>
            <p:cNvSpPr txBox="1"/>
            <p:nvPr/>
          </p:nvSpPr>
          <p:spPr>
            <a:xfrm>
              <a:off x="1122998" y="2620804"/>
              <a:ext cx="1142643" cy="320040"/>
            </a:xfrm>
            <a:prstGeom prst="rect">
              <a:avLst/>
            </a:prstGeom>
            <a:noFill/>
            <a:ln>
              <a:noFill/>
            </a:ln>
          </p:spPr>
          <p:txBody>
            <a:bodyPr wrap="none" lIns="0" tIns="0" rIns="0" bIns="0" anchor="t" anchorCtr="0">
              <a:spAutoFit/>
            </a:bodyPr>
            <a:lstStyle/>
            <a:p>
              <a:pPr algn="l"/>
              <a:r>
                <a:rPr lang="zh-CN" sz="1575" b="1" dirty="0">
                  <a:solidFill>
                    <a:srgbClr val="1565C0"/>
                  </a:solidFill>
                  <a:latin typeface="Segoe UI" panose="020B0502040204020203"/>
                  <a:ea typeface="微软雅黑"/>
                  <a:cs typeface="Segoe UI" panose="020B0502040204020203"/>
                </a:rPr>
                <a:t>需求与设计</a:t>
              </a:r>
              <a:endParaRPr lang="zh-CN" sz="1575" b="1" dirty="0">
                <a:solidFill>
                  <a:srgbClr val="1565C0"/>
                </a:solidFill>
                <a:latin typeface="Segoe UI" panose="020B0502040204020203"/>
                <a:ea typeface="微软雅黑"/>
                <a:cs typeface="Segoe UI" panose="020B0502040204020203"/>
              </a:endParaRPr>
            </a:p>
          </p:txBody>
        </p:sp>
        <p:sp>
          <p:nvSpPr>
            <p:cNvPr id="34" name="TextBox 34"/>
            <p:cNvSpPr txBox="1"/>
            <p:nvPr/>
          </p:nvSpPr>
          <p:spPr>
            <a:xfrm>
              <a:off x="772478" y="294179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 思路先行</a:t>
              </a:r>
              <a:endParaRPr lang="zh-CN" sz="1425" dirty="0">
                <a:solidFill>
                  <a:srgbClr val="546E7A"/>
                </a:solidFill>
                <a:latin typeface="Segoe UI" panose="020B0502040204020203"/>
                <a:ea typeface="微软雅黑"/>
                <a:cs typeface="Segoe UI" panose="020B0502040204020203"/>
              </a:endParaRPr>
            </a:p>
          </p:txBody>
        </p:sp>
        <p:sp>
          <p:nvSpPr>
            <p:cNvPr id="35" name="TextBox 35"/>
            <p:cNvSpPr txBox="1"/>
            <p:nvPr/>
          </p:nvSpPr>
          <p:spPr>
            <a:xfrm>
              <a:off x="772478" y="3179921"/>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2. 逆向评审</a:t>
              </a:r>
              <a:endParaRPr lang="zh-CN" sz="1425" dirty="0">
                <a:solidFill>
                  <a:srgbClr val="546E7A"/>
                </a:solidFill>
                <a:latin typeface="Segoe UI" panose="020B0502040204020203"/>
                <a:ea typeface="微软雅黑"/>
                <a:cs typeface="Segoe UI" panose="020B0502040204020203"/>
              </a:endParaRPr>
            </a:p>
          </p:txBody>
        </p:sp>
        <p:sp>
          <p:nvSpPr>
            <p:cNvPr id="36" name="TextBox 36"/>
            <p:cNvSpPr txBox="1"/>
            <p:nvPr/>
          </p:nvSpPr>
          <p:spPr>
            <a:xfrm>
              <a:off x="772478" y="341804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3. 方案对比</a:t>
              </a:r>
              <a:endParaRPr lang="zh-CN" sz="1425"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772478" y="3656171"/>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4. 任务拆解</a:t>
              </a:r>
              <a:endParaRPr lang="zh-CN" sz="1425"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772478" y="4103846"/>
              <a:ext cx="98631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懒在动工前</a:t>
              </a:r>
              <a:endParaRPr lang="zh-CN" sz="1425" dirty="0">
                <a:solidFill>
                  <a:srgbClr val="FF6F00"/>
                </a:solidFill>
                <a:latin typeface="Segoe UI" panose="020B0502040204020203"/>
                <a:ea typeface="微软雅黑"/>
                <a:cs typeface="Segoe UI" panose="020B0502040204020203"/>
              </a:endParaRPr>
            </a:p>
          </p:txBody>
        </p:sp>
      </p:grpSp>
      <p:grpSp>
        <p:nvGrpSpPr>
          <p:cNvPr id="52" name="Group 52"/>
          <p:cNvGrpSpPr/>
          <p:nvPr/>
        </p:nvGrpSpPr>
        <p:grpSpPr>
          <a:xfrm>
            <a:off x="2838450" y="2381250"/>
            <a:ext cx="2095500" cy="2012156"/>
            <a:chOff x="2838450" y="2381250"/>
            <a:chExt cx="2095500" cy="2012156"/>
          </a:xfrm>
        </p:grpSpPr>
        <p:sp>
          <p:nvSpPr>
            <p:cNvPr id="40" name="Rectangle 40"/>
            <p:cNvSpPr/>
            <p:nvPr/>
          </p:nvSpPr>
          <p:spPr>
            <a:xfrm>
              <a:off x="2838450" y="2381250"/>
              <a:ext cx="2095500" cy="1905000"/>
            </a:xfrm>
            <a:prstGeom prst="roundRect">
              <a:avLst>
                <a:gd name="adj" fmla="val 5000"/>
              </a:avLst>
            </a:prstGeom>
            <a:solidFill>
              <a:srgbClr val="FFFFFF"/>
            </a:solidFill>
            <a:ln>
              <a:noFill/>
            </a:ln>
          </p:spPr>
        </p:sp>
        <p:sp>
          <p:nvSpPr>
            <p:cNvPr id="41" name="Rectangle 41"/>
            <p:cNvSpPr/>
            <p:nvPr/>
          </p:nvSpPr>
          <p:spPr>
            <a:xfrm>
              <a:off x="2838450" y="2381250"/>
              <a:ext cx="2095500" cy="38100"/>
            </a:xfrm>
            <a:prstGeom prst="roundRect">
              <a:avLst>
                <a:gd name="adj" fmla="val 50000"/>
              </a:avLst>
            </a:prstGeom>
            <a:solidFill>
              <a:srgbClr val="00838F"/>
            </a:solidFill>
            <a:ln>
              <a:noFill/>
            </a:ln>
          </p:spPr>
        </p:sp>
        <p:grpSp>
          <p:nvGrpSpPr>
            <p:cNvPr id="44" name="Group 44"/>
            <p:cNvGrpSpPr/>
            <p:nvPr/>
          </p:nvGrpSpPr>
          <p:grpSpPr>
            <a:xfrm>
              <a:off x="3065266" y="2650095"/>
              <a:ext cx="232167" cy="185974"/>
              <a:chOff x="3065266" y="2650095"/>
              <a:chExt cx="232167" cy="185974"/>
            </a:xfrm>
          </p:grpSpPr>
          <p:sp>
            <p:nvSpPr>
              <p:cNvPr id="42" name="Freeform 42"/>
              <p:cNvSpPr/>
              <p:nvPr/>
            </p:nvSpPr>
            <p:spPr>
              <a:xfrm>
                <a:off x="3073003" y="2704505"/>
                <a:ext cx="216694" cy="77391"/>
              </a:xfrm>
              <a:custGeom>
                <a:avLst/>
                <a:gdLst/>
                <a:ahLst/>
                <a:cxnLst/>
                <a:rect l="l" t="t" r="r" b="b"/>
                <a:pathLst>
                  <a:path w="216694" h="77391">
                    <a:moveTo>
                      <a:pt x="216694" y="38695"/>
                    </a:moveTo>
                    <a:lnTo>
                      <a:pt x="170259" y="77391"/>
                    </a:lnTo>
                    <a:lnTo>
                      <a:pt x="46434" y="77391"/>
                    </a:lnTo>
                    <a:lnTo>
                      <a:pt x="0" y="38695"/>
                    </a:lnTo>
                    <a:lnTo>
                      <a:pt x="46434" y="0"/>
                    </a:lnTo>
                    <a:lnTo>
                      <a:pt x="170259" y="0"/>
                    </a:lnTo>
                    <a:close/>
                  </a:path>
                </a:pathLst>
              </a:custGeom>
              <a:solidFill>
                <a:srgbClr val="00838F">
                  <a:alpha val="20000"/>
                </a:srgbClr>
              </a:solidFill>
              <a:ln>
                <a:noFill/>
              </a:ln>
            </p:spPr>
          </p:sp>
          <p:sp>
            <p:nvSpPr>
              <p:cNvPr id="43" name="Freeform 43"/>
              <p:cNvSpPr/>
              <p:nvPr/>
            </p:nvSpPr>
            <p:spPr>
              <a:xfrm>
                <a:off x="3065266" y="2650095"/>
                <a:ext cx="232167" cy="185974"/>
              </a:xfrm>
              <a:custGeom>
                <a:avLst/>
                <a:gdLst/>
                <a:ahLst/>
                <a:cxnLst/>
                <a:rect l="l" t="t" r="r" b="b"/>
                <a:pathLst>
                  <a:path w="232167" h="185974">
                    <a:moveTo>
                      <a:pt x="59124" y="60359"/>
                    </a:moveTo>
                    <a:lnTo>
                      <a:pt x="19829" y="93105"/>
                    </a:lnTo>
                    <a:lnTo>
                      <a:pt x="59124" y="125851"/>
                    </a:lnTo>
                    <a:cubicBezTo>
                      <a:pt x="61311" y="127601"/>
                      <a:pt x="62381" y="130397"/>
                      <a:pt x="61922" y="133160"/>
                    </a:cubicBezTo>
                    <a:cubicBezTo>
                      <a:pt x="61463" y="135923"/>
                      <a:pt x="59547" y="138223"/>
                      <a:pt x="56912" y="139173"/>
                    </a:cubicBezTo>
                    <a:cubicBezTo>
                      <a:pt x="54277" y="140123"/>
                      <a:pt x="51335" y="139575"/>
                      <a:pt x="49218" y="137740"/>
                    </a:cubicBezTo>
                    <a:lnTo>
                      <a:pt x="2784" y="99045"/>
                    </a:lnTo>
                    <a:cubicBezTo>
                      <a:pt x="1020" y="97574"/>
                      <a:pt x="0" y="95396"/>
                      <a:pt x="0" y="93100"/>
                    </a:cubicBezTo>
                    <a:cubicBezTo>
                      <a:pt x="0" y="90804"/>
                      <a:pt x="1020" y="88626"/>
                      <a:pt x="2784" y="87155"/>
                    </a:cubicBezTo>
                    <a:lnTo>
                      <a:pt x="49218" y="48460"/>
                    </a:lnTo>
                    <a:cubicBezTo>
                      <a:pt x="52504" y="45725"/>
                      <a:pt x="57385" y="46171"/>
                      <a:pt x="60121" y="49457"/>
                    </a:cubicBezTo>
                    <a:cubicBezTo>
                      <a:pt x="62856" y="52742"/>
                      <a:pt x="62410" y="57624"/>
                      <a:pt x="59124" y="60359"/>
                    </a:cubicBezTo>
                    <a:close/>
                    <a:moveTo>
                      <a:pt x="229383" y="87155"/>
                    </a:moveTo>
                    <a:lnTo>
                      <a:pt x="182949" y="48460"/>
                    </a:lnTo>
                    <a:cubicBezTo>
                      <a:pt x="179663" y="45725"/>
                      <a:pt x="174782" y="46171"/>
                      <a:pt x="172047" y="49457"/>
                    </a:cubicBezTo>
                    <a:cubicBezTo>
                      <a:pt x="169311" y="52742"/>
                      <a:pt x="169757" y="57624"/>
                      <a:pt x="173043" y="60359"/>
                    </a:cubicBezTo>
                    <a:lnTo>
                      <a:pt x="212338" y="93105"/>
                    </a:lnTo>
                    <a:lnTo>
                      <a:pt x="173043" y="125851"/>
                    </a:lnTo>
                    <a:cubicBezTo>
                      <a:pt x="170856" y="127601"/>
                      <a:pt x="169786" y="130397"/>
                      <a:pt x="170245" y="133160"/>
                    </a:cubicBezTo>
                    <a:cubicBezTo>
                      <a:pt x="170704" y="135923"/>
                      <a:pt x="172620" y="138223"/>
                      <a:pt x="175255" y="139173"/>
                    </a:cubicBezTo>
                    <a:cubicBezTo>
                      <a:pt x="177890" y="140123"/>
                      <a:pt x="180833" y="139575"/>
                      <a:pt x="182949" y="137740"/>
                    </a:cubicBezTo>
                    <a:lnTo>
                      <a:pt x="229383" y="99045"/>
                    </a:lnTo>
                    <a:cubicBezTo>
                      <a:pt x="231147" y="97574"/>
                      <a:pt x="232167" y="95396"/>
                      <a:pt x="232167" y="93100"/>
                    </a:cubicBezTo>
                    <a:cubicBezTo>
                      <a:pt x="232167" y="90804"/>
                      <a:pt x="231147" y="88626"/>
                      <a:pt x="229383" y="87155"/>
                    </a:cubicBezTo>
                    <a:close/>
                    <a:moveTo>
                      <a:pt x="149681" y="700"/>
                    </a:moveTo>
                    <a:cubicBezTo>
                      <a:pt x="147751" y="0"/>
                      <a:pt x="145623" y="95"/>
                      <a:pt x="143763" y="964"/>
                    </a:cubicBezTo>
                    <a:cubicBezTo>
                      <a:pt x="141904" y="1833"/>
                      <a:pt x="140466" y="3405"/>
                      <a:pt x="139765" y="5334"/>
                    </a:cubicBezTo>
                    <a:lnTo>
                      <a:pt x="77853" y="175594"/>
                    </a:lnTo>
                    <a:cubicBezTo>
                      <a:pt x="77149" y="177524"/>
                      <a:pt x="77242" y="179655"/>
                      <a:pt x="78112" y="181517"/>
                    </a:cubicBezTo>
                    <a:cubicBezTo>
                      <a:pt x="78981" y="183379"/>
                      <a:pt x="80555" y="184819"/>
                      <a:pt x="82486" y="185519"/>
                    </a:cubicBezTo>
                    <a:cubicBezTo>
                      <a:pt x="83334" y="185820"/>
                      <a:pt x="84228" y="185974"/>
                      <a:pt x="85127" y="185974"/>
                    </a:cubicBezTo>
                    <a:cubicBezTo>
                      <a:pt x="88383" y="185974"/>
                      <a:pt x="91291" y="183936"/>
                      <a:pt x="92402" y="180876"/>
                    </a:cubicBezTo>
                    <a:lnTo>
                      <a:pt x="154315" y="10616"/>
                    </a:lnTo>
                    <a:cubicBezTo>
                      <a:pt x="155015" y="8687"/>
                      <a:pt x="154920" y="6558"/>
                      <a:pt x="154051" y="4699"/>
                    </a:cubicBezTo>
                    <a:cubicBezTo>
                      <a:pt x="153182" y="2839"/>
                      <a:pt x="151610" y="1401"/>
                      <a:pt x="149681" y="700"/>
                    </a:cubicBezTo>
                    <a:close/>
                  </a:path>
                </a:pathLst>
              </a:custGeom>
              <a:solidFill>
                <a:srgbClr val="00838F"/>
              </a:solidFill>
              <a:ln>
                <a:noFill/>
              </a:ln>
            </p:spPr>
          </p:sp>
        </p:grpSp>
        <p:sp>
          <p:nvSpPr>
            <p:cNvPr id="45" name="TextBox 45"/>
            <p:cNvSpPr txBox="1"/>
            <p:nvPr/>
          </p:nvSpPr>
          <p:spPr>
            <a:xfrm>
              <a:off x="3389948" y="2620804"/>
              <a:ext cx="922115" cy="320040"/>
            </a:xfrm>
            <a:prstGeom prst="rect">
              <a:avLst/>
            </a:prstGeom>
            <a:noFill/>
            <a:ln>
              <a:noFill/>
            </a:ln>
          </p:spPr>
          <p:txBody>
            <a:bodyPr wrap="none" lIns="0" tIns="0" rIns="0" bIns="0" anchor="t" anchorCtr="0">
              <a:spAutoFit/>
            </a:bodyPr>
            <a:lstStyle/>
            <a:p>
              <a:pPr algn="l"/>
              <a:r>
                <a:rPr lang="zh-CN" sz="1575" b="1" dirty="0">
                  <a:solidFill>
                    <a:srgbClr val="00838F"/>
                  </a:solidFill>
                  <a:latin typeface="Segoe UI" panose="020B0502040204020203"/>
                  <a:ea typeface="微软雅黑"/>
                  <a:cs typeface="Segoe UI" panose="020B0502040204020203"/>
                </a:rPr>
                <a:t>编码实施</a:t>
              </a:r>
              <a:endParaRPr lang="zh-CN" sz="1575" b="1" dirty="0">
                <a:solidFill>
                  <a:srgbClr val="00838F"/>
                </a:solidFill>
                <a:latin typeface="Segoe UI" panose="020B0502040204020203"/>
                <a:ea typeface="微软雅黑"/>
                <a:cs typeface="Segoe UI" panose="020B0502040204020203"/>
              </a:endParaRPr>
            </a:p>
          </p:txBody>
        </p:sp>
        <p:sp>
          <p:nvSpPr>
            <p:cNvPr id="46" name="TextBox 46"/>
            <p:cNvSpPr txBox="1"/>
            <p:nvPr/>
          </p:nvSpPr>
          <p:spPr>
            <a:xfrm>
              <a:off x="3039428" y="294179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5. 圈定边界</a:t>
              </a:r>
              <a:endParaRPr lang="zh-CN" sz="1425" dirty="0">
                <a:solidFill>
                  <a:srgbClr val="546E7A"/>
                </a:solidFill>
                <a:latin typeface="Segoe UI" panose="020B0502040204020203"/>
                <a:ea typeface="微软雅黑"/>
                <a:cs typeface="Segoe UI" panose="020B0502040204020203"/>
              </a:endParaRPr>
            </a:p>
          </p:txBody>
        </p:sp>
        <p:sp>
          <p:nvSpPr>
            <p:cNvPr id="47" name="TextBox 47"/>
            <p:cNvSpPr txBox="1"/>
            <p:nvPr/>
          </p:nvSpPr>
          <p:spPr>
            <a:xfrm>
              <a:off x="3039428" y="3179921"/>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6. 最小补丁</a:t>
              </a:r>
              <a:endParaRPr lang="zh-CN" sz="1425"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3039428" y="3418046"/>
              <a:ext cx="1252347"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7. 伪代码翻译</a:t>
              </a:r>
              <a:endParaRPr lang="zh-CN" sz="1425" dirty="0">
                <a:solidFill>
                  <a:srgbClr val="546E7A"/>
                </a:solidFill>
                <a:latin typeface="Segoe UI" panose="020B0502040204020203"/>
                <a:ea typeface="微软雅黑"/>
                <a:cs typeface="Segoe UI" panose="020B0502040204020203"/>
              </a:endParaRPr>
            </a:p>
          </p:txBody>
        </p:sp>
        <p:sp>
          <p:nvSpPr>
            <p:cNvPr id="49" name="TextBox 49"/>
            <p:cNvSpPr txBox="1"/>
            <p:nvPr/>
          </p:nvSpPr>
          <p:spPr>
            <a:xfrm>
              <a:off x="3039428" y="3656171"/>
              <a:ext cx="87230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8. 红绿蓝</a:t>
              </a:r>
              <a:endParaRPr lang="zh-CN" sz="1425" dirty="0">
                <a:solidFill>
                  <a:srgbClr val="546E7A"/>
                </a:solidFill>
                <a:latin typeface="Segoe UI" panose="020B0502040204020203"/>
                <a:ea typeface="微软雅黑"/>
                <a:cs typeface="Segoe UI" panose="020B0502040204020203"/>
              </a:endParaRPr>
            </a:p>
          </p:txBody>
        </p:sp>
        <p:sp>
          <p:nvSpPr>
            <p:cNvPr id="50" name="TextBox 50"/>
            <p:cNvSpPr txBox="1"/>
            <p:nvPr/>
          </p:nvSpPr>
          <p:spPr>
            <a:xfrm>
              <a:off x="3039428" y="389429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9. 单一职责</a:t>
              </a:r>
              <a:endParaRPr lang="zh-CN" sz="1425" dirty="0">
                <a:solidFill>
                  <a:srgbClr val="546E7A"/>
                </a:solidFill>
                <a:latin typeface="Segoe UI" panose="020B0502040204020203"/>
                <a:ea typeface="微软雅黑"/>
                <a:cs typeface="Segoe UI" panose="020B0502040204020203"/>
              </a:endParaRPr>
            </a:p>
          </p:txBody>
        </p:sp>
        <p:sp>
          <p:nvSpPr>
            <p:cNvPr id="51" name="TextBox 51"/>
            <p:cNvSpPr txBox="1"/>
            <p:nvPr/>
          </p:nvSpPr>
          <p:spPr>
            <a:xfrm>
              <a:off x="3039428" y="410384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懒在精准</a:t>
              </a:r>
              <a:endParaRPr lang="zh-CN" sz="1425" dirty="0">
                <a:solidFill>
                  <a:srgbClr val="FF6F00"/>
                </a:solidFill>
                <a:latin typeface="Segoe UI" panose="020B0502040204020203"/>
                <a:ea typeface="微软雅黑"/>
                <a:cs typeface="Segoe UI" panose="020B0502040204020203"/>
              </a:endParaRPr>
            </a:p>
          </p:txBody>
        </p:sp>
      </p:grpSp>
      <p:grpSp>
        <p:nvGrpSpPr>
          <p:cNvPr id="63" name="Group 63"/>
          <p:cNvGrpSpPr/>
          <p:nvPr/>
        </p:nvGrpSpPr>
        <p:grpSpPr>
          <a:xfrm>
            <a:off x="5105400" y="2381250"/>
            <a:ext cx="2095500" cy="2012156"/>
            <a:chOff x="5105400" y="2381250"/>
            <a:chExt cx="2095500" cy="2012156"/>
          </a:xfrm>
        </p:grpSpPr>
        <p:sp>
          <p:nvSpPr>
            <p:cNvPr id="53" name="Rectangle 53"/>
            <p:cNvSpPr/>
            <p:nvPr/>
          </p:nvSpPr>
          <p:spPr>
            <a:xfrm>
              <a:off x="5105400" y="2381250"/>
              <a:ext cx="2095500" cy="1905000"/>
            </a:xfrm>
            <a:prstGeom prst="roundRect">
              <a:avLst>
                <a:gd name="adj" fmla="val 5000"/>
              </a:avLst>
            </a:prstGeom>
            <a:solidFill>
              <a:srgbClr val="FFFFFF"/>
            </a:solidFill>
            <a:ln>
              <a:noFill/>
            </a:ln>
          </p:spPr>
        </p:sp>
        <p:sp>
          <p:nvSpPr>
            <p:cNvPr id="54" name="Rectangle 54"/>
            <p:cNvSpPr/>
            <p:nvPr/>
          </p:nvSpPr>
          <p:spPr>
            <a:xfrm>
              <a:off x="5105400" y="2381250"/>
              <a:ext cx="2095500" cy="38100"/>
            </a:xfrm>
            <a:prstGeom prst="roundRect">
              <a:avLst>
                <a:gd name="adj" fmla="val 50000"/>
              </a:avLst>
            </a:prstGeom>
            <a:solidFill>
              <a:srgbClr val="2E7D32"/>
            </a:solidFill>
            <a:ln>
              <a:noFill/>
            </a:ln>
          </p:spPr>
        </p:sp>
        <p:grpSp>
          <p:nvGrpSpPr>
            <p:cNvPr id="57" name="Group 57"/>
            <p:cNvGrpSpPr/>
            <p:nvPr/>
          </p:nvGrpSpPr>
          <p:grpSpPr>
            <a:xfrm>
              <a:off x="5355429" y="2650331"/>
              <a:ext cx="185740" cy="185738"/>
              <a:chOff x="5355429" y="2650331"/>
              <a:chExt cx="185740" cy="185738"/>
            </a:xfrm>
          </p:grpSpPr>
          <p:sp>
            <p:nvSpPr>
              <p:cNvPr id="55" name="Freeform 55"/>
              <p:cNvSpPr/>
              <p:nvPr/>
            </p:nvSpPr>
            <p:spPr>
              <a:xfrm>
                <a:off x="5363170" y="2665809"/>
                <a:ext cx="170259" cy="154781"/>
              </a:xfrm>
              <a:custGeom>
                <a:avLst/>
                <a:gdLst/>
                <a:ahLst/>
                <a:cxnLst/>
                <a:rect l="l" t="t" r="r" b="b"/>
                <a:pathLst>
                  <a:path w="170259" h="154781">
                    <a:moveTo>
                      <a:pt x="170259" y="0"/>
                    </a:moveTo>
                    <a:lnTo>
                      <a:pt x="170259" y="46434"/>
                    </a:lnTo>
                    <a:lnTo>
                      <a:pt x="123825" y="46434"/>
                    </a:lnTo>
                    <a:close/>
                    <a:moveTo>
                      <a:pt x="0" y="154781"/>
                    </a:moveTo>
                    <a:lnTo>
                      <a:pt x="46434" y="108347"/>
                    </a:lnTo>
                    <a:lnTo>
                      <a:pt x="0" y="108347"/>
                    </a:lnTo>
                    <a:close/>
                  </a:path>
                </a:pathLst>
              </a:custGeom>
              <a:solidFill>
                <a:srgbClr val="2E7D32">
                  <a:alpha val="20000"/>
                </a:srgbClr>
              </a:solidFill>
              <a:ln>
                <a:noFill/>
              </a:ln>
            </p:spPr>
          </p:sp>
          <p:sp>
            <p:nvSpPr>
              <p:cNvPr id="56" name="Freeform 56"/>
              <p:cNvSpPr/>
              <p:nvPr/>
            </p:nvSpPr>
            <p:spPr>
              <a:xfrm>
                <a:off x="5355429" y="2650331"/>
                <a:ext cx="185740" cy="185738"/>
              </a:xfrm>
              <a:custGeom>
                <a:avLst/>
                <a:gdLst/>
                <a:ahLst/>
                <a:cxnLst/>
                <a:rect l="l" t="t" r="r" b="b"/>
                <a:pathLst>
                  <a:path w="185740" h="185738">
                    <a:moveTo>
                      <a:pt x="180961" y="8329"/>
                    </a:moveTo>
                    <a:cubicBezTo>
                      <a:pt x="178070" y="7130"/>
                      <a:pt x="174740" y="7790"/>
                      <a:pt x="172526" y="10003"/>
                    </a:cubicBezTo>
                    <a:lnTo>
                      <a:pt x="156989" y="25549"/>
                    </a:lnTo>
                    <a:cubicBezTo>
                      <a:pt x="137497" y="8803"/>
                      <a:pt x="115469" y="0"/>
                      <a:pt x="92871" y="0"/>
                    </a:cubicBezTo>
                    <a:cubicBezTo>
                      <a:pt x="51448" y="0"/>
                      <a:pt x="26528" y="24446"/>
                      <a:pt x="25483" y="25481"/>
                    </a:cubicBezTo>
                    <a:cubicBezTo>
                      <a:pt x="22459" y="28505"/>
                      <a:pt x="22459" y="33408"/>
                      <a:pt x="25483" y="36432"/>
                    </a:cubicBezTo>
                    <a:cubicBezTo>
                      <a:pt x="28507" y="39456"/>
                      <a:pt x="33410" y="39456"/>
                      <a:pt x="36434" y="36432"/>
                    </a:cubicBezTo>
                    <a:cubicBezTo>
                      <a:pt x="36637" y="36219"/>
                      <a:pt x="57784" y="15478"/>
                      <a:pt x="92871" y="15478"/>
                    </a:cubicBezTo>
                    <a:cubicBezTo>
                      <a:pt x="115285" y="15478"/>
                      <a:pt x="133424" y="25974"/>
                      <a:pt x="146000" y="36528"/>
                    </a:cubicBezTo>
                    <a:lnTo>
                      <a:pt x="126091" y="56437"/>
                    </a:lnTo>
                    <a:cubicBezTo>
                      <a:pt x="123875" y="58651"/>
                      <a:pt x="123212" y="61981"/>
                      <a:pt x="124411" y="64875"/>
                    </a:cubicBezTo>
                    <a:cubicBezTo>
                      <a:pt x="125610" y="67768"/>
                      <a:pt x="128434" y="69654"/>
                      <a:pt x="131567" y="69652"/>
                    </a:cubicBezTo>
                    <a:lnTo>
                      <a:pt x="178001" y="69652"/>
                    </a:lnTo>
                    <a:cubicBezTo>
                      <a:pt x="182275" y="69652"/>
                      <a:pt x="185740" y="66187"/>
                      <a:pt x="185740" y="61912"/>
                    </a:cubicBezTo>
                    <a:lnTo>
                      <a:pt x="185740" y="15478"/>
                    </a:lnTo>
                    <a:cubicBezTo>
                      <a:pt x="185739" y="12348"/>
                      <a:pt x="183853" y="9526"/>
                      <a:pt x="180961" y="8329"/>
                    </a:cubicBezTo>
                    <a:close/>
                    <a:moveTo>
                      <a:pt x="170262" y="54173"/>
                    </a:moveTo>
                    <a:lnTo>
                      <a:pt x="150247" y="54173"/>
                    </a:lnTo>
                    <a:lnTo>
                      <a:pt x="170262" y="34158"/>
                    </a:lnTo>
                    <a:close/>
                    <a:moveTo>
                      <a:pt x="149308" y="149306"/>
                    </a:moveTo>
                    <a:cubicBezTo>
                      <a:pt x="149105" y="149519"/>
                      <a:pt x="127958" y="170259"/>
                      <a:pt x="92871" y="170259"/>
                    </a:cubicBezTo>
                    <a:cubicBezTo>
                      <a:pt x="70457" y="170259"/>
                      <a:pt x="52319" y="159763"/>
                      <a:pt x="39743" y="149209"/>
                    </a:cubicBezTo>
                    <a:lnTo>
                      <a:pt x="59651" y="129300"/>
                    </a:lnTo>
                    <a:cubicBezTo>
                      <a:pt x="61867" y="127087"/>
                      <a:pt x="62531" y="123756"/>
                      <a:pt x="61332" y="120863"/>
                    </a:cubicBezTo>
                    <a:cubicBezTo>
                      <a:pt x="60133" y="117969"/>
                      <a:pt x="57308" y="116083"/>
                      <a:pt x="54176" y="116086"/>
                    </a:cubicBezTo>
                    <a:lnTo>
                      <a:pt x="7742" y="116086"/>
                    </a:lnTo>
                    <a:cubicBezTo>
                      <a:pt x="3467" y="116086"/>
                      <a:pt x="2" y="119551"/>
                      <a:pt x="2" y="123825"/>
                    </a:cubicBezTo>
                    <a:lnTo>
                      <a:pt x="2" y="170259"/>
                    </a:lnTo>
                    <a:cubicBezTo>
                      <a:pt x="0" y="173391"/>
                      <a:pt x="1886" y="176216"/>
                      <a:pt x="4779" y="177415"/>
                    </a:cubicBezTo>
                    <a:cubicBezTo>
                      <a:pt x="7673" y="178614"/>
                      <a:pt x="11003" y="177951"/>
                      <a:pt x="13217" y="175735"/>
                    </a:cubicBezTo>
                    <a:lnTo>
                      <a:pt x="28753" y="160189"/>
                    </a:lnTo>
                    <a:cubicBezTo>
                      <a:pt x="48246" y="176934"/>
                      <a:pt x="70273" y="185738"/>
                      <a:pt x="92871" y="185738"/>
                    </a:cubicBezTo>
                    <a:cubicBezTo>
                      <a:pt x="134295" y="185738"/>
                      <a:pt x="159214" y="161292"/>
                      <a:pt x="160259" y="160257"/>
                    </a:cubicBezTo>
                    <a:cubicBezTo>
                      <a:pt x="163283" y="157233"/>
                      <a:pt x="163283" y="152330"/>
                      <a:pt x="160259" y="149306"/>
                    </a:cubicBezTo>
                    <a:cubicBezTo>
                      <a:pt x="157235" y="146282"/>
                      <a:pt x="152332" y="146282"/>
                      <a:pt x="149308" y="149306"/>
                    </a:cubicBezTo>
                    <a:close/>
                    <a:moveTo>
                      <a:pt x="15481" y="131564"/>
                    </a:moveTo>
                    <a:lnTo>
                      <a:pt x="35496" y="131564"/>
                    </a:lnTo>
                    <a:lnTo>
                      <a:pt x="15481" y="151579"/>
                    </a:lnTo>
                    <a:close/>
                  </a:path>
                </a:pathLst>
              </a:custGeom>
              <a:solidFill>
                <a:srgbClr val="2E7D32"/>
              </a:solidFill>
              <a:ln>
                <a:noFill/>
              </a:ln>
            </p:spPr>
          </p:sp>
        </p:grpSp>
        <p:sp>
          <p:nvSpPr>
            <p:cNvPr id="58" name="TextBox 58"/>
            <p:cNvSpPr txBox="1"/>
            <p:nvPr/>
          </p:nvSpPr>
          <p:spPr>
            <a:xfrm>
              <a:off x="5656898" y="2620804"/>
              <a:ext cx="1142643" cy="320040"/>
            </a:xfrm>
            <a:prstGeom prst="rect">
              <a:avLst/>
            </a:prstGeom>
            <a:noFill/>
            <a:ln>
              <a:noFill/>
            </a:ln>
          </p:spPr>
          <p:txBody>
            <a:bodyPr wrap="none" lIns="0" tIns="0" rIns="0" bIns="0" anchor="t" anchorCtr="0">
              <a:spAutoFit/>
            </a:bodyPr>
            <a:lstStyle/>
            <a:p>
              <a:pPr algn="l"/>
              <a:r>
                <a:rPr lang="zh-CN" sz="1575" b="1" dirty="0">
                  <a:solidFill>
                    <a:srgbClr val="2E7D32"/>
                  </a:solidFill>
                  <a:latin typeface="Segoe UI" panose="020B0502040204020203"/>
                  <a:ea typeface="微软雅黑"/>
                  <a:cs typeface="Segoe UI" panose="020B0502040204020203"/>
                </a:rPr>
                <a:t>迭代与优化</a:t>
              </a:r>
              <a:endParaRPr lang="zh-CN" sz="1575" b="1" dirty="0">
                <a:solidFill>
                  <a:srgbClr val="2E7D32"/>
                </a:solidFill>
                <a:latin typeface="Segoe UI" panose="020B0502040204020203"/>
                <a:ea typeface="微软雅黑"/>
                <a:cs typeface="Segoe UI" panose="020B0502040204020203"/>
              </a:endParaRPr>
            </a:p>
          </p:txBody>
        </p:sp>
        <p:sp>
          <p:nvSpPr>
            <p:cNvPr id="59" name="TextBox 59"/>
            <p:cNvSpPr txBox="1"/>
            <p:nvPr/>
          </p:nvSpPr>
          <p:spPr>
            <a:xfrm>
              <a:off x="5306378" y="29417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10. 主线优先</a:t>
              </a:r>
              <a:endParaRPr lang="zh-CN" sz="1425" dirty="0">
                <a:solidFill>
                  <a:srgbClr val="546E7A"/>
                </a:solidFill>
                <a:latin typeface="Segoe UI" panose="020B0502040204020203"/>
                <a:ea typeface="微软雅黑"/>
                <a:cs typeface="Segoe UI" panose="020B0502040204020203"/>
              </a:endParaRPr>
            </a:p>
          </p:txBody>
        </p:sp>
        <p:sp>
          <p:nvSpPr>
            <p:cNvPr id="60" name="TextBox 60"/>
            <p:cNvSpPr txBox="1"/>
            <p:nvPr/>
          </p:nvSpPr>
          <p:spPr>
            <a:xfrm>
              <a:off x="5306378" y="317992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11. 渐进对话</a:t>
              </a:r>
              <a:endParaRPr lang="zh-CN" sz="1425" dirty="0">
                <a:solidFill>
                  <a:srgbClr val="546E7A"/>
                </a:solidFill>
                <a:latin typeface="Segoe UI" panose="020B0502040204020203"/>
                <a:ea typeface="微软雅黑"/>
                <a:cs typeface="Segoe UI" panose="020B0502040204020203"/>
              </a:endParaRPr>
            </a:p>
          </p:txBody>
        </p:sp>
        <p:sp>
          <p:nvSpPr>
            <p:cNvPr id="61" name="TextBox 61"/>
            <p:cNvSpPr txBox="1"/>
            <p:nvPr/>
          </p:nvSpPr>
          <p:spPr>
            <a:xfrm>
              <a:off x="5306378" y="341804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12. 外科手术</a:t>
              </a:r>
              <a:endParaRPr lang="zh-CN" sz="1425" dirty="0">
                <a:solidFill>
                  <a:srgbClr val="546E7A"/>
                </a:solidFill>
                <a:latin typeface="Segoe UI" panose="020B0502040204020203"/>
                <a:ea typeface="微软雅黑"/>
                <a:cs typeface="Segoe UI" panose="020B0502040204020203"/>
              </a:endParaRPr>
            </a:p>
          </p:txBody>
        </p:sp>
        <p:sp>
          <p:nvSpPr>
            <p:cNvPr id="62" name="TextBox 62"/>
            <p:cNvSpPr txBox="1"/>
            <p:nvPr/>
          </p:nvSpPr>
          <p:spPr>
            <a:xfrm>
              <a:off x="5306378" y="410384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懒在安全</a:t>
              </a:r>
              <a:endParaRPr lang="zh-CN" sz="1425" dirty="0">
                <a:solidFill>
                  <a:srgbClr val="FF6F00"/>
                </a:solidFill>
                <a:latin typeface="Segoe UI" panose="020B0502040204020203"/>
                <a:ea typeface="微软雅黑"/>
                <a:cs typeface="Segoe UI" panose="020B0502040204020203"/>
              </a:endParaRPr>
            </a:p>
          </p:txBody>
        </p:sp>
      </p:grpSp>
      <p:grpSp>
        <p:nvGrpSpPr>
          <p:cNvPr id="74" name="Group 74"/>
          <p:cNvGrpSpPr/>
          <p:nvPr/>
        </p:nvGrpSpPr>
        <p:grpSpPr>
          <a:xfrm>
            <a:off x="7372350" y="2381250"/>
            <a:ext cx="2095500" cy="2000726"/>
            <a:chOff x="7372350" y="2381250"/>
            <a:chExt cx="2095500" cy="2000726"/>
          </a:xfrm>
        </p:grpSpPr>
        <p:sp>
          <p:nvSpPr>
            <p:cNvPr id="64" name="Rectangle 64"/>
            <p:cNvSpPr/>
            <p:nvPr/>
          </p:nvSpPr>
          <p:spPr>
            <a:xfrm>
              <a:off x="7372350" y="2381250"/>
              <a:ext cx="2095500" cy="1905000"/>
            </a:xfrm>
            <a:prstGeom prst="roundRect">
              <a:avLst>
                <a:gd name="adj" fmla="val 5000"/>
              </a:avLst>
            </a:prstGeom>
            <a:solidFill>
              <a:srgbClr val="FFFFFF"/>
            </a:solidFill>
            <a:ln>
              <a:noFill/>
            </a:ln>
          </p:spPr>
        </p:sp>
        <p:sp>
          <p:nvSpPr>
            <p:cNvPr id="65" name="Rectangle 65"/>
            <p:cNvSpPr/>
            <p:nvPr/>
          </p:nvSpPr>
          <p:spPr>
            <a:xfrm>
              <a:off x="7372350" y="2381250"/>
              <a:ext cx="2095500" cy="38100"/>
            </a:xfrm>
            <a:prstGeom prst="roundRect">
              <a:avLst>
                <a:gd name="adj" fmla="val 50000"/>
              </a:avLst>
            </a:prstGeom>
            <a:solidFill>
              <a:srgbClr val="C62828"/>
            </a:solidFill>
            <a:ln>
              <a:noFill/>
            </a:ln>
          </p:spPr>
        </p:sp>
        <p:grpSp>
          <p:nvGrpSpPr>
            <p:cNvPr id="68" name="Group 68"/>
            <p:cNvGrpSpPr/>
            <p:nvPr/>
          </p:nvGrpSpPr>
          <p:grpSpPr>
            <a:xfrm>
              <a:off x="7599164" y="2642577"/>
              <a:ext cx="232172" cy="201246"/>
              <a:chOff x="7599164" y="2642577"/>
              <a:chExt cx="232172" cy="201246"/>
            </a:xfrm>
          </p:grpSpPr>
          <p:sp>
            <p:nvSpPr>
              <p:cNvPr id="66" name="Freeform 66"/>
              <p:cNvSpPr/>
              <p:nvPr/>
            </p:nvSpPr>
            <p:spPr>
              <a:xfrm>
                <a:off x="7637859" y="2743200"/>
                <a:ext cx="154781" cy="92869"/>
              </a:xfrm>
              <a:custGeom>
                <a:avLst/>
                <a:gdLst/>
                <a:ahLst/>
                <a:cxnLst/>
                <a:rect l="l" t="t" r="r" b="b"/>
                <a:pathLst>
                  <a:path w="154781" h="92869">
                    <a:moveTo>
                      <a:pt x="154781" y="0"/>
                    </a:moveTo>
                    <a:lnTo>
                      <a:pt x="154781" y="15478"/>
                    </a:lnTo>
                    <a:cubicBezTo>
                      <a:pt x="154781" y="58220"/>
                      <a:pt x="120132" y="92869"/>
                      <a:pt x="77391" y="92869"/>
                    </a:cubicBezTo>
                    <a:cubicBezTo>
                      <a:pt x="34649" y="92869"/>
                      <a:pt x="0" y="58220"/>
                      <a:pt x="0" y="15478"/>
                    </a:cubicBezTo>
                    <a:lnTo>
                      <a:pt x="0" y="0"/>
                    </a:lnTo>
                    <a:close/>
                  </a:path>
                </a:pathLst>
              </a:custGeom>
              <a:solidFill>
                <a:srgbClr val="C62828">
                  <a:alpha val="20000"/>
                </a:srgbClr>
              </a:solidFill>
              <a:ln>
                <a:noFill/>
              </a:ln>
            </p:spPr>
          </p:sp>
          <p:sp>
            <p:nvSpPr>
              <p:cNvPr id="67" name="Freeform 67"/>
              <p:cNvSpPr/>
              <p:nvPr/>
            </p:nvSpPr>
            <p:spPr>
              <a:xfrm>
                <a:off x="7599164" y="2642577"/>
                <a:ext cx="232172" cy="201246"/>
              </a:xfrm>
              <a:custGeom>
                <a:avLst/>
                <a:gdLst/>
                <a:ahLst/>
                <a:cxnLst/>
                <a:rect l="l" t="t" r="r" b="b"/>
                <a:pathLst>
                  <a:path w="232172" h="201246">
                    <a:moveTo>
                      <a:pt x="131564" y="65797"/>
                    </a:moveTo>
                    <a:cubicBezTo>
                      <a:pt x="131564" y="59386"/>
                      <a:pt x="136761" y="54189"/>
                      <a:pt x="143173" y="54189"/>
                    </a:cubicBezTo>
                    <a:cubicBezTo>
                      <a:pt x="149584" y="54189"/>
                      <a:pt x="154781" y="59386"/>
                      <a:pt x="154781" y="65797"/>
                    </a:cubicBezTo>
                    <a:cubicBezTo>
                      <a:pt x="154781" y="72208"/>
                      <a:pt x="149584" y="77406"/>
                      <a:pt x="143173" y="77406"/>
                    </a:cubicBezTo>
                    <a:cubicBezTo>
                      <a:pt x="136761" y="77406"/>
                      <a:pt x="131564" y="72208"/>
                      <a:pt x="131564" y="65797"/>
                    </a:cubicBezTo>
                    <a:close/>
                    <a:moveTo>
                      <a:pt x="88999" y="54189"/>
                    </a:moveTo>
                    <a:cubicBezTo>
                      <a:pt x="82588" y="54189"/>
                      <a:pt x="77391" y="59386"/>
                      <a:pt x="77391" y="65797"/>
                    </a:cubicBezTo>
                    <a:cubicBezTo>
                      <a:pt x="77391" y="72208"/>
                      <a:pt x="82588" y="77406"/>
                      <a:pt x="88999" y="77406"/>
                    </a:cubicBezTo>
                    <a:cubicBezTo>
                      <a:pt x="95410" y="77406"/>
                      <a:pt x="100608" y="72208"/>
                      <a:pt x="100608" y="65797"/>
                    </a:cubicBezTo>
                    <a:cubicBezTo>
                      <a:pt x="100608" y="59386"/>
                      <a:pt x="95410" y="54189"/>
                      <a:pt x="88999" y="54189"/>
                    </a:cubicBezTo>
                    <a:close/>
                    <a:moveTo>
                      <a:pt x="201216" y="116101"/>
                    </a:moveTo>
                    <a:cubicBezTo>
                      <a:pt x="201237" y="123613"/>
                      <a:pt x="200261" y="131095"/>
                      <a:pt x="198313" y="138351"/>
                    </a:cubicBezTo>
                    <a:lnTo>
                      <a:pt x="219828" y="147754"/>
                    </a:lnTo>
                    <a:cubicBezTo>
                      <a:pt x="223130" y="149258"/>
                      <a:pt x="224943" y="152853"/>
                      <a:pt x="224191" y="156402"/>
                    </a:cubicBezTo>
                    <a:cubicBezTo>
                      <a:pt x="223438" y="159951"/>
                      <a:pt x="220321" y="162501"/>
                      <a:pt x="216694" y="162535"/>
                    </a:cubicBezTo>
                    <a:cubicBezTo>
                      <a:pt x="215628" y="162538"/>
                      <a:pt x="214573" y="162317"/>
                      <a:pt x="213598" y="161887"/>
                    </a:cubicBezTo>
                    <a:lnTo>
                      <a:pt x="192877" y="152862"/>
                    </a:lnTo>
                    <a:cubicBezTo>
                      <a:pt x="178729" y="182428"/>
                      <a:pt x="148863" y="201246"/>
                      <a:pt x="116086" y="201246"/>
                    </a:cubicBezTo>
                    <a:cubicBezTo>
                      <a:pt x="83309" y="201246"/>
                      <a:pt x="53443" y="182428"/>
                      <a:pt x="39295" y="152862"/>
                    </a:cubicBezTo>
                    <a:lnTo>
                      <a:pt x="18574" y="161887"/>
                    </a:lnTo>
                    <a:cubicBezTo>
                      <a:pt x="17598" y="162317"/>
                      <a:pt x="16544" y="162538"/>
                      <a:pt x="15478" y="162535"/>
                    </a:cubicBezTo>
                    <a:cubicBezTo>
                      <a:pt x="11815" y="162533"/>
                      <a:pt x="8656" y="159963"/>
                      <a:pt x="7907" y="156378"/>
                    </a:cubicBezTo>
                    <a:cubicBezTo>
                      <a:pt x="7159" y="152792"/>
                      <a:pt x="9026" y="149173"/>
                      <a:pt x="12382" y="147705"/>
                    </a:cubicBezTo>
                    <a:lnTo>
                      <a:pt x="33858" y="138351"/>
                    </a:lnTo>
                    <a:cubicBezTo>
                      <a:pt x="31911" y="131095"/>
                      <a:pt x="30935" y="123613"/>
                      <a:pt x="30956" y="116101"/>
                    </a:cubicBezTo>
                    <a:lnTo>
                      <a:pt x="30956" y="108362"/>
                    </a:lnTo>
                    <a:lnTo>
                      <a:pt x="7739" y="108362"/>
                    </a:lnTo>
                    <a:cubicBezTo>
                      <a:pt x="3465" y="108362"/>
                      <a:pt x="0" y="104897"/>
                      <a:pt x="0" y="100623"/>
                    </a:cubicBezTo>
                    <a:cubicBezTo>
                      <a:pt x="0" y="96349"/>
                      <a:pt x="3465" y="92884"/>
                      <a:pt x="7739" y="92884"/>
                    </a:cubicBezTo>
                    <a:lnTo>
                      <a:pt x="30956" y="92884"/>
                    </a:lnTo>
                    <a:lnTo>
                      <a:pt x="30956" y="85145"/>
                    </a:lnTo>
                    <a:cubicBezTo>
                      <a:pt x="30935" y="77632"/>
                      <a:pt x="31911" y="70150"/>
                      <a:pt x="33858" y="62895"/>
                    </a:cubicBezTo>
                    <a:lnTo>
                      <a:pt x="12382" y="53540"/>
                    </a:lnTo>
                    <a:cubicBezTo>
                      <a:pt x="9787" y="52475"/>
                      <a:pt x="7972" y="50088"/>
                      <a:pt x="7638" y="47302"/>
                    </a:cubicBezTo>
                    <a:cubicBezTo>
                      <a:pt x="7304" y="44517"/>
                      <a:pt x="8504" y="41769"/>
                      <a:pt x="10773" y="40120"/>
                    </a:cubicBezTo>
                    <a:cubicBezTo>
                      <a:pt x="13043" y="38471"/>
                      <a:pt x="16028" y="38180"/>
                      <a:pt x="18574" y="39359"/>
                    </a:cubicBezTo>
                    <a:lnTo>
                      <a:pt x="39295" y="48384"/>
                    </a:lnTo>
                    <a:cubicBezTo>
                      <a:pt x="53443" y="18818"/>
                      <a:pt x="83309" y="0"/>
                      <a:pt x="116086" y="0"/>
                    </a:cubicBezTo>
                    <a:cubicBezTo>
                      <a:pt x="148863" y="0"/>
                      <a:pt x="178729" y="18818"/>
                      <a:pt x="192877" y="48384"/>
                    </a:cubicBezTo>
                    <a:lnTo>
                      <a:pt x="213598" y="39330"/>
                    </a:lnTo>
                    <a:cubicBezTo>
                      <a:pt x="217491" y="37731"/>
                      <a:pt x="221947" y="39536"/>
                      <a:pt x="223630" y="43392"/>
                    </a:cubicBezTo>
                    <a:cubicBezTo>
                      <a:pt x="225314" y="47249"/>
                      <a:pt x="223608" y="51743"/>
                      <a:pt x="219789" y="53511"/>
                    </a:cubicBezTo>
                    <a:lnTo>
                      <a:pt x="198313" y="62943"/>
                    </a:lnTo>
                    <a:cubicBezTo>
                      <a:pt x="200261" y="70199"/>
                      <a:pt x="201237" y="77681"/>
                      <a:pt x="201216" y="85193"/>
                    </a:cubicBezTo>
                    <a:lnTo>
                      <a:pt x="201216" y="92932"/>
                    </a:lnTo>
                    <a:lnTo>
                      <a:pt x="224433" y="92932"/>
                    </a:lnTo>
                    <a:cubicBezTo>
                      <a:pt x="228707" y="92932"/>
                      <a:pt x="232172" y="96397"/>
                      <a:pt x="232172" y="100671"/>
                    </a:cubicBezTo>
                    <a:cubicBezTo>
                      <a:pt x="232172" y="104945"/>
                      <a:pt x="228707" y="108410"/>
                      <a:pt x="224433" y="108410"/>
                    </a:cubicBezTo>
                    <a:lnTo>
                      <a:pt x="201216" y="108410"/>
                    </a:lnTo>
                    <a:close/>
                    <a:moveTo>
                      <a:pt x="46434" y="92884"/>
                    </a:moveTo>
                    <a:lnTo>
                      <a:pt x="185738" y="92884"/>
                    </a:lnTo>
                    <a:lnTo>
                      <a:pt x="185738" y="85145"/>
                    </a:lnTo>
                    <a:cubicBezTo>
                      <a:pt x="185738" y="46677"/>
                      <a:pt x="154553" y="15493"/>
                      <a:pt x="116086" y="15493"/>
                    </a:cubicBezTo>
                    <a:cubicBezTo>
                      <a:pt x="77618" y="15493"/>
                      <a:pt x="46434" y="46677"/>
                      <a:pt x="46434" y="85145"/>
                    </a:cubicBezTo>
                    <a:close/>
                    <a:moveTo>
                      <a:pt x="108347" y="185308"/>
                    </a:moveTo>
                    <a:lnTo>
                      <a:pt x="108347" y="108362"/>
                    </a:lnTo>
                    <a:lnTo>
                      <a:pt x="46434" y="108362"/>
                    </a:lnTo>
                    <a:lnTo>
                      <a:pt x="46434" y="116101"/>
                    </a:lnTo>
                    <a:cubicBezTo>
                      <a:pt x="46477" y="151555"/>
                      <a:pt x="73116" y="181333"/>
                      <a:pt x="108347" y="185308"/>
                    </a:cubicBezTo>
                    <a:close/>
                    <a:moveTo>
                      <a:pt x="185738" y="116101"/>
                    </a:moveTo>
                    <a:lnTo>
                      <a:pt x="185738" y="108362"/>
                    </a:lnTo>
                    <a:lnTo>
                      <a:pt x="123825" y="108362"/>
                    </a:lnTo>
                    <a:lnTo>
                      <a:pt x="123825" y="185308"/>
                    </a:lnTo>
                    <a:cubicBezTo>
                      <a:pt x="159056" y="181333"/>
                      <a:pt x="185695" y="151555"/>
                      <a:pt x="185738" y="116101"/>
                    </a:cubicBezTo>
                    <a:close/>
                  </a:path>
                </a:pathLst>
              </a:custGeom>
              <a:solidFill>
                <a:srgbClr val="C62828"/>
              </a:solidFill>
              <a:ln>
                <a:noFill/>
              </a:ln>
            </p:spPr>
          </p:sp>
        </p:grpSp>
        <p:sp>
          <p:nvSpPr>
            <p:cNvPr id="69" name="TextBox 69"/>
            <p:cNvSpPr txBox="1"/>
            <p:nvPr/>
          </p:nvSpPr>
          <p:spPr>
            <a:xfrm>
              <a:off x="7923848" y="2620804"/>
              <a:ext cx="1142643" cy="320040"/>
            </a:xfrm>
            <a:prstGeom prst="rect">
              <a:avLst/>
            </a:prstGeom>
            <a:noFill/>
            <a:ln>
              <a:noFill/>
            </a:ln>
          </p:spPr>
          <p:txBody>
            <a:bodyPr wrap="none" lIns="0" tIns="0" rIns="0" bIns="0" anchor="t" anchorCtr="0">
              <a:spAutoFit/>
            </a:bodyPr>
            <a:lstStyle/>
            <a:p>
              <a:pPr algn="l"/>
              <a:r>
                <a:rPr lang="zh-CN" sz="1575" b="1" dirty="0">
                  <a:solidFill>
                    <a:srgbClr val="C62828"/>
                  </a:solidFill>
                  <a:latin typeface="Segoe UI" panose="020B0502040204020203"/>
                  <a:ea typeface="微软雅黑"/>
                  <a:cs typeface="Segoe UI" panose="020B0502040204020203"/>
                </a:rPr>
                <a:t>调试与维护</a:t>
              </a:r>
              <a:endParaRPr lang="zh-CN" sz="1575" b="1" dirty="0">
                <a:solidFill>
                  <a:srgbClr val="C62828"/>
                </a:solidFill>
                <a:latin typeface="Segoe UI" panose="020B0502040204020203"/>
                <a:ea typeface="微软雅黑"/>
                <a:cs typeface="Segoe UI" panose="020B0502040204020203"/>
              </a:endParaRPr>
            </a:p>
          </p:txBody>
        </p:sp>
        <p:sp>
          <p:nvSpPr>
            <p:cNvPr id="70" name="TextBox 70"/>
            <p:cNvSpPr txBox="1"/>
            <p:nvPr/>
          </p:nvSpPr>
          <p:spPr>
            <a:xfrm>
              <a:off x="7573328" y="29417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13. 侦探破案</a:t>
              </a:r>
              <a:endParaRPr lang="zh-CN" sz="1425" dirty="0">
                <a:solidFill>
                  <a:srgbClr val="546E7A"/>
                </a:solidFill>
                <a:latin typeface="Segoe UI" panose="020B0502040204020203"/>
                <a:ea typeface="微软雅黑"/>
                <a:cs typeface="Segoe UI" panose="020B0502040204020203"/>
              </a:endParaRPr>
            </a:p>
          </p:txBody>
        </p:sp>
        <p:sp>
          <p:nvSpPr>
            <p:cNvPr id="71" name="TextBox 71"/>
            <p:cNvSpPr txBox="1"/>
            <p:nvPr/>
          </p:nvSpPr>
          <p:spPr>
            <a:xfrm>
              <a:off x="7573328" y="317992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14. 代码考古</a:t>
              </a:r>
              <a:endParaRPr lang="zh-CN" sz="1425" dirty="0">
                <a:solidFill>
                  <a:srgbClr val="546E7A"/>
                </a:solidFill>
                <a:latin typeface="Segoe UI" panose="020B0502040204020203"/>
                <a:ea typeface="微软雅黑"/>
                <a:cs typeface="Segoe UI" panose="020B0502040204020203"/>
              </a:endParaRPr>
            </a:p>
          </p:txBody>
        </p:sp>
        <p:sp>
          <p:nvSpPr>
            <p:cNvPr id="72" name="TextBox 72"/>
            <p:cNvSpPr txBox="1"/>
            <p:nvPr/>
          </p:nvSpPr>
          <p:spPr>
            <a:xfrm>
              <a:off x="7573328" y="341804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15. 边界测试</a:t>
              </a:r>
              <a:endParaRPr lang="zh-CN" sz="1425" dirty="0">
                <a:solidFill>
                  <a:srgbClr val="546E7A"/>
                </a:solidFill>
                <a:latin typeface="Segoe UI" panose="020B0502040204020203"/>
                <a:ea typeface="微软雅黑"/>
                <a:cs typeface="Segoe UI" panose="020B0502040204020203"/>
              </a:endParaRPr>
            </a:p>
          </p:txBody>
        </p:sp>
        <p:sp>
          <p:nvSpPr>
            <p:cNvPr id="73" name="TextBox 73"/>
            <p:cNvSpPr txBox="1"/>
            <p:nvPr/>
          </p:nvSpPr>
          <p:spPr>
            <a:xfrm>
              <a:off x="7573328" y="409241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懒在高效</a:t>
              </a:r>
              <a:endParaRPr lang="zh-CN" sz="1425" dirty="0">
                <a:solidFill>
                  <a:srgbClr val="FF6F00"/>
                </a:solidFill>
                <a:latin typeface="Segoe UI" panose="020B0502040204020203"/>
                <a:ea typeface="微软雅黑"/>
                <a:cs typeface="Segoe UI" panose="020B0502040204020203"/>
              </a:endParaRPr>
            </a:p>
          </p:txBody>
        </p:sp>
      </p:grpSp>
      <p:grpSp>
        <p:nvGrpSpPr>
          <p:cNvPr id="87" name="Group 87"/>
          <p:cNvGrpSpPr/>
          <p:nvPr/>
        </p:nvGrpSpPr>
        <p:grpSpPr>
          <a:xfrm>
            <a:off x="9639300" y="2381250"/>
            <a:ext cx="1981200" cy="2012156"/>
            <a:chOff x="9639300" y="2381250"/>
            <a:chExt cx="1981200" cy="2012156"/>
          </a:xfrm>
        </p:grpSpPr>
        <p:sp>
          <p:nvSpPr>
            <p:cNvPr id="75" name="Rectangle 75"/>
            <p:cNvSpPr/>
            <p:nvPr/>
          </p:nvSpPr>
          <p:spPr>
            <a:xfrm>
              <a:off x="9639300" y="2381250"/>
              <a:ext cx="1981200" cy="1905000"/>
            </a:xfrm>
            <a:prstGeom prst="roundRect">
              <a:avLst>
                <a:gd name="adj" fmla="val 5000"/>
              </a:avLst>
            </a:prstGeom>
            <a:solidFill>
              <a:srgbClr val="FFFFFF"/>
            </a:solidFill>
            <a:ln>
              <a:noFill/>
            </a:ln>
          </p:spPr>
        </p:sp>
        <p:sp>
          <p:nvSpPr>
            <p:cNvPr id="76" name="Rectangle 76"/>
            <p:cNvSpPr/>
            <p:nvPr/>
          </p:nvSpPr>
          <p:spPr>
            <a:xfrm>
              <a:off x="9639300" y="2381250"/>
              <a:ext cx="1981200" cy="38100"/>
            </a:xfrm>
            <a:prstGeom prst="roundRect">
              <a:avLst>
                <a:gd name="adj" fmla="val 50000"/>
              </a:avLst>
            </a:prstGeom>
            <a:solidFill>
              <a:srgbClr val="6A1B9A"/>
            </a:solidFill>
            <a:ln>
              <a:noFill/>
            </a:ln>
          </p:spPr>
        </p:sp>
        <p:grpSp>
          <p:nvGrpSpPr>
            <p:cNvPr id="79" name="Group 79"/>
            <p:cNvGrpSpPr/>
            <p:nvPr/>
          </p:nvGrpSpPr>
          <p:grpSpPr>
            <a:xfrm>
              <a:off x="9889331" y="2658070"/>
              <a:ext cx="185738" cy="193740"/>
              <a:chOff x="9889331" y="2658070"/>
              <a:chExt cx="185738" cy="193740"/>
            </a:xfrm>
          </p:grpSpPr>
          <p:sp>
            <p:nvSpPr>
              <p:cNvPr id="77" name="Freeform 77"/>
              <p:cNvSpPr/>
              <p:nvPr/>
            </p:nvSpPr>
            <p:spPr>
              <a:xfrm>
                <a:off x="9897070" y="2665809"/>
                <a:ext cx="170259" cy="178115"/>
              </a:xfrm>
              <a:custGeom>
                <a:avLst/>
                <a:gdLst/>
                <a:ahLst/>
                <a:cxnLst/>
                <a:rect l="l" t="t" r="r" b="b"/>
                <a:pathLst>
                  <a:path w="170259" h="178115">
                    <a:moveTo>
                      <a:pt x="170259" y="7739"/>
                    </a:moveTo>
                    <a:lnTo>
                      <a:pt x="170259" y="64592"/>
                    </a:lnTo>
                    <a:cubicBezTo>
                      <a:pt x="170259" y="146026"/>
                      <a:pt x="101275" y="173007"/>
                      <a:pt x="87509" y="177582"/>
                    </a:cubicBezTo>
                    <a:cubicBezTo>
                      <a:pt x="85968" y="178115"/>
                      <a:pt x="84292" y="178115"/>
                      <a:pt x="82750" y="177582"/>
                    </a:cubicBezTo>
                    <a:cubicBezTo>
                      <a:pt x="68984" y="173026"/>
                      <a:pt x="0" y="146075"/>
                      <a:pt x="0" y="64611"/>
                    </a:cubicBezTo>
                    <a:lnTo>
                      <a:pt x="0" y="7739"/>
                    </a:lnTo>
                    <a:cubicBezTo>
                      <a:pt x="0" y="3465"/>
                      <a:pt x="3465" y="0"/>
                      <a:pt x="7739" y="0"/>
                    </a:cubicBezTo>
                    <a:lnTo>
                      <a:pt x="162520" y="0"/>
                    </a:lnTo>
                    <a:cubicBezTo>
                      <a:pt x="166794" y="0"/>
                      <a:pt x="170259" y="3465"/>
                      <a:pt x="170259" y="7739"/>
                    </a:cubicBezTo>
                    <a:close/>
                  </a:path>
                </a:pathLst>
              </a:custGeom>
              <a:solidFill>
                <a:srgbClr val="6A1B9A">
                  <a:alpha val="20000"/>
                </a:srgbClr>
              </a:solidFill>
              <a:ln>
                <a:noFill/>
              </a:ln>
            </p:spPr>
          </p:sp>
          <p:sp>
            <p:nvSpPr>
              <p:cNvPr id="78" name="Freeform 78"/>
              <p:cNvSpPr/>
              <p:nvPr/>
            </p:nvSpPr>
            <p:spPr>
              <a:xfrm>
                <a:off x="9889331" y="2658070"/>
                <a:ext cx="185738" cy="193740"/>
              </a:xfrm>
              <a:custGeom>
                <a:avLst/>
                <a:gdLst/>
                <a:ahLst/>
                <a:cxnLst/>
                <a:rect l="l" t="t" r="r" b="b"/>
                <a:pathLst>
                  <a:path w="185738" h="193740">
                    <a:moveTo>
                      <a:pt x="170259" y="0"/>
                    </a:moveTo>
                    <a:lnTo>
                      <a:pt x="15478" y="0"/>
                    </a:lnTo>
                    <a:cubicBezTo>
                      <a:pt x="6930" y="0"/>
                      <a:pt x="0" y="6930"/>
                      <a:pt x="0" y="15478"/>
                    </a:cubicBezTo>
                    <a:lnTo>
                      <a:pt x="0" y="72341"/>
                    </a:lnTo>
                    <a:cubicBezTo>
                      <a:pt x="0" y="159028"/>
                      <a:pt x="73347" y="187788"/>
                      <a:pt x="88032" y="192674"/>
                    </a:cubicBezTo>
                    <a:cubicBezTo>
                      <a:pt x="91168" y="193740"/>
                      <a:pt x="94569" y="193740"/>
                      <a:pt x="97706" y="192674"/>
                    </a:cubicBezTo>
                    <a:cubicBezTo>
                      <a:pt x="112410" y="187788"/>
                      <a:pt x="185738" y="159028"/>
                      <a:pt x="185738" y="72341"/>
                    </a:cubicBezTo>
                    <a:lnTo>
                      <a:pt x="185738" y="15478"/>
                    </a:lnTo>
                    <a:cubicBezTo>
                      <a:pt x="185738" y="6930"/>
                      <a:pt x="178808" y="0"/>
                      <a:pt x="170259" y="0"/>
                    </a:cubicBezTo>
                    <a:close/>
                    <a:moveTo>
                      <a:pt x="170259" y="72351"/>
                    </a:moveTo>
                    <a:cubicBezTo>
                      <a:pt x="170259" y="148213"/>
                      <a:pt x="106074" y="173558"/>
                      <a:pt x="92869" y="177969"/>
                    </a:cubicBezTo>
                    <a:cubicBezTo>
                      <a:pt x="79780" y="173607"/>
                      <a:pt x="15478" y="148280"/>
                      <a:pt x="15478" y="72351"/>
                    </a:cubicBezTo>
                    <a:lnTo>
                      <a:pt x="15478" y="15478"/>
                    </a:lnTo>
                    <a:lnTo>
                      <a:pt x="170259" y="15478"/>
                    </a:lnTo>
                    <a:close/>
                    <a:moveTo>
                      <a:pt x="48698" y="98344"/>
                    </a:moveTo>
                    <a:cubicBezTo>
                      <a:pt x="45674" y="95320"/>
                      <a:pt x="45674" y="90417"/>
                      <a:pt x="48698" y="87393"/>
                    </a:cubicBezTo>
                    <a:cubicBezTo>
                      <a:pt x="51722" y="84369"/>
                      <a:pt x="56625" y="84369"/>
                      <a:pt x="59649" y="87393"/>
                    </a:cubicBezTo>
                    <a:lnTo>
                      <a:pt x="77391" y="105135"/>
                    </a:lnTo>
                    <a:lnTo>
                      <a:pt x="126089" y="56437"/>
                    </a:lnTo>
                    <a:cubicBezTo>
                      <a:pt x="129113" y="53413"/>
                      <a:pt x="134015" y="53413"/>
                      <a:pt x="137039" y="56437"/>
                    </a:cubicBezTo>
                    <a:cubicBezTo>
                      <a:pt x="140063" y="59461"/>
                      <a:pt x="140063" y="64364"/>
                      <a:pt x="137039" y="67388"/>
                    </a:cubicBezTo>
                    <a:lnTo>
                      <a:pt x="82866" y="121561"/>
                    </a:lnTo>
                    <a:cubicBezTo>
                      <a:pt x="81414" y="123015"/>
                      <a:pt x="79445" y="123831"/>
                      <a:pt x="77391" y="123831"/>
                    </a:cubicBezTo>
                    <a:cubicBezTo>
                      <a:pt x="75337" y="123831"/>
                      <a:pt x="73367" y="123015"/>
                      <a:pt x="71915" y="121561"/>
                    </a:cubicBezTo>
                    <a:close/>
                  </a:path>
                </a:pathLst>
              </a:custGeom>
              <a:solidFill>
                <a:srgbClr val="6A1B9A"/>
              </a:solidFill>
              <a:ln>
                <a:noFill/>
              </a:ln>
            </p:spPr>
          </p:sp>
        </p:grpSp>
        <p:sp>
          <p:nvSpPr>
            <p:cNvPr id="80" name="TextBox 80"/>
            <p:cNvSpPr txBox="1"/>
            <p:nvPr/>
          </p:nvSpPr>
          <p:spPr>
            <a:xfrm>
              <a:off x="10171748" y="2620804"/>
              <a:ext cx="1363170" cy="320040"/>
            </a:xfrm>
            <a:prstGeom prst="rect">
              <a:avLst/>
            </a:prstGeom>
            <a:noFill/>
            <a:ln>
              <a:noFill/>
            </a:ln>
          </p:spPr>
          <p:txBody>
            <a:bodyPr wrap="none" lIns="0" tIns="0" rIns="0" bIns="0" anchor="t" anchorCtr="0">
              <a:spAutoFit/>
            </a:bodyPr>
            <a:lstStyle/>
            <a:p>
              <a:pPr algn="l"/>
              <a:r>
                <a:rPr lang="zh-CN" sz="1575" b="1" dirty="0">
                  <a:solidFill>
                    <a:srgbClr val="6A1B9A"/>
                  </a:solidFill>
                  <a:latin typeface="Segoe UI" panose="020B0502040204020203"/>
                  <a:ea typeface="微软雅黑"/>
                  <a:cs typeface="Segoe UI" panose="020B0502040204020203"/>
                </a:rPr>
                <a:t>质量与工程化</a:t>
              </a:r>
              <a:endParaRPr lang="zh-CN" sz="1575" b="1" dirty="0">
                <a:solidFill>
                  <a:srgbClr val="6A1B9A"/>
                </a:solidFill>
                <a:latin typeface="Segoe UI" panose="020B0502040204020203"/>
                <a:ea typeface="微软雅黑"/>
                <a:cs typeface="Segoe UI" panose="020B0502040204020203"/>
              </a:endParaRPr>
            </a:p>
          </p:txBody>
        </p:sp>
        <p:sp>
          <p:nvSpPr>
            <p:cNvPr id="81" name="TextBox 81"/>
            <p:cNvSpPr txBox="1"/>
            <p:nvPr/>
          </p:nvSpPr>
          <p:spPr>
            <a:xfrm>
              <a:off x="9840278" y="29417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16. 回归校验</a:t>
              </a:r>
              <a:endParaRPr lang="zh-CN" sz="1425" dirty="0">
                <a:solidFill>
                  <a:srgbClr val="546E7A"/>
                </a:solidFill>
                <a:latin typeface="Segoe UI" panose="020B0502040204020203"/>
                <a:ea typeface="微软雅黑"/>
                <a:cs typeface="Segoe UI" panose="020B0502040204020203"/>
              </a:endParaRPr>
            </a:p>
          </p:txBody>
        </p:sp>
        <p:sp>
          <p:nvSpPr>
            <p:cNvPr id="82" name="TextBox 82"/>
            <p:cNvSpPr txBox="1"/>
            <p:nvPr/>
          </p:nvSpPr>
          <p:spPr>
            <a:xfrm>
              <a:off x="9840278" y="317992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17. 文档同步</a:t>
              </a:r>
              <a:endParaRPr lang="zh-CN" sz="1425" dirty="0">
                <a:solidFill>
                  <a:srgbClr val="546E7A"/>
                </a:solidFill>
                <a:latin typeface="Segoe UI" panose="020B0502040204020203"/>
                <a:ea typeface="微软雅黑"/>
                <a:cs typeface="Segoe UI" panose="020B0502040204020203"/>
              </a:endParaRPr>
            </a:p>
          </p:txBody>
        </p:sp>
        <p:sp>
          <p:nvSpPr>
            <p:cNvPr id="83" name="TextBox 83"/>
            <p:cNvSpPr txBox="1"/>
            <p:nvPr/>
          </p:nvSpPr>
          <p:spPr>
            <a:xfrm>
              <a:off x="9840278" y="341804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18. 约束内化</a:t>
              </a:r>
              <a:endParaRPr lang="zh-CN" sz="1425" dirty="0">
                <a:solidFill>
                  <a:srgbClr val="546E7A"/>
                </a:solidFill>
                <a:latin typeface="Segoe UI" panose="020B0502040204020203"/>
                <a:ea typeface="微软雅黑"/>
                <a:cs typeface="Segoe UI" panose="020B0502040204020203"/>
              </a:endParaRPr>
            </a:p>
          </p:txBody>
        </p:sp>
        <p:sp>
          <p:nvSpPr>
            <p:cNvPr id="84" name="TextBox 84"/>
            <p:cNvSpPr txBox="1"/>
            <p:nvPr/>
          </p:nvSpPr>
          <p:spPr>
            <a:xfrm>
              <a:off x="9840278" y="365617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19. 分层实现</a:t>
              </a:r>
              <a:endParaRPr lang="zh-CN" sz="1425" dirty="0">
                <a:solidFill>
                  <a:srgbClr val="546E7A"/>
                </a:solidFill>
                <a:latin typeface="Segoe UI" panose="020B0502040204020203"/>
                <a:ea typeface="微软雅黑"/>
                <a:cs typeface="Segoe UI" panose="020B0502040204020203"/>
              </a:endParaRPr>
            </a:p>
          </p:txBody>
        </p:sp>
        <p:sp>
          <p:nvSpPr>
            <p:cNvPr id="85" name="TextBox 85"/>
            <p:cNvSpPr txBox="1"/>
            <p:nvPr/>
          </p:nvSpPr>
          <p:spPr>
            <a:xfrm>
              <a:off x="9840278" y="38942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20. 版本隔离</a:t>
              </a:r>
              <a:endParaRPr lang="zh-CN" sz="1425" dirty="0">
                <a:solidFill>
                  <a:srgbClr val="546E7A"/>
                </a:solidFill>
                <a:latin typeface="Segoe UI" panose="020B0502040204020203"/>
                <a:ea typeface="微软雅黑"/>
                <a:cs typeface="Segoe UI" panose="020B0502040204020203"/>
              </a:endParaRPr>
            </a:p>
          </p:txBody>
        </p:sp>
        <p:sp>
          <p:nvSpPr>
            <p:cNvPr id="86" name="TextBox 86"/>
            <p:cNvSpPr txBox="1"/>
            <p:nvPr/>
          </p:nvSpPr>
          <p:spPr>
            <a:xfrm>
              <a:off x="9840278" y="410384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懒在持久</a:t>
              </a:r>
              <a:endParaRPr lang="zh-CN" sz="1425" dirty="0">
                <a:solidFill>
                  <a:srgbClr val="FF6F00"/>
                </a:solidFill>
                <a:latin typeface="Segoe UI" panose="020B0502040204020203"/>
                <a:ea typeface="微软雅黑"/>
                <a:cs typeface="Segoe UI" panose="020B0502040204020203"/>
              </a:endParaRPr>
            </a:p>
          </p:txBody>
        </p:sp>
      </p:grpSp>
      <p:grpSp>
        <p:nvGrpSpPr>
          <p:cNvPr id="90" name="Group 90"/>
          <p:cNvGrpSpPr/>
          <p:nvPr/>
        </p:nvGrpSpPr>
        <p:grpSpPr>
          <a:xfrm>
            <a:off x="3360563" y="4989671"/>
            <a:ext cx="5470874" cy="594360"/>
            <a:chOff x="3360563" y="4989671"/>
            <a:chExt cx="5470874" cy="594360"/>
          </a:xfrm>
        </p:grpSpPr>
        <p:sp>
          <p:nvSpPr>
            <p:cNvPr id="88" name="TextBox 88"/>
            <p:cNvSpPr txBox="1"/>
            <p:nvPr/>
          </p:nvSpPr>
          <p:spPr>
            <a:xfrm>
              <a:off x="3360563" y="4989671"/>
              <a:ext cx="5470874" cy="289560"/>
            </a:xfrm>
            <a:prstGeom prst="rect">
              <a:avLst/>
            </a:prstGeom>
            <a:noFill/>
            <a:ln>
              <a:noFill/>
            </a:ln>
          </p:spPr>
          <p:txBody>
            <a:bodyPr wrap="none" lIns="0" tIns="0" rIns="0" bIns="0" anchor="t" anchorCtr="0">
              <a:spAutoFit/>
            </a:bodyPr>
            <a:lstStyle/>
            <a:p>
              <a:pPr algn="ctr"/>
              <a:r>
                <a:rPr lang="zh-CN" sz="1425" dirty="0">
                  <a:solidFill>
                    <a:srgbClr val="90A4AE"/>
                  </a:solidFill>
                  <a:latin typeface="Segoe UI" panose="020B0502040204020203"/>
                  <a:ea typeface="微软雅黑"/>
                  <a:cs typeface="Segoe UI" panose="020B0502040204020203"/>
                </a:rPr>
                <a:t>五大阶段覆盖完整开发流程：需求 → 编码 → 迭代 → 调试 → 工程化</a:t>
              </a:r>
              <a:endParaRPr lang="zh-CN" sz="1425" dirty="0">
                <a:solidFill>
                  <a:srgbClr val="90A4AE"/>
                </a:solidFill>
                <a:latin typeface="Segoe UI" panose="020B0502040204020203"/>
                <a:ea typeface="微软雅黑"/>
                <a:cs typeface="Segoe UI" panose="020B0502040204020203"/>
              </a:endParaRPr>
            </a:p>
          </p:txBody>
        </p:sp>
        <p:sp>
          <p:nvSpPr>
            <p:cNvPr id="89" name="TextBox 89"/>
            <p:cNvSpPr txBox="1"/>
            <p:nvPr/>
          </p:nvSpPr>
          <p:spPr>
            <a:xfrm>
              <a:off x="3883128" y="5294471"/>
              <a:ext cx="4425744" cy="289560"/>
            </a:xfrm>
            <a:prstGeom prst="rect">
              <a:avLst/>
            </a:prstGeom>
            <a:noFill/>
            <a:ln>
              <a:noFill/>
            </a:ln>
          </p:spPr>
          <p:txBody>
            <a:bodyPr wrap="none" lIns="0" tIns="0" rIns="0" bIns="0" anchor="t" anchorCtr="0">
              <a:spAutoFit/>
            </a:bodyPr>
            <a:lstStyle/>
            <a:p>
              <a:pPr algn="ctr"/>
              <a:r>
                <a:rPr lang="zh-CN" sz="1425" dirty="0">
                  <a:solidFill>
                    <a:srgbClr val="546E7A"/>
                  </a:solidFill>
                  <a:latin typeface="Segoe UI" panose="020B0502040204020203"/>
                  <a:ea typeface="微软雅黑"/>
                  <a:cs typeface="Segoe UI" panose="020B0502040204020203"/>
                </a:rPr>
                <a:t>每个阶段贯彻"懒人智慧"：用最少返工，做最对的事</a:t>
              </a:r>
              <a:endParaRPr lang="zh-CN" sz="1425" dirty="0">
                <a:solidFill>
                  <a:srgbClr val="546E7A"/>
                </a:solidFill>
                <a:latin typeface="Segoe UI" panose="020B0502040204020203"/>
                <a:ea typeface="微软雅黑"/>
                <a:cs typeface="Segoe UI" panose="020B0502040204020203"/>
              </a:endParaRPr>
            </a:p>
          </p:txBody>
        </p:sp>
      </p:grpSp>
      <p:sp>
        <p:nvSpPr>
          <p:cNvPr id="91" name="TextBox 91"/>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02 / 09</a:t>
            </a:r>
            <a:endParaRPr lang="zh-CN" sz="1125" dirty="0">
              <a:solidFill>
                <a:srgbClr val="90A4AE"/>
              </a:solidFill>
              <a:latin typeface="Segoe UI" panose="020B0502040204020203"/>
              <a:ea typeface="微软雅黑"/>
              <a:cs typeface="Segoe UI" panose="020B0502040204020203"/>
            </a:endParaRPr>
          </a:p>
        </p:txBody>
      </p:sp>
      <p:pic>
        <p:nvPicPr>
          <p:cNvPr id="92" name="图片 91"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400"/>
                                        <p:tgtEl>
                                          <p:spTgt spid="1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Bottom)">
                                      <p:cBhvr>
                                        <p:cTn id="11" dur="400"/>
                                        <p:tgtEl>
                                          <p:spTgt spid="1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400"/>
                                        <p:tgtEl>
                                          <p:spTgt spid="27"/>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slide(fromBottom)">
                                      <p:cBhvr>
                                        <p:cTn id="23" dur="400"/>
                                        <p:tgtEl>
                                          <p:spTgt spid="39"/>
                                        </p:tgtEl>
                                      </p:cBhvr>
                                    </p:animEffect>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slide(fromBottom)">
                                      <p:cBhvr>
                                        <p:cTn id="27" dur="400"/>
                                        <p:tgtEl>
                                          <p:spTgt spid="52"/>
                                        </p:tgtEl>
                                      </p:cBhvr>
                                    </p:animEffect>
                                  </p:childTnLst>
                                </p:cTn>
                              </p:par>
                            </p:childTnLst>
                          </p:cTn>
                        </p:par>
                        <p:par>
                          <p:cTn id="28" fill="hold">
                            <p:stCondLst>
                              <p:cond delay="3000"/>
                            </p:stCondLst>
                            <p:childTnLst>
                              <p:par>
                                <p:cTn id="29" presetID="2" presetClass="entr" presetSubtype="4" fill="hold" nodeType="after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slide(fromBottom)">
                                      <p:cBhvr>
                                        <p:cTn id="31" dur="400"/>
                                        <p:tgtEl>
                                          <p:spTgt spid="63"/>
                                        </p:tgtEl>
                                      </p:cBhvr>
                                    </p:animEffect>
                                  </p:childTnLst>
                                </p:cTn>
                              </p:par>
                            </p:childTnLst>
                          </p:cTn>
                        </p:par>
                        <p:par>
                          <p:cTn id="32" fill="hold">
                            <p:stCondLst>
                              <p:cond delay="3500"/>
                            </p:stCondLst>
                            <p:childTnLst>
                              <p:par>
                                <p:cTn id="33" presetID="2" presetClass="entr" presetSubtype="4" fill="hold" nodeType="afterEffect">
                                  <p:stCondLst>
                                    <p:cond delay="0"/>
                                  </p:stCondLst>
                                  <p:childTnLst>
                                    <p:set>
                                      <p:cBhvr>
                                        <p:cTn id="34" dur="1" fill="hold">
                                          <p:stCondLst>
                                            <p:cond delay="0"/>
                                          </p:stCondLst>
                                        </p:cTn>
                                        <p:tgtEl>
                                          <p:spTgt spid="74"/>
                                        </p:tgtEl>
                                        <p:attrNameLst>
                                          <p:attrName>style.visibility</p:attrName>
                                        </p:attrNameLst>
                                      </p:cBhvr>
                                      <p:to>
                                        <p:strVal val="visible"/>
                                      </p:to>
                                    </p:set>
                                    <p:animEffect transition="in" filter="slide(fromBottom)">
                                      <p:cBhvr>
                                        <p:cTn id="35" dur="400"/>
                                        <p:tgtEl>
                                          <p:spTgt spid="74"/>
                                        </p:tgtEl>
                                      </p:cBhvr>
                                    </p:animEffect>
                                  </p:childTnLst>
                                </p:cTn>
                              </p:par>
                            </p:childTnLst>
                          </p:cTn>
                        </p:par>
                        <p:par>
                          <p:cTn id="36" fill="hold">
                            <p:stCondLst>
                              <p:cond delay="4000"/>
                            </p:stCondLst>
                            <p:childTnLst>
                              <p:par>
                                <p:cTn id="37" presetID="2" presetClass="entr" presetSubtype="4" fill="hold" nodeType="afterEffect">
                                  <p:stCondLst>
                                    <p:cond delay="0"/>
                                  </p:stCondLst>
                                  <p:childTnLst>
                                    <p:set>
                                      <p:cBhvr>
                                        <p:cTn id="38" dur="1" fill="hold">
                                          <p:stCondLst>
                                            <p:cond delay="0"/>
                                          </p:stCondLst>
                                        </p:cTn>
                                        <p:tgtEl>
                                          <p:spTgt spid="87"/>
                                        </p:tgtEl>
                                        <p:attrNameLst>
                                          <p:attrName>style.visibility</p:attrName>
                                        </p:attrNameLst>
                                      </p:cBhvr>
                                      <p:to>
                                        <p:strVal val="visible"/>
                                      </p:to>
                                    </p:set>
                                    <p:animEffect transition="in" filter="slide(fromBottom)">
                                      <p:cBhvr>
                                        <p:cTn id="39" dur="400"/>
                                        <p:tgtEl>
                                          <p:spTgt spid="87"/>
                                        </p:tgtEl>
                                      </p:cBhvr>
                                    </p:animEffect>
                                  </p:childTnLst>
                                </p:cTn>
                              </p:par>
                            </p:childTnLst>
                          </p:cTn>
                        </p:par>
                        <p:par>
                          <p:cTn id="40" fill="hold">
                            <p:stCondLst>
                              <p:cond delay="4500"/>
                            </p:stCondLst>
                            <p:childTnLst>
                              <p:par>
                                <p:cTn id="41" presetID="23" presetClass="entr" presetSubtype="16" fill="hold" nodeType="afterEffect">
                                  <p:stCondLst>
                                    <p:cond delay="0"/>
                                  </p:stCondLst>
                                  <p:childTnLst>
                                    <p:set>
                                      <p:cBhvr>
                                        <p:cTn id="42" dur="1" fill="hold">
                                          <p:stCondLst>
                                            <p:cond delay="0"/>
                                          </p:stCondLst>
                                        </p:cTn>
                                        <p:tgtEl>
                                          <p:spTgt spid="90"/>
                                        </p:tgtEl>
                                        <p:attrNameLst>
                                          <p:attrName>style.visibility</p:attrName>
                                        </p:attrNameLst>
                                      </p:cBhvr>
                                      <p:to>
                                        <p:strVal val="visible"/>
                                      </p:to>
                                    </p:set>
                                    <p:animEffect transition="in" filter="image">
                                      <p:cBhvr>
                                        <p:cTn id="43"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4" grpId="0"/>
      <p:bldP spid="27" grpId="0"/>
      <p:bldP spid="39" grpId="0"/>
      <p:bldP spid="52" grpId="0"/>
      <p:bldP spid="63" grpId="0"/>
      <p:bldP spid="74" grpId="0"/>
      <p:bldP spid="87" grpId="0"/>
      <p:bldP spid="9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32206"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阶段一：需求与设计 — 懒在动工前，避免返工</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9" name="Group 19"/>
          <p:cNvGrpSpPr/>
          <p:nvPr/>
        </p:nvGrpSpPr>
        <p:grpSpPr>
          <a:xfrm>
            <a:off x="571500" y="781050"/>
            <a:ext cx="6004512" cy="1354931"/>
            <a:chOff x="571500" y="781050"/>
            <a:chExt cx="6004512" cy="1354931"/>
          </a:xfrm>
        </p:grpSpPr>
        <p:sp>
          <p:nvSpPr>
            <p:cNvPr id="10" name="Rectangle 10"/>
            <p:cNvSpPr/>
            <p:nvPr/>
          </p:nvSpPr>
          <p:spPr>
            <a:xfrm>
              <a:off x="571500" y="781050"/>
              <a:ext cx="5334000" cy="1333500"/>
            </a:xfrm>
            <a:prstGeom prst="roundRect">
              <a:avLst>
                <a:gd name="adj" fmla="val 7143"/>
              </a:avLst>
            </a:prstGeom>
            <a:solidFill>
              <a:srgbClr val="FFFFFF"/>
            </a:solidFill>
            <a:ln>
              <a:noFill/>
            </a:ln>
          </p:spPr>
        </p:sp>
        <p:sp>
          <p:nvSpPr>
            <p:cNvPr id="11" name="Rectangle 11"/>
            <p:cNvSpPr/>
            <p:nvPr/>
          </p:nvSpPr>
          <p:spPr>
            <a:xfrm>
              <a:off x="571500" y="781050"/>
              <a:ext cx="5334000" cy="38100"/>
            </a:xfrm>
            <a:prstGeom prst="roundRect">
              <a:avLst>
                <a:gd name="adj" fmla="val 50000"/>
              </a:avLst>
            </a:prstGeom>
            <a:solidFill>
              <a:srgbClr val="1565C0"/>
            </a:solidFill>
            <a:ln>
              <a:noFill/>
            </a:ln>
          </p:spPr>
        </p:sp>
        <p:grpSp>
          <p:nvGrpSpPr>
            <p:cNvPr id="14" name="Group 14"/>
            <p:cNvGrpSpPr/>
            <p:nvPr/>
          </p:nvGrpSpPr>
          <p:grpSpPr>
            <a:xfrm>
              <a:off x="876644" y="1034101"/>
              <a:ext cx="170578" cy="217246"/>
              <a:chOff x="876644" y="1034101"/>
              <a:chExt cx="170578" cy="217246"/>
            </a:xfrm>
          </p:grpSpPr>
          <p:sp>
            <p:nvSpPr>
              <p:cNvPr id="12" name="Freeform 12"/>
              <p:cNvSpPr/>
              <p:nvPr/>
            </p:nvSpPr>
            <p:spPr>
              <a:xfrm>
                <a:off x="884402" y="1041889"/>
                <a:ext cx="155034" cy="170762"/>
              </a:xfrm>
              <a:custGeom>
                <a:avLst/>
                <a:gdLst/>
                <a:ahLst/>
                <a:cxnLst/>
                <a:rect l="l" t="t" r="r" b="b"/>
                <a:pathLst>
                  <a:path w="155034" h="170762">
                    <a:moveTo>
                      <a:pt x="155013" y="77894"/>
                    </a:moveTo>
                    <a:cubicBezTo>
                      <a:pt x="155034" y="101654"/>
                      <a:pt x="144121" y="124102"/>
                      <a:pt x="125421" y="138761"/>
                    </a:cubicBezTo>
                    <a:cubicBezTo>
                      <a:pt x="119711" y="143187"/>
                      <a:pt x="116353" y="149994"/>
                      <a:pt x="116318" y="157219"/>
                    </a:cubicBezTo>
                    <a:lnTo>
                      <a:pt x="116318" y="163023"/>
                    </a:lnTo>
                    <a:cubicBezTo>
                      <a:pt x="116318" y="167298"/>
                      <a:pt x="112853" y="170762"/>
                      <a:pt x="108579" y="170762"/>
                    </a:cubicBezTo>
                    <a:lnTo>
                      <a:pt x="46667" y="170762"/>
                    </a:lnTo>
                    <a:cubicBezTo>
                      <a:pt x="42392" y="170762"/>
                      <a:pt x="38927" y="167298"/>
                      <a:pt x="38927" y="163023"/>
                    </a:cubicBezTo>
                    <a:lnTo>
                      <a:pt x="38927" y="157219"/>
                    </a:lnTo>
                    <a:cubicBezTo>
                      <a:pt x="38920" y="150034"/>
                      <a:pt x="35601" y="143253"/>
                      <a:pt x="29931" y="138839"/>
                    </a:cubicBezTo>
                    <a:cubicBezTo>
                      <a:pt x="11291" y="124278"/>
                      <a:pt x="348" y="101981"/>
                      <a:pt x="232" y="78329"/>
                    </a:cubicBezTo>
                    <a:cubicBezTo>
                      <a:pt x="0" y="36383"/>
                      <a:pt x="33820" y="1470"/>
                      <a:pt x="75756" y="503"/>
                    </a:cubicBezTo>
                    <a:cubicBezTo>
                      <a:pt x="96603" y="0"/>
                      <a:pt x="116770" y="7931"/>
                      <a:pt x="131690" y="22499"/>
                    </a:cubicBezTo>
                    <a:cubicBezTo>
                      <a:pt x="146610" y="37068"/>
                      <a:pt x="155019" y="57041"/>
                      <a:pt x="155013" y="77894"/>
                    </a:cubicBezTo>
                    <a:close/>
                  </a:path>
                </a:pathLst>
              </a:custGeom>
              <a:solidFill>
                <a:srgbClr val="1565C0">
                  <a:alpha val="20000"/>
                </a:srgbClr>
              </a:solidFill>
              <a:ln>
                <a:noFill/>
              </a:ln>
            </p:spPr>
          </p:sp>
          <p:sp>
            <p:nvSpPr>
              <p:cNvPr id="13" name="Freeform 13"/>
              <p:cNvSpPr/>
              <p:nvPr/>
            </p:nvSpPr>
            <p:spPr>
              <a:xfrm>
                <a:off x="876644" y="1034101"/>
                <a:ext cx="170578" cy="217246"/>
              </a:xfrm>
              <a:custGeom>
                <a:avLst/>
                <a:gdLst/>
                <a:ahLst/>
                <a:cxnLst/>
                <a:rect l="l" t="t" r="r" b="b"/>
                <a:pathLst>
                  <a:path w="170578" h="217246">
                    <a:moveTo>
                      <a:pt x="131816" y="209507"/>
                    </a:moveTo>
                    <a:cubicBezTo>
                      <a:pt x="131816" y="213781"/>
                      <a:pt x="128351" y="217246"/>
                      <a:pt x="124077" y="217246"/>
                    </a:cubicBezTo>
                    <a:lnTo>
                      <a:pt x="46686" y="217246"/>
                    </a:lnTo>
                    <a:cubicBezTo>
                      <a:pt x="42412" y="217246"/>
                      <a:pt x="38947" y="213781"/>
                      <a:pt x="38947" y="209507"/>
                    </a:cubicBezTo>
                    <a:cubicBezTo>
                      <a:pt x="38947" y="205233"/>
                      <a:pt x="42412" y="201768"/>
                      <a:pt x="46686" y="201768"/>
                    </a:cubicBezTo>
                    <a:lnTo>
                      <a:pt x="124077" y="201768"/>
                    </a:lnTo>
                    <a:cubicBezTo>
                      <a:pt x="128351" y="201768"/>
                      <a:pt x="131816" y="205233"/>
                      <a:pt x="131816" y="209507"/>
                    </a:cubicBezTo>
                    <a:close/>
                    <a:moveTo>
                      <a:pt x="170511" y="85682"/>
                    </a:moveTo>
                    <a:cubicBezTo>
                      <a:pt x="170578" y="111826"/>
                      <a:pt x="158568" y="136536"/>
                      <a:pt x="137968" y="152635"/>
                    </a:cubicBezTo>
                    <a:cubicBezTo>
                      <a:pt x="134116" y="155587"/>
                      <a:pt x="131845" y="160154"/>
                      <a:pt x="131816" y="165008"/>
                    </a:cubicBezTo>
                    <a:lnTo>
                      <a:pt x="131816" y="170812"/>
                    </a:lnTo>
                    <a:cubicBezTo>
                      <a:pt x="131816" y="179360"/>
                      <a:pt x="124886" y="186290"/>
                      <a:pt x="116337" y="186290"/>
                    </a:cubicBezTo>
                    <a:lnTo>
                      <a:pt x="54425" y="186290"/>
                    </a:lnTo>
                    <a:cubicBezTo>
                      <a:pt x="45877" y="186290"/>
                      <a:pt x="38947" y="179360"/>
                      <a:pt x="38947" y="170812"/>
                    </a:cubicBezTo>
                    <a:lnTo>
                      <a:pt x="38947" y="165008"/>
                    </a:lnTo>
                    <a:cubicBezTo>
                      <a:pt x="38944" y="160212"/>
                      <a:pt x="36718" y="155689"/>
                      <a:pt x="32920" y="152761"/>
                    </a:cubicBezTo>
                    <a:cubicBezTo>
                      <a:pt x="12374" y="136759"/>
                      <a:pt x="327" y="112198"/>
                      <a:pt x="252" y="86156"/>
                    </a:cubicBezTo>
                    <a:cubicBezTo>
                      <a:pt x="0" y="40051"/>
                      <a:pt x="37264" y="1655"/>
                      <a:pt x="83330" y="553"/>
                    </a:cubicBezTo>
                    <a:cubicBezTo>
                      <a:pt x="106261" y="0"/>
                      <a:pt x="128445" y="8724"/>
                      <a:pt x="144856" y="24750"/>
                    </a:cubicBezTo>
                    <a:cubicBezTo>
                      <a:pt x="161268" y="40775"/>
                      <a:pt x="170518" y="62745"/>
                      <a:pt x="170511" y="85682"/>
                    </a:cubicBezTo>
                    <a:close/>
                    <a:moveTo>
                      <a:pt x="155033" y="85682"/>
                    </a:moveTo>
                    <a:cubicBezTo>
                      <a:pt x="155038" y="66914"/>
                      <a:pt x="147469" y="48938"/>
                      <a:pt x="134041" y="35826"/>
                    </a:cubicBezTo>
                    <a:cubicBezTo>
                      <a:pt x="120612" y="22715"/>
                      <a:pt x="102461" y="15577"/>
                      <a:pt x="83698" y="16031"/>
                    </a:cubicBezTo>
                    <a:cubicBezTo>
                      <a:pt x="45970" y="16921"/>
                      <a:pt x="15526" y="48332"/>
                      <a:pt x="15730" y="86060"/>
                    </a:cubicBezTo>
                    <a:cubicBezTo>
                      <a:pt x="15801" y="107358"/>
                      <a:pt x="25661" y="127441"/>
                      <a:pt x="42468" y="140523"/>
                    </a:cubicBezTo>
                    <a:cubicBezTo>
                      <a:pt x="50024" y="146397"/>
                      <a:pt x="54439" y="155437"/>
                      <a:pt x="54425" y="165008"/>
                    </a:cubicBezTo>
                    <a:lnTo>
                      <a:pt x="54425" y="170812"/>
                    </a:lnTo>
                    <a:lnTo>
                      <a:pt x="116337" y="170812"/>
                    </a:lnTo>
                    <a:lnTo>
                      <a:pt x="116337" y="165008"/>
                    </a:lnTo>
                    <a:cubicBezTo>
                      <a:pt x="116359" y="155410"/>
                      <a:pt x="120811" y="146360"/>
                      <a:pt x="128401" y="140485"/>
                    </a:cubicBezTo>
                    <a:cubicBezTo>
                      <a:pt x="145262" y="127308"/>
                      <a:pt x="155091" y="107081"/>
                      <a:pt x="155033" y="85682"/>
                    </a:cubicBezTo>
                    <a:close/>
                    <a:moveTo>
                      <a:pt x="139448" y="76647"/>
                    </a:moveTo>
                    <a:cubicBezTo>
                      <a:pt x="135338" y="53689"/>
                      <a:pt x="117365" y="35720"/>
                      <a:pt x="94407" y="31615"/>
                    </a:cubicBezTo>
                    <a:cubicBezTo>
                      <a:pt x="90191" y="30905"/>
                      <a:pt x="86198" y="33746"/>
                      <a:pt x="85488" y="37961"/>
                    </a:cubicBezTo>
                    <a:cubicBezTo>
                      <a:pt x="84777" y="42177"/>
                      <a:pt x="87618" y="46170"/>
                      <a:pt x="91834" y="46881"/>
                    </a:cubicBezTo>
                    <a:cubicBezTo>
                      <a:pt x="107863" y="49580"/>
                      <a:pt x="121465" y="63181"/>
                      <a:pt x="124183" y="79240"/>
                    </a:cubicBezTo>
                    <a:cubicBezTo>
                      <a:pt x="124815" y="82961"/>
                      <a:pt x="128041" y="85684"/>
                      <a:pt x="131816" y="85682"/>
                    </a:cubicBezTo>
                    <a:cubicBezTo>
                      <a:pt x="132253" y="85680"/>
                      <a:pt x="132690" y="85644"/>
                      <a:pt x="133122" y="85576"/>
                    </a:cubicBezTo>
                    <a:cubicBezTo>
                      <a:pt x="137334" y="84857"/>
                      <a:pt x="140166" y="80860"/>
                      <a:pt x="139448" y="76647"/>
                    </a:cubicBezTo>
                    <a:close/>
                  </a:path>
                </a:pathLst>
              </a:custGeom>
              <a:solidFill>
                <a:srgbClr val="1565C0"/>
              </a:solidFill>
              <a:ln>
                <a:noFill/>
              </a:ln>
            </p:spPr>
          </p:sp>
        </p:grpSp>
        <p:sp>
          <p:nvSpPr>
            <p:cNvPr id="15" name="TextBox 15"/>
            <p:cNvSpPr txBox="1"/>
            <p:nvPr/>
          </p:nvSpPr>
          <p:spPr>
            <a:xfrm>
              <a:off x="1197292" y="1013936"/>
              <a:ext cx="379960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 思路先行 — 先出方案，再写代码</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293971"/>
              <a:ext cx="575591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花5分钟确认方案，能省2小时返工。方案错了，写再多代码都白搭。</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41621"/>
              <a:ext cx="370365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反面："帮我写个订单系统"→花一下午改bug</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46421"/>
              <a:ext cx="337111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正面：先确认积分规则→一次生成就可用</a:t>
              </a:r>
              <a:endParaRPr lang="zh-CN" sz="1425" dirty="0">
                <a:solidFill>
                  <a:srgbClr val="FF6F00"/>
                </a:solidFill>
                <a:latin typeface="Segoe UI" panose="020B0502040204020203"/>
                <a:ea typeface="微软雅黑"/>
                <a:cs typeface="Segoe UI" panose="020B0502040204020203"/>
              </a:endParaRPr>
            </a:p>
          </p:txBody>
        </p:sp>
      </p:grpSp>
      <p:grpSp>
        <p:nvGrpSpPr>
          <p:cNvPr id="29" name="Group 29"/>
          <p:cNvGrpSpPr/>
          <p:nvPr/>
        </p:nvGrpSpPr>
        <p:grpSpPr>
          <a:xfrm>
            <a:off x="6286500" y="781050"/>
            <a:ext cx="5334000" cy="1354931"/>
            <a:chOff x="6286500" y="781050"/>
            <a:chExt cx="5334000" cy="1354931"/>
          </a:xfrm>
        </p:grpSpPr>
        <p:sp>
          <p:nvSpPr>
            <p:cNvPr id="20" name="Rectangle 20"/>
            <p:cNvSpPr/>
            <p:nvPr/>
          </p:nvSpPr>
          <p:spPr>
            <a:xfrm>
              <a:off x="6286500" y="781050"/>
              <a:ext cx="5334000" cy="1333500"/>
            </a:xfrm>
            <a:prstGeom prst="roundRect">
              <a:avLst>
                <a:gd name="adj" fmla="val 7143"/>
              </a:avLst>
            </a:prstGeom>
            <a:solidFill>
              <a:srgbClr val="FFFFFF"/>
            </a:solidFill>
            <a:ln>
              <a:noFill/>
            </a:ln>
          </p:spPr>
        </p:sp>
        <p:sp>
          <p:nvSpPr>
            <p:cNvPr id="21" name="Rectangle 21"/>
            <p:cNvSpPr/>
            <p:nvPr/>
          </p:nvSpPr>
          <p:spPr>
            <a:xfrm>
              <a:off x="6286500" y="781050"/>
              <a:ext cx="5334000" cy="38100"/>
            </a:xfrm>
            <a:prstGeom prst="roundRect">
              <a:avLst>
                <a:gd name="adj" fmla="val 50000"/>
              </a:avLst>
            </a:prstGeom>
            <a:solidFill>
              <a:srgbClr val="00838F"/>
            </a:solidFill>
            <a:ln>
              <a:noFill/>
            </a:ln>
          </p:spPr>
        </p:sp>
        <p:grpSp>
          <p:nvGrpSpPr>
            <p:cNvPr id="24" name="Group 24"/>
            <p:cNvGrpSpPr/>
            <p:nvPr/>
          </p:nvGrpSpPr>
          <p:grpSpPr>
            <a:xfrm>
              <a:off x="6567614" y="1033552"/>
              <a:ext cx="210779" cy="210816"/>
              <a:chOff x="6567614" y="1033552"/>
              <a:chExt cx="210779" cy="210816"/>
            </a:xfrm>
          </p:grpSpPr>
          <p:sp>
            <p:nvSpPr>
              <p:cNvPr id="22" name="Freeform 22"/>
              <p:cNvSpPr/>
              <p:nvPr/>
            </p:nvSpPr>
            <p:spPr>
              <a:xfrm>
                <a:off x="6584156" y="1050131"/>
                <a:ext cx="154781" cy="154781"/>
              </a:xfrm>
              <a:custGeom>
                <a:avLst/>
                <a:gdLst/>
                <a:ahLst/>
                <a:cxnLst/>
                <a:rect l="l" t="t" r="r" b="b"/>
                <a:pathLst>
                  <a:path w="154781" h="154781">
                    <a:moveTo>
                      <a:pt x="154781" y="77391"/>
                    </a:moveTo>
                    <a:cubicBezTo>
                      <a:pt x="154781" y="120132"/>
                      <a:pt x="120132" y="154781"/>
                      <a:pt x="77391" y="154781"/>
                    </a:cubicBezTo>
                    <a:cubicBezTo>
                      <a:pt x="34649" y="154781"/>
                      <a:pt x="0" y="120132"/>
                      <a:pt x="0" y="77391"/>
                    </a:cubicBezTo>
                    <a:cubicBezTo>
                      <a:pt x="0" y="34649"/>
                      <a:pt x="34649" y="0"/>
                      <a:pt x="77391" y="0"/>
                    </a:cubicBezTo>
                    <a:cubicBezTo>
                      <a:pt x="120132" y="0"/>
                      <a:pt x="154781" y="34649"/>
                      <a:pt x="154781" y="77391"/>
                    </a:cubicBezTo>
                    <a:close/>
                  </a:path>
                </a:pathLst>
              </a:custGeom>
              <a:solidFill>
                <a:srgbClr val="00838F">
                  <a:alpha val="20000"/>
                </a:srgbClr>
              </a:solidFill>
              <a:ln>
                <a:noFill/>
              </a:ln>
            </p:spPr>
          </p:sp>
          <p:sp>
            <p:nvSpPr>
              <p:cNvPr id="23" name="Freeform 23"/>
              <p:cNvSpPr/>
              <p:nvPr/>
            </p:nvSpPr>
            <p:spPr>
              <a:xfrm>
                <a:off x="6567614" y="1033552"/>
                <a:ext cx="210779" cy="210816"/>
              </a:xfrm>
              <a:custGeom>
                <a:avLst/>
                <a:gdLst/>
                <a:ahLst/>
                <a:cxnLst/>
                <a:rect l="l" t="t" r="r" b="b"/>
                <a:pathLst>
                  <a:path w="210779" h="210816">
                    <a:moveTo>
                      <a:pt x="207755" y="196841"/>
                    </a:moveTo>
                    <a:lnTo>
                      <a:pt x="159328" y="148414"/>
                    </a:lnTo>
                    <a:cubicBezTo>
                      <a:pt x="188544" y="113375"/>
                      <a:pt x="185031" y="61553"/>
                      <a:pt x="151354" y="30776"/>
                    </a:cubicBezTo>
                    <a:cubicBezTo>
                      <a:pt x="117677" y="0"/>
                      <a:pt x="65750" y="1156"/>
                      <a:pt x="33476" y="33401"/>
                    </a:cubicBezTo>
                    <a:cubicBezTo>
                      <a:pt x="1202" y="65647"/>
                      <a:pt x="0" y="117573"/>
                      <a:pt x="30747" y="151278"/>
                    </a:cubicBezTo>
                    <a:cubicBezTo>
                      <a:pt x="61493" y="184982"/>
                      <a:pt x="113312" y="188540"/>
                      <a:pt x="148377" y="159355"/>
                    </a:cubicBezTo>
                    <a:lnTo>
                      <a:pt x="196805" y="207792"/>
                    </a:lnTo>
                    <a:cubicBezTo>
                      <a:pt x="199829" y="210816"/>
                      <a:pt x="204731" y="210816"/>
                      <a:pt x="207755" y="207792"/>
                    </a:cubicBezTo>
                    <a:cubicBezTo>
                      <a:pt x="210779" y="204768"/>
                      <a:pt x="210779" y="199865"/>
                      <a:pt x="207755" y="196841"/>
                    </a:cubicBezTo>
                    <a:close/>
                    <a:moveTo>
                      <a:pt x="24282" y="93970"/>
                    </a:moveTo>
                    <a:cubicBezTo>
                      <a:pt x="24282" y="55502"/>
                      <a:pt x="55466" y="24318"/>
                      <a:pt x="93933" y="24318"/>
                    </a:cubicBezTo>
                    <a:cubicBezTo>
                      <a:pt x="132401" y="24318"/>
                      <a:pt x="163585" y="55502"/>
                      <a:pt x="163585" y="93970"/>
                    </a:cubicBezTo>
                    <a:cubicBezTo>
                      <a:pt x="163585" y="132437"/>
                      <a:pt x="132401" y="163622"/>
                      <a:pt x="93933" y="163622"/>
                    </a:cubicBezTo>
                    <a:cubicBezTo>
                      <a:pt x="55483" y="163579"/>
                      <a:pt x="24324" y="132420"/>
                      <a:pt x="24282" y="93970"/>
                    </a:cubicBezTo>
                    <a:close/>
                  </a:path>
                </a:pathLst>
              </a:custGeom>
              <a:solidFill>
                <a:srgbClr val="00838F"/>
              </a:solidFill>
              <a:ln>
                <a:noFill/>
              </a:ln>
            </p:spPr>
          </p:sp>
        </p:grpSp>
        <p:sp>
          <p:nvSpPr>
            <p:cNvPr id="25" name="TextBox 25"/>
            <p:cNvSpPr txBox="1"/>
            <p:nvPr/>
          </p:nvSpPr>
          <p:spPr>
            <a:xfrm>
              <a:off x="6912292" y="1013936"/>
              <a:ext cx="307501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2. 逆向评审 — 先挑刺再动手</a:t>
              </a:r>
              <a:endParaRPr lang="zh-CN" sz="1725" b="1"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6535102" y="1293971"/>
              <a:ext cx="47582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让AI找出方案里的坑（事务保护、并发控制、异常处理）</a:t>
              </a:r>
              <a:endParaRPr lang="zh-CN" sz="1425"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6535102" y="1541621"/>
              <a:ext cx="39601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反面：转账无事务保护→A扣钱B没收，半夜对账</a:t>
              </a:r>
              <a:endParaRPr lang="zh-CN" sz="1425"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6535102" y="1846421"/>
              <a:ext cx="3656147"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正面：AI指出4个坑→按建议完善→上线0故障</a:t>
              </a:r>
              <a:endParaRPr lang="zh-CN" sz="1425" dirty="0">
                <a:solidFill>
                  <a:srgbClr val="FF6F00"/>
                </a:solidFill>
                <a:latin typeface="Segoe UI" panose="020B0502040204020203"/>
                <a:ea typeface="微软雅黑"/>
                <a:cs typeface="Segoe UI" panose="020B0502040204020203"/>
              </a:endParaRPr>
            </a:p>
          </p:txBody>
        </p:sp>
      </p:grpSp>
      <p:grpSp>
        <p:nvGrpSpPr>
          <p:cNvPr id="39" name="Group 39"/>
          <p:cNvGrpSpPr/>
          <p:nvPr/>
        </p:nvGrpSpPr>
        <p:grpSpPr>
          <a:xfrm>
            <a:off x="571500" y="2305050"/>
            <a:ext cx="5334000" cy="1354931"/>
            <a:chOff x="571500" y="2305050"/>
            <a:chExt cx="5334000" cy="1354931"/>
          </a:xfrm>
        </p:grpSpPr>
        <p:sp>
          <p:nvSpPr>
            <p:cNvPr id="30" name="Rectangle 30"/>
            <p:cNvSpPr/>
            <p:nvPr/>
          </p:nvSpPr>
          <p:spPr>
            <a:xfrm>
              <a:off x="571500" y="2305050"/>
              <a:ext cx="5334000" cy="1333500"/>
            </a:xfrm>
            <a:prstGeom prst="roundRect">
              <a:avLst>
                <a:gd name="adj" fmla="val 7143"/>
              </a:avLst>
            </a:prstGeom>
            <a:solidFill>
              <a:srgbClr val="FFFFFF"/>
            </a:solidFill>
            <a:ln>
              <a:noFill/>
            </a:ln>
          </p:spPr>
        </p:sp>
        <p:sp>
          <p:nvSpPr>
            <p:cNvPr id="31" name="Rectangle 31"/>
            <p:cNvSpPr/>
            <p:nvPr/>
          </p:nvSpPr>
          <p:spPr>
            <a:xfrm>
              <a:off x="571500" y="2305050"/>
              <a:ext cx="5334000" cy="38100"/>
            </a:xfrm>
            <a:prstGeom prst="roundRect">
              <a:avLst>
                <a:gd name="adj" fmla="val 50000"/>
              </a:avLst>
            </a:prstGeom>
            <a:solidFill>
              <a:srgbClr val="FF6F00"/>
            </a:solidFill>
            <a:ln>
              <a:noFill/>
            </a:ln>
          </p:spPr>
        </p:sp>
        <p:grpSp>
          <p:nvGrpSpPr>
            <p:cNvPr id="34" name="Group 34"/>
            <p:cNvGrpSpPr/>
            <p:nvPr/>
          </p:nvGrpSpPr>
          <p:grpSpPr>
            <a:xfrm>
              <a:off x="860396" y="2558303"/>
              <a:ext cx="203310" cy="217395"/>
              <a:chOff x="860396" y="2558303"/>
              <a:chExt cx="203310" cy="217395"/>
            </a:xfrm>
          </p:grpSpPr>
          <p:sp>
            <p:nvSpPr>
              <p:cNvPr id="32" name="Freeform 32"/>
              <p:cNvSpPr/>
              <p:nvPr/>
            </p:nvSpPr>
            <p:spPr>
              <a:xfrm>
                <a:off x="869156" y="2566392"/>
                <a:ext cx="185738" cy="108347"/>
              </a:xfrm>
              <a:custGeom>
                <a:avLst/>
                <a:gdLst/>
                <a:ahLst/>
                <a:cxnLst/>
                <a:rect l="l" t="t" r="r" b="b"/>
                <a:pathLst>
                  <a:path w="185738" h="108347">
                    <a:moveTo>
                      <a:pt x="185738" y="54173"/>
                    </a:moveTo>
                    <a:lnTo>
                      <a:pt x="92869" y="108347"/>
                    </a:lnTo>
                    <a:lnTo>
                      <a:pt x="0" y="54173"/>
                    </a:lnTo>
                    <a:lnTo>
                      <a:pt x="92869" y="0"/>
                    </a:lnTo>
                    <a:close/>
                  </a:path>
                </a:pathLst>
              </a:custGeom>
              <a:solidFill>
                <a:srgbClr val="FF6F00">
                  <a:alpha val="20000"/>
                </a:srgbClr>
              </a:solidFill>
              <a:ln>
                <a:noFill/>
              </a:ln>
            </p:spPr>
          </p:sp>
          <p:sp>
            <p:nvSpPr>
              <p:cNvPr id="33" name="Freeform 33"/>
              <p:cNvSpPr/>
              <p:nvPr/>
            </p:nvSpPr>
            <p:spPr>
              <a:xfrm>
                <a:off x="860396" y="2558303"/>
                <a:ext cx="203310" cy="217395"/>
              </a:xfrm>
              <a:custGeom>
                <a:avLst/>
                <a:gdLst/>
                <a:ahLst/>
                <a:cxnLst/>
                <a:rect l="l" t="t" r="r" b="b"/>
                <a:pathLst>
                  <a:path w="203310" h="217395">
                    <a:moveTo>
                      <a:pt x="201182" y="151262"/>
                    </a:moveTo>
                    <a:cubicBezTo>
                      <a:pt x="203310" y="154955"/>
                      <a:pt x="202052" y="159674"/>
                      <a:pt x="198367" y="161816"/>
                    </a:cubicBezTo>
                    <a:lnTo>
                      <a:pt x="105498" y="215990"/>
                    </a:lnTo>
                    <a:cubicBezTo>
                      <a:pt x="103089" y="217395"/>
                      <a:pt x="100110" y="217395"/>
                      <a:pt x="97701" y="215990"/>
                    </a:cubicBezTo>
                    <a:lnTo>
                      <a:pt x="4832" y="161816"/>
                    </a:lnTo>
                    <a:cubicBezTo>
                      <a:pt x="1203" y="159635"/>
                      <a:pt x="0" y="154942"/>
                      <a:pt x="2133" y="151284"/>
                    </a:cubicBezTo>
                    <a:cubicBezTo>
                      <a:pt x="4267" y="147626"/>
                      <a:pt x="8944" y="146362"/>
                      <a:pt x="12629" y="148447"/>
                    </a:cubicBezTo>
                    <a:lnTo>
                      <a:pt x="101629" y="200347"/>
                    </a:lnTo>
                    <a:lnTo>
                      <a:pt x="190628" y="148447"/>
                    </a:lnTo>
                    <a:cubicBezTo>
                      <a:pt x="194321" y="146319"/>
                      <a:pt x="199039" y="147578"/>
                      <a:pt x="201182" y="151262"/>
                    </a:cubicBezTo>
                    <a:close/>
                    <a:moveTo>
                      <a:pt x="190628" y="102013"/>
                    </a:moveTo>
                    <a:lnTo>
                      <a:pt x="101629" y="153913"/>
                    </a:lnTo>
                    <a:lnTo>
                      <a:pt x="12629" y="102013"/>
                    </a:lnTo>
                    <a:cubicBezTo>
                      <a:pt x="8972" y="100192"/>
                      <a:pt x="4529" y="101527"/>
                      <a:pt x="2482" y="105063"/>
                    </a:cubicBezTo>
                    <a:cubicBezTo>
                      <a:pt x="435" y="108599"/>
                      <a:pt x="1490" y="113117"/>
                      <a:pt x="4890" y="115382"/>
                    </a:cubicBezTo>
                    <a:lnTo>
                      <a:pt x="97759" y="169555"/>
                    </a:lnTo>
                    <a:cubicBezTo>
                      <a:pt x="100168" y="170960"/>
                      <a:pt x="103147" y="170960"/>
                      <a:pt x="105556" y="169555"/>
                    </a:cubicBezTo>
                    <a:lnTo>
                      <a:pt x="198425" y="115382"/>
                    </a:lnTo>
                    <a:cubicBezTo>
                      <a:pt x="200852" y="114009"/>
                      <a:pt x="202353" y="111435"/>
                      <a:pt x="202353" y="108646"/>
                    </a:cubicBezTo>
                    <a:cubicBezTo>
                      <a:pt x="202353" y="105857"/>
                      <a:pt x="200852" y="103284"/>
                      <a:pt x="198425" y="101910"/>
                    </a:cubicBezTo>
                    <a:cubicBezTo>
                      <a:pt x="195997" y="100537"/>
                      <a:pt x="193019" y="100576"/>
                      <a:pt x="190628" y="102013"/>
                    </a:cubicBezTo>
                    <a:close/>
                    <a:moveTo>
                      <a:pt x="1021" y="62263"/>
                    </a:moveTo>
                    <a:cubicBezTo>
                      <a:pt x="1027" y="59504"/>
                      <a:pt x="2501" y="56958"/>
                      <a:pt x="4890" y="55578"/>
                    </a:cubicBezTo>
                    <a:lnTo>
                      <a:pt x="97759" y="1405"/>
                    </a:lnTo>
                    <a:cubicBezTo>
                      <a:pt x="100168" y="0"/>
                      <a:pt x="103147" y="0"/>
                      <a:pt x="105556" y="1405"/>
                    </a:cubicBezTo>
                    <a:lnTo>
                      <a:pt x="198425" y="55578"/>
                    </a:lnTo>
                    <a:cubicBezTo>
                      <a:pt x="200802" y="56965"/>
                      <a:pt x="202264" y="59511"/>
                      <a:pt x="202264" y="62263"/>
                    </a:cubicBezTo>
                    <a:cubicBezTo>
                      <a:pt x="202264" y="65015"/>
                      <a:pt x="200802" y="67561"/>
                      <a:pt x="198425" y="68948"/>
                    </a:cubicBezTo>
                    <a:lnTo>
                      <a:pt x="105556" y="123121"/>
                    </a:lnTo>
                    <a:cubicBezTo>
                      <a:pt x="103147" y="124526"/>
                      <a:pt x="100168" y="124526"/>
                      <a:pt x="97759" y="123121"/>
                    </a:cubicBezTo>
                    <a:lnTo>
                      <a:pt x="4890" y="68948"/>
                    </a:lnTo>
                    <a:cubicBezTo>
                      <a:pt x="2501" y="67568"/>
                      <a:pt x="1027" y="65022"/>
                      <a:pt x="1021" y="62263"/>
                    </a:cubicBezTo>
                    <a:close/>
                    <a:moveTo>
                      <a:pt x="24122" y="62263"/>
                    </a:moveTo>
                    <a:lnTo>
                      <a:pt x="101629" y="107478"/>
                    </a:lnTo>
                    <a:lnTo>
                      <a:pt x="179135" y="62263"/>
                    </a:lnTo>
                    <a:lnTo>
                      <a:pt x="101629" y="17047"/>
                    </a:lnTo>
                    <a:close/>
                  </a:path>
                </a:pathLst>
              </a:custGeom>
              <a:solidFill>
                <a:srgbClr val="FF6F00"/>
              </a:solidFill>
              <a:ln>
                <a:noFill/>
              </a:ln>
            </p:spPr>
          </p:sp>
        </p:grpSp>
        <p:sp>
          <p:nvSpPr>
            <p:cNvPr id="35" name="TextBox 35"/>
            <p:cNvSpPr txBox="1"/>
            <p:nvPr/>
          </p:nvSpPr>
          <p:spPr>
            <a:xfrm>
              <a:off x="1197292" y="2537936"/>
              <a:ext cx="283348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3. 方案对比 — 你只负责选</a:t>
              </a:r>
              <a:endParaRPr lang="zh-CN" sz="1725" b="1" dirty="0">
                <a:solidFill>
                  <a:srgbClr val="263238"/>
                </a:solidFill>
                <a:latin typeface="Segoe UI" panose="020B0502040204020203"/>
                <a:ea typeface="微软雅黑"/>
                <a:cs typeface="Segoe UI" panose="020B0502040204020203"/>
              </a:endParaRPr>
            </a:p>
          </p:txBody>
        </p:sp>
        <p:sp>
          <p:nvSpPr>
            <p:cNvPr id="36" name="TextBox 36"/>
            <p:cNvSpPr txBox="1"/>
            <p:nvPr/>
          </p:nvSpPr>
          <p:spPr>
            <a:xfrm>
              <a:off x="820102" y="2817971"/>
              <a:ext cx="467277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让AI给多个方案（优缺点+适用场景），人按场景做选择</a:t>
              </a:r>
              <a:endParaRPr lang="zh-CN" sz="1425"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820102" y="3065621"/>
              <a:ext cx="394118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反面：直接生成令牌桶→小项目不需要那么复杂</a:t>
              </a:r>
              <a:endParaRPr lang="zh-CN" sz="1425"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820102" y="3370421"/>
              <a:ext cx="412170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正面：AI给出3种限流方案→选固定窗口→一次选对</a:t>
              </a:r>
              <a:endParaRPr lang="zh-CN" sz="1425" dirty="0">
                <a:solidFill>
                  <a:srgbClr val="FF6F00"/>
                </a:solidFill>
                <a:latin typeface="Segoe UI" panose="020B0502040204020203"/>
                <a:ea typeface="微软雅黑"/>
                <a:cs typeface="Segoe UI" panose="020B0502040204020203"/>
              </a:endParaRPr>
            </a:p>
          </p:txBody>
        </p:sp>
      </p:grpSp>
      <p:grpSp>
        <p:nvGrpSpPr>
          <p:cNvPr id="49" name="Group 49"/>
          <p:cNvGrpSpPr/>
          <p:nvPr/>
        </p:nvGrpSpPr>
        <p:grpSpPr>
          <a:xfrm>
            <a:off x="6286500" y="2305050"/>
            <a:ext cx="5334000" cy="1354931"/>
            <a:chOff x="6286500" y="2305050"/>
            <a:chExt cx="5334000" cy="1354931"/>
          </a:xfrm>
        </p:grpSpPr>
        <p:sp>
          <p:nvSpPr>
            <p:cNvPr id="40" name="Rectangle 40"/>
            <p:cNvSpPr/>
            <p:nvPr/>
          </p:nvSpPr>
          <p:spPr>
            <a:xfrm>
              <a:off x="6286500" y="2305050"/>
              <a:ext cx="5334000" cy="1333500"/>
            </a:xfrm>
            <a:prstGeom prst="roundRect">
              <a:avLst>
                <a:gd name="adj" fmla="val 7143"/>
              </a:avLst>
            </a:prstGeom>
            <a:solidFill>
              <a:srgbClr val="FFFFFF"/>
            </a:solidFill>
            <a:ln>
              <a:noFill/>
            </a:ln>
          </p:spPr>
        </p:sp>
        <p:sp>
          <p:nvSpPr>
            <p:cNvPr id="41" name="Rectangle 41"/>
            <p:cNvSpPr/>
            <p:nvPr/>
          </p:nvSpPr>
          <p:spPr>
            <a:xfrm>
              <a:off x="6286500" y="2305050"/>
              <a:ext cx="5334000" cy="38100"/>
            </a:xfrm>
            <a:prstGeom prst="roundRect">
              <a:avLst>
                <a:gd name="adj" fmla="val 50000"/>
              </a:avLst>
            </a:prstGeom>
            <a:solidFill>
              <a:srgbClr val="2E7D32"/>
            </a:solidFill>
            <a:ln>
              <a:noFill/>
            </a:ln>
          </p:spPr>
        </p:sp>
        <p:grpSp>
          <p:nvGrpSpPr>
            <p:cNvPr id="44" name="Group 44"/>
            <p:cNvGrpSpPr/>
            <p:nvPr/>
          </p:nvGrpSpPr>
          <p:grpSpPr>
            <a:xfrm>
              <a:off x="6560342" y="2556146"/>
              <a:ext cx="209553" cy="203723"/>
              <a:chOff x="6560342" y="2556146"/>
              <a:chExt cx="209553" cy="203723"/>
            </a:xfrm>
          </p:grpSpPr>
          <p:sp>
            <p:nvSpPr>
              <p:cNvPr id="42" name="Freeform 42"/>
              <p:cNvSpPr/>
              <p:nvPr/>
            </p:nvSpPr>
            <p:spPr>
              <a:xfrm>
                <a:off x="6566745" y="2564448"/>
                <a:ext cx="195409" cy="187681"/>
              </a:xfrm>
              <a:custGeom>
                <a:avLst/>
                <a:gdLst/>
                <a:ahLst/>
                <a:cxnLst/>
                <a:rect l="l" t="t" r="r" b="b"/>
                <a:pathLst>
                  <a:path w="195409" h="187681">
                    <a:moveTo>
                      <a:pt x="183801" y="141247"/>
                    </a:moveTo>
                    <a:cubicBezTo>
                      <a:pt x="187815" y="141251"/>
                      <a:pt x="191781" y="140362"/>
                      <a:pt x="195409" y="138645"/>
                    </a:cubicBezTo>
                    <a:lnTo>
                      <a:pt x="195409" y="179942"/>
                    </a:lnTo>
                    <a:cubicBezTo>
                      <a:pt x="195409" y="184216"/>
                      <a:pt x="191945" y="187681"/>
                      <a:pt x="187670" y="187681"/>
                    </a:cubicBezTo>
                    <a:lnTo>
                      <a:pt x="48367" y="187681"/>
                    </a:lnTo>
                    <a:cubicBezTo>
                      <a:pt x="44093" y="187681"/>
                      <a:pt x="40628" y="184216"/>
                      <a:pt x="40628" y="179942"/>
                    </a:cubicBezTo>
                    <a:lnTo>
                      <a:pt x="40628" y="138645"/>
                    </a:lnTo>
                    <a:cubicBezTo>
                      <a:pt x="29247" y="144030"/>
                      <a:pt x="15656" y="140862"/>
                      <a:pt x="7828" y="131000"/>
                    </a:cubicBezTo>
                    <a:cubicBezTo>
                      <a:pt x="0" y="121138"/>
                      <a:pt x="0" y="107183"/>
                      <a:pt x="7828" y="97321"/>
                    </a:cubicBezTo>
                    <a:cubicBezTo>
                      <a:pt x="15656" y="87459"/>
                      <a:pt x="29247" y="84291"/>
                      <a:pt x="40628" y="89676"/>
                    </a:cubicBezTo>
                    <a:lnTo>
                      <a:pt x="40628" y="48378"/>
                    </a:lnTo>
                    <a:cubicBezTo>
                      <a:pt x="40628" y="44104"/>
                      <a:pt x="44093" y="40639"/>
                      <a:pt x="48367" y="40639"/>
                    </a:cubicBezTo>
                    <a:lnTo>
                      <a:pt x="93534" y="40639"/>
                    </a:lnTo>
                    <a:cubicBezTo>
                      <a:pt x="88143" y="29258"/>
                      <a:pt x="91308" y="15662"/>
                      <a:pt x="101171" y="7831"/>
                    </a:cubicBezTo>
                    <a:cubicBezTo>
                      <a:pt x="111034" y="0"/>
                      <a:pt x="124994" y="0"/>
                      <a:pt x="134857" y="7831"/>
                    </a:cubicBezTo>
                    <a:cubicBezTo>
                      <a:pt x="144720" y="15662"/>
                      <a:pt x="147885" y="29258"/>
                      <a:pt x="142494" y="40639"/>
                    </a:cubicBezTo>
                    <a:lnTo>
                      <a:pt x="187670" y="40639"/>
                    </a:lnTo>
                    <a:cubicBezTo>
                      <a:pt x="191945" y="40639"/>
                      <a:pt x="195409" y="44104"/>
                      <a:pt x="195409" y="48378"/>
                    </a:cubicBezTo>
                    <a:lnTo>
                      <a:pt x="195409" y="89676"/>
                    </a:lnTo>
                    <a:cubicBezTo>
                      <a:pt x="185363" y="84922"/>
                      <a:pt x="173432" y="86789"/>
                      <a:pt x="165316" y="94383"/>
                    </a:cubicBezTo>
                    <a:cubicBezTo>
                      <a:pt x="157201" y="101978"/>
                      <a:pt x="154549" y="113760"/>
                      <a:pt x="158627" y="124099"/>
                    </a:cubicBezTo>
                    <a:cubicBezTo>
                      <a:pt x="162706" y="134438"/>
                      <a:pt x="172686" y="141237"/>
                      <a:pt x="183801" y="141247"/>
                    </a:cubicBezTo>
                    <a:close/>
                  </a:path>
                </a:pathLst>
              </a:custGeom>
              <a:solidFill>
                <a:srgbClr val="2E7D32">
                  <a:alpha val="20000"/>
                </a:srgbClr>
              </a:solidFill>
              <a:ln>
                <a:noFill/>
              </a:ln>
            </p:spPr>
          </p:sp>
          <p:sp>
            <p:nvSpPr>
              <p:cNvPr id="43" name="Freeform 43"/>
              <p:cNvSpPr/>
              <p:nvPr/>
            </p:nvSpPr>
            <p:spPr>
              <a:xfrm>
                <a:off x="6560342" y="2556146"/>
                <a:ext cx="209553" cy="203723"/>
              </a:xfrm>
              <a:custGeom>
                <a:avLst/>
                <a:gdLst/>
                <a:ahLst/>
                <a:cxnLst/>
                <a:rect l="l" t="t" r="r" b="b"/>
                <a:pathLst>
                  <a:path w="209553" h="203723">
                    <a:moveTo>
                      <a:pt x="205943" y="140398"/>
                    </a:moveTo>
                    <a:cubicBezTo>
                      <a:pt x="203700" y="138983"/>
                      <a:pt x="200890" y="138815"/>
                      <a:pt x="198494" y="139953"/>
                    </a:cubicBezTo>
                    <a:cubicBezTo>
                      <a:pt x="190365" y="143798"/>
                      <a:pt x="180658" y="141534"/>
                      <a:pt x="175068" y="134490"/>
                    </a:cubicBezTo>
                    <a:cubicBezTo>
                      <a:pt x="169477" y="127446"/>
                      <a:pt x="169477" y="117479"/>
                      <a:pt x="175068" y="110435"/>
                    </a:cubicBezTo>
                    <a:cubicBezTo>
                      <a:pt x="180658" y="103391"/>
                      <a:pt x="190365" y="101128"/>
                      <a:pt x="198494" y="104972"/>
                    </a:cubicBezTo>
                    <a:cubicBezTo>
                      <a:pt x="200892" y="106110"/>
                      <a:pt x="203706" y="105940"/>
                      <a:pt x="205950" y="104521"/>
                    </a:cubicBezTo>
                    <a:cubicBezTo>
                      <a:pt x="208193" y="103102"/>
                      <a:pt x="209552" y="100633"/>
                      <a:pt x="209552" y="97978"/>
                    </a:cubicBezTo>
                    <a:lnTo>
                      <a:pt x="209552" y="56681"/>
                    </a:lnTo>
                    <a:cubicBezTo>
                      <a:pt x="209552" y="48132"/>
                      <a:pt x="202622" y="41202"/>
                      <a:pt x="194073" y="41202"/>
                    </a:cubicBezTo>
                    <a:lnTo>
                      <a:pt x="159035" y="41202"/>
                    </a:lnTo>
                    <a:cubicBezTo>
                      <a:pt x="159179" y="39918"/>
                      <a:pt x="159250" y="38626"/>
                      <a:pt x="159248" y="37333"/>
                    </a:cubicBezTo>
                    <a:cubicBezTo>
                      <a:pt x="159231" y="27718"/>
                      <a:pt x="155257" y="18533"/>
                      <a:pt x="148258" y="11939"/>
                    </a:cubicBezTo>
                    <a:cubicBezTo>
                      <a:pt x="138469" y="2746"/>
                      <a:pt x="124266" y="0"/>
                      <a:pt x="111756" y="4882"/>
                    </a:cubicBezTo>
                    <a:cubicBezTo>
                      <a:pt x="99246" y="9764"/>
                      <a:pt x="90657" y="21405"/>
                      <a:pt x="89683" y="34798"/>
                    </a:cubicBezTo>
                    <a:cubicBezTo>
                      <a:pt x="89535" y="36933"/>
                      <a:pt x="89580" y="39076"/>
                      <a:pt x="89819" y="41202"/>
                    </a:cubicBezTo>
                    <a:lnTo>
                      <a:pt x="54770" y="41202"/>
                    </a:lnTo>
                    <a:cubicBezTo>
                      <a:pt x="50665" y="41202"/>
                      <a:pt x="46728" y="42833"/>
                      <a:pt x="43826" y="45736"/>
                    </a:cubicBezTo>
                    <a:cubicBezTo>
                      <a:pt x="40923" y="48639"/>
                      <a:pt x="39292" y="52576"/>
                      <a:pt x="39292" y="56681"/>
                    </a:cubicBezTo>
                    <a:lnTo>
                      <a:pt x="39292" y="87850"/>
                    </a:lnTo>
                    <a:cubicBezTo>
                      <a:pt x="38007" y="87706"/>
                      <a:pt x="36715" y="87635"/>
                      <a:pt x="35423" y="87637"/>
                    </a:cubicBezTo>
                    <a:cubicBezTo>
                      <a:pt x="25810" y="87652"/>
                      <a:pt x="16628" y="91627"/>
                      <a:pt x="10039" y="98626"/>
                    </a:cubicBezTo>
                    <a:cubicBezTo>
                      <a:pt x="3400" y="105639"/>
                      <a:pt x="0" y="115112"/>
                      <a:pt x="665" y="124746"/>
                    </a:cubicBezTo>
                    <a:cubicBezTo>
                      <a:pt x="1811" y="142094"/>
                      <a:pt x="15551" y="155953"/>
                      <a:pt x="32888" y="157250"/>
                    </a:cubicBezTo>
                    <a:cubicBezTo>
                      <a:pt x="35023" y="157398"/>
                      <a:pt x="37166" y="157353"/>
                      <a:pt x="39292" y="157114"/>
                    </a:cubicBezTo>
                    <a:lnTo>
                      <a:pt x="39292" y="188245"/>
                    </a:lnTo>
                    <a:cubicBezTo>
                      <a:pt x="39292" y="196793"/>
                      <a:pt x="46222" y="203723"/>
                      <a:pt x="54770" y="203723"/>
                    </a:cubicBezTo>
                    <a:lnTo>
                      <a:pt x="194073" y="203723"/>
                    </a:lnTo>
                    <a:cubicBezTo>
                      <a:pt x="202622" y="203723"/>
                      <a:pt x="209552" y="196793"/>
                      <a:pt x="209552" y="188245"/>
                    </a:cubicBezTo>
                    <a:lnTo>
                      <a:pt x="209552" y="146947"/>
                    </a:lnTo>
                    <a:cubicBezTo>
                      <a:pt x="209553" y="144289"/>
                      <a:pt x="208191" y="141817"/>
                      <a:pt x="205943" y="140398"/>
                    </a:cubicBezTo>
                    <a:close/>
                    <a:moveTo>
                      <a:pt x="194073" y="188245"/>
                    </a:moveTo>
                    <a:lnTo>
                      <a:pt x="54770" y="188245"/>
                    </a:lnTo>
                    <a:lnTo>
                      <a:pt x="54770" y="146947"/>
                    </a:lnTo>
                    <a:cubicBezTo>
                      <a:pt x="54771" y="144293"/>
                      <a:pt x="53412" y="141823"/>
                      <a:pt x="51168" y="140404"/>
                    </a:cubicBezTo>
                    <a:cubicBezTo>
                      <a:pt x="48925" y="138985"/>
                      <a:pt x="46111" y="138815"/>
                      <a:pt x="43713" y="139953"/>
                    </a:cubicBezTo>
                    <a:cubicBezTo>
                      <a:pt x="35584" y="143798"/>
                      <a:pt x="25877" y="141534"/>
                      <a:pt x="20287" y="134490"/>
                    </a:cubicBezTo>
                    <a:cubicBezTo>
                      <a:pt x="14696" y="127446"/>
                      <a:pt x="14696" y="117479"/>
                      <a:pt x="20287" y="110435"/>
                    </a:cubicBezTo>
                    <a:cubicBezTo>
                      <a:pt x="25877" y="103391"/>
                      <a:pt x="35584" y="101128"/>
                      <a:pt x="43713" y="104972"/>
                    </a:cubicBezTo>
                    <a:cubicBezTo>
                      <a:pt x="46111" y="106110"/>
                      <a:pt x="48925" y="105940"/>
                      <a:pt x="51168" y="104521"/>
                    </a:cubicBezTo>
                    <a:cubicBezTo>
                      <a:pt x="53412" y="103102"/>
                      <a:pt x="54771" y="100633"/>
                      <a:pt x="54770" y="97978"/>
                    </a:cubicBezTo>
                    <a:lnTo>
                      <a:pt x="54770" y="56681"/>
                    </a:lnTo>
                    <a:lnTo>
                      <a:pt x="99937" y="56681"/>
                    </a:lnTo>
                    <a:cubicBezTo>
                      <a:pt x="102592" y="56681"/>
                      <a:pt x="105061" y="55322"/>
                      <a:pt x="106480" y="53079"/>
                    </a:cubicBezTo>
                    <a:cubicBezTo>
                      <a:pt x="107899" y="50835"/>
                      <a:pt x="108070" y="48021"/>
                      <a:pt x="106932" y="45623"/>
                    </a:cubicBezTo>
                    <a:cubicBezTo>
                      <a:pt x="103087" y="37494"/>
                      <a:pt x="105350" y="27787"/>
                      <a:pt x="112394" y="22197"/>
                    </a:cubicBezTo>
                    <a:cubicBezTo>
                      <a:pt x="119438" y="16606"/>
                      <a:pt x="129405" y="16606"/>
                      <a:pt x="136449" y="22197"/>
                    </a:cubicBezTo>
                    <a:cubicBezTo>
                      <a:pt x="143493" y="27787"/>
                      <a:pt x="145757" y="37494"/>
                      <a:pt x="141912" y="45623"/>
                    </a:cubicBezTo>
                    <a:cubicBezTo>
                      <a:pt x="140774" y="48021"/>
                      <a:pt x="140944" y="50835"/>
                      <a:pt x="142363" y="53079"/>
                    </a:cubicBezTo>
                    <a:cubicBezTo>
                      <a:pt x="143782" y="55322"/>
                      <a:pt x="146252" y="56681"/>
                      <a:pt x="148906" y="56681"/>
                    </a:cubicBezTo>
                    <a:lnTo>
                      <a:pt x="194073" y="56681"/>
                    </a:lnTo>
                    <a:lnTo>
                      <a:pt x="194073" y="87859"/>
                    </a:lnTo>
                    <a:cubicBezTo>
                      <a:pt x="191948" y="87616"/>
                      <a:pt x="189804" y="87570"/>
                      <a:pt x="187669" y="87724"/>
                    </a:cubicBezTo>
                    <a:cubicBezTo>
                      <a:pt x="168947" y="89050"/>
                      <a:pt x="154643" y="104974"/>
                      <a:pt x="155327" y="123731"/>
                    </a:cubicBezTo>
                    <a:cubicBezTo>
                      <a:pt x="156010" y="142488"/>
                      <a:pt x="171435" y="157329"/>
                      <a:pt x="190204" y="157288"/>
                    </a:cubicBezTo>
                    <a:cubicBezTo>
                      <a:pt x="191497" y="157291"/>
                      <a:pt x="192789" y="157220"/>
                      <a:pt x="194073" y="157076"/>
                    </a:cubicBezTo>
                    <a:close/>
                  </a:path>
                </a:pathLst>
              </a:custGeom>
              <a:solidFill>
                <a:srgbClr val="2E7D32"/>
              </a:solidFill>
              <a:ln>
                <a:noFill/>
              </a:ln>
            </p:spPr>
          </p:sp>
        </p:grpSp>
        <p:sp>
          <p:nvSpPr>
            <p:cNvPr id="45" name="TextBox 45"/>
            <p:cNvSpPr txBox="1"/>
            <p:nvPr/>
          </p:nvSpPr>
          <p:spPr>
            <a:xfrm>
              <a:off x="6912292" y="2537936"/>
              <a:ext cx="331654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4. 任务拆解 — 一次只做一件事</a:t>
              </a:r>
              <a:endParaRPr lang="zh-CN" sz="1725" b="1" dirty="0">
                <a:solidFill>
                  <a:srgbClr val="263238"/>
                </a:solidFill>
                <a:latin typeface="Segoe UI" panose="020B0502040204020203"/>
                <a:ea typeface="微软雅黑"/>
                <a:cs typeface="Segoe UI" panose="020B0502040204020203"/>
              </a:endParaRPr>
            </a:p>
          </p:txBody>
        </p:sp>
        <p:sp>
          <p:nvSpPr>
            <p:cNvPr id="46" name="TextBox 46"/>
            <p:cNvSpPr txBox="1"/>
            <p:nvPr/>
          </p:nvSpPr>
          <p:spPr>
            <a:xfrm>
              <a:off x="6535102" y="2817971"/>
              <a:ext cx="452075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大需求→AI混乱→bug多逻辑乱。拆成子任务逐步实现。</a:t>
              </a:r>
              <a:endParaRPr lang="zh-CN" sz="1425" dirty="0">
                <a:solidFill>
                  <a:srgbClr val="546E7A"/>
                </a:solidFill>
                <a:latin typeface="Segoe UI" panose="020B0502040204020203"/>
                <a:ea typeface="微软雅黑"/>
                <a:cs typeface="Segoe UI" panose="020B0502040204020203"/>
              </a:endParaRPr>
            </a:p>
          </p:txBody>
        </p:sp>
        <p:sp>
          <p:nvSpPr>
            <p:cNvPr id="47" name="TextBox 47"/>
            <p:cNvSpPr txBox="1"/>
            <p:nvPr/>
          </p:nvSpPr>
          <p:spPr>
            <a:xfrm>
              <a:off x="6535102" y="3065621"/>
              <a:ext cx="368465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反面：2000行代码混一个文件，根本没法改</a:t>
              </a:r>
              <a:endParaRPr lang="zh-CN" sz="1425"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6535102" y="3370421"/>
              <a:ext cx="385567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正面：5个子任务逐步集成→逻辑工整直接能用</a:t>
              </a:r>
              <a:endParaRPr lang="zh-CN" sz="1425" dirty="0">
                <a:solidFill>
                  <a:srgbClr val="FF6F00"/>
                </a:solidFill>
                <a:latin typeface="Segoe UI" panose="020B0502040204020203"/>
                <a:ea typeface="微软雅黑"/>
                <a:cs typeface="Segoe UI" panose="020B0502040204020203"/>
              </a:endParaRPr>
            </a:p>
          </p:txBody>
        </p:sp>
      </p:grpSp>
      <p:grpSp>
        <p:nvGrpSpPr>
          <p:cNvPr id="55" name="Group 55"/>
          <p:cNvGrpSpPr/>
          <p:nvPr/>
        </p:nvGrpSpPr>
        <p:grpSpPr>
          <a:xfrm>
            <a:off x="571500" y="3905250"/>
            <a:ext cx="11049000" cy="1012031"/>
            <a:chOff x="571500" y="3905250"/>
            <a:chExt cx="11049000" cy="1012031"/>
          </a:xfrm>
        </p:grpSpPr>
        <p:sp>
          <p:nvSpPr>
            <p:cNvPr id="50" name="Rectangle 50"/>
            <p:cNvSpPr/>
            <p:nvPr/>
          </p:nvSpPr>
          <p:spPr>
            <a:xfrm>
              <a:off x="571500" y="3905250"/>
              <a:ext cx="11049000" cy="952500"/>
            </a:xfrm>
            <a:prstGeom prst="roundRect">
              <a:avLst>
                <a:gd name="adj" fmla="val 10000"/>
              </a:avLst>
            </a:prstGeom>
            <a:solidFill>
              <a:srgbClr val="FFFFFF"/>
            </a:solidFill>
            <a:ln>
              <a:noFill/>
            </a:ln>
          </p:spPr>
        </p:sp>
        <p:sp>
          <p:nvSpPr>
            <p:cNvPr id="51" name="Rectangle 51"/>
            <p:cNvSpPr/>
            <p:nvPr/>
          </p:nvSpPr>
          <p:spPr>
            <a:xfrm>
              <a:off x="571500" y="3905250"/>
              <a:ext cx="11049000" cy="38100"/>
            </a:xfrm>
            <a:prstGeom prst="roundRect">
              <a:avLst>
                <a:gd name="adj" fmla="val 50000"/>
              </a:avLst>
            </a:prstGeom>
            <a:solidFill>
              <a:srgbClr val="1565C0"/>
            </a:solidFill>
            <a:ln>
              <a:noFill/>
            </a:ln>
          </p:spPr>
        </p:sp>
        <p:sp>
          <p:nvSpPr>
            <p:cNvPr id="52" name="TextBox 52"/>
            <p:cNvSpPr txBox="1"/>
            <p:nvPr/>
          </p:nvSpPr>
          <p:spPr>
            <a:xfrm>
              <a:off x="4866442" y="4100036"/>
              <a:ext cx="2459117" cy="350520"/>
            </a:xfrm>
            <a:prstGeom prst="rect">
              <a:avLst/>
            </a:prstGeom>
            <a:noFill/>
            <a:ln>
              <a:noFill/>
            </a:ln>
          </p:spPr>
          <p:txBody>
            <a:bodyPr wrap="none" lIns="0" tIns="0" rIns="0" bIns="0" anchor="t" anchorCtr="0">
              <a:spAutoFit/>
            </a:bodyPr>
            <a:lstStyle/>
            <a:p>
              <a:pPr algn="ctr"/>
              <a:r>
                <a:rPr lang="zh-CN" sz="1725" b="1" dirty="0">
                  <a:solidFill>
                    <a:srgbClr val="1565C0"/>
                  </a:solidFill>
                  <a:latin typeface="Segoe UI" panose="020B0502040204020203"/>
                  <a:ea typeface="微软雅黑"/>
                  <a:cs typeface="Segoe UI" panose="020B0502040204020203"/>
                </a:rPr>
                <a:t>阶段核心：懒在动工前</a:t>
              </a:r>
              <a:endParaRPr lang="zh-CN" sz="1725" b="1" dirty="0">
                <a:solidFill>
                  <a:srgbClr val="1565C0"/>
                </a:solidFill>
                <a:latin typeface="Segoe UI" panose="020B0502040204020203"/>
                <a:ea typeface="微软雅黑"/>
                <a:cs typeface="Segoe UI" panose="020B0502040204020203"/>
              </a:endParaRPr>
            </a:p>
          </p:txBody>
        </p:sp>
        <p:sp>
          <p:nvSpPr>
            <p:cNvPr id="53" name="TextBox 53"/>
            <p:cNvSpPr txBox="1"/>
            <p:nvPr/>
          </p:nvSpPr>
          <p:spPr>
            <a:xfrm>
              <a:off x="3469827" y="4437221"/>
              <a:ext cx="5252347" cy="289560"/>
            </a:xfrm>
            <a:prstGeom prst="rect">
              <a:avLst/>
            </a:prstGeom>
            <a:noFill/>
            <a:ln>
              <a:noFill/>
            </a:ln>
          </p:spPr>
          <p:txBody>
            <a:bodyPr wrap="none" lIns="0" tIns="0" rIns="0" bIns="0" anchor="t" anchorCtr="0">
              <a:spAutoFit/>
            </a:bodyPr>
            <a:lstStyle/>
            <a:p>
              <a:pPr algn="ctr"/>
              <a:r>
                <a:rPr lang="zh-CN" sz="1425" dirty="0">
                  <a:solidFill>
                    <a:srgbClr val="546E7A"/>
                  </a:solidFill>
                  <a:latin typeface="Segoe UI" panose="020B0502040204020203"/>
                  <a:ea typeface="微软雅黑"/>
                  <a:cs typeface="Segoe UI" panose="020B0502040204020203"/>
                </a:rPr>
                <a:t>确认方案 → AI挑刺 → 多方案对比 → 任务拆解 → 一次生成就可用</a:t>
              </a:r>
              <a:endParaRPr lang="zh-CN" sz="1425" dirty="0">
                <a:solidFill>
                  <a:srgbClr val="546E7A"/>
                </a:solidFill>
                <a:latin typeface="Segoe UI" panose="020B0502040204020203"/>
                <a:ea typeface="微软雅黑"/>
                <a:cs typeface="Segoe UI" panose="020B0502040204020203"/>
              </a:endParaRPr>
            </a:p>
          </p:txBody>
        </p:sp>
        <p:sp>
          <p:nvSpPr>
            <p:cNvPr id="54" name="TextBox 54"/>
            <p:cNvSpPr txBox="1"/>
            <p:nvPr/>
          </p:nvSpPr>
          <p:spPr>
            <a:xfrm>
              <a:off x="3887879" y="4627721"/>
              <a:ext cx="4416242" cy="289560"/>
            </a:xfrm>
            <a:prstGeom prst="rect">
              <a:avLst/>
            </a:prstGeom>
            <a:noFill/>
            <a:ln>
              <a:noFill/>
            </a:ln>
          </p:spPr>
          <p:txBody>
            <a:bodyPr wrap="none" lIns="0" tIns="0" rIns="0" bIns="0" anchor="t" anchorCtr="0">
              <a:spAutoFit/>
            </a:bodyPr>
            <a:lstStyle/>
            <a:p>
              <a:pPr algn="ctr"/>
              <a:r>
                <a:rPr lang="zh-CN" sz="1425" dirty="0">
                  <a:solidFill>
                    <a:srgbClr val="546E7A"/>
                  </a:solidFill>
                  <a:latin typeface="Segoe UI" panose="020B0502040204020203"/>
                  <a:ea typeface="微软雅黑"/>
                  <a:cs typeface="Segoe UI" panose="020B0502040204020203"/>
                </a:rPr>
                <a:t>关键转变：从"直接甩需求"到"先想清楚再让AI动手"</a:t>
              </a:r>
              <a:endParaRPr lang="zh-CN" sz="1425" dirty="0">
                <a:solidFill>
                  <a:srgbClr val="546E7A"/>
                </a:solidFill>
                <a:latin typeface="Segoe UI" panose="020B0502040204020203"/>
                <a:ea typeface="微软雅黑"/>
                <a:cs typeface="Segoe UI" panose="020B0502040204020203"/>
              </a:endParaRPr>
            </a:p>
          </p:txBody>
        </p:sp>
      </p:grpSp>
      <p:sp>
        <p:nvSpPr>
          <p:cNvPr id="56" name="TextBox 56"/>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03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400"/>
                                        <p:tgtEl>
                                          <p:spTgt spid="2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Bottom)">
                                      <p:cBhvr>
                                        <p:cTn id="15" dur="400"/>
                                        <p:tgtEl>
                                          <p:spTgt spid="39"/>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image">
                                      <p:cBhvr>
                                        <p:cTn id="19" dur="400"/>
                                        <p:tgtEl>
                                          <p:spTgt spid="49"/>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9" grpId="0"/>
      <p:bldP spid="5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65811"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阶段二：编码实施 — 懒在精准，避免"擦屁股"</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20" name="Group 20"/>
          <p:cNvGrpSpPr/>
          <p:nvPr/>
        </p:nvGrpSpPr>
        <p:grpSpPr>
          <a:xfrm>
            <a:off x="571500" y="781050"/>
            <a:ext cx="3524250" cy="1640681"/>
            <a:chOff x="571500" y="781050"/>
            <a:chExt cx="3524250" cy="1640681"/>
          </a:xfrm>
        </p:grpSpPr>
        <p:sp>
          <p:nvSpPr>
            <p:cNvPr id="10" name="Rectangle 10"/>
            <p:cNvSpPr/>
            <p:nvPr/>
          </p:nvSpPr>
          <p:spPr>
            <a:xfrm>
              <a:off x="571500" y="781050"/>
              <a:ext cx="3524250" cy="1619250"/>
            </a:xfrm>
            <a:prstGeom prst="roundRect">
              <a:avLst>
                <a:gd name="adj" fmla="val 5882"/>
              </a:avLst>
            </a:prstGeom>
            <a:solidFill>
              <a:srgbClr val="FFFFFF"/>
            </a:solidFill>
            <a:ln>
              <a:noFill/>
            </a:ln>
          </p:spPr>
        </p:sp>
        <p:sp>
          <p:nvSpPr>
            <p:cNvPr id="11" name="Rectangle 11"/>
            <p:cNvSpPr/>
            <p:nvPr/>
          </p:nvSpPr>
          <p:spPr>
            <a:xfrm>
              <a:off x="571500" y="781050"/>
              <a:ext cx="3524250" cy="38100"/>
            </a:xfrm>
            <a:prstGeom prst="roundRect">
              <a:avLst>
                <a:gd name="adj" fmla="val 50000"/>
              </a:avLst>
            </a:prstGeom>
            <a:solidFill>
              <a:srgbClr val="1565C0"/>
            </a:solidFill>
            <a:ln>
              <a:noFill/>
            </a:ln>
          </p:spPr>
        </p:sp>
        <p:grpSp>
          <p:nvGrpSpPr>
            <p:cNvPr id="14" name="Group 14"/>
            <p:cNvGrpSpPr/>
            <p:nvPr/>
          </p:nvGrpSpPr>
          <p:grpSpPr>
            <a:xfrm>
              <a:off x="869156" y="1050131"/>
              <a:ext cx="185738" cy="185738"/>
              <a:chOff x="869156" y="1050131"/>
              <a:chExt cx="185738" cy="185738"/>
            </a:xfrm>
          </p:grpSpPr>
          <p:sp>
            <p:nvSpPr>
              <p:cNvPr id="12" name="Freeform 12"/>
              <p:cNvSpPr/>
              <p:nvPr/>
            </p:nvSpPr>
            <p:spPr>
              <a:xfrm>
                <a:off x="876895" y="1057870"/>
                <a:ext cx="170259" cy="170259"/>
              </a:xfrm>
              <a:custGeom>
                <a:avLst/>
                <a:gdLst/>
                <a:ahLst/>
                <a:cxnLst/>
                <a:rect l="l" t="t" r="r" b="b"/>
                <a:pathLst>
                  <a:path w="170259" h="170259">
                    <a:moveTo>
                      <a:pt x="170259" y="7739"/>
                    </a:moveTo>
                    <a:lnTo>
                      <a:pt x="170259" y="38695"/>
                    </a:lnTo>
                    <a:cubicBezTo>
                      <a:pt x="170259" y="42969"/>
                      <a:pt x="166794" y="46434"/>
                      <a:pt x="162520" y="46434"/>
                    </a:cubicBezTo>
                    <a:lnTo>
                      <a:pt x="131564" y="46434"/>
                    </a:lnTo>
                    <a:cubicBezTo>
                      <a:pt x="127290" y="46434"/>
                      <a:pt x="123825" y="42969"/>
                      <a:pt x="123825" y="38695"/>
                    </a:cubicBezTo>
                    <a:lnTo>
                      <a:pt x="123825" y="7739"/>
                    </a:lnTo>
                    <a:cubicBezTo>
                      <a:pt x="123825" y="3465"/>
                      <a:pt x="127290" y="0"/>
                      <a:pt x="131564" y="0"/>
                    </a:cubicBezTo>
                    <a:lnTo>
                      <a:pt x="162520" y="0"/>
                    </a:lnTo>
                    <a:cubicBezTo>
                      <a:pt x="166794" y="0"/>
                      <a:pt x="170259" y="3465"/>
                      <a:pt x="170259" y="7739"/>
                    </a:cubicBezTo>
                    <a:close/>
                    <a:moveTo>
                      <a:pt x="38695" y="0"/>
                    </a:moveTo>
                    <a:lnTo>
                      <a:pt x="7739" y="0"/>
                    </a:lnTo>
                    <a:cubicBezTo>
                      <a:pt x="3465" y="0"/>
                      <a:pt x="0" y="3465"/>
                      <a:pt x="0" y="7739"/>
                    </a:cubicBezTo>
                    <a:lnTo>
                      <a:pt x="0" y="38695"/>
                    </a:lnTo>
                    <a:cubicBezTo>
                      <a:pt x="0" y="42969"/>
                      <a:pt x="3465" y="46434"/>
                      <a:pt x="7739" y="46434"/>
                    </a:cubicBezTo>
                    <a:lnTo>
                      <a:pt x="38695" y="46434"/>
                    </a:lnTo>
                    <a:cubicBezTo>
                      <a:pt x="42969" y="46434"/>
                      <a:pt x="46434" y="42969"/>
                      <a:pt x="46434" y="38695"/>
                    </a:cubicBezTo>
                    <a:lnTo>
                      <a:pt x="46434" y="7739"/>
                    </a:lnTo>
                    <a:cubicBezTo>
                      <a:pt x="46434" y="3465"/>
                      <a:pt x="42969" y="0"/>
                      <a:pt x="38695" y="0"/>
                    </a:cubicBezTo>
                    <a:close/>
                    <a:moveTo>
                      <a:pt x="162520" y="123825"/>
                    </a:moveTo>
                    <a:lnTo>
                      <a:pt x="131564" y="123825"/>
                    </a:lnTo>
                    <a:cubicBezTo>
                      <a:pt x="127290" y="123825"/>
                      <a:pt x="123825" y="127290"/>
                      <a:pt x="123825" y="131564"/>
                    </a:cubicBezTo>
                    <a:lnTo>
                      <a:pt x="123825" y="162520"/>
                    </a:lnTo>
                    <a:cubicBezTo>
                      <a:pt x="123825" y="166794"/>
                      <a:pt x="127290" y="170259"/>
                      <a:pt x="131564" y="170259"/>
                    </a:cubicBezTo>
                    <a:lnTo>
                      <a:pt x="162520" y="170259"/>
                    </a:lnTo>
                    <a:cubicBezTo>
                      <a:pt x="166794" y="170259"/>
                      <a:pt x="170259" y="166794"/>
                      <a:pt x="170259" y="162520"/>
                    </a:cubicBezTo>
                    <a:lnTo>
                      <a:pt x="170259" y="131564"/>
                    </a:lnTo>
                    <a:cubicBezTo>
                      <a:pt x="170259" y="127290"/>
                      <a:pt x="166794" y="123825"/>
                      <a:pt x="162520" y="123825"/>
                    </a:cubicBezTo>
                    <a:close/>
                    <a:moveTo>
                      <a:pt x="38695" y="123825"/>
                    </a:moveTo>
                    <a:lnTo>
                      <a:pt x="7739" y="123825"/>
                    </a:lnTo>
                    <a:cubicBezTo>
                      <a:pt x="3465" y="123825"/>
                      <a:pt x="0" y="127290"/>
                      <a:pt x="0" y="131564"/>
                    </a:cubicBezTo>
                    <a:lnTo>
                      <a:pt x="0" y="162520"/>
                    </a:lnTo>
                    <a:cubicBezTo>
                      <a:pt x="0" y="166794"/>
                      <a:pt x="3465" y="170259"/>
                      <a:pt x="7739" y="170259"/>
                    </a:cubicBezTo>
                    <a:lnTo>
                      <a:pt x="38695" y="170259"/>
                    </a:lnTo>
                    <a:cubicBezTo>
                      <a:pt x="42969" y="170259"/>
                      <a:pt x="46434" y="166794"/>
                      <a:pt x="46434" y="162520"/>
                    </a:cubicBezTo>
                    <a:lnTo>
                      <a:pt x="46434" y="131564"/>
                    </a:lnTo>
                    <a:cubicBezTo>
                      <a:pt x="46434" y="127290"/>
                      <a:pt x="42969" y="123825"/>
                      <a:pt x="38695" y="123825"/>
                    </a:cubicBezTo>
                    <a:close/>
                  </a:path>
                </a:pathLst>
              </a:custGeom>
              <a:solidFill>
                <a:srgbClr val="1565C0">
                  <a:alpha val="20000"/>
                </a:srgbClr>
              </a:solidFill>
              <a:ln>
                <a:noFill/>
              </a:ln>
            </p:spPr>
          </p:sp>
          <p:sp>
            <p:nvSpPr>
              <p:cNvPr id="13" name="Freeform 13"/>
              <p:cNvSpPr/>
              <p:nvPr/>
            </p:nvSpPr>
            <p:spPr>
              <a:xfrm>
                <a:off x="869156" y="1050131"/>
                <a:ext cx="185738" cy="185738"/>
              </a:xfrm>
              <a:custGeom>
                <a:avLst/>
                <a:gdLst/>
                <a:ahLst/>
                <a:cxnLst/>
                <a:rect l="l" t="t" r="r" b="b"/>
                <a:pathLst>
                  <a:path w="185738" h="185738">
                    <a:moveTo>
                      <a:pt x="170259" y="61912"/>
                    </a:moveTo>
                    <a:cubicBezTo>
                      <a:pt x="178808" y="61912"/>
                      <a:pt x="185738" y="54983"/>
                      <a:pt x="185738" y="46434"/>
                    </a:cubicBezTo>
                    <a:lnTo>
                      <a:pt x="185738" y="15478"/>
                    </a:lnTo>
                    <a:cubicBezTo>
                      <a:pt x="185738" y="6930"/>
                      <a:pt x="178808" y="0"/>
                      <a:pt x="170259" y="0"/>
                    </a:cubicBezTo>
                    <a:lnTo>
                      <a:pt x="139303" y="0"/>
                    </a:lnTo>
                    <a:cubicBezTo>
                      <a:pt x="130755" y="0"/>
                      <a:pt x="123825" y="6930"/>
                      <a:pt x="123825" y="15478"/>
                    </a:cubicBezTo>
                    <a:lnTo>
                      <a:pt x="123825" y="23217"/>
                    </a:lnTo>
                    <a:lnTo>
                      <a:pt x="61912" y="23217"/>
                    </a:lnTo>
                    <a:lnTo>
                      <a:pt x="61912" y="15478"/>
                    </a:lnTo>
                    <a:cubicBezTo>
                      <a:pt x="61912" y="6930"/>
                      <a:pt x="54983" y="0"/>
                      <a:pt x="46434" y="0"/>
                    </a:cubicBezTo>
                    <a:lnTo>
                      <a:pt x="15478" y="0"/>
                    </a:lnTo>
                    <a:cubicBezTo>
                      <a:pt x="6930" y="0"/>
                      <a:pt x="0" y="6930"/>
                      <a:pt x="0" y="15478"/>
                    </a:cubicBezTo>
                    <a:lnTo>
                      <a:pt x="0" y="46434"/>
                    </a:lnTo>
                    <a:cubicBezTo>
                      <a:pt x="0" y="54983"/>
                      <a:pt x="6930" y="61912"/>
                      <a:pt x="15478" y="61912"/>
                    </a:cubicBezTo>
                    <a:lnTo>
                      <a:pt x="23217" y="61912"/>
                    </a:lnTo>
                    <a:lnTo>
                      <a:pt x="23217" y="123825"/>
                    </a:lnTo>
                    <a:lnTo>
                      <a:pt x="15478" y="123825"/>
                    </a:lnTo>
                    <a:cubicBezTo>
                      <a:pt x="6930" y="123825"/>
                      <a:pt x="0" y="130755"/>
                      <a:pt x="0" y="139303"/>
                    </a:cubicBezTo>
                    <a:lnTo>
                      <a:pt x="0" y="170259"/>
                    </a:lnTo>
                    <a:cubicBezTo>
                      <a:pt x="0" y="178808"/>
                      <a:pt x="6930" y="185738"/>
                      <a:pt x="15478" y="185738"/>
                    </a:cubicBezTo>
                    <a:lnTo>
                      <a:pt x="46434" y="185738"/>
                    </a:lnTo>
                    <a:cubicBezTo>
                      <a:pt x="54983" y="185738"/>
                      <a:pt x="61912" y="178808"/>
                      <a:pt x="61912" y="170259"/>
                    </a:cubicBezTo>
                    <a:lnTo>
                      <a:pt x="61912" y="162520"/>
                    </a:lnTo>
                    <a:lnTo>
                      <a:pt x="123825" y="162520"/>
                    </a:lnTo>
                    <a:lnTo>
                      <a:pt x="123825" y="170259"/>
                    </a:lnTo>
                    <a:cubicBezTo>
                      <a:pt x="123825" y="178808"/>
                      <a:pt x="130755" y="185738"/>
                      <a:pt x="139303" y="185738"/>
                    </a:cubicBezTo>
                    <a:lnTo>
                      <a:pt x="170259" y="185738"/>
                    </a:lnTo>
                    <a:cubicBezTo>
                      <a:pt x="178808" y="185738"/>
                      <a:pt x="185738" y="178808"/>
                      <a:pt x="185738" y="170259"/>
                    </a:cubicBezTo>
                    <a:lnTo>
                      <a:pt x="185738" y="139303"/>
                    </a:lnTo>
                    <a:cubicBezTo>
                      <a:pt x="185738" y="130755"/>
                      <a:pt x="178808" y="123825"/>
                      <a:pt x="170259" y="123825"/>
                    </a:cubicBezTo>
                    <a:lnTo>
                      <a:pt x="162520" y="123825"/>
                    </a:lnTo>
                    <a:lnTo>
                      <a:pt x="162520" y="61912"/>
                    </a:lnTo>
                    <a:close/>
                    <a:moveTo>
                      <a:pt x="139303" y="15478"/>
                    </a:moveTo>
                    <a:lnTo>
                      <a:pt x="170259" y="15478"/>
                    </a:lnTo>
                    <a:lnTo>
                      <a:pt x="170259" y="46434"/>
                    </a:lnTo>
                    <a:lnTo>
                      <a:pt x="139303" y="46434"/>
                    </a:lnTo>
                    <a:close/>
                    <a:moveTo>
                      <a:pt x="15478" y="15478"/>
                    </a:moveTo>
                    <a:lnTo>
                      <a:pt x="46434" y="15478"/>
                    </a:lnTo>
                    <a:lnTo>
                      <a:pt x="46434" y="30860"/>
                    </a:lnTo>
                    <a:cubicBezTo>
                      <a:pt x="46422" y="30923"/>
                      <a:pt x="46422" y="30989"/>
                      <a:pt x="46434" y="31053"/>
                    </a:cubicBezTo>
                    <a:lnTo>
                      <a:pt x="46434" y="46434"/>
                    </a:lnTo>
                    <a:lnTo>
                      <a:pt x="15478" y="46434"/>
                    </a:lnTo>
                    <a:close/>
                    <a:moveTo>
                      <a:pt x="46434" y="170259"/>
                    </a:moveTo>
                    <a:lnTo>
                      <a:pt x="15478" y="170259"/>
                    </a:lnTo>
                    <a:lnTo>
                      <a:pt x="15478" y="139303"/>
                    </a:lnTo>
                    <a:lnTo>
                      <a:pt x="46434" y="139303"/>
                    </a:lnTo>
                    <a:lnTo>
                      <a:pt x="46434" y="154685"/>
                    </a:lnTo>
                    <a:cubicBezTo>
                      <a:pt x="46422" y="154748"/>
                      <a:pt x="46422" y="154814"/>
                      <a:pt x="46434" y="154878"/>
                    </a:cubicBezTo>
                    <a:lnTo>
                      <a:pt x="46434" y="170259"/>
                    </a:lnTo>
                    <a:close/>
                    <a:moveTo>
                      <a:pt x="170259" y="170259"/>
                    </a:moveTo>
                    <a:lnTo>
                      <a:pt x="139303" y="170259"/>
                    </a:lnTo>
                    <a:lnTo>
                      <a:pt x="139303" y="139303"/>
                    </a:lnTo>
                    <a:lnTo>
                      <a:pt x="170259" y="139303"/>
                    </a:lnTo>
                    <a:close/>
                    <a:moveTo>
                      <a:pt x="147042" y="123825"/>
                    </a:moveTo>
                    <a:lnTo>
                      <a:pt x="139303" y="123825"/>
                    </a:lnTo>
                    <a:cubicBezTo>
                      <a:pt x="130755" y="123825"/>
                      <a:pt x="123825" y="130755"/>
                      <a:pt x="123825" y="139303"/>
                    </a:cubicBezTo>
                    <a:lnTo>
                      <a:pt x="123825" y="147042"/>
                    </a:lnTo>
                    <a:lnTo>
                      <a:pt x="61912" y="147042"/>
                    </a:lnTo>
                    <a:lnTo>
                      <a:pt x="61912" y="139303"/>
                    </a:lnTo>
                    <a:cubicBezTo>
                      <a:pt x="61912" y="130755"/>
                      <a:pt x="54983" y="123825"/>
                      <a:pt x="46434" y="123825"/>
                    </a:cubicBezTo>
                    <a:lnTo>
                      <a:pt x="38695" y="123825"/>
                    </a:lnTo>
                    <a:lnTo>
                      <a:pt x="38695" y="61912"/>
                    </a:lnTo>
                    <a:lnTo>
                      <a:pt x="46434" y="61912"/>
                    </a:lnTo>
                    <a:cubicBezTo>
                      <a:pt x="54983" y="61912"/>
                      <a:pt x="61912" y="54983"/>
                      <a:pt x="61912" y="46434"/>
                    </a:cubicBezTo>
                    <a:lnTo>
                      <a:pt x="61912" y="38695"/>
                    </a:lnTo>
                    <a:lnTo>
                      <a:pt x="123825" y="38695"/>
                    </a:lnTo>
                    <a:lnTo>
                      <a:pt x="123825" y="46434"/>
                    </a:lnTo>
                    <a:cubicBezTo>
                      <a:pt x="123825" y="54983"/>
                      <a:pt x="130755" y="61912"/>
                      <a:pt x="139303" y="61912"/>
                    </a:cubicBezTo>
                    <a:lnTo>
                      <a:pt x="147042" y="61912"/>
                    </a:lnTo>
                    <a:close/>
                  </a:path>
                </a:pathLst>
              </a:custGeom>
              <a:solidFill>
                <a:srgbClr val="1565C0"/>
              </a:solidFill>
              <a:ln>
                <a:noFill/>
              </a:ln>
            </p:spPr>
          </p:sp>
        </p:grpSp>
        <p:sp>
          <p:nvSpPr>
            <p:cNvPr id="15" name="TextBox 15"/>
            <p:cNvSpPr txBox="1"/>
            <p:nvPr/>
          </p:nvSpPr>
          <p:spPr>
            <a:xfrm>
              <a:off x="1197292" y="1013936"/>
              <a:ext cx="134807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5. 圈定边界</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293971"/>
              <a:ext cx="252550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明确"能改什么、不能改什么"</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41621"/>
              <a:ext cx="230697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AI爱"顺手牵羊"重构代码：</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789271"/>
              <a:ext cx="215496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改错误提示→改崩session</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0102" y="2132171"/>
              <a:ext cx="166089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冻结区域+可改区域</a:t>
              </a:r>
              <a:endParaRPr lang="zh-CN" sz="1425" dirty="0">
                <a:solidFill>
                  <a:srgbClr val="FF6F00"/>
                </a:solidFill>
                <a:latin typeface="Segoe UI" panose="020B0502040204020203"/>
                <a:ea typeface="微软雅黑"/>
                <a:cs typeface="Segoe UI" panose="020B0502040204020203"/>
              </a:endParaRPr>
            </a:p>
          </p:txBody>
        </p:sp>
      </p:grpSp>
      <p:grpSp>
        <p:nvGrpSpPr>
          <p:cNvPr id="31" name="Group 31"/>
          <p:cNvGrpSpPr/>
          <p:nvPr/>
        </p:nvGrpSpPr>
        <p:grpSpPr>
          <a:xfrm>
            <a:off x="4333875" y="781050"/>
            <a:ext cx="3524250" cy="1640681"/>
            <a:chOff x="4333875" y="781050"/>
            <a:chExt cx="3524250" cy="1640681"/>
          </a:xfrm>
        </p:grpSpPr>
        <p:sp>
          <p:nvSpPr>
            <p:cNvPr id="21" name="Rectangle 21"/>
            <p:cNvSpPr/>
            <p:nvPr/>
          </p:nvSpPr>
          <p:spPr>
            <a:xfrm>
              <a:off x="4333875" y="781050"/>
              <a:ext cx="3524250" cy="1619250"/>
            </a:xfrm>
            <a:prstGeom prst="roundRect">
              <a:avLst>
                <a:gd name="adj" fmla="val 5882"/>
              </a:avLst>
            </a:prstGeom>
            <a:solidFill>
              <a:srgbClr val="FFFFFF"/>
            </a:solidFill>
            <a:ln>
              <a:noFill/>
            </a:ln>
          </p:spPr>
        </p:sp>
        <p:sp>
          <p:nvSpPr>
            <p:cNvPr id="22" name="Rectangle 22"/>
            <p:cNvSpPr/>
            <p:nvPr/>
          </p:nvSpPr>
          <p:spPr>
            <a:xfrm>
              <a:off x="4333875" y="781050"/>
              <a:ext cx="3524250" cy="38100"/>
            </a:xfrm>
            <a:prstGeom prst="roundRect">
              <a:avLst>
                <a:gd name="adj" fmla="val 50000"/>
              </a:avLst>
            </a:prstGeom>
            <a:solidFill>
              <a:srgbClr val="00838F"/>
            </a:solidFill>
            <a:ln>
              <a:noFill/>
            </a:ln>
          </p:spPr>
        </p:sp>
        <p:grpSp>
          <p:nvGrpSpPr>
            <p:cNvPr id="25" name="Group 25"/>
            <p:cNvGrpSpPr/>
            <p:nvPr/>
          </p:nvGrpSpPr>
          <p:grpSpPr>
            <a:xfrm>
              <a:off x="4620756" y="1038775"/>
              <a:ext cx="204275" cy="207878"/>
              <a:chOff x="4620756" y="1038775"/>
              <a:chExt cx="204275" cy="207878"/>
            </a:xfrm>
          </p:grpSpPr>
          <p:sp>
            <p:nvSpPr>
              <p:cNvPr id="23" name="Freeform 23"/>
              <p:cNvSpPr/>
              <p:nvPr/>
            </p:nvSpPr>
            <p:spPr>
              <a:xfrm>
                <a:off x="4629220" y="1044807"/>
                <a:ext cx="188060" cy="193373"/>
              </a:xfrm>
              <a:custGeom>
                <a:avLst/>
                <a:gdLst/>
                <a:ahLst/>
                <a:cxnLst/>
                <a:rect l="l" t="t" r="r" b="b"/>
                <a:pathLst>
                  <a:path w="188060" h="193373">
                    <a:moveTo>
                      <a:pt x="188048" y="67237"/>
                    </a:moveTo>
                    <a:cubicBezTo>
                      <a:pt x="188040" y="89142"/>
                      <a:pt x="176458" y="109412"/>
                      <a:pt x="157591" y="120541"/>
                    </a:cubicBezTo>
                    <a:cubicBezTo>
                      <a:pt x="138723" y="131669"/>
                      <a:pt x="115380" y="132000"/>
                      <a:pt x="96205" y="121411"/>
                    </a:cubicBezTo>
                    <a:lnTo>
                      <a:pt x="41974" y="184290"/>
                    </a:lnTo>
                    <a:cubicBezTo>
                      <a:pt x="32891" y="193373"/>
                      <a:pt x="18165" y="193373"/>
                      <a:pt x="9083" y="184290"/>
                    </a:cubicBezTo>
                    <a:cubicBezTo>
                      <a:pt x="0" y="175208"/>
                      <a:pt x="0" y="160482"/>
                      <a:pt x="9083" y="151399"/>
                    </a:cubicBezTo>
                    <a:lnTo>
                      <a:pt x="71962" y="97168"/>
                    </a:lnTo>
                    <a:cubicBezTo>
                      <a:pt x="59285" y="74225"/>
                      <a:pt x="62429" y="45785"/>
                      <a:pt x="79812" y="26165"/>
                    </a:cubicBezTo>
                    <a:cubicBezTo>
                      <a:pt x="97196" y="6546"/>
                      <a:pt x="125051" y="0"/>
                      <a:pt x="149353" y="9823"/>
                    </a:cubicBezTo>
                    <a:lnTo>
                      <a:pt x="110658" y="51759"/>
                    </a:lnTo>
                    <a:lnTo>
                      <a:pt x="116133" y="77240"/>
                    </a:lnTo>
                    <a:lnTo>
                      <a:pt x="141614" y="82715"/>
                    </a:lnTo>
                    <a:lnTo>
                      <a:pt x="183550" y="44020"/>
                    </a:lnTo>
                    <a:cubicBezTo>
                      <a:pt x="186532" y="51397"/>
                      <a:pt x="188060" y="59280"/>
                      <a:pt x="188048" y="67237"/>
                    </a:cubicBezTo>
                    <a:close/>
                  </a:path>
                </a:pathLst>
              </a:custGeom>
              <a:solidFill>
                <a:srgbClr val="00838F">
                  <a:alpha val="20000"/>
                </a:srgbClr>
              </a:solidFill>
              <a:ln>
                <a:noFill/>
              </a:ln>
            </p:spPr>
          </p:sp>
          <p:sp>
            <p:nvSpPr>
              <p:cNvPr id="24" name="Freeform 24"/>
              <p:cNvSpPr/>
              <p:nvPr/>
            </p:nvSpPr>
            <p:spPr>
              <a:xfrm>
                <a:off x="4620756" y="1038775"/>
                <a:ext cx="204275" cy="207878"/>
              </a:xfrm>
              <a:custGeom>
                <a:avLst/>
                <a:gdLst/>
                <a:ahLst/>
                <a:cxnLst/>
                <a:rect l="l" t="t" r="r" b="b"/>
                <a:pathLst>
                  <a:path w="204275" h="207878">
                    <a:moveTo>
                      <a:pt x="199182" y="47149"/>
                    </a:moveTo>
                    <a:cubicBezTo>
                      <a:pt x="198229" y="44794"/>
                      <a:pt x="196181" y="43056"/>
                      <a:pt x="193702" y="42500"/>
                    </a:cubicBezTo>
                    <a:cubicBezTo>
                      <a:pt x="191223" y="41944"/>
                      <a:pt x="188629" y="42640"/>
                      <a:pt x="186761" y="44363"/>
                    </a:cubicBezTo>
                    <a:lnTo>
                      <a:pt x="147776" y="80340"/>
                    </a:lnTo>
                    <a:lnTo>
                      <a:pt x="131108" y="76761"/>
                    </a:lnTo>
                    <a:lnTo>
                      <a:pt x="127528" y="60093"/>
                    </a:lnTo>
                    <a:lnTo>
                      <a:pt x="163505" y="21107"/>
                    </a:lnTo>
                    <a:cubicBezTo>
                      <a:pt x="165228" y="19240"/>
                      <a:pt x="165924" y="16645"/>
                      <a:pt x="165368" y="14166"/>
                    </a:cubicBezTo>
                    <a:cubicBezTo>
                      <a:pt x="164812" y="11687"/>
                      <a:pt x="163074" y="9639"/>
                      <a:pt x="160719" y="8686"/>
                    </a:cubicBezTo>
                    <a:cubicBezTo>
                      <a:pt x="139247" y="0"/>
                      <a:pt x="114862" y="2556"/>
                      <a:pt x="95658" y="15506"/>
                    </a:cubicBezTo>
                    <a:cubicBezTo>
                      <a:pt x="76454" y="28457"/>
                      <a:pt x="64944" y="50106"/>
                      <a:pt x="64948" y="73268"/>
                    </a:cubicBezTo>
                    <a:cubicBezTo>
                      <a:pt x="64936" y="82900"/>
                      <a:pt x="66912" y="92431"/>
                      <a:pt x="70753" y="101264"/>
                    </a:cubicBezTo>
                    <a:lnTo>
                      <a:pt x="12507" y="151626"/>
                    </a:lnTo>
                    <a:cubicBezTo>
                      <a:pt x="12361" y="151742"/>
                      <a:pt x="12226" y="151878"/>
                      <a:pt x="12091" y="152004"/>
                    </a:cubicBezTo>
                    <a:cubicBezTo>
                      <a:pt x="0" y="164094"/>
                      <a:pt x="0" y="183697"/>
                      <a:pt x="12091" y="195787"/>
                    </a:cubicBezTo>
                    <a:cubicBezTo>
                      <a:pt x="24181" y="207878"/>
                      <a:pt x="43784" y="207878"/>
                      <a:pt x="55874" y="195787"/>
                    </a:cubicBezTo>
                    <a:cubicBezTo>
                      <a:pt x="56000" y="195662"/>
                      <a:pt x="56135" y="195517"/>
                      <a:pt x="56252" y="195381"/>
                    </a:cubicBezTo>
                    <a:lnTo>
                      <a:pt x="106604" y="137116"/>
                    </a:lnTo>
                    <a:cubicBezTo>
                      <a:pt x="128152" y="146575"/>
                      <a:pt x="153020" y="144513"/>
                      <a:pt x="172717" y="131634"/>
                    </a:cubicBezTo>
                    <a:cubicBezTo>
                      <a:pt x="192414" y="118756"/>
                      <a:pt x="204275" y="96802"/>
                      <a:pt x="204251" y="73268"/>
                    </a:cubicBezTo>
                    <a:cubicBezTo>
                      <a:pt x="204267" y="64316"/>
                      <a:pt x="202545" y="55446"/>
                      <a:pt x="199182" y="47149"/>
                    </a:cubicBezTo>
                    <a:close/>
                    <a:moveTo>
                      <a:pt x="134600" y="127442"/>
                    </a:moveTo>
                    <a:cubicBezTo>
                      <a:pt x="125439" y="127429"/>
                      <a:pt x="116431" y="125100"/>
                      <a:pt x="108413" y="120670"/>
                    </a:cubicBezTo>
                    <a:cubicBezTo>
                      <a:pt x="105211" y="118901"/>
                      <a:pt x="101209" y="119616"/>
                      <a:pt x="98816" y="122382"/>
                    </a:cubicBezTo>
                    <a:lnTo>
                      <a:pt x="44740" y="185011"/>
                    </a:lnTo>
                    <a:cubicBezTo>
                      <a:pt x="38654" y="190792"/>
                      <a:pt x="29070" y="190670"/>
                      <a:pt x="23134" y="184734"/>
                    </a:cubicBezTo>
                    <a:cubicBezTo>
                      <a:pt x="17199" y="178799"/>
                      <a:pt x="17076" y="169214"/>
                      <a:pt x="22858" y="163129"/>
                    </a:cubicBezTo>
                    <a:lnTo>
                      <a:pt x="85438" y="109062"/>
                    </a:lnTo>
                    <a:cubicBezTo>
                      <a:pt x="88209" y="106668"/>
                      <a:pt x="88924" y="102659"/>
                      <a:pt x="87150" y="99455"/>
                    </a:cubicBezTo>
                    <a:cubicBezTo>
                      <a:pt x="77082" y="81247"/>
                      <a:pt x="78333" y="58882"/>
                      <a:pt x="90367" y="41909"/>
                    </a:cubicBezTo>
                    <a:cubicBezTo>
                      <a:pt x="102401" y="24937"/>
                      <a:pt x="123092" y="16356"/>
                      <a:pt x="143606" y="19830"/>
                    </a:cubicBezTo>
                    <a:lnTo>
                      <a:pt x="113424" y="52537"/>
                    </a:lnTo>
                    <a:cubicBezTo>
                      <a:pt x="111720" y="54386"/>
                      <a:pt x="111020" y="56947"/>
                      <a:pt x="111547" y="59406"/>
                    </a:cubicBezTo>
                    <a:lnTo>
                      <a:pt x="117023" y="84877"/>
                    </a:lnTo>
                    <a:cubicBezTo>
                      <a:pt x="117662" y="87853"/>
                      <a:pt x="119987" y="90177"/>
                      <a:pt x="122962" y="90817"/>
                    </a:cubicBezTo>
                    <a:lnTo>
                      <a:pt x="148453" y="96292"/>
                    </a:lnTo>
                    <a:cubicBezTo>
                      <a:pt x="150911" y="96819"/>
                      <a:pt x="153473" y="96120"/>
                      <a:pt x="155321" y="94415"/>
                    </a:cubicBezTo>
                    <a:lnTo>
                      <a:pt x="188028" y="64233"/>
                    </a:lnTo>
                    <a:cubicBezTo>
                      <a:pt x="190668" y="79956"/>
                      <a:pt x="186255" y="96044"/>
                      <a:pt x="175963" y="108219"/>
                    </a:cubicBezTo>
                    <a:cubicBezTo>
                      <a:pt x="165671" y="120395"/>
                      <a:pt x="150543" y="127426"/>
                      <a:pt x="134600" y="127442"/>
                    </a:cubicBezTo>
                    <a:close/>
                  </a:path>
                </a:pathLst>
              </a:custGeom>
              <a:solidFill>
                <a:srgbClr val="00838F"/>
              </a:solidFill>
              <a:ln>
                <a:noFill/>
              </a:ln>
            </p:spPr>
          </p:sp>
        </p:grpSp>
        <p:sp>
          <p:nvSpPr>
            <p:cNvPr id="26" name="TextBox 26"/>
            <p:cNvSpPr txBox="1"/>
            <p:nvPr/>
          </p:nvSpPr>
          <p:spPr>
            <a:xfrm>
              <a:off x="4959668" y="1013936"/>
              <a:ext cx="134807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6. 最小补丁</a:t>
              </a:r>
              <a:endParaRPr lang="zh-CN" sz="1725" b="1" dirty="0">
                <a:solidFill>
                  <a:srgbClr val="263238"/>
                </a:solidFill>
                <a:latin typeface="Segoe UI" panose="020B0502040204020203"/>
                <a:ea typeface="微软雅黑"/>
                <a:cs typeface="Segoe UI" panose="020B0502040204020203"/>
              </a:endParaRPr>
            </a:p>
          </p:txBody>
        </p:sp>
        <p:sp>
          <p:nvSpPr>
            <p:cNvPr id="27" name="TextBox 27"/>
            <p:cNvSpPr txBox="1"/>
            <p:nvPr/>
          </p:nvSpPr>
          <p:spPr>
            <a:xfrm>
              <a:off x="4582478" y="1293971"/>
              <a:ext cx="288655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只输出修改片段，不输出整个文件</a:t>
              </a:r>
              <a:endParaRPr lang="zh-CN" sz="1425"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4582478" y="1541621"/>
              <a:ext cx="223096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输出整个文件→一行行比对</a:t>
              </a:r>
              <a:endParaRPr lang="zh-CN" sz="1425"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2478" y="1789271"/>
              <a:ext cx="216446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500行文件只为找3行修改</a:t>
              </a:r>
              <a:endParaRPr lang="zh-CN" sz="1425"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2478" y="2132171"/>
              <a:ext cx="174640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一目了然，省时放心</a:t>
              </a:r>
              <a:endParaRPr lang="zh-CN" sz="1425" dirty="0">
                <a:solidFill>
                  <a:srgbClr val="FF6F00"/>
                </a:solidFill>
                <a:latin typeface="Segoe UI" panose="020B0502040204020203"/>
                <a:ea typeface="微软雅黑"/>
                <a:cs typeface="Segoe UI" panose="020B0502040204020203"/>
              </a:endParaRPr>
            </a:p>
          </p:txBody>
        </p:sp>
      </p:grpSp>
      <p:grpSp>
        <p:nvGrpSpPr>
          <p:cNvPr id="42" name="Group 42"/>
          <p:cNvGrpSpPr/>
          <p:nvPr/>
        </p:nvGrpSpPr>
        <p:grpSpPr>
          <a:xfrm>
            <a:off x="8096250" y="781050"/>
            <a:ext cx="3524250" cy="1640681"/>
            <a:chOff x="8096250" y="781050"/>
            <a:chExt cx="3524250" cy="1640681"/>
          </a:xfrm>
        </p:grpSpPr>
        <p:sp>
          <p:nvSpPr>
            <p:cNvPr id="32" name="Rectangle 32"/>
            <p:cNvSpPr/>
            <p:nvPr/>
          </p:nvSpPr>
          <p:spPr>
            <a:xfrm>
              <a:off x="8096250" y="781050"/>
              <a:ext cx="3524250" cy="1619250"/>
            </a:xfrm>
            <a:prstGeom prst="roundRect">
              <a:avLst>
                <a:gd name="adj" fmla="val 5882"/>
              </a:avLst>
            </a:prstGeom>
            <a:solidFill>
              <a:srgbClr val="FFFFFF"/>
            </a:solidFill>
            <a:ln>
              <a:noFill/>
            </a:ln>
          </p:spPr>
        </p:sp>
        <p:sp>
          <p:nvSpPr>
            <p:cNvPr id="33" name="Rectangle 33"/>
            <p:cNvSpPr/>
            <p:nvPr/>
          </p:nvSpPr>
          <p:spPr>
            <a:xfrm>
              <a:off x="8096250" y="781050"/>
              <a:ext cx="3524250" cy="38100"/>
            </a:xfrm>
            <a:prstGeom prst="roundRect">
              <a:avLst>
                <a:gd name="adj" fmla="val 50000"/>
              </a:avLst>
            </a:prstGeom>
            <a:solidFill>
              <a:srgbClr val="FF6F00"/>
            </a:solidFill>
            <a:ln>
              <a:noFill/>
            </a:ln>
          </p:spPr>
        </p:sp>
        <p:grpSp>
          <p:nvGrpSpPr>
            <p:cNvPr id="36" name="Group 36"/>
            <p:cNvGrpSpPr/>
            <p:nvPr/>
          </p:nvGrpSpPr>
          <p:grpSpPr>
            <a:xfrm>
              <a:off x="8378428" y="1042392"/>
              <a:ext cx="217072" cy="194572"/>
              <a:chOff x="8378428" y="1042392"/>
              <a:chExt cx="217072" cy="194572"/>
            </a:xfrm>
          </p:grpSpPr>
          <p:sp>
            <p:nvSpPr>
              <p:cNvPr id="34" name="Freeform 34"/>
              <p:cNvSpPr/>
              <p:nvPr/>
            </p:nvSpPr>
            <p:spPr>
              <a:xfrm>
                <a:off x="8417095" y="1073348"/>
                <a:ext cx="154810" cy="123825"/>
              </a:xfrm>
              <a:custGeom>
                <a:avLst/>
                <a:gdLst/>
                <a:ahLst/>
                <a:cxnLst/>
                <a:rect l="l" t="t" r="r" b="b"/>
                <a:pathLst>
                  <a:path w="154810" h="123825">
                    <a:moveTo>
                      <a:pt x="154810" y="123825"/>
                    </a:moveTo>
                    <a:lnTo>
                      <a:pt x="77419" y="123825"/>
                    </a:lnTo>
                    <a:lnTo>
                      <a:pt x="116115" y="46434"/>
                    </a:lnTo>
                    <a:close/>
                    <a:moveTo>
                      <a:pt x="30985" y="69226"/>
                    </a:moveTo>
                    <a:lnTo>
                      <a:pt x="30985" y="69226"/>
                    </a:lnTo>
                    <a:cubicBezTo>
                      <a:pt x="50706" y="51623"/>
                      <a:pt x="61970" y="26435"/>
                      <a:pt x="61941" y="0"/>
                    </a:cubicBezTo>
                    <a:lnTo>
                      <a:pt x="29" y="0"/>
                    </a:lnTo>
                    <a:cubicBezTo>
                      <a:pt x="0" y="26435"/>
                      <a:pt x="11264" y="51623"/>
                      <a:pt x="30985" y="69226"/>
                    </a:cubicBezTo>
                    <a:close/>
                  </a:path>
                </a:pathLst>
              </a:custGeom>
              <a:solidFill>
                <a:srgbClr val="FF6F00">
                  <a:alpha val="20000"/>
                </a:srgbClr>
              </a:solidFill>
              <a:ln>
                <a:noFill/>
              </a:ln>
            </p:spPr>
          </p:sp>
          <p:sp>
            <p:nvSpPr>
              <p:cNvPr id="35" name="Freeform 35"/>
              <p:cNvSpPr/>
              <p:nvPr/>
            </p:nvSpPr>
            <p:spPr>
              <a:xfrm>
                <a:off x="8378428" y="1042392"/>
                <a:ext cx="217072" cy="194572"/>
              </a:xfrm>
              <a:custGeom>
                <a:avLst/>
                <a:gdLst/>
                <a:ahLst/>
                <a:cxnLst/>
                <a:rect l="l" t="t" r="r" b="b"/>
                <a:pathLst>
                  <a:path w="217072" h="194572">
                    <a:moveTo>
                      <a:pt x="215871" y="182274"/>
                    </a:moveTo>
                    <a:lnTo>
                      <a:pt x="161698" y="73927"/>
                    </a:lnTo>
                    <a:cubicBezTo>
                      <a:pt x="160387" y="71306"/>
                      <a:pt x="157707" y="69650"/>
                      <a:pt x="154776" y="69650"/>
                    </a:cubicBezTo>
                    <a:cubicBezTo>
                      <a:pt x="151845" y="69650"/>
                      <a:pt x="149166" y="71306"/>
                      <a:pt x="147855" y="73927"/>
                    </a:cubicBezTo>
                    <a:lnTo>
                      <a:pt x="126853" y="115941"/>
                    </a:lnTo>
                    <a:cubicBezTo>
                      <a:pt x="110391" y="115015"/>
                      <a:pt x="94552" y="109329"/>
                      <a:pt x="81260" y="99573"/>
                    </a:cubicBezTo>
                    <a:cubicBezTo>
                      <a:pt x="96855" y="82919"/>
                      <a:pt x="106304" y="61444"/>
                      <a:pt x="108047" y="38695"/>
                    </a:cubicBezTo>
                    <a:lnTo>
                      <a:pt x="131564" y="38695"/>
                    </a:lnTo>
                    <a:cubicBezTo>
                      <a:pt x="135838" y="38695"/>
                      <a:pt x="139303" y="35230"/>
                      <a:pt x="139303" y="30956"/>
                    </a:cubicBezTo>
                    <a:cubicBezTo>
                      <a:pt x="139303" y="26682"/>
                      <a:pt x="135838" y="23217"/>
                      <a:pt x="131564" y="23217"/>
                    </a:cubicBezTo>
                    <a:lnTo>
                      <a:pt x="77391" y="23217"/>
                    </a:lnTo>
                    <a:lnTo>
                      <a:pt x="77391" y="7739"/>
                    </a:lnTo>
                    <a:cubicBezTo>
                      <a:pt x="77391" y="3465"/>
                      <a:pt x="73926" y="0"/>
                      <a:pt x="69652" y="0"/>
                    </a:cubicBezTo>
                    <a:cubicBezTo>
                      <a:pt x="65377" y="0"/>
                      <a:pt x="61912" y="3465"/>
                      <a:pt x="61912" y="7739"/>
                    </a:cubicBezTo>
                    <a:lnTo>
                      <a:pt x="61912" y="23217"/>
                    </a:lnTo>
                    <a:lnTo>
                      <a:pt x="7739" y="23217"/>
                    </a:lnTo>
                    <a:cubicBezTo>
                      <a:pt x="3465" y="23217"/>
                      <a:pt x="0" y="26682"/>
                      <a:pt x="0" y="30956"/>
                    </a:cubicBezTo>
                    <a:cubicBezTo>
                      <a:pt x="0" y="35230"/>
                      <a:pt x="3465" y="38695"/>
                      <a:pt x="7739" y="38695"/>
                    </a:cubicBezTo>
                    <a:lnTo>
                      <a:pt x="92511" y="38695"/>
                    </a:lnTo>
                    <a:cubicBezTo>
                      <a:pt x="90792" y="57663"/>
                      <a:pt x="82740" y="75501"/>
                      <a:pt x="69652" y="89338"/>
                    </a:cubicBezTo>
                    <a:cubicBezTo>
                      <a:pt x="61498" y="80735"/>
                      <a:pt x="55237" y="70519"/>
                      <a:pt x="51271" y="59349"/>
                    </a:cubicBezTo>
                    <a:cubicBezTo>
                      <a:pt x="50384" y="56696"/>
                      <a:pt x="48134" y="54729"/>
                      <a:pt x="45387" y="54203"/>
                    </a:cubicBezTo>
                    <a:cubicBezTo>
                      <a:pt x="42640" y="53678"/>
                      <a:pt x="39822" y="54675"/>
                      <a:pt x="38018" y="56813"/>
                    </a:cubicBezTo>
                    <a:cubicBezTo>
                      <a:pt x="36214" y="58950"/>
                      <a:pt x="35704" y="61895"/>
                      <a:pt x="36683" y="64515"/>
                    </a:cubicBezTo>
                    <a:cubicBezTo>
                      <a:pt x="41300" y="77573"/>
                      <a:pt x="48573" y="89533"/>
                      <a:pt x="58043" y="99640"/>
                    </a:cubicBezTo>
                    <a:cubicBezTo>
                      <a:pt x="43462" y="110355"/>
                      <a:pt x="25833" y="116118"/>
                      <a:pt x="7739" y="116086"/>
                    </a:cubicBezTo>
                    <a:cubicBezTo>
                      <a:pt x="3465" y="116086"/>
                      <a:pt x="0" y="119551"/>
                      <a:pt x="0" y="123825"/>
                    </a:cubicBezTo>
                    <a:cubicBezTo>
                      <a:pt x="0" y="128099"/>
                      <a:pt x="3465" y="131564"/>
                      <a:pt x="7739" y="131564"/>
                    </a:cubicBezTo>
                    <a:cubicBezTo>
                      <a:pt x="30188" y="131589"/>
                      <a:pt x="51994" y="124066"/>
                      <a:pt x="69652" y="110204"/>
                    </a:cubicBezTo>
                    <a:cubicBezTo>
                      <a:pt x="84061" y="121463"/>
                      <a:pt x="101263" y="128589"/>
                      <a:pt x="119414" y="130819"/>
                    </a:cubicBezTo>
                    <a:lnTo>
                      <a:pt x="93681" y="182274"/>
                    </a:lnTo>
                    <a:cubicBezTo>
                      <a:pt x="91769" y="186097"/>
                      <a:pt x="93317" y="190746"/>
                      <a:pt x="97140" y="192659"/>
                    </a:cubicBezTo>
                    <a:cubicBezTo>
                      <a:pt x="100962" y="194572"/>
                      <a:pt x="105612" y="193023"/>
                      <a:pt x="107525" y="189201"/>
                    </a:cubicBezTo>
                    <a:lnTo>
                      <a:pt x="120865" y="162520"/>
                    </a:lnTo>
                    <a:lnTo>
                      <a:pt x="188688" y="162520"/>
                    </a:lnTo>
                    <a:lnTo>
                      <a:pt x="202028" y="189201"/>
                    </a:lnTo>
                    <a:cubicBezTo>
                      <a:pt x="203340" y="191823"/>
                      <a:pt x="206022" y="193479"/>
                      <a:pt x="208955" y="193477"/>
                    </a:cubicBezTo>
                    <a:cubicBezTo>
                      <a:pt x="211637" y="193475"/>
                      <a:pt x="214127" y="192085"/>
                      <a:pt x="215536" y="189803"/>
                    </a:cubicBezTo>
                    <a:cubicBezTo>
                      <a:pt x="216945" y="187521"/>
                      <a:pt x="217072" y="184673"/>
                      <a:pt x="215871" y="182274"/>
                    </a:cubicBezTo>
                    <a:close/>
                    <a:moveTo>
                      <a:pt x="128604" y="147042"/>
                    </a:moveTo>
                    <a:lnTo>
                      <a:pt x="154781" y="94697"/>
                    </a:lnTo>
                    <a:lnTo>
                      <a:pt x="180949" y="147042"/>
                    </a:lnTo>
                    <a:close/>
                  </a:path>
                </a:pathLst>
              </a:custGeom>
              <a:solidFill>
                <a:srgbClr val="FF6F00"/>
              </a:solidFill>
              <a:ln>
                <a:noFill/>
              </a:ln>
            </p:spPr>
          </p:sp>
        </p:grpSp>
        <p:sp>
          <p:nvSpPr>
            <p:cNvPr id="37" name="TextBox 37"/>
            <p:cNvSpPr txBox="1"/>
            <p:nvPr/>
          </p:nvSpPr>
          <p:spPr>
            <a:xfrm>
              <a:off x="8722042" y="1013936"/>
              <a:ext cx="158960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7. 伪代码翻译</a:t>
              </a:r>
              <a:endParaRPr lang="zh-CN" sz="1725" b="1" dirty="0">
                <a:solidFill>
                  <a:srgbClr val="263238"/>
                </a:solidFill>
                <a:latin typeface="Segoe UI" panose="020B0502040204020203"/>
                <a:ea typeface="微软雅黑"/>
                <a:cs typeface="Segoe UI" panose="020B0502040204020203"/>
              </a:endParaRPr>
            </a:p>
          </p:txBody>
        </p:sp>
        <p:sp>
          <p:nvSpPr>
            <p:cNvPr id="38" name="TextBox 38"/>
            <p:cNvSpPr txBox="1"/>
            <p:nvPr/>
          </p:nvSpPr>
          <p:spPr>
            <a:xfrm>
              <a:off x="8344852" y="1293971"/>
              <a:ext cx="220246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中文讲逻辑→AI翻译成代码</a:t>
              </a:r>
              <a:endParaRPr lang="zh-CN" sz="1425" dirty="0">
                <a:solidFill>
                  <a:srgbClr val="546E7A"/>
                </a:solidFill>
                <a:latin typeface="Segoe UI" panose="020B0502040204020203"/>
                <a:ea typeface="微软雅黑"/>
                <a:cs typeface="Segoe UI" panose="020B0502040204020203"/>
              </a:endParaRPr>
            </a:p>
          </p:txBody>
        </p:sp>
        <p:sp>
          <p:nvSpPr>
            <p:cNvPr id="39" name="TextBox 39"/>
            <p:cNvSpPr txBox="1"/>
            <p:nvPr/>
          </p:nvSpPr>
          <p:spPr>
            <a:xfrm>
              <a:off x="8344852" y="1541621"/>
              <a:ext cx="247800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人懂业务不懂语法？AI当翻译</a:t>
              </a:r>
              <a:endParaRPr lang="zh-CN" sz="1425" dirty="0">
                <a:solidFill>
                  <a:srgbClr val="546E7A"/>
                </a:solidFill>
                <a:latin typeface="Segoe UI" panose="020B0502040204020203"/>
                <a:ea typeface="微软雅黑"/>
                <a:cs typeface="Segoe UI" panose="020B0502040204020203"/>
              </a:endParaRPr>
            </a:p>
          </p:txBody>
        </p:sp>
        <p:sp>
          <p:nvSpPr>
            <p:cNvPr id="40" name="TextBox 40"/>
            <p:cNvSpPr txBox="1"/>
            <p:nvPr/>
          </p:nvSpPr>
          <p:spPr>
            <a:xfrm>
              <a:off x="8344852" y="1789271"/>
              <a:ext cx="245899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Rust代码看不懂不敢用→翻译</a:t>
              </a:r>
              <a:endParaRPr lang="zh-CN" sz="1425"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4852" y="2132171"/>
              <a:ext cx="204094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变量易懂+关键步骤注释</a:t>
              </a:r>
              <a:endParaRPr lang="zh-CN" sz="1425" dirty="0">
                <a:solidFill>
                  <a:srgbClr val="FF6F00"/>
                </a:solidFill>
                <a:latin typeface="Segoe UI" panose="020B0502040204020203"/>
                <a:ea typeface="微软雅黑"/>
                <a:cs typeface="Segoe UI" panose="020B0502040204020203"/>
              </a:endParaRPr>
            </a:p>
          </p:txBody>
        </p:sp>
      </p:grpSp>
      <p:grpSp>
        <p:nvGrpSpPr>
          <p:cNvPr id="51" name="Group 51"/>
          <p:cNvGrpSpPr/>
          <p:nvPr/>
        </p:nvGrpSpPr>
        <p:grpSpPr>
          <a:xfrm>
            <a:off x="571500" y="2619375"/>
            <a:ext cx="5899999" cy="1095375"/>
            <a:chOff x="571500" y="2619375"/>
            <a:chExt cx="5899999" cy="1095375"/>
          </a:xfrm>
        </p:grpSpPr>
        <p:sp>
          <p:nvSpPr>
            <p:cNvPr id="43" name="Rectangle 43"/>
            <p:cNvSpPr/>
            <p:nvPr/>
          </p:nvSpPr>
          <p:spPr>
            <a:xfrm>
              <a:off x="571500" y="2619375"/>
              <a:ext cx="5334000" cy="1095375"/>
            </a:xfrm>
            <a:prstGeom prst="roundRect">
              <a:avLst>
                <a:gd name="adj" fmla="val 8696"/>
              </a:avLst>
            </a:prstGeom>
            <a:solidFill>
              <a:srgbClr val="FFFFFF"/>
            </a:solidFill>
            <a:ln>
              <a:noFill/>
            </a:ln>
          </p:spPr>
        </p:sp>
        <p:sp>
          <p:nvSpPr>
            <p:cNvPr id="44" name="Rectangle 44"/>
            <p:cNvSpPr/>
            <p:nvPr/>
          </p:nvSpPr>
          <p:spPr>
            <a:xfrm>
              <a:off x="571500" y="2619375"/>
              <a:ext cx="5334000" cy="38100"/>
            </a:xfrm>
            <a:prstGeom prst="roundRect">
              <a:avLst>
                <a:gd name="adj" fmla="val 50000"/>
              </a:avLst>
            </a:prstGeom>
            <a:solidFill>
              <a:srgbClr val="2E7D32"/>
            </a:solidFill>
            <a:ln>
              <a:noFill/>
            </a:ln>
          </p:spPr>
        </p:sp>
        <p:grpSp>
          <p:nvGrpSpPr>
            <p:cNvPr id="47" name="Group 47"/>
            <p:cNvGrpSpPr/>
            <p:nvPr/>
          </p:nvGrpSpPr>
          <p:grpSpPr>
            <a:xfrm>
              <a:off x="868448" y="2880717"/>
              <a:ext cx="187183" cy="193477"/>
              <a:chOff x="868448" y="2880717"/>
              <a:chExt cx="187183" cy="193477"/>
            </a:xfrm>
          </p:grpSpPr>
          <p:sp>
            <p:nvSpPr>
              <p:cNvPr id="45" name="Freeform 45"/>
              <p:cNvSpPr/>
              <p:nvPr/>
            </p:nvSpPr>
            <p:spPr>
              <a:xfrm>
                <a:off x="876523" y="3003188"/>
                <a:ext cx="170975" cy="63268"/>
              </a:xfrm>
              <a:custGeom>
                <a:avLst/>
                <a:gdLst/>
                <a:ahLst/>
                <a:cxnLst/>
                <a:rect l="l" t="t" r="r" b="b"/>
                <a:pathLst>
                  <a:path w="170975" h="63268">
                    <a:moveTo>
                      <a:pt x="162893" y="63267"/>
                    </a:moveTo>
                    <a:lnTo>
                      <a:pt x="8111" y="63267"/>
                    </a:lnTo>
                    <a:cubicBezTo>
                      <a:pt x="5322" y="63268"/>
                      <a:pt x="2748" y="61767"/>
                      <a:pt x="1374" y="59340"/>
                    </a:cubicBezTo>
                    <a:cubicBezTo>
                      <a:pt x="0" y="56912"/>
                      <a:pt x="39" y="53933"/>
                      <a:pt x="1475" y="51542"/>
                    </a:cubicBezTo>
                    <a:lnTo>
                      <a:pt x="30961" y="2399"/>
                    </a:lnTo>
                    <a:lnTo>
                      <a:pt x="30961" y="2399"/>
                    </a:lnTo>
                    <a:cubicBezTo>
                      <a:pt x="43760" y="0"/>
                      <a:pt x="61917" y="1035"/>
                      <a:pt x="85492" y="12963"/>
                    </a:cubicBezTo>
                    <a:cubicBezTo>
                      <a:pt x="116691" y="28760"/>
                      <a:pt x="138457" y="25452"/>
                      <a:pt x="150791" y="20363"/>
                    </a:cubicBezTo>
                    <a:lnTo>
                      <a:pt x="150791" y="20363"/>
                    </a:lnTo>
                    <a:lnTo>
                      <a:pt x="169500" y="51542"/>
                    </a:lnTo>
                    <a:cubicBezTo>
                      <a:pt x="170934" y="53929"/>
                      <a:pt x="170975" y="56902"/>
                      <a:pt x="169608" y="59327"/>
                    </a:cubicBezTo>
                    <a:cubicBezTo>
                      <a:pt x="168241" y="61753"/>
                      <a:pt x="165677" y="63257"/>
                      <a:pt x="162893" y="63267"/>
                    </a:cubicBezTo>
                    <a:close/>
                  </a:path>
                </a:pathLst>
              </a:custGeom>
              <a:solidFill>
                <a:srgbClr val="2E7D32">
                  <a:alpha val="20000"/>
                </a:srgbClr>
              </a:solidFill>
              <a:ln>
                <a:noFill/>
              </a:ln>
            </p:spPr>
          </p:sp>
          <p:sp>
            <p:nvSpPr>
              <p:cNvPr id="46" name="Freeform 46"/>
              <p:cNvSpPr/>
              <p:nvPr/>
            </p:nvSpPr>
            <p:spPr>
              <a:xfrm>
                <a:off x="868448" y="2880717"/>
                <a:ext cx="187183" cy="193477"/>
              </a:xfrm>
              <a:custGeom>
                <a:avLst/>
                <a:gdLst/>
                <a:ahLst/>
                <a:cxnLst/>
                <a:rect l="l" t="t" r="r" b="b"/>
                <a:pathLst>
                  <a:path w="187183" h="193477">
                    <a:moveTo>
                      <a:pt x="184211" y="170037"/>
                    </a:moveTo>
                    <a:lnTo>
                      <a:pt x="124533" y="70542"/>
                    </a:lnTo>
                    <a:lnTo>
                      <a:pt x="124533" y="15478"/>
                    </a:lnTo>
                    <a:lnTo>
                      <a:pt x="132272" y="15478"/>
                    </a:lnTo>
                    <a:cubicBezTo>
                      <a:pt x="136546" y="15478"/>
                      <a:pt x="140011" y="12013"/>
                      <a:pt x="140011" y="7739"/>
                    </a:cubicBezTo>
                    <a:cubicBezTo>
                      <a:pt x="140011" y="3465"/>
                      <a:pt x="136546" y="0"/>
                      <a:pt x="132272" y="0"/>
                    </a:cubicBezTo>
                    <a:lnTo>
                      <a:pt x="54881" y="0"/>
                    </a:lnTo>
                    <a:cubicBezTo>
                      <a:pt x="50607" y="0"/>
                      <a:pt x="47142" y="3465"/>
                      <a:pt x="47142" y="7739"/>
                    </a:cubicBezTo>
                    <a:cubicBezTo>
                      <a:pt x="47142" y="12013"/>
                      <a:pt x="50607" y="15478"/>
                      <a:pt x="54881" y="15478"/>
                    </a:cubicBezTo>
                    <a:lnTo>
                      <a:pt x="62621" y="15478"/>
                    </a:lnTo>
                    <a:lnTo>
                      <a:pt x="62621" y="70542"/>
                    </a:lnTo>
                    <a:lnTo>
                      <a:pt x="2943" y="170037"/>
                    </a:lnTo>
                    <a:cubicBezTo>
                      <a:pt x="77" y="174814"/>
                      <a:pt x="0" y="180762"/>
                      <a:pt x="2740" y="185612"/>
                    </a:cubicBezTo>
                    <a:cubicBezTo>
                      <a:pt x="5481" y="190462"/>
                      <a:pt x="10616" y="193466"/>
                      <a:pt x="16186" y="193477"/>
                    </a:cubicBezTo>
                    <a:lnTo>
                      <a:pt x="170967" y="193477"/>
                    </a:lnTo>
                    <a:cubicBezTo>
                      <a:pt x="176543" y="193476"/>
                      <a:pt x="181688" y="190477"/>
                      <a:pt x="184435" y="185625"/>
                    </a:cubicBezTo>
                    <a:cubicBezTo>
                      <a:pt x="187183" y="180773"/>
                      <a:pt x="187108" y="174818"/>
                      <a:pt x="184240" y="170037"/>
                    </a:cubicBezTo>
                    <a:close/>
                    <a:moveTo>
                      <a:pt x="76996" y="76665"/>
                    </a:moveTo>
                    <a:cubicBezTo>
                      <a:pt x="77720" y="75465"/>
                      <a:pt x="78101" y="74090"/>
                      <a:pt x="78099" y="72689"/>
                    </a:cubicBezTo>
                    <a:lnTo>
                      <a:pt x="78099" y="15478"/>
                    </a:lnTo>
                    <a:lnTo>
                      <a:pt x="109055" y="15478"/>
                    </a:lnTo>
                    <a:lnTo>
                      <a:pt x="109055" y="72689"/>
                    </a:lnTo>
                    <a:cubicBezTo>
                      <a:pt x="109053" y="74090"/>
                      <a:pt x="109434" y="75465"/>
                      <a:pt x="110158" y="76665"/>
                    </a:cubicBezTo>
                    <a:lnTo>
                      <a:pt x="147131" y="138336"/>
                    </a:lnTo>
                    <a:cubicBezTo>
                      <a:pt x="135523" y="140628"/>
                      <a:pt x="119009" y="139661"/>
                      <a:pt x="97069" y="128556"/>
                    </a:cubicBezTo>
                    <a:cubicBezTo>
                      <a:pt x="81678" y="120768"/>
                      <a:pt x="67032" y="116637"/>
                      <a:pt x="53324" y="116163"/>
                    </a:cubicBezTo>
                    <a:close/>
                    <a:moveTo>
                      <a:pt x="16186" y="177998"/>
                    </a:moveTo>
                    <a:lnTo>
                      <a:pt x="43795" y="131970"/>
                    </a:lnTo>
                    <a:cubicBezTo>
                      <a:pt x="57580" y="130297"/>
                      <a:pt x="73117" y="133760"/>
                      <a:pt x="90056" y="142341"/>
                    </a:cubicBezTo>
                    <a:cubicBezTo>
                      <a:pt x="108436" y="151637"/>
                      <a:pt x="123914" y="154801"/>
                      <a:pt x="136490" y="154801"/>
                    </a:cubicBezTo>
                    <a:cubicBezTo>
                      <a:pt x="142886" y="154829"/>
                      <a:pt x="149253" y="153949"/>
                      <a:pt x="155402" y="152189"/>
                    </a:cubicBezTo>
                    <a:lnTo>
                      <a:pt x="170967" y="177998"/>
                    </a:lnTo>
                    <a:close/>
                  </a:path>
                </a:pathLst>
              </a:custGeom>
              <a:solidFill>
                <a:srgbClr val="2E7D32"/>
              </a:solidFill>
              <a:ln>
                <a:noFill/>
              </a:ln>
            </p:spPr>
          </p:sp>
        </p:grpSp>
        <p:sp>
          <p:nvSpPr>
            <p:cNvPr id="48" name="TextBox 48"/>
            <p:cNvSpPr txBox="1"/>
            <p:nvPr/>
          </p:nvSpPr>
          <p:spPr>
            <a:xfrm>
              <a:off x="1197292" y="2852261"/>
              <a:ext cx="2918024"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8. 红绿蓝（TDD式AI编程）</a:t>
              </a:r>
              <a:endParaRPr lang="zh-CN" sz="1725" b="1" dirty="0">
                <a:solidFill>
                  <a:srgbClr val="263238"/>
                </a:solidFill>
                <a:latin typeface="Segoe UI" panose="020B0502040204020203"/>
                <a:ea typeface="微软雅黑"/>
                <a:cs typeface="Segoe UI" panose="020B0502040204020203"/>
              </a:endParaRPr>
            </a:p>
          </p:txBody>
        </p:sp>
        <p:sp>
          <p:nvSpPr>
            <p:cNvPr id="49" name="TextBox 49"/>
            <p:cNvSpPr txBox="1"/>
            <p:nvPr/>
          </p:nvSpPr>
          <p:spPr>
            <a:xfrm>
              <a:off x="820102" y="3132296"/>
              <a:ext cx="503382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红：先写测试用例 → 绿：实现最小通过代码 → 蓝：优化重构</a:t>
              </a:r>
              <a:endParaRPr lang="zh-CN" sz="1425" dirty="0">
                <a:solidFill>
                  <a:srgbClr val="546E7A"/>
                </a:solidFill>
                <a:latin typeface="Segoe UI" panose="020B0502040204020203"/>
                <a:ea typeface="微软雅黑"/>
                <a:cs typeface="Segoe UI" panose="020B0502040204020203"/>
              </a:endParaRPr>
            </a:p>
          </p:txBody>
        </p:sp>
        <p:sp>
          <p:nvSpPr>
            <p:cNvPr id="50" name="TextBox 50"/>
            <p:cNvSpPr txBox="1"/>
            <p:nvPr/>
          </p:nvSpPr>
          <p:spPr>
            <a:xfrm>
              <a:off x="820102" y="3389471"/>
              <a:ext cx="5651397"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反面：直接生成折扣函数→改3轮才改对 | 正面：测试驱动→一次到位</a:t>
              </a:r>
              <a:endParaRPr lang="zh-CN" sz="1425" dirty="0">
                <a:solidFill>
                  <a:srgbClr val="FF6F00"/>
                </a:solidFill>
                <a:latin typeface="Segoe UI" panose="020B0502040204020203"/>
                <a:ea typeface="微软雅黑"/>
                <a:cs typeface="Segoe UI" panose="020B0502040204020203"/>
              </a:endParaRPr>
            </a:p>
          </p:txBody>
        </p:sp>
      </p:grpSp>
      <p:grpSp>
        <p:nvGrpSpPr>
          <p:cNvPr id="60" name="Group 60"/>
          <p:cNvGrpSpPr/>
          <p:nvPr/>
        </p:nvGrpSpPr>
        <p:grpSpPr>
          <a:xfrm>
            <a:off x="6286500" y="2619375"/>
            <a:ext cx="5334000" cy="1095375"/>
            <a:chOff x="6286500" y="2619375"/>
            <a:chExt cx="5334000" cy="1095375"/>
          </a:xfrm>
        </p:grpSpPr>
        <p:sp>
          <p:nvSpPr>
            <p:cNvPr id="52" name="Rectangle 52"/>
            <p:cNvSpPr/>
            <p:nvPr/>
          </p:nvSpPr>
          <p:spPr>
            <a:xfrm>
              <a:off x="6286500" y="2619375"/>
              <a:ext cx="5334000" cy="1095375"/>
            </a:xfrm>
            <a:prstGeom prst="roundRect">
              <a:avLst>
                <a:gd name="adj" fmla="val 8696"/>
              </a:avLst>
            </a:prstGeom>
            <a:solidFill>
              <a:srgbClr val="FFFFFF"/>
            </a:solidFill>
            <a:ln>
              <a:noFill/>
            </a:ln>
          </p:spPr>
        </p:sp>
        <p:sp>
          <p:nvSpPr>
            <p:cNvPr id="53" name="Rectangle 53"/>
            <p:cNvSpPr/>
            <p:nvPr/>
          </p:nvSpPr>
          <p:spPr>
            <a:xfrm>
              <a:off x="6286500" y="2619375"/>
              <a:ext cx="5334000" cy="38100"/>
            </a:xfrm>
            <a:prstGeom prst="roundRect">
              <a:avLst>
                <a:gd name="adj" fmla="val 50000"/>
              </a:avLst>
            </a:prstGeom>
            <a:solidFill>
              <a:srgbClr val="C62828"/>
            </a:solidFill>
            <a:ln>
              <a:noFill/>
            </a:ln>
          </p:spPr>
        </p:sp>
        <p:grpSp>
          <p:nvGrpSpPr>
            <p:cNvPr id="56" name="Group 56"/>
            <p:cNvGrpSpPr/>
            <p:nvPr/>
          </p:nvGrpSpPr>
          <p:grpSpPr>
            <a:xfrm>
              <a:off x="6565690" y="2871359"/>
              <a:ext cx="224386" cy="222833"/>
              <a:chOff x="6565690" y="2871359"/>
              <a:chExt cx="224386" cy="222833"/>
            </a:xfrm>
          </p:grpSpPr>
          <p:sp>
            <p:nvSpPr>
              <p:cNvPr id="54" name="Freeform 54"/>
              <p:cNvSpPr/>
              <p:nvPr/>
            </p:nvSpPr>
            <p:spPr>
              <a:xfrm>
                <a:off x="6630591" y="2934891"/>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C62828">
                  <a:alpha val="20000"/>
                </a:srgbClr>
              </a:solidFill>
              <a:ln>
                <a:noFill/>
              </a:ln>
            </p:spPr>
          </p:sp>
          <p:sp>
            <p:nvSpPr>
              <p:cNvPr id="55" name="Freeform 55"/>
              <p:cNvSpPr/>
              <p:nvPr/>
            </p:nvSpPr>
            <p:spPr>
              <a:xfrm>
                <a:off x="6565690" y="2871359"/>
                <a:ext cx="224386" cy="222833"/>
              </a:xfrm>
              <a:custGeom>
                <a:avLst/>
                <a:gdLst/>
                <a:ahLst/>
                <a:cxnLst/>
                <a:rect l="l" t="t" r="r" b="b"/>
                <a:pathLst>
                  <a:path w="224386" h="222833">
                    <a:moveTo>
                      <a:pt x="202143" y="66589"/>
                    </a:moveTo>
                    <a:cubicBezTo>
                      <a:pt x="224386" y="113109"/>
                      <a:pt x="207895" y="168916"/>
                      <a:pt x="163939" y="195874"/>
                    </a:cubicBezTo>
                    <a:cubicBezTo>
                      <a:pt x="119982" y="222833"/>
                      <a:pt x="62763" y="212232"/>
                      <a:pt x="31382" y="171316"/>
                    </a:cubicBezTo>
                    <a:cubicBezTo>
                      <a:pt x="0" y="130400"/>
                      <a:pt x="4595" y="72390"/>
                      <a:pt x="42027" y="36925"/>
                    </a:cubicBezTo>
                    <a:cubicBezTo>
                      <a:pt x="79460" y="1460"/>
                      <a:pt x="137634" y="0"/>
                      <a:pt x="176798" y="33543"/>
                    </a:cubicBezTo>
                    <a:lnTo>
                      <a:pt x="198728" y="11603"/>
                    </a:lnTo>
                    <a:cubicBezTo>
                      <a:pt x="201752" y="8579"/>
                      <a:pt x="206655" y="8579"/>
                      <a:pt x="209679" y="11603"/>
                    </a:cubicBezTo>
                    <a:cubicBezTo>
                      <a:pt x="212703" y="14627"/>
                      <a:pt x="212703" y="19529"/>
                      <a:pt x="209679" y="22553"/>
                    </a:cubicBezTo>
                    <a:lnTo>
                      <a:pt x="116810" y="115422"/>
                    </a:lnTo>
                    <a:cubicBezTo>
                      <a:pt x="113786" y="118446"/>
                      <a:pt x="108883" y="118446"/>
                      <a:pt x="105859" y="115422"/>
                    </a:cubicBezTo>
                    <a:cubicBezTo>
                      <a:pt x="102835" y="112398"/>
                      <a:pt x="102835" y="107495"/>
                      <a:pt x="105859" y="104471"/>
                    </a:cubicBezTo>
                    <a:lnTo>
                      <a:pt x="132675" y="77655"/>
                    </a:lnTo>
                    <a:cubicBezTo>
                      <a:pt x="117714" y="67760"/>
                      <a:pt x="97913" y="69445"/>
                      <a:pt x="84838" y="81725"/>
                    </a:cubicBezTo>
                    <a:cubicBezTo>
                      <a:pt x="71763" y="94006"/>
                      <a:pt x="68842" y="113662"/>
                      <a:pt x="77781" y="129214"/>
                    </a:cubicBezTo>
                    <a:cubicBezTo>
                      <a:pt x="86720" y="144765"/>
                      <a:pt x="105175" y="152135"/>
                      <a:pt x="122367" y="147018"/>
                    </a:cubicBezTo>
                    <a:cubicBezTo>
                      <a:pt x="139560" y="141902"/>
                      <a:pt x="150982" y="125640"/>
                      <a:pt x="149962" y="107731"/>
                    </a:cubicBezTo>
                    <a:cubicBezTo>
                      <a:pt x="149722" y="103457"/>
                      <a:pt x="152992" y="99797"/>
                      <a:pt x="157266" y="99557"/>
                    </a:cubicBezTo>
                    <a:cubicBezTo>
                      <a:pt x="161540" y="99317"/>
                      <a:pt x="165200" y="102587"/>
                      <a:pt x="165440" y="106861"/>
                    </a:cubicBezTo>
                    <a:cubicBezTo>
                      <a:pt x="166894" y="132225"/>
                      <a:pt x="150525" y="155193"/>
                      <a:pt x="126074" y="162096"/>
                    </a:cubicBezTo>
                    <a:cubicBezTo>
                      <a:pt x="101624" y="168998"/>
                      <a:pt x="75661" y="157982"/>
                      <a:pt x="63635" y="135602"/>
                    </a:cubicBezTo>
                    <a:cubicBezTo>
                      <a:pt x="51610" y="113222"/>
                      <a:pt x="56752" y="85491"/>
                      <a:pt x="76003" y="68912"/>
                    </a:cubicBezTo>
                    <a:cubicBezTo>
                      <a:pt x="95254" y="52332"/>
                      <a:pt x="123441" y="51358"/>
                      <a:pt x="143790" y="66569"/>
                    </a:cubicBezTo>
                    <a:lnTo>
                      <a:pt x="165798" y="44561"/>
                    </a:lnTo>
                    <a:cubicBezTo>
                      <a:pt x="132400" y="16832"/>
                      <a:pt x="83474" y="18719"/>
                      <a:pt x="52311" y="48938"/>
                    </a:cubicBezTo>
                    <a:cubicBezTo>
                      <a:pt x="21147" y="79158"/>
                      <a:pt x="17756" y="128002"/>
                      <a:pt x="44446" y="162238"/>
                    </a:cubicBezTo>
                    <a:cubicBezTo>
                      <a:pt x="71135" y="196473"/>
                      <a:pt x="119330" y="205102"/>
                      <a:pt x="156240" y="182254"/>
                    </a:cubicBezTo>
                    <a:cubicBezTo>
                      <a:pt x="193150" y="159405"/>
                      <a:pt x="206917" y="112418"/>
                      <a:pt x="188174" y="73264"/>
                    </a:cubicBezTo>
                    <a:cubicBezTo>
                      <a:pt x="186331" y="69406"/>
                      <a:pt x="187964" y="64785"/>
                      <a:pt x="191821" y="62942"/>
                    </a:cubicBezTo>
                    <a:cubicBezTo>
                      <a:pt x="195678" y="61098"/>
                      <a:pt x="200300" y="62731"/>
                      <a:pt x="202143" y="66589"/>
                    </a:cubicBezTo>
                    <a:close/>
                  </a:path>
                </a:pathLst>
              </a:custGeom>
              <a:solidFill>
                <a:srgbClr val="C62828"/>
              </a:solidFill>
              <a:ln>
                <a:noFill/>
              </a:ln>
            </p:spPr>
          </p:sp>
        </p:grpSp>
        <p:sp>
          <p:nvSpPr>
            <p:cNvPr id="57" name="TextBox 57"/>
            <p:cNvSpPr txBox="1"/>
            <p:nvPr/>
          </p:nvSpPr>
          <p:spPr>
            <a:xfrm>
              <a:off x="6912292" y="2852261"/>
              <a:ext cx="134807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9. 单一职责</a:t>
              </a:r>
              <a:endParaRPr lang="zh-CN" sz="1725" b="1" dirty="0">
                <a:solidFill>
                  <a:srgbClr val="263238"/>
                </a:solidFill>
                <a:latin typeface="Segoe UI" panose="020B0502040204020203"/>
                <a:ea typeface="微软雅黑"/>
                <a:cs typeface="Segoe UI" panose="020B0502040204020203"/>
              </a:endParaRPr>
            </a:p>
          </p:txBody>
        </p:sp>
        <p:sp>
          <p:nvSpPr>
            <p:cNvPr id="58" name="TextBox 58"/>
            <p:cNvSpPr txBox="1"/>
            <p:nvPr/>
          </p:nvSpPr>
          <p:spPr>
            <a:xfrm>
              <a:off x="6535102" y="3132296"/>
              <a:ext cx="304807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一次只给AI一个任务，不混在一起说</a:t>
              </a:r>
              <a:endParaRPr lang="zh-CN" sz="1425" dirty="0">
                <a:solidFill>
                  <a:srgbClr val="546E7A"/>
                </a:solidFill>
                <a:latin typeface="Segoe UI" panose="020B0502040204020203"/>
                <a:ea typeface="微软雅黑"/>
                <a:cs typeface="Segoe UI" panose="020B0502040204020203"/>
              </a:endParaRPr>
            </a:p>
          </p:txBody>
        </p:sp>
        <p:sp>
          <p:nvSpPr>
            <p:cNvPr id="59" name="TextBox 59"/>
            <p:cNvSpPr txBox="1"/>
            <p:nvPr/>
          </p:nvSpPr>
          <p:spPr>
            <a:xfrm>
              <a:off x="6535102" y="3389471"/>
              <a:ext cx="437823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反面：修bug+优化+加日志+整理格式→哪件都做不好</a:t>
              </a:r>
              <a:endParaRPr lang="zh-CN" sz="1425" dirty="0">
                <a:solidFill>
                  <a:srgbClr val="FF6F00"/>
                </a:solidFill>
                <a:latin typeface="Segoe UI" panose="020B0502040204020203"/>
                <a:ea typeface="微软雅黑"/>
                <a:cs typeface="Segoe UI" panose="020B0502040204020203"/>
              </a:endParaRPr>
            </a:p>
          </p:txBody>
        </p:sp>
      </p:grpSp>
      <p:grpSp>
        <p:nvGrpSpPr>
          <p:cNvPr id="63" name="Group 63"/>
          <p:cNvGrpSpPr/>
          <p:nvPr/>
        </p:nvGrpSpPr>
        <p:grpSpPr>
          <a:xfrm>
            <a:off x="571500" y="3952875"/>
            <a:ext cx="11049000" cy="457200"/>
            <a:chOff x="571500" y="3952875"/>
            <a:chExt cx="11049000" cy="457200"/>
          </a:xfrm>
        </p:grpSpPr>
        <p:sp>
          <p:nvSpPr>
            <p:cNvPr id="61" name="Rectangle 61"/>
            <p:cNvSpPr/>
            <p:nvPr/>
          </p:nvSpPr>
          <p:spPr>
            <a:xfrm>
              <a:off x="571500" y="3952875"/>
              <a:ext cx="11049000" cy="457200"/>
            </a:xfrm>
            <a:prstGeom prst="roundRect">
              <a:avLst>
                <a:gd name="adj" fmla="val 16667"/>
              </a:avLst>
            </a:prstGeom>
            <a:solidFill>
              <a:srgbClr val="1565C0">
                <a:alpha val="6000"/>
              </a:srgbClr>
            </a:solidFill>
            <a:ln>
              <a:noFill/>
            </a:ln>
          </p:spPr>
        </p:sp>
        <p:sp>
          <p:nvSpPr>
            <p:cNvPr id="62" name="TextBox 62"/>
            <p:cNvSpPr txBox="1"/>
            <p:nvPr/>
          </p:nvSpPr>
          <p:spPr>
            <a:xfrm>
              <a:off x="2627269" y="4086225"/>
              <a:ext cx="6937462"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阶段核心：精准控制AI的修改范围，用测试驱动保证质量，一次只做一件事</a:t>
              </a:r>
              <a:endParaRPr lang="zh-CN" sz="1500" b="1" dirty="0">
                <a:solidFill>
                  <a:srgbClr val="1565C0"/>
                </a:solidFill>
                <a:latin typeface="Segoe UI" panose="020B0502040204020203"/>
                <a:ea typeface="微软雅黑"/>
                <a:cs typeface="Segoe UI" panose="020B0502040204020203"/>
              </a:endParaRPr>
            </a:p>
          </p:txBody>
        </p:sp>
      </p:grpSp>
      <p:sp>
        <p:nvSpPr>
          <p:cNvPr id="64" name="TextBox 64"/>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04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400"/>
                                        <p:tgtEl>
                                          <p:spTgt spid="2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image">
                                      <p:cBhvr>
                                        <p:cTn id="15" dur="400"/>
                                        <p:tgtEl>
                                          <p:spTgt spid="4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400"/>
                                        <p:tgtEl>
                                          <p:spTgt spid="51"/>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wipe(left)">
                                      <p:cBhvr>
                                        <p:cTn id="23" dur="400"/>
                                        <p:tgtEl>
                                          <p:spTgt spid="60"/>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P spid="42" grpId="0"/>
      <p:bldP spid="51" grpId="0"/>
      <p:bldP spid="60" grpId="0"/>
      <p:bldP spid="6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32206"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阶段三：迭代与优化 — 懒在安全，避免出乱子</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21" name="Group 21"/>
          <p:cNvGrpSpPr/>
          <p:nvPr/>
        </p:nvGrpSpPr>
        <p:grpSpPr>
          <a:xfrm>
            <a:off x="571500" y="809625"/>
            <a:ext cx="3914251" cy="1850231"/>
            <a:chOff x="571500" y="809625"/>
            <a:chExt cx="3914251" cy="1850231"/>
          </a:xfrm>
        </p:grpSpPr>
        <p:sp>
          <p:nvSpPr>
            <p:cNvPr id="10" name="Rectangle 10"/>
            <p:cNvSpPr/>
            <p:nvPr/>
          </p:nvSpPr>
          <p:spPr>
            <a:xfrm>
              <a:off x="571500" y="809625"/>
              <a:ext cx="3524250" cy="1762125"/>
            </a:xfrm>
            <a:prstGeom prst="roundRect">
              <a:avLst>
                <a:gd name="adj" fmla="val 5405"/>
              </a:avLst>
            </a:prstGeom>
            <a:solidFill>
              <a:srgbClr val="FFFFFF"/>
            </a:solidFill>
            <a:ln>
              <a:noFill/>
            </a:ln>
          </p:spPr>
        </p:sp>
        <p:sp>
          <p:nvSpPr>
            <p:cNvPr id="11" name="Rectangle 11"/>
            <p:cNvSpPr/>
            <p:nvPr/>
          </p:nvSpPr>
          <p:spPr>
            <a:xfrm>
              <a:off x="571500" y="809625"/>
              <a:ext cx="3524250" cy="38100"/>
            </a:xfrm>
            <a:prstGeom prst="roundRect">
              <a:avLst>
                <a:gd name="adj" fmla="val 50000"/>
              </a:avLst>
            </a:prstGeom>
            <a:solidFill>
              <a:srgbClr val="2E7D32"/>
            </a:solidFill>
            <a:ln>
              <a:noFill/>
            </a:ln>
          </p:spPr>
        </p:sp>
        <p:grpSp>
          <p:nvGrpSpPr>
            <p:cNvPr id="14" name="Group 14"/>
            <p:cNvGrpSpPr/>
            <p:nvPr/>
          </p:nvGrpSpPr>
          <p:grpSpPr>
            <a:xfrm>
              <a:off x="868496" y="1054396"/>
              <a:ext cx="187058" cy="217787"/>
              <a:chOff x="868496" y="1054396"/>
              <a:chExt cx="187058" cy="217787"/>
            </a:xfrm>
          </p:grpSpPr>
          <p:sp>
            <p:nvSpPr>
              <p:cNvPr id="12" name="Freeform 12"/>
              <p:cNvSpPr/>
              <p:nvPr/>
            </p:nvSpPr>
            <p:spPr>
              <a:xfrm>
                <a:off x="876557" y="1155042"/>
                <a:ext cx="170936" cy="102106"/>
              </a:xfrm>
              <a:custGeom>
                <a:avLst/>
                <a:gdLst/>
                <a:ahLst/>
                <a:cxnLst/>
                <a:rect l="l" t="t" r="r" b="b"/>
                <a:pathLst>
                  <a:path w="170936" h="102106">
                    <a:moveTo>
                      <a:pt x="53361" y="78445"/>
                    </a:moveTo>
                    <a:lnTo>
                      <a:pt x="24871" y="99960"/>
                    </a:lnTo>
                    <a:cubicBezTo>
                      <a:pt x="22785" y="101630"/>
                      <a:pt x="19985" y="102106"/>
                      <a:pt x="17464" y="101218"/>
                    </a:cubicBezTo>
                    <a:cubicBezTo>
                      <a:pt x="14943" y="100331"/>
                      <a:pt x="13059" y="98206"/>
                      <a:pt x="12479" y="95597"/>
                    </a:cubicBezTo>
                    <a:lnTo>
                      <a:pt x="522" y="41781"/>
                    </a:lnTo>
                    <a:cubicBezTo>
                      <a:pt x="0" y="39440"/>
                      <a:pt x="593" y="36989"/>
                      <a:pt x="2128" y="35145"/>
                    </a:cubicBezTo>
                    <a:lnTo>
                      <a:pt x="31449" y="0"/>
                    </a:lnTo>
                    <a:cubicBezTo>
                      <a:pt x="30327" y="22579"/>
                      <a:pt x="35841" y="48872"/>
                      <a:pt x="53361" y="78445"/>
                    </a:cubicBezTo>
                    <a:close/>
                    <a:moveTo>
                      <a:pt x="168808" y="35145"/>
                    </a:moveTo>
                    <a:lnTo>
                      <a:pt x="139487" y="0"/>
                    </a:lnTo>
                    <a:cubicBezTo>
                      <a:pt x="140657" y="22579"/>
                      <a:pt x="135095" y="48872"/>
                      <a:pt x="117576" y="78445"/>
                    </a:cubicBezTo>
                    <a:lnTo>
                      <a:pt x="146065" y="99960"/>
                    </a:lnTo>
                    <a:cubicBezTo>
                      <a:pt x="148151" y="101630"/>
                      <a:pt x="150951" y="102106"/>
                      <a:pt x="153472" y="101218"/>
                    </a:cubicBezTo>
                    <a:cubicBezTo>
                      <a:pt x="155993" y="100331"/>
                      <a:pt x="157878" y="98206"/>
                      <a:pt x="158457" y="95597"/>
                    </a:cubicBezTo>
                    <a:lnTo>
                      <a:pt x="170414" y="41781"/>
                    </a:lnTo>
                    <a:cubicBezTo>
                      <a:pt x="170936" y="39440"/>
                      <a:pt x="170343" y="36989"/>
                      <a:pt x="168808" y="35145"/>
                    </a:cubicBezTo>
                    <a:close/>
                  </a:path>
                </a:pathLst>
              </a:custGeom>
              <a:solidFill>
                <a:srgbClr val="2E7D32">
                  <a:alpha val="20000"/>
                </a:srgbClr>
              </a:solidFill>
              <a:ln>
                <a:noFill/>
              </a:ln>
            </p:spPr>
          </p:sp>
          <p:sp>
            <p:nvSpPr>
              <p:cNvPr id="13" name="Freeform 13"/>
              <p:cNvSpPr/>
              <p:nvPr/>
            </p:nvSpPr>
            <p:spPr>
              <a:xfrm>
                <a:off x="868496" y="1054396"/>
                <a:ext cx="187058" cy="217787"/>
              </a:xfrm>
              <a:custGeom>
                <a:avLst/>
                <a:gdLst/>
                <a:ahLst/>
                <a:cxnLst/>
                <a:rect l="l" t="t" r="r" b="b"/>
                <a:pathLst>
                  <a:path w="187058" h="217787">
                    <a:moveTo>
                      <a:pt x="116746" y="210048"/>
                    </a:moveTo>
                    <a:cubicBezTo>
                      <a:pt x="116746" y="214322"/>
                      <a:pt x="113281" y="217787"/>
                      <a:pt x="109007" y="217787"/>
                    </a:cubicBezTo>
                    <a:lnTo>
                      <a:pt x="78051" y="217787"/>
                    </a:lnTo>
                    <a:cubicBezTo>
                      <a:pt x="73777" y="217787"/>
                      <a:pt x="70312" y="214322"/>
                      <a:pt x="70312" y="210048"/>
                    </a:cubicBezTo>
                    <a:cubicBezTo>
                      <a:pt x="70312" y="205774"/>
                      <a:pt x="73777" y="202309"/>
                      <a:pt x="78051" y="202309"/>
                    </a:cubicBezTo>
                    <a:lnTo>
                      <a:pt x="109007" y="202309"/>
                    </a:lnTo>
                    <a:cubicBezTo>
                      <a:pt x="113281" y="202309"/>
                      <a:pt x="116746" y="205774"/>
                      <a:pt x="116746" y="210048"/>
                    </a:cubicBezTo>
                    <a:close/>
                    <a:moveTo>
                      <a:pt x="93529" y="101701"/>
                    </a:moveTo>
                    <a:cubicBezTo>
                      <a:pt x="99940" y="101701"/>
                      <a:pt x="105137" y="96504"/>
                      <a:pt x="105137" y="90092"/>
                    </a:cubicBezTo>
                    <a:cubicBezTo>
                      <a:pt x="105137" y="83681"/>
                      <a:pt x="99940" y="78484"/>
                      <a:pt x="93529" y="78484"/>
                    </a:cubicBezTo>
                    <a:cubicBezTo>
                      <a:pt x="87118" y="78484"/>
                      <a:pt x="81920" y="83681"/>
                      <a:pt x="81920" y="90092"/>
                    </a:cubicBezTo>
                    <a:cubicBezTo>
                      <a:pt x="81920" y="96504"/>
                      <a:pt x="87118" y="101701"/>
                      <a:pt x="93529" y="101701"/>
                    </a:cubicBezTo>
                    <a:close/>
                    <a:moveTo>
                      <a:pt x="186030" y="144101"/>
                    </a:moveTo>
                    <a:lnTo>
                      <a:pt x="174073" y="197917"/>
                    </a:lnTo>
                    <a:cubicBezTo>
                      <a:pt x="172920" y="203112"/>
                      <a:pt x="169179" y="207350"/>
                      <a:pt x="164168" y="209139"/>
                    </a:cubicBezTo>
                    <a:cubicBezTo>
                      <a:pt x="159157" y="210929"/>
                      <a:pt x="153578" y="210019"/>
                      <a:pt x="149395" y="206730"/>
                    </a:cubicBezTo>
                    <a:lnTo>
                      <a:pt x="123044" y="186831"/>
                    </a:lnTo>
                    <a:lnTo>
                      <a:pt x="64033" y="186831"/>
                    </a:lnTo>
                    <a:lnTo>
                      <a:pt x="37662" y="206730"/>
                    </a:lnTo>
                    <a:cubicBezTo>
                      <a:pt x="33480" y="210019"/>
                      <a:pt x="27901" y="210929"/>
                      <a:pt x="22889" y="209139"/>
                    </a:cubicBezTo>
                    <a:cubicBezTo>
                      <a:pt x="17878" y="207350"/>
                      <a:pt x="14138" y="203112"/>
                      <a:pt x="12985" y="197917"/>
                    </a:cubicBezTo>
                    <a:lnTo>
                      <a:pt x="1028" y="144101"/>
                    </a:lnTo>
                    <a:cubicBezTo>
                      <a:pt x="0" y="139422"/>
                      <a:pt x="1185" y="134530"/>
                      <a:pt x="4239" y="130838"/>
                    </a:cubicBezTo>
                    <a:lnTo>
                      <a:pt x="31868" y="97696"/>
                    </a:lnTo>
                    <a:cubicBezTo>
                      <a:pt x="32795" y="85516"/>
                      <a:pt x="35591" y="73551"/>
                      <a:pt x="40158" y="62222"/>
                    </a:cubicBezTo>
                    <a:cubicBezTo>
                      <a:pt x="52638" y="30937"/>
                      <a:pt x="74984" y="11309"/>
                      <a:pt x="84049" y="4324"/>
                    </a:cubicBezTo>
                    <a:cubicBezTo>
                      <a:pt x="89629" y="0"/>
                      <a:pt x="97429" y="0"/>
                      <a:pt x="103009" y="4324"/>
                    </a:cubicBezTo>
                    <a:cubicBezTo>
                      <a:pt x="112045" y="11309"/>
                      <a:pt x="134420" y="30937"/>
                      <a:pt x="146899" y="62222"/>
                    </a:cubicBezTo>
                    <a:cubicBezTo>
                      <a:pt x="151466" y="73551"/>
                      <a:pt x="154263" y="85516"/>
                      <a:pt x="155190" y="97696"/>
                    </a:cubicBezTo>
                    <a:lnTo>
                      <a:pt x="182818" y="130838"/>
                    </a:lnTo>
                    <a:cubicBezTo>
                      <a:pt x="185873" y="134530"/>
                      <a:pt x="187058" y="139422"/>
                      <a:pt x="186030" y="144101"/>
                    </a:cubicBezTo>
                    <a:close/>
                    <a:moveTo>
                      <a:pt x="65891" y="171352"/>
                    </a:moveTo>
                    <a:lnTo>
                      <a:pt x="121167" y="171352"/>
                    </a:lnTo>
                    <a:cubicBezTo>
                      <a:pt x="141598" y="135037"/>
                      <a:pt x="145419" y="100269"/>
                      <a:pt x="132524" y="67959"/>
                    </a:cubicBezTo>
                    <a:cubicBezTo>
                      <a:pt x="121148" y="39440"/>
                      <a:pt x="99807" y="21408"/>
                      <a:pt x="93529" y="16571"/>
                    </a:cubicBezTo>
                    <a:cubicBezTo>
                      <a:pt x="87231" y="21408"/>
                      <a:pt x="65891" y="39440"/>
                      <a:pt x="54514" y="67959"/>
                    </a:cubicBezTo>
                    <a:cubicBezTo>
                      <a:pt x="41638" y="100269"/>
                      <a:pt x="45460" y="135037"/>
                      <a:pt x="65891" y="171352"/>
                    </a:cubicBezTo>
                    <a:close/>
                    <a:moveTo>
                      <a:pt x="51380" y="177012"/>
                    </a:moveTo>
                    <a:cubicBezTo>
                      <a:pt x="40964" y="158083"/>
                      <a:pt x="34644" y="139480"/>
                      <a:pt x="32419" y="121203"/>
                    </a:cubicBezTo>
                    <a:lnTo>
                      <a:pt x="16138" y="140744"/>
                    </a:lnTo>
                    <a:lnTo>
                      <a:pt x="28095" y="194570"/>
                    </a:lnTo>
                    <a:lnTo>
                      <a:pt x="28269" y="194444"/>
                    </a:lnTo>
                    <a:close/>
                    <a:moveTo>
                      <a:pt x="170919" y="140744"/>
                    </a:moveTo>
                    <a:lnTo>
                      <a:pt x="154638" y="121203"/>
                    </a:lnTo>
                    <a:cubicBezTo>
                      <a:pt x="152433" y="139442"/>
                      <a:pt x="146125" y="158045"/>
                      <a:pt x="135716" y="177012"/>
                    </a:cubicBezTo>
                    <a:lnTo>
                      <a:pt x="158788" y="194425"/>
                    </a:lnTo>
                    <a:lnTo>
                      <a:pt x="158963" y="194550"/>
                    </a:lnTo>
                    <a:close/>
                  </a:path>
                </a:pathLst>
              </a:custGeom>
              <a:solidFill>
                <a:srgbClr val="2E7D32"/>
              </a:solidFill>
              <a:ln>
                <a:noFill/>
              </a:ln>
            </p:spPr>
          </p:sp>
        </p:grpSp>
        <p:sp>
          <p:nvSpPr>
            <p:cNvPr id="15" name="TextBox 15"/>
            <p:cNvSpPr txBox="1"/>
            <p:nvPr/>
          </p:nvSpPr>
          <p:spPr>
            <a:xfrm>
              <a:off x="1197292" y="1042511"/>
              <a:ext cx="148092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10. 主线优先</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370171"/>
              <a:ext cx="34566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先实现基础主线功能，跑通后再加细节。</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617821"/>
              <a:ext cx="3095577"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完美主义最费时间——一开始就想实现</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65471"/>
              <a:ext cx="366564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所有细节（断点续传+进度条+格式校验），</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0102" y="2113121"/>
              <a:ext cx="231648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结果连最基础的都跑不通。</a:t>
              </a:r>
              <a:endParaRPr lang="zh-CN" sz="1425"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0102" y="2370296"/>
              <a:ext cx="288655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分阶段交付，每阶段都有可用版本</a:t>
              </a:r>
              <a:endParaRPr lang="zh-CN" sz="1425" dirty="0">
                <a:solidFill>
                  <a:srgbClr val="FF6F00"/>
                </a:solidFill>
                <a:latin typeface="Segoe UI" panose="020B0502040204020203"/>
                <a:ea typeface="微软雅黑"/>
                <a:cs typeface="Segoe UI" panose="020B0502040204020203"/>
              </a:endParaRPr>
            </a:p>
          </p:txBody>
        </p:sp>
      </p:grpSp>
      <p:grpSp>
        <p:nvGrpSpPr>
          <p:cNvPr id="33" name="Group 33"/>
          <p:cNvGrpSpPr/>
          <p:nvPr/>
        </p:nvGrpSpPr>
        <p:grpSpPr>
          <a:xfrm>
            <a:off x="4333875" y="809625"/>
            <a:ext cx="3524250" cy="1850231"/>
            <a:chOff x="4333875" y="809625"/>
            <a:chExt cx="3524250" cy="1850231"/>
          </a:xfrm>
        </p:grpSpPr>
        <p:sp>
          <p:nvSpPr>
            <p:cNvPr id="22" name="Rectangle 22"/>
            <p:cNvSpPr/>
            <p:nvPr/>
          </p:nvSpPr>
          <p:spPr>
            <a:xfrm>
              <a:off x="4333875" y="809625"/>
              <a:ext cx="3524250" cy="1762125"/>
            </a:xfrm>
            <a:prstGeom prst="roundRect">
              <a:avLst>
                <a:gd name="adj" fmla="val 5405"/>
              </a:avLst>
            </a:prstGeom>
            <a:solidFill>
              <a:srgbClr val="FFFFFF"/>
            </a:solidFill>
            <a:ln>
              <a:noFill/>
            </a:ln>
          </p:spPr>
        </p:sp>
        <p:sp>
          <p:nvSpPr>
            <p:cNvPr id="23" name="Rectangle 23"/>
            <p:cNvSpPr/>
            <p:nvPr/>
          </p:nvSpPr>
          <p:spPr>
            <a:xfrm>
              <a:off x="4333875" y="809625"/>
              <a:ext cx="3524250" cy="38100"/>
            </a:xfrm>
            <a:prstGeom prst="roundRect">
              <a:avLst>
                <a:gd name="adj" fmla="val 50000"/>
              </a:avLst>
            </a:prstGeom>
            <a:solidFill>
              <a:srgbClr val="00838F"/>
            </a:solidFill>
            <a:ln>
              <a:noFill/>
            </a:ln>
          </p:spPr>
        </p:sp>
        <p:grpSp>
          <p:nvGrpSpPr>
            <p:cNvPr id="26" name="Group 26"/>
            <p:cNvGrpSpPr/>
            <p:nvPr/>
          </p:nvGrpSpPr>
          <p:grpSpPr>
            <a:xfrm>
              <a:off x="4618969" y="1070959"/>
              <a:ext cx="214297" cy="209099"/>
              <a:chOff x="4618969" y="1070959"/>
              <a:chExt cx="214297" cy="209099"/>
            </a:xfrm>
          </p:grpSpPr>
          <p:sp>
            <p:nvSpPr>
              <p:cNvPr id="24" name="Freeform 24"/>
              <p:cNvSpPr/>
              <p:nvPr/>
            </p:nvSpPr>
            <p:spPr>
              <a:xfrm>
                <a:off x="4624458" y="1070974"/>
                <a:ext cx="192815" cy="197643"/>
              </a:xfrm>
              <a:custGeom>
                <a:avLst/>
                <a:gdLst/>
                <a:ahLst/>
                <a:cxnLst/>
                <a:rect l="l" t="t" r="r" b="b"/>
                <a:pathLst>
                  <a:path w="192815" h="197643">
                    <a:moveTo>
                      <a:pt x="192811" y="100601"/>
                    </a:moveTo>
                    <a:cubicBezTo>
                      <a:pt x="192815" y="133796"/>
                      <a:pt x="175101" y="164469"/>
                      <a:pt x="146348" y="181056"/>
                    </a:cubicBezTo>
                    <a:cubicBezTo>
                      <a:pt x="117594" y="197643"/>
                      <a:pt x="82174" y="197622"/>
                      <a:pt x="53440" y="181000"/>
                    </a:cubicBezTo>
                    <a:lnTo>
                      <a:pt x="53440" y="181000"/>
                    </a:lnTo>
                    <a:lnTo>
                      <a:pt x="17270" y="193063"/>
                    </a:lnTo>
                    <a:cubicBezTo>
                      <a:pt x="14489" y="193991"/>
                      <a:pt x="11422" y="193267"/>
                      <a:pt x="9349" y="191194"/>
                    </a:cubicBezTo>
                    <a:cubicBezTo>
                      <a:pt x="7276" y="189121"/>
                      <a:pt x="6552" y="186055"/>
                      <a:pt x="7480" y="183273"/>
                    </a:cubicBezTo>
                    <a:lnTo>
                      <a:pt x="19543" y="147103"/>
                    </a:lnTo>
                    <a:lnTo>
                      <a:pt x="19543" y="147103"/>
                    </a:lnTo>
                    <a:cubicBezTo>
                      <a:pt x="0" y="113300"/>
                      <a:pt x="3688" y="70882"/>
                      <a:pt x="28773" y="40959"/>
                    </a:cubicBezTo>
                    <a:cubicBezTo>
                      <a:pt x="53857" y="11037"/>
                      <a:pt x="94980" y="0"/>
                      <a:pt x="131675" y="13342"/>
                    </a:cubicBezTo>
                    <a:cubicBezTo>
                      <a:pt x="168371" y="26684"/>
                      <a:pt x="192803" y="61555"/>
                      <a:pt x="192811" y="100601"/>
                    </a:cubicBezTo>
                    <a:close/>
                  </a:path>
                </a:pathLst>
              </a:custGeom>
              <a:solidFill>
                <a:srgbClr val="00838F">
                  <a:alpha val="20000"/>
                </a:srgbClr>
              </a:solidFill>
              <a:ln>
                <a:noFill/>
              </a:ln>
            </p:spPr>
          </p:sp>
          <p:sp>
            <p:nvSpPr>
              <p:cNvPr id="25" name="Freeform 25"/>
              <p:cNvSpPr/>
              <p:nvPr/>
            </p:nvSpPr>
            <p:spPr>
              <a:xfrm>
                <a:off x="4618969" y="1070959"/>
                <a:ext cx="214297" cy="209099"/>
              </a:xfrm>
              <a:custGeom>
                <a:avLst/>
                <a:gdLst/>
                <a:ahLst/>
                <a:cxnLst/>
                <a:rect l="l" t="t" r="r" b="b"/>
                <a:pathLst>
                  <a:path w="214297" h="209099">
                    <a:moveTo>
                      <a:pt x="105431" y="8"/>
                    </a:moveTo>
                    <a:cubicBezTo>
                      <a:pt x="70099" y="0"/>
                      <a:pt x="37353" y="18526"/>
                      <a:pt x="19161" y="48815"/>
                    </a:cubicBezTo>
                    <a:cubicBezTo>
                      <a:pt x="970" y="79104"/>
                      <a:pt x="0" y="116715"/>
                      <a:pt x="16606" y="147901"/>
                    </a:cubicBezTo>
                    <a:lnTo>
                      <a:pt x="5626" y="180841"/>
                    </a:lnTo>
                    <a:cubicBezTo>
                      <a:pt x="3771" y="186403"/>
                      <a:pt x="5218" y="192536"/>
                      <a:pt x="9365" y="196682"/>
                    </a:cubicBezTo>
                    <a:cubicBezTo>
                      <a:pt x="13511" y="200828"/>
                      <a:pt x="19644" y="202275"/>
                      <a:pt x="25206" y="200420"/>
                    </a:cubicBezTo>
                    <a:lnTo>
                      <a:pt x="58145" y="189441"/>
                    </a:lnTo>
                    <a:cubicBezTo>
                      <a:pt x="95106" y="209099"/>
                      <a:pt x="140377" y="203816"/>
                      <a:pt x="171818" y="176175"/>
                    </a:cubicBezTo>
                    <a:cubicBezTo>
                      <a:pt x="203259" y="148534"/>
                      <a:pt x="214297" y="104312"/>
                      <a:pt x="199535" y="65138"/>
                    </a:cubicBezTo>
                    <a:cubicBezTo>
                      <a:pt x="184772" y="25964"/>
                      <a:pt x="147294" y="25"/>
                      <a:pt x="105431" y="8"/>
                    </a:cubicBezTo>
                    <a:close/>
                    <a:moveTo>
                      <a:pt x="105431" y="185745"/>
                    </a:moveTo>
                    <a:cubicBezTo>
                      <a:pt x="90465" y="185755"/>
                      <a:pt x="75762" y="181814"/>
                      <a:pt x="62808" y="174320"/>
                    </a:cubicBezTo>
                    <a:cubicBezTo>
                      <a:pt x="61632" y="173638"/>
                      <a:pt x="60298" y="173278"/>
                      <a:pt x="58939" y="173276"/>
                    </a:cubicBezTo>
                    <a:cubicBezTo>
                      <a:pt x="58106" y="173276"/>
                      <a:pt x="57279" y="173413"/>
                      <a:pt x="56491" y="173682"/>
                    </a:cubicBezTo>
                    <a:lnTo>
                      <a:pt x="20301" y="185745"/>
                    </a:lnTo>
                    <a:lnTo>
                      <a:pt x="32365" y="149565"/>
                    </a:lnTo>
                    <a:cubicBezTo>
                      <a:pt x="33068" y="147462"/>
                      <a:pt x="32836" y="145158"/>
                      <a:pt x="31726" y="143238"/>
                    </a:cubicBezTo>
                    <a:cubicBezTo>
                      <a:pt x="12432" y="109881"/>
                      <a:pt x="17952" y="67723"/>
                      <a:pt x="45183" y="40458"/>
                    </a:cubicBezTo>
                    <a:cubicBezTo>
                      <a:pt x="72414" y="13192"/>
                      <a:pt x="114565" y="7619"/>
                      <a:pt x="147947" y="26871"/>
                    </a:cubicBezTo>
                    <a:cubicBezTo>
                      <a:pt x="181328" y="46122"/>
                      <a:pt x="197615" y="85397"/>
                      <a:pt x="187653" y="122622"/>
                    </a:cubicBezTo>
                    <a:cubicBezTo>
                      <a:pt x="177691" y="159848"/>
                      <a:pt x="143966" y="185739"/>
                      <a:pt x="105431" y="185745"/>
                    </a:cubicBezTo>
                    <a:close/>
                    <a:moveTo>
                      <a:pt x="117040" y="100616"/>
                    </a:moveTo>
                    <a:cubicBezTo>
                      <a:pt x="117040" y="107027"/>
                      <a:pt x="111842" y="112224"/>
                      <a:pt x="105431" y="112224"/>
                    </a:cubicBezTo>
                    <a:cubicBezTo>
                      <a:pt x="99020" y="112224"/>
                      <a:pt x="93822" y="107027"/>
                      <a:pt x="93822" y="100616"/>
                    </a:cubicBezTo>
                    <a:cubicBezTo>
                      <a:pt x="93822" y="94204"/>
                      <a:pt x="99020" y="89007"/>
                      <a:pt x="105431" y="89007"/>
                    </a:cubicBezTo>
                    <a:cubicBezTo>
                      <a:pt x="111842" y="89007"/>
                      <a:pt x="117040" y="94204"/>
                      <a:pt x="117040" y="100616"/>
                    </a:cubicBezTo>
                    <a:close/>
                    <a:moveTo>
                      <a:pt x="74475" y="100616"/>
                    </a:moveTo>
                    <a:cubicBezTo>
                      <a:pt x="74475" y="107027"/>
                      <a:pt x="69277" y="112224"/>
                      <a:pt x="62866" y="112224"/>
                    </a:cubicBezTo>
                    <a:cubicBezTo>
                      <a:pt x="56455" y="112224"/>
                      <a:pt x="51258" y="107027"/>
                      <a:pt x="51258" y="100616"/>
                    </a:cubicBezTo>
                    <a:cubicBezTo>
                      <a:pt x="51258" y="94204"/>
                      <a:pt x="56455" y="89007"/>
                      <a:pt x="62866" y="89007"/>
                    </a:cubicBezTo>
                    <a:cubicBezTo>
                      <a:pt x="69277" y="89007"/>
                      <a:pt x="74475" y="94204"/>
                      <a:pt x="74475" y="100616"/>
                    </a:cubicBezTo>
                    <a:close/>
                    <a:moveTo>
                      <a:pt x="159604" y="100616"/>
                    </a:moveTo>
                    <a:cubicBezTo>
                      <a:pt x="159604" y="107027"/>
                      <a:pt x="154407" y="112224"/>
                      <a:pt x="147996" y="112224"/>
                    </a:cubicBezTo>
                    <a:cubicBezTo>
                      <a:pt x="141585" y="112224"/>
                      <a:pt x="136387" y="107027"/>
                      <a:pt x="136387" y="100616"/>
                    </a:cubicBezTo>
                    <a:cubicBezTo>
                      <a:pt x="136387" y="94204"/>
                      <a:pt x="141585" y="89007"/>
                      <a:pt x="147996" y="89007"/>
                    </a:cubicBezTo>
                    <a:cubicBezTo>
                      <a:pt x="154407" y="89007"/>
                      <a:pt x="159604" y="94204"/>
                      <a:pt x="159604" y="100616"/>
                    </a:cubicBezTo>
                    <a:close/>
                  </a:path>
                </a:pathLst>
              </a:custGeom>
              <a:solidFill>
                <a:srgbClr val="00838F"/>
              </a:solidFill>
              <a:ln>
                <a:noFill/>
              </a:ln>
            </p:spPr>
          </p:sp>
        </p:grpSp>
        <p:sp>
          <p:nvSpPr>
            <p:cNvPr id="27" name="TextBox 27"/>
            <p:cNvSpPr txBox="1"/>
            <p:nvPr/>
          </p:nvSpPr>
          <p:spPr>
            <a:xfrm>
              <a:off x="4959668" y="1042511"/>
              <a:ext cx="148092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11. 渐进对话</a:t>
              </a:r>
              <a:endParaRPr lang="zh-CN" sz="1725" b="1" dirty="0">
                <a:solidFill>
                  <a:srgbClr val="263238"/>
                </a:solidFill>
                <a:latin typeface="Segoe UI" panose="020B0502040204020203"/>
                <a:ea typeface="微软雅黑"/>
                <a:cs typeface="Segoe UI" panose="020B0502040204020203"/>
              </a:endParaRPr>
            </a:p>
          </p:txBody>
        </p:sp>
        <p:sp>
          <p:nvSpPr>
            <p:cNvPr id="28" name="TextBox 28"/>
            <p:cNvSpPr txBox="1"/>
            <p:nvPr/>
          </p:nvSpPr>
          <p:spPr>
            <a:xfrm>
              <a:off x="4582478" y="1370171"/>
              <a:ext cx="326659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从简单到复杂逐步加需求。一口吃不成</a:t>
              </a:r>
              <a:endParaRPr lang="zh-CN" sz="1425"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2478" y="1617821"/>
              <a:ext cx="326659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胖子，一次也写不出完美的复杂代码。</a:t>
              </a:r>
              <a:endParaRPr lang="zh-CN" sz="1425"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2478" y="1865471"/>
              <a:ext cx="316208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Step1→基础查询→Step2→分页→Step3</a:t>
              </a:r>
              <a:endParaRPr lang="zh-CN" sz="1425"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2478" y="2113121"/>
              <a:ext cx="274403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→过滤→Step4→排序→Step5→缓存</a:t>
              </a:r>
              <a:endParaRPr lang="zh-CN" sz="1425"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2478" y="2370296"/>
              <a:ext cx="299106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某步出问题→快速定位，不排查全部</a:t>
              </a:r>
              <a:endParaRPr lang="zh-CN" sz="1425"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8096250" y="809625"/>
            <a:ext cx="3524250" cy="1850231"/>
            <a:chOff x="8096250" y="809625"/>
            <a:chExt cx="3524250" cy="1850231"/>
          </a:xfrm>
        </p:grpSpPr>
        <p:sp>
          <p:nvSpPr>
            <p:cNvPr id="34" name="Rectangle 34"/>
            <p:cNvSpPr/>
            <p:nvPr/>
          </p:nvSpPr>
          <p:spPr>
            <a:xfrm>
              <a:off x="8096250" y="809625"/>
              <a:ext cx="3524250" cy="1762125"/>
            </a:xfrm>
            <a:prstGeom prst="roundRect">
              <a:avLst>
                <a:gd name="adj" fmla="val 5405"/>
              </a:avLst>
            </a:prstGeom>
            <a:solidFill>
              <a:srgbClr val="FFFFFF"/>
            </a:solidFill>
            <a:ln>
              <a:noFill/>
            </a:ln>
          </p:spPr>
        </p:sp>
        <p:sp>
          <p:nvSpPr>
            <p:cNvPr id="35" name="Rectangle 35"/>
            <p:cNvSpPr/>
            <p:nvPr/>
          </p:nvSpPr>
          <p:spPr>
            <a:xfrm>
              <a:off x="8096250" y="809625"/>
              <a:ext cx="3524250" cy="38100"/>
            </a:xfrm>
            <a:prstGeom prst="roundRect">
              <a:avLst>
                <a:gd name="adj" fmla="val 50000"/>
              </a:avLst>
            </a:prstGeom>
            <a:solidFill>
              <a:srgbClr val="1565C0"/>
            </a:solidFill>
            <a:ln>
              <a:noFill/>
            </a:ln>
          </p:spPr>
        </p:sp>
        <p:grpSp>
          <p:nvGrpSpPr>
            <p:cNvPr id="38" name="Group 38"/>
            <p:cNvGrpSpPr/>
            <p:nvPr/>
          </p:nvGrpSpPr>
          <p:grpSpPr>
            <a:xfrm>
              <a:off x="8378422" y="1078706"/>
              <a:ext cx="216706" cy="185738"/>
              <a:chOff x="8378422" y="1078706"/>
              <a:chExt cx="216706" cy="185738"/>
            </a:xfrm>
          </p:grpSpPr>
          <p:sp>
            <p:nvSpPr>
              <p:cNvPr id="36" name="Freeform 36"/>
              <p:cNvSpPr/>
              <p:nvPr/>
            </p:nvSpPr>
            <p:spPr>
              <a:xfrm>
                <a:off x="8386167" y="1101923"/>
                <a:ext cx="201216" cy="131564"/>
              </a:xfrm>
              <a:custGeom>
                <a:avLst/>
                <a:gdLst/>
                <a:ahLst/>
                <a:cxnLst/>
                <a:rect l="l" t="t" r="r" b="b"/>
                <a:pathLst>
                  <a:path w="201216" h="131564">
                    <a:moveTo>
                      <a:pt x="30956" y="30956"/>
                    </a:moveTo>
                    <a:lnTo>
                      <a:pt x="61912" y="108347"/>
                    </a:lnTo>
                    <a:cubicBezTo>
                      <a:pt x="61912" y="125441"/>
                      <a:pt x="42565" y="131564"/>
                      <a:pt x="30956" y="131564"/>
                    </a:cubicBezTo>
                    <a:cubicBezTo>
                      <a:pt x="19348" y="131564"/>
                      <a:pt x="0" y="125441"/>
                      <a:pt x="0" y="108347"/>
                    </a:cubicBezTo>
                    <a:close/>
                    <a:moveTo>
                      <a:pt x="170259" y="0"/>
                    </a:moveTo>
                    <a:lnTo>
                      <a:pt x="139303" y="77391"/>
                    </a:lnTo>
                    <a:cubicBezTo>
                      <a:pt x="139303" y="94484"/>
                      <a:pt x="158651" y="100608"/>
                      <a:pt x="170259" y="100608"/>
                    </a:cubicBezTo>
                    <a:cubicBezTo>
                      <a:pt x="181868" y="100608"/>
                      <a:pt x="201216" y="94484"/>
                      <a:pt x="201216" y="77391"/>
                    </a:cubicBezTo>
                    <a:close/>
                  </a:path>
                </a:pathLst>
              </a:custGeom>
              <a:solidFill>
                <a:srgbClr val="1565C0">
                  <a:alpha val="20000"/>
                </a:srgbClr>
              </a:solidFill>
              <a:ln>
                <a:noFill/>
              </a:ln>
            </p:spPr>
          </p:sp>
          <p:sp>
            <p:nvSpPr>
              <p:cNvPr id="37" name="Freeform 37"/>
              <p:cNvSpPr/>
              <p:nvPr/>
            </p:nvSpPr>
            <p:spPr>
              <a:xfrm>
                <a:off x="8378422" y="1078706"/>
                <a:ext cx="216706" cy="185738"/>
              </a:xfrm>
              <a:custGeom>
                <a:avLst/>
                <a:gdLst/>
                <a:ahLst/>
                <a:cxnLst/>
                <a:rect l="l" t="t" r="r" b="b"/>
                <a:pathLst>
                  <a:path w="216706" h="185738">
                    <a:moveTo>
                      <a:pt x="216149" y="97706"/>
                    </a:moveTo>
                    <a:lnTo>
                      <a:pt x="185192" y="20315"/>
                    </a:lnTo>
                    <a:lnTo>
                      <a:pt x="185192" y="20315"/>
                    </a:lnTo>
                    <a:cubicBezTo>
                      <a:pt x="183784" y="16794"/>
                      <a:pt x="180033" y="14812"/>
                      <a:pt x="176331" y="15633"/>
                    </a:cubicBezTo>
                    <a:lnTo>
                      <a:pt x="116092" y="29021"/>
                    </a:lnTo>
                    <a:lnTo>
                      <a:pt x="116092" y="7739"/>
                    </a:lnTo>
                    <a:cubicBezTo>
                      <a:pt x="116092" y="3465"/>
                      <a:pt x="112627" y="0"/>
                      <a:pt x="108353" y="0"/>
                    </a:cubicBezTo>
                    <a:cubicBezTo>
                      <a:pt x="104079" y="0"/>
                      <a:pt x="100614" y="3465"/>
                      <a:pt x="100614" y="7739"/>
                    </a:cubicBezTo>
                    <a:lnTo>
                      <a:pt x="100614" y="32485"/>
                    </a:lnTo>
                    <a:lnTo>
                      <a:pt x="37018" y="46618"/>
                    </a:lnTo>
                    <a:cubicBezTo>
                      <a:pt x="34529" y="47168"/>
                      <a:pt x="32470" y="48908"/>
                      <a:pt x="31514" y="51271"/>
                    </a:cubicBezTo>
                    <a:lnTo>
                      <a:pt x="31514" y="51271"/>
                    </a:lnTo>
                    <a:lnTo>
                      <a:pt x="31514" y="51329"/>
                    </a:lnTo>
                    <a:lnTo>
                      <a:pt x="558" y="128662"/>
                    </a:lnTo>
                    <a:cubicBezTo>
                      <a:pt x="187" y="129584"/>
                      <a:pt x="0" y="130570"/>
                      <a:pt x="6" y="131564"/>
                    </a:cubicBezTo>
                    <a:cubicBezTo>
                      <a:pt x="6" y="154114"/>
                      <a:pt x="23746" y="162520"/>
                      <a:pt x="38702" y="162520"/>
                    </a:cubicBezTo>
                    <a:cubicBezTo>
                      <a:pt x="53657" y="162520"/>
                      <a:pt x="77397" y="154114"/>
                      <a:pt x="77397" y="131564"/>
                    </a:cubicBezTo>
                    <a:cubicBezTo>
                      <a:pt x="77403" y="130570"/>
                      <a:pt x="77216" y="129584"/>
                      <a:pt x="76845" y="128662"/>
                    </a:cubicBezTo>
                    <a:lnTo>
                      <a:pt x="49265" y="59755"/>
                    </a:lnTo>
                    <a:lnTo>
                      <a:pt x="100614" y="48369"/>
                    </a:lnTo>
                    <a:lnTo>
                      <a:pt x="100614" y="170259"/>
                    </a:lnTo>
                    <a:lnTo>
                      <a:pt x="85136" y="170259"/>
                    </a:lnTo>
                    <a:cubicBezTo>
                      <a:pt x="80862" y="170259"/>
                      <a:pt x="77397" y="173724"/>
                      <a:pt x="77397" y="177998"/>
                    </a:cubicBezTo>
                    <a:cubicBezTo>
                      <a:pt x="77397" y="182273"/>
                      <a:pt x="80862" y="185738"/>
                      <a:pt x="85136" y="185738"/>
                    </a:cubicBezTo>
                    <a:lnTo>
                      <a:pt x="131570" y="185738"/>
                    </a:lnTo>
                    <a:cubicBezTo>
                      <a:pt x="135844" y="185738"/>
                      <a:pt x="139309" y="182273"/>
                      <a:pt x="139309" y="177998"/>
                    </a:cubicBezTo>
                    <a:cubicBezTo>
                      <a:pt x="139309" y="173724"/>
                      <a:pt x="135844" y="170259"/>
                      <a:pt x="131570" y="170259"/>
                    </a:cubicBezTo>
                    <a:lnTo>
                      <a:pt x="116092" y="170259"/>
                    </a:lnTo>
                    <a:lnTo>
                      <a:pt x="116092" y="44906"/>
                    </a:lnTo>
                    <a:lnTo>
                      <a:pt x="165429" y="33955"/>
                    </a:lnTo>
                    <a:lnTo>
                      <a:pt x="139861" y="97706"/>
                    </a:lnTo>
                    <a:cubicBezTo>
                      <a:pt x="139490" y="98628"/>
                      <a:pt x="139303" y="99614"/>
                      <a:pt x="139309" y="100608"/>
                    </a:cubicBezTo>
                    <a:cubicBezTo>
                      <a:pt x="139309" y="123158"/>
                      <a:pt x="163049" y="131564"/>
                      <a:pt x="178005" y="131564"/>
                    </a:cubicBezTo>
                    <a:cubicBezTo>
                      <a:pt x="192960" y="131564"/>
                      <a:pt x="216700" y="123158"/>
                      <a:pt x="216700" y="100608"/>
                    </a:cubicBezTo>
                    <a:cubicBezTo>
                      <a:pt x="216706" y="99614"/>
                      <a:pt x="216519" y="98628"/>
                      <a:pt x="216149" y="97706"/>
                    </a:cubicBezTo>
                    <a:close/>
                    <a:moveTo>
                      <a:pt x="38702" y="147042"/>
                    </a:moveTo>
                    <a:cubicBezTo>
                      <a:pt x="31417" y="147042"/>
                      <a:pt x="16684" y="143550"/>
                      <a:pt x="15552" y="132880"/>
                    </a:cubicBezTo>
                    <a:lnTo>
                      <a:pt x="38702" y="75011"/>
                    </a:lnTo>
                    <a:lnTo>
                      <a:pt x="61851" y="132880"/>
                    </a:lnTo>
                    <a:cubicBezTo>
                      <a:pt x="60719" y="143550"/>
                      <a:pt x="45986" y="147042"/>
                      <a:pt x="38702" y="147042"/>
                    </a:cubicBezTo>
                    <a:close/>
                    <a:moveTo>
                      <a:pt x="178005" y="116086"/>
                    </a:moveTo>
                    <a:cubicBezTo>
                      <a:pt x="170720" y="116086"/>
                      <a:pt x="155987" y="112594"/>
                      <a:pt x="154855" y="101923"/>
                    </a:cubicBezTo>
                    <a:lnTo>
                      <a:pt x="178005" y="44055"/>
                    </a:lnTo>
                    <a:lnTo>
                      <a:pt x="201154" y="101923"/>
                    </a:lnTo>
                    <a:cubicBezTo>
                      <a:pt x="200022" y="112594"/>
                      <a:pt x="185289" y="116086"/>
                      <a:pt x="178005" y="116086"/>
                    </a:cubicBezTo>
                    <a:close/>
                  </a:path>
                </a:pathLst>
              </a:custGeom>
              <a:solidFill>
                <a:srgbClr val="1565C0"/>
              </a:solidFill>
              <a:ln>
                <a:noFill/>
              </a:ln>
            </p:spPr>
          </p:sp>
        </p:grpSp>
        <p:sp>
          <p:nvSpPr>
            <p:cNvPr id="39" name="TextBox 39"/>
            <p:cNvSpPr txBox="1"/>
            <p:nvPr/>
          </p:nvSpPr>
          <p:spPr>
            <a:xfrm>
              <a:off x="8722042" y="1042511"/>
              <a:ext cx="148092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12. 外科手术</a:t>
              </a:r>
              <a:endParaRPr lang="zh-CN" sz="1725" b="1" dirty="0">
                <a:solidFill>
                  <a:srgbClr val="263238"/>
                </a:solidFill>
                <a:latin typeface="Segoe UI" panose="020B0502040204020203"/>
                <a:ea typeface="微软雅黑"/>
                <a:cs typeface="Segoe UI" panose="020B0502040204020203"/>
              </a:endParaRPr>
            </a:p>
          </p:txBody>
        </p:sp>
        <p:sp>
          <p:nvSpPr>
            <p:cNvPr id="40" name="TextBox 40"/>
            <p:cNvSpPr txBox="1"/>
            <p:nvPr/>
          </p:nvSpPr>
          <p:spPr>
            <a:xfrm>
              <a:off x="8344852" y="1370171"/>
              <a:ext cx="269652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改核心代码前先评估影响范围。</a:t>
              </a:r>
              <a:endParaRPr lang="zh-CN" sz="1425"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4852" y="1617821"/>
              <a:ext cx="304807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id从int改string→订单、支付、日志</a:t>
              </a:r>
              <a:endParaRPr lang="zh-CN" sz="1425" dirty="0">
                <a:solidFill>
                  <a:srgbClr val="546E7A"/>
                </a:solidFill>
                <a:latin typeface="Segoe UI" panose="020B0502040204020203"/>
                <a:ea typeface="微软雅黑"/>
                <a:cs typeface="Segoe UI" panose="020B0502040204020203"/>
              </a:endParaRPr>
            </a:p>
          </p:txBody>
        </p:sp>
        <p:sp>
          <p:nvSpPr>
            <p:cNvPr id="42" name="TextBox 42"/>
            <p:cNvSpPr txBox="1"/>
            <p:nvPr/>
          </p:nvSpPr>
          <p:spPr>
            <a:xfrm>
              <a:off x="8344852" y="1865471"/>
              <a:ext cx="242099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模块全崩→通宵修关联代码。</a:t>
              </a:r>
              <a:endParaRPr lang="zh-CN" sz="1425"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4852" y="2113121"/>
              <a:ext cx="271553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先评估→制定迁移计划→逐步修改</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4852" y="2370296"/>
              <a:ext cx="205994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平稳过渡，不连夜修bug</a:t>
              </a:r>
              <a:endParaRPr lang="zh-CN" sz="1425" dirty="0">
                <a:solidFill>
                  <a:srgbClr val="FF6F00"/>
                </a:solidFill>
                <a:latin typeface="Segoe UI" panose="020B0502040204020203"/>
                <a:ea typeface="微软雅黑"/>
                <a:cs typeface="Segoe UI" panose="020B0502040204020203"/>
              </a:endParaRPr>
            </a:p>
          </p:txBody>
        </p:sp>
      </p:grpSp>
      <p:grpSp>
        <p:nvGrpSpPr>
          <p:cNvPr id="48" name="Group 48"/>
          <p:cNvGrpSpPr/>
          <p:nvPr/>
        </p:nvGrpSpPr>
        <p:grpSpPr>
          <a:xfrm>
            <a:off x="571500" y="2809875"/>
            <a:ext cx="11049000" cy="457200"/>
            <a:chOff x="571500" y="2809875"/>
            <a:chExt cx="11049000" cy="457200"/>
          </a:xfrm>
        </p:grpSpPr>
        <p:sp>
          <p:nvSpPr>
            <p:cNvPr id="46" name="Rectangle 46"/>
            <p:cNvSpPr/>
            <p:nvPr/>
          </p:nvSpPr>
          <p:spPr>
            <a:xfrm>
              <a:off x="571500" y="2809875"/>
              <a:ext cx="11049000" cy="457200"/>
            </a:xfrm>
            <a:prstGeom prst="roundRect">
              <a:avLst>
                <a:gd name="adj" fmla="val 16667"/>
              </a:avLst>
            </a:prstGeom>
            <a:solidFill>
              <a:srgbClr val="1565C0">
                <a:alpha val="6000"/>
              </a:srgbClr>
            </a:solidFill>
            <a:ln>
              <a:noFill/>
            </a:ln>
          </p:spPr>
        </p:sp>
        <p:sp>
          <p:nvSpPr>
            <p:cNvPr id="47" name="TextBox 47"/>
            <p:cNvSpPr txBox="1"/>
            <p:nvPr/>
          </p:nvSpPr>
          <p:spPr>
            <a:xfrm>
              <a:off x="3021068" y="2943225"/>
              <a:ext cx="6149864"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阶段核心：先主干后细节，逐步叠加需求，改前先评估——懒在安全</a:t>
              </a:r>
              <a:endParaRPr lang="zh-CN" sz="1500" b="1" dirty="0">
                <a:solidFill>
                  <a:srgbClr val="1565C0"/>
                </a:solidFill>
                <a:latin typeface="Segoe UI" panose="020B0502040204020203"/>
                <a:ea typeface="微软雅黑"/>
                <a:cs typeface="Segoe UI" panose="020B0502040204020203"/>
              </a:endParaRPr>
            </a:p>
          </p:txBody>
        </p:sp>
      </p:grpSp>
      <p:sp>
        <p:nvSpPr>
          <p:cNvPr id="49" name="TextBox 49"/>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05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image">
                                      <p:cBhvr>
                                        <p:cTn id="7" dur="4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4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32206"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阶段四：调试与维护 — 懒在高效，避免瞎忙活</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21" name="Group 21"/>
          <p:cNvGrpSpPr/>
          <p:nvPr/>
        </p:nvGrpSpPr>
        <p:grpSpPr>
          <a:xfrm>
            <a:off x="571500" y="809625"/>
            <a:ext cx="3638716" cy="1897856"/>
            <a:chOff x="571500" y="809625"/>
            <a:chExt cx="3638716" cy="1897856"/>
          </a:xfrm>
        </p:grpSpPr>
        <p:sp>
          <p:nvSpPr>
            <p:cNvPr id="10" name="Rectangle 10"/>
            <p:cNvSpPr/>
            <p:nvPr/>
          </p:nvSpPr>
          <p:spPr>
            <a:xfrm>
              <a:off x="571500" y="809625"/>
              <a:ext cx="3524250" cy="1809750"/>
            </a:xfrm>
            <a:prstGeom prst="roundRect">
              <a:avLst>
                <a:gd name="adj" fmla="val 5263"/>
              </a:avLst>
            </a:prstGeom>
            <a:solidFill>
              <a:srgbClr val="FFFFFF"/>
            </a:solidFill>
            <a:ln>
              <a:noFill/>
            </a:ln>
          </p:spPr>
        </p:sp>
        <p:sp>
          <p:nvSpPr>
            <p:cNvPr id="11" name="Rectangle 11"/>
            <p:cNvSpPr/>
            <p:nvPr/>
          </p:nvSpPr>
          <p:spPr>
            <a:xfrm>
              <a:off x="571500" y="809625"/>
              <a:ext cx="3524250" cy="38100"/>
            </a:xfrm>
            <a:prstGeom prst="roundRect">
              <a:avLst>
                <a:gd name="adj" fmla="val 50000"/>
              </a:avLst>
            </a:prstGeom>
            <a:solidFill>
              <a:srgbClr val="C62828"/>
            </a:solidFill>
            <a:ln>
              <a:noFill/>
            </a:ln>
          </p:spPr>
        </p:sp>
        <p:grpSp>
          <p:nvGrpSpPr>
            <p:cNvPr id="14" name="Group 14"/>
            <p:cNvGrpSpPr/>
            <p:nvPr/>
          </p:nvGrpSpPr>
          <p:grpSpPr>
            <a:xfrm>
              <a:off x="838200" y="1086325"/>
              <a:ext cx="247650" cy="173483"/>
              <a:chOff x="838200" y="1086325"/>
              <a:chExt cx="247650" cy="173483"/>
            </a:xfrm>
          </p:grpSpPr>
          <p:sp>
            <p:nvSpPr>
              <p:cNvPr id="12" name="Freeform 12"/>
              <p:cNvSpPr/>
              <p:nvPr/>
            </p:nvSpPr>
            <p:spPr>
              <a:xfrm>
                <a:off x="876895" y="1094139"/>
                <a:ext cx="170259" cy="154827"/>
              </a:xfrm>
              <a:custGeom>
                <a:avLst/>
                <a:gdLst/>
                <a:ahLst/>
                <a:cxnLst/>
                <a:rect l="l" t="t" r="r" b="b"/>
                <a:pathLst>
                  <a:path w="170259" h="154827">
                    <a:moveTo>
                      <a:pt x="61912" y="127740"/>
                    </a:moveTo>
                    <a:cubicBezTo>
                      <a:pt x="61912" y="142700"/>
                      <a:pt x="49785" y="154827"/>
                      <a:pt x="34826" y="154827"/>
                    </a:cubicBezTo>
                    <a:cubicBezTo>
                      <a:pt x="19866" y="154827"/>
                      <a:pt x="7739" y="142700"/>
                      <a:pt x="7739" y="127740"/>
                    </a:cubicBezTo>
                    <a:cubicBezTo>
                      <a:pt x="7739" y="112781"/>
                      <a:pt x="19866" y="100654"/>
                      <a:pt x="34826" y="100654"/>
                    </a:cubicBezTo>
                    <a:cubicBezTo>
                      <a:pt x="49785" y="100654"/>
                      <a:pt x="61912" y="112781"/>
                      <a:pt x="61912" y="127740"/>
                    </a:cubicBezTo>
                    <a:close/>
                    <a:moveTo>
                      <a:pt x="135434" y="100654"/>
                    </a:moveTo>
                    <a:cubicBezTo>
                      <a:pt x="120474" y="100654"/>
                      <a:pt x="108347" y="112781"/>
                      <a:pt x="108347" y="127740"/>
                    </a:cubicBezTo>
                    <a:cubicBezTo>
                      <a:pt x="108347" y="142700"/>
                      <a:pt x="120474" y="154827"/>
                      <a:pt x="135434" y="154827"/>
                    </a:cubicBezTo>
                    <a:cubicBezTo>
                      <a:pt x="150393" y="154827"/>
                      <a:pt x="162520" y="142700"/>
                      <a:pt x="162520" y="127740"/>
                    </a:cubicBezTo>
                    <a:cubicBezTo>
                      <a:pt x="162520" y="112781"/>
                      <a:pt x="150393" y="100654"/>
                      <a:pt x="135434" y="100654"/>
                    </a:cubicBezTo>
                    <a:close/>
                    <a:moveTo>
                      <a:pt x="121997" y="3228"/>
                    </a:moveTo>
                    <a:cubicBezTo>
                      <a:pt x="120576" y="1283"/>
                      <a:pt x="118331" y="110"/>
                      <a:pt x="115923" y="55"/>
                    </a:cubicBezTo>
                    <a:cubicBezTo>
                      <a:pt x="113515" y="0"/>
                      <a:pt x="111219" y="1069"/>
                      <a:pt x="109711" y="2948"/>
                    </a:cubicBezTo>
                    <a:lnTo>
                      <a:pt x="97193" y="17459"/>
                    </a:lnTo>
                    <a:cubicBezTo>
                      <a:pt x="94255" y="21113"/>
                      <a:pt x="89819" y="23239"/>
                      <a:pt x="85130" y="23239"/>
                    </a:cubicBezTo>
                    <a:cubicBezTo>
                      <a:pt x="80441" y="23239"/>
                      <a:pt x="76004" y="21113"/>
                      <a:pt x="73066" y="17459"/>
                    </a:cubicBezTo>
                    <a:lnTo>
                      <a:pt x="60548" y="2948"/>
                    </a:lnTo>
                    <a:cubicBezTo>
                      <a:pt x="59041" y="1069"/>
                      <a:pt x="56744" y="0"/>
                      <a:pt x="54336" y="55"/>
                    </a:cubicBezTo>
                    <a:cubicBezTo>
                      <a:pt x="51928" y="110"/>
                      <a:pt x="49683" y="1283"/>
                      <a:pt x="48263" y="3228"/>
                    </a:cubicBezTo>
                    <a:lnTo>
                      <a:pt x="0" y="69697"/>
                    </a:lnTo>
                    <a:lnTo>
                      <a:pt x="170259" y="69697"/>
                    </a:lnTo>
                    <a:close/>
                  </a:path>
                </a:pathLst>
              </a:custGeom>
              <a:solidFill>
                <a:srgbClr val="C62828">
                  <a:alpha val="20000"/>
                </a:srgbClr>
              </a:solidFill>
              <a:ln>
                <a:noFill/>
              </a:ln>
            </p:spPr>
          </p:sp>
          <p:sp>
            <p:nvSpPr>
              <p:cNvPr id="13" name="Freeform 13"/>
              <p:cNvSpPr/>
              <p:nvPr/>
            </p:nvSpPr>
            <p:spPr>
              <a:xfrm>
                <a:off x="838200" y="1086325"/>
                <a:ext cx="247650" cy="173483"/>
              </a:xfrm>
              <a:custGeom>
                <a:avLst/>
                <a:gdLst/>
                <a:ahLst/>
                <a:cxnLst/>
                <a:rect l="l" t="t" r="r" b="b"/>
                <a:pathLst>
                  <a:path w="247650" h="173483">
                    <a:moveTo>
                      <a:pt x="239911" y="69772"/>
                    </a:moveTo>
                    <a:lnTo>
                      <a:pt x="212902" y="69772"/>
                    </a:lnTo>
                    <a:lnTo>
                      <a:pt x="166951" y="6496"/>
                    </a:lnTo>
                    <a:cubicBezTo>
                      <a:pt x="164129" y="2621"/>
                      <a:pt x="159671" y="273"/>
                      <a:pt x="154880" y="136"/>
                    </a:cubicBezTo>
                    <a:cubicBezTo>
                      <a:pt x="150088" y="0"/>
                      <a:pt x="145504" y="2091"/>
                      <a:pt x="142466" y="5799"/>
                    </a:cubicBezTo>
                    <a:lnTo>
                      <a:pt x="130036" y="20213"/>
                    </a:lnTo>
                    <a:lnTo>
                      <a:pt x="129842" y="20436"/>
                    </a:lnTo>
                    <a:cubicBezTo>
                      <a:pt x="128383" y="22269"/>
                      <a:pt x="126168" y="23337"/>
                      <a:pt x="123825" y="23337"/>
                    </a:cubicBezTo>
                    <a:cubicBezTo>
                      <a:pt x="121482" y="23337"/>
                      <a:pt x="119267" y="22269"/>
                      <a:pt x="117808" y="20436"/>
                    </a:cubicBezTo>
                    <a:lnTo>
                      <a:pt x="117614" y="20213"/>
                    </a:lnTo>
                    <a:lnTo>
                      <a:pt x="105184" y="5799"/>
                    </a:lnTo>
                    <a:cubicBezTo>
                      <a:pt x="102146" y="2091"/>
                      <a:pt x="97562" y="0"/>
                      <a:pt x="92770" y="136"/>
                    </a:cubicBezTo>
                    <a:cubicBezTo>
                      <a:pt x="87979" y="273"/>
                      <a:pt x="83521" y="2621"/>
                      <a:pt x="80699" y="6496"/>
                    </a:cubicBezTo>
                    <a:lnTo>
                      <a:pt x="34748" y="69772"/>
                    </a:lnTo>
                    <a:lnTo>
                      <a:pt x="7739" y="69772"/>
                    </a:lnTo>
                    <a:cubicBezTo>
                      <a:pt x="3465" y="69772"/>
                      <a:pt x="0" y="73237"/>
                      <a:pt x="0" y="77511"/>
                    </a:cubicBezTo>
                    <a:cubicBezTo>
                      <a:pt x="0" y="81785"/>
                      <a:pt x="3465" y="85250"/>
                      <a:pt x="7739" y="85250"/>
                    </a:cubicBezTo>
                    <a:lnTo>
                      <a:pt x="239911" y="85250"/>
                    </a:lnTo>
                    <a:cubicBezTo>
                      <a:pt x="244185" y="85250"/>
                      <a:pt x="247650" y="81785"/>
                      <a:pt x="247650" y="77511"/>
                    </a:cubicBezTo>
                    <a:cubicBezTo>
                      <a:pt x="247650" y="73237"/>
                      <a:pt x="244185" y="69772"/>
                      <a:pt x="239911" y="69772"/>
                    </a:cubicBezTo>
                    <a:close/>
                    <a:moveTo>
                      <a:pt x="93198" y="15599"/>
                    </a:moveTo>
                    <a:lnTo>
                      <a:pt x="93381" y="15831"/>
                    </a:lnTo>
                    <a:lnTo>
                      <a:pt x="105812" y="30235"/>
                    </a:lnTo>
                    <a:cubicBezTo>
                      <a:pt x="110221" y="35657"/>
                      <a:pt x="116837" y="38804"/>
                      <a:pt x="123825" y="38804"/>
                    </a:cubicBezTo>
                    <a:cubicBezTo>
                      <a:pt x="130813" y="38804"/>
                      <a:pt x="137429" y="35657"/>
                      <a:pt x="141838" y="30235"/>
                    </a:cubicBezTo>
                    <a:lnTo>
                      <a:pt x="154269" y="15831"/>
                    </a:lnTo>
                    <a:cubicBezTo>
                      <a:pt x="154327" y="15753"/>
                      <a:pt x="154365" y="15676"/>
                      <a:pt x="154433" y="15599"/>
                    </a:cubicBezTo>
                    <a:lnTo>
                      <a:pt x="193767" y="69772"/>
                    </a:lnTo>
                    <a:lnTo>
                      <a:pt x="53874" y="69772"/>
                    </a:lnTo>
                    <a:close/>
                    <a:moveTo>
                      <a:pt x="174129" y="100728"/>
                    </a:moveTo>
                    <a:cubicBezTo>
                      <a:pt x="156395" y="100732"/>
                      <a:pt x="141496" y="114061"/>
                      <a:pt x="139526" y="131685"/>
                    </a:cubicBezTo>
                    <a:lnTo>
                      <a:pt x="108124" y="131685"/>
                    </a:lnTo>
                    <a:cubicBezTo>
                      <a:pt x="106150" y="114078"/>
                      <a:pt x="91271" y="100760"/>
                      <a:pt x="73554" y="100741"/>
                    </a:cubicBezTo>
                    <a:cubicBezTo>
                      <a:pt x="55837" y="100721"/>
                      <a:pt x="40929" y="114007"/>
                      <a:pt x="38915" y="131609"/>
                    </a:cubicBezTo>
                    <a:cubicBezTo>
                      <a:pt x="36902" y="149212"/>
                      <a:pt x="48425" y="165520"/>
                      <a:pt x="65689" y="169502"/>
                    </a:cubicBezTo>
                    <a:cubicBezTo>
                      <a:pt x="82953" y="173483"/>
                      <a:pt x="100455" y="163869"/>
                      <a:pt x="106354" y="147163"/>
                    </a:cubicBezTo>
                    <a:lnTo>
                      <a:pt x="141296" y="147163"/>
                    </a:lnTo>
                    <a:cubicBezTo>
                      <a:pt x="147200" y="163861"/>
                      <a:pt x="164695" y="173468"/>
                      <a:pt x="181953" y="169490"/>
                    </a:cubicBezTo>
                    <a:cubicBezTo>
                      <a:pt x="199211" y="165511"/>
                      <a:pt x="210735" y="149214"/>
                      <a:pt x="208732" y="131617"/>
                    </a:cubicBezTo>
                    <a:cubicBezTo>
                      <a:pt x="206730" y="114020"/>
                      <a:pt x="191840" y="100728"/>
                      <a:pt x="174129" y="100728"/>
                    </a:cubicBezTo>
                    <a:close/>
                    <a:moveTo>
                      <a:pt x="73521" y="154902"/>
                    </a:moveTo>
                    <a:cubicBezTo>
                      <a:pt x="62836" y="154902"/>
                      <a:pt x="54173" y="146240"/>
                      <a:pt x="54173" y="135554"/>
                    </a:cubicBezTo>
                    <a:cubicBezTo>
                      <a:pt x="54173" y="124869"/>
                      <a:pt x="62836" y="116207"/>
                      <a:pt x="73521" y="116207"/>
                    </a:cubicBezTo>
                    <a:cubicBezTo>
                      <a:pt x="84207" y="116207"/>
                      <a:pt x="92869" y="124869"/>
                      <a:pt x="92869" y="135554"/>
                    </a:cubicBezTo>
                    <a:cubicBezTo>
                      <a:pt x="92869" y="146240"/>
                      <a:pt x="84207" y="154902"/>
                      <a:pt x="73521" y="154902"/>
                    </a:cubicBezTo>
                    <a:close/>
                    <a:moveTo>
                      <a:pt x="174129" y="154902"/>
                    </a:moveTo>
                    <a:cubicBezTo>
                      <a:pt x="163443" y="154902"/>
                      <a:pt x="154781" y="146240"/>
                      <a:pt x="154781" y="135554"/>
                    </a:cubicBezTo>
                    <a:cubicBezTo>
                      <a:pt x="154781" y="124869"/>
                      <a:pt x="163443" y="116207"/>
                      <a:pt x="174129" y="116207"/>
                    </a:cubicBezTo>
                    <a:cubicBezTo>
                      <a:pt x="184814" y="116207"/>
                      <a:pt x="193477" y="124869"/>
                      <a:pt x="193477" y="135554"/>
                    </a:cubicBezTo>
                    <a:cubicBezTo>
                      <a:pt x="193477" y="146240"/>
                      <a:pt x="184814" y="154902"/>
                      <a:pt x="174129" y="154902"/>
                    </a:cubicBezTo>
                    <a:close/>
                  </a:path>
                </a:pathLst>
              </a:custGeom>
              <a:solidFill>
                <a:srgbClr val="C62828"/>
              </a:solidFill>
              <a:ln>
                <a:noFill/>
              </a:ln>
            </p:spPr>
          </p:sp>
        </p:grpSp>
        <p:sp>
          <p:nvSpPr>
            <p:cNvPr id="15" name="TextBox 15"/>
            <p:cNvSpPr txBox="1"/>
            <p:nvPr/>
          </p:nvSpPr>
          <p:spPr>
            <a:xfrm>
              <a:off x="1197292" y="1042511"/>
              <a:ext cx="272480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13. 侦探破案 — 懒得瞎改</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351121"/>
              <a:ext cx="279153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遇bug先让AI诊断原因，再修复。</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98771"/>
              <a:ext cx="339011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不知道bug原因就瞎改，改到天荒地老：</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46421"/>
              <a:ext cx="282004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改状态机→不对→改查询逻辑→还是</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0102" y="2094071"/>
              <a:ext cx="280104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不对。改了5轮还是没解决问题。</a:t>
              </a:r>
              <a:endParaRPr lang="zh-CN" sz="1425"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0102" y="2417921"/>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先诊断、再修复、一针见效</a:t>
              </a:r>
              <a:endParaRPr lang="zh-CN" sz="1425" dirty="0">
                <a:solidFill>
                  <a:srgbClr val="FF6F00"/>
                </a:solidFill>
                <a:latin typeface="Segoe UI" panose="020B0502040204020203"/>
                <a:ea typeface="微软雅黑"/>
                <a:cs typeface="Segoe UI" panose="020B0502040204020203"/>
              </a:endParaRPr>
            </a:p>
          </p:txBody>
        </p:sp>
      </p:grpSp>
      <p:grpSp>
        <p:nvGrpSpPr>
          <p:cNvPr id="33" name="Group 33"/>
          <p:cNvGrpSpPr/>
          <p:nvPr/>
        </p:nvGrpSpPr>
        <p:grpSpPr>
          <a:xfrm>
            <a:off x="4333875" y="809625"/>
            <a:ext cx="3534204" cy="1897856"/>
            <a:chOff x="4333875" y="809625"/>
            <a:chExt cx="3534204" cy="1897856"/>
          </a:xfrm>
        </p:grpSpPr>
        <p:sp>
          <p:nvSpPr>
            <p:cNvPr id="22" name="Rectangle 22"/>
            <p:cNvSpPr/>
            <p:nvPr/>
          </p:nvSpPr>
          <p:spPr>
            <a:xfrm>
              <a:off x="4333875" y="809625"/>
              <a:ext cx="3524250" cy="1809750"/>
            </a:xfrm>
            <a:prstGeom prst="roundRect">
              <a:avLst>
                <a:gd name="adj" fmla="val 5263"/>
              </a:avLst>
            </a:prstGeom>
            <a:solidFill>
              <a:srgbClr val="FFFFFF"/>
            </a:solidFill>
            <a:ln>
              <a:noFill/>
            </a:ln>
          </p:spPr>
        </p:sp>
        <p:sp>
          <p:nvSpPr>
            <p:cNvPr id="23" name="Rectangle 23"/>
            <p:cNvSpPr/>
            <p:nvPr/>
          </p:nvSpPr>
          <p:spPr>
            <a:xfrm>
              <a:off x="4333875" y="809625"/>
              <a:ext cx="3524250" cy="38100"/>
            </a:xfrm>
            <a:prstGeom prst="roundRect">
              <a:avLst>
                <a:gd name="adj" fmla="val 50000"/>
              </a:avLst>
            </a:prstGeom>
            <a:solidFill>
              <a:srgbClr val="00838F"/>
            </a:solidFill>
            <a:ln>
              <a:noFill/>
            </a:ln>
          </p:spPr>
        </p:sp>
        <p:grpSp>
          <p:nvGrpSpPr>
            <p:cNvPr id="26" name="Group 26"/>
            <p:cNvGrpSpPr/>
            <p:nvPr/>
          </p:nvGrpSpPr>
          <p:grpSpPr>
            <a:xfrm>
              <a:off x="4639270" y="1070457"/>
              <a:ext cx="187159" cy="193987"/>
              <a:chOff x="4639270" y="1070457"/>
              <a:chExt cx="187159" cy="193987"/>
            </a:xfrm>
          </p:grpSpPr>
          <p:sp>
            <p:nvSpPr>
              <p:cNvPr id="24" name="Freeform 24"/>
              <p:cNvSpPr/>
              <p:nvPr/>
            </p:nvSpPr>
            <p:spPr>
              <a:xfrm>
                <a:off x="4647009" y="1078452"/>
                <a:ext cx="149219" cy="147297"/>
              </a:xfrm>
              <a:custGeom>
                <a:avLst/>
                <a:gdLst/>
                <a:ahLst/>
                <a:cxnLst/>
                <a:rect l="l" t="t" r="r" b="b"/>
                <a:pathLst>
                  <a:path w="149219" h="147297">
                    <a:moveTo>
                      <a:pt x="0" y="38950"/>
                    </a:moveTo>
                    <a:lnTo>
                      <a:pt x="61912" y="38950"/>
                    </a:lnTo>
                    <a:lnTo>
                      <a:pt x="61912" y="147297"/>
                    </a:lnTo>
                    <a:lnTo>
                      <a:pt x="0" y="147297"/>
                    </a:lnTo>
                    <a:close/>
                    <a:moveTo>
                      <a:pt x="137987" y="6436"/>
                    </a:moveTo>
                    <a:cubicBezTo>
                      <a:pt x="137571" y="4418"/>
                      <a:pt x="136367" y="2648"/>
                      <a:pt x="134642" y="1521"/>
                    </a:cubicBezTo>
                    <a:cubicBezTo>
                      <a:pt x="132917" y="393"/>
                      <a:pt x="130813" y="0"/>
                      <a:pt x="128797" y="429"/>
                    </a:cubicBezTo>
                    <a:lnTo>
                      <a:pt x="83514" y="10103"/>
                    </a:lnTo>
                    <a:cubicBezTo>
                      <a:pt x="79323" y="11029"/>
                      <a:pt x="76666" y="15164"/>
                      <a:pt x="77565" y="19361"/>
                    </a:cubicBezTo>
                    <a:lnTo>
                      <a:pt x="88796" y="72808"/>
                    </a:lnTo>
                    <a:lnTo>
                      <a:pt x="149219" y="59826"/>
                    </a:lnTo>
                    <a:close/>
                  </a:path>
                </a:pathLst>
              </a:custGeom>
              <a:solidFill>
                <a:srgbClr val="00838F">
                  <a:alpha val="20000"/>
                </a:srgbClr>
              </a:solidFill>
              <a:ln>
                <a:noFill/>
              </a:ln>
            </p:spPr>
          </p:sp>
          <p:sp>
            <p:nvSpPr>
              <p:cNvPr id="25" name="Freeform 25"/>
              <p:cNvSpPr/>
              <p:nvPr/>
            </p:nvSpPr>
            <p:spPr>
              <a:xfrm>
                <a:off x="4639270" y="1070457"/>
                <a:ext cx="187159" cy="193987"/>
              </a:xfrm>
              <a:custGeom>
                <a:avLst/>
                <a:gdLst/>
                <a:ahLst/>
                <a:cxnLst/>
                <a:rect l="l" t="t" r="r" b="b"/>
                <a:pathLst>
                  <a:path w="187159" h="193987">
                    <a:moveTo>
                      <a:pt x="185399" y="165497"/>
                    </a:moveTo>
                    <a:lnTo>
                      <a:pt x="153291" y="12844"/>
                    </a:lnTo>
                    <a:cubicBezTo>
                      <a:pt x="152453" y="8812"/>
                      <a:pt x="150042" y="5281"/>
                      <a:pt x="146592" y="3032"/>
                    </a:cubicBezTo>
                    <a:cubicBezTo>
                      <a:pt x="143143" y="782"/>
                      <a:pt x="138939" y="0"/>
                      <a:pt x="134911" y="858"/>
                    </a:cubicBezTo>
                    <a:lnTo>
                      <a:pt x="89628" y="10590"/>
                    </a:lnTo>
                    <a:cubicBezTo>
                      <a:pt x="81291" y="12416"/>
                      <a:pt x="75982" y="20617"/>
                      <a:pt x="77729" y="28971"/>
                    </a:cubicBezTo>
                    <a:lnTo>
                      <a:pt x="109837" y="181624"/>
                    </a:lnTo>
                    <a:cubicBezTo>
                      <a:pt x="111311" y="188802"/>
                      <a:pt x="117619" y="193963"/>
                      <a:pt x="124947" y="193987"/>
                    </a:cubicBezTo>
                    <a:cubicBezTo>
                      <a:pt x="126046" y="193985"/>
                      <a:pt x="127142" y="193869"/>
                      <a:pt x="128217" y="193639"/>
                    </a:cubicBezTo>
                    <a:lnTo>
                      <a:pt x="173500" y="183907"/>
                    </a:lnTo>
                    <a:cubicBezTo>
                      <a:pt x="181847" y="182077"/>
                      <a:pt x="187159" y="173860"/>
                      <a:pt x="185399" y="165497"/>
                    </a:cubicBezTo>
                    <a:close/>
                    <a:moveTo>
                      <a:pt x="92869" y="25807"/>
                    </a:moveTo>
                    <a:cubicBezTo>
                      <a:pt x="92869" y="25749"/>
                      <a:pt x="92869" y="25720"/>
                      <a:pt x="92869" y="25720"/>
                    </a:cubicBezTo>
                    <a:lnTo>
                      <a:pt x="138142" y="16046"/>
                    </a:lnTo>
                    <a:lnTo>
                      <a:pt x="141364" y="31399"/>
                    </a:lnTo>
                    <a:lnTo>
                      <a:pt x="96090" y="41140"/>
                    </a:lnTo>
                    <a:close/>
                    <a:moveTo>
                      <a:pt x="99273" y="56251"/>
                    </a:moveTo>
                    <a:lnTo>
                      <a:pt x="144566" y="46529"/>
                    </a:lnTo>
                    <a:lnTo>
                      <a:pt x="147797" y="61910"/>
                    </a:lnTo>
                    <a:lnTo>
                      <a:pt x="102543" y="71642"/>
                    </a:lnTo>
                    <a:close/>
                    <a:moveTo>
                      <a:pt x="105696" y="86791"/>
                    </a:moveTo>
                    <a:lnTo>
                      <a:pt x="150989" y="77059"/>
                    </a:lnTo>
                    <a:lnTo>
                      <a:pt x="163855" y="138237"/>
                    </a:lnTo>
                    <a:lnTo>
                      <a:pt x="118562" y="147968"/>
                    </a:lnTo>
                    <a:close/>
                    <a:moveTo>
                      <a:pt x="170259" y="168777"/>
                    </a:moveTo>
                    <a:lnTo>
                      <a:pt x="124986" y="178451"/>
                    </a:lnTo>
                    <a:lnTo>
                      <a:pt x="121764" y="163098"/>
                    </a:lnTo>
                    <a:lnTo>
                      <a:pt x="167038" y="153357"/>
                    </a:lnTo>
                    <a:lnTo>
                      <a:pt x="170259" y="168690"/>
                    </a:lnTo>
                    <a:cubicBezTo>
                      <a:pt x="170259" y="168748"/>
                      <a:pt x="170259" y="168777"/>
                      <a:pt x="170259" y="168777"/>
                    </a:cubicBezTo>
                    <a:close/>
                    <a:moveTo>
                      <a:pt x="61912" y="8249"/>
                    </a:moveTo>
                    <a:lnTo>
                      <a:pt x="15478" y="8249"/>
                    </a:lnTo>
                    <a:cubicBezTo>
                      <a:pt x="6930" y="8249"/>
                      <a:pt x="0" y="15179"/>
                      <a:pt x="0" y="23727"/>
                    </a:cubicBezTo>
                    <a:lnTo>
                      <a:pt x="0" y="178509"/>
                    </a:lnTo>
                    <a:cubicBezTo>
                      <a:pt x="0" y="187057"/>
                      <a:pt x="6930" y="193987"/>
                      <a:pt x="15478" y="193987"/>
                    </a:cubicBezTo>
                    <a:lnTo>
                      <a:pt x="61912" y="193987"/>
                    </a:lnTo>
                    <a:cubicBezTo>
                      <a:pt x="70461" y="193987"/>
                      <a:pt x="77391" y="187057"/>
                      <a:pt x="77391" y="178509"/>
                    </a:cubicBezTo>
                    <a:lnTo>
                      <a:pt x="77391" y="23727"/>
                    </a:lnTo>
                    <a:cubicBezTo>
                      <a:pt x="77391" y="15179"/>
                      <a:pt x="70461" y="8249"/>
                      <a:pt x="61912" y="8249"/>
                    </a:cubicBezTo>
                    <a:close/>
                    <a:moveTo>
                      <a:pt x="15478" y="23727"/>
                    </a:moveTo>
                    <a:lnTo>
                      <a:pt x="61912" y="23727"/>
                    </a:lnTo>
                    <a:lnTo>
                      <a:pt x="61912" y="39206"/>
                    </a:lnTo>
                    <a:lnTo>
                      <a:pt x="15478" y="39206"/>
                    </a:lnTo>
                    <a:close/>
                    <a:moveTo>
                      <a:pt x="15478" y="54684"/>
                    </a:moveTo>
                    <a:lnTo>
                      <a:pt x="61912" y="54684"/>
                    </a:lnTo>
                    <a:lnTo>
                      <a:pt x="61912" y="147552"/>
                    </a:lnTo>
                    <a:lnTo>
                      <a:pt x="15478" y="147552"/>
                    </a:lnTo>
                    <a:close/>
                    <a:moveTo>
                      <a:pt x="61912" y="178509"/>
                    </a:moveTo>
                    <a:lnTo>
                      <a:pt x="15478" y="178509"/>
                    </a:lnTo>
                    <a:lnTo>
                      <a:pt x="15478" y="163031"/>
                    </a:lnTo>
                    <a:lnTo>
                      <a:pt x="61912" y="163031"/>
                    </a:lnTo>
                    <a:lnTo>
                      <a:pt x="61912" y="178509"/>
                    </a:lnTo>
                    <a:close/>
                  </a:path>
                </a:pathLst>
              </a:custGeom>
              <a:solidFill>
                <a:srgbClr val="00838F"/>
              </a:solidFill>
              <a:ln>
                <a:noFill/>
              </a:ln>
            </p:spPr>
          </p:sp>
        </p:grpSp>
        <p:sp>
          <p:nvSpPr>
            <p:cNvPr id="27" name="TextBox 27"/>
            <p:cNvSpPr txBox="1"/>
            <p:nvPr/>
          </p:nvSpPr>
          <p:spPr>
            <a:xfrm>
              <a:off x="4959668" y="1042511"/>
              <a:ext cx="248327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14. 代码考古 — 懒得猜</a:t>
              </a:r>
              <a:endParaRPr lang="zh-CN" sz="1725" b="1" dirty="0">
                <a:solidFill>
                  <a:srgbClr val="263238"/>
                </a:solidFill>
                <a:latin typeface="Segoe UI" panose="020B0502040204020203"/>
                <a:ea typeface="微软雅黑"/>
                <a:cs typeface="Segoe UI" panose="020B0502040204020203"/>
              </a:endParaRPr>
            </a:p>
          </p:txBody>
        </p:sp>
        <p:sp>
          <p:nvSpPr>
            <p:cNvPr id="28" name="TextBox 28"/>
            <p:cNvSpPr txBox="1"/>
            <p:nvPr/>
          </p:nvSpPr>
          <p:spPr>
            <a:xfrm>
              <a:off x="4582478" y="1351121"/>
              <a:ext cx="299106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先理解后修改，不理解就改=不知道</a:t>
              </a:r>
              <a:endParaRPr lang="zh-CN" sz="1425"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2478" y="1598771"/>
              <a:ext cx="328560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对不对。花5分钟理解，省1小时迷茫。</a:t>
              </a:r>
              <a:endParaRPr lang="zh-CN" sz="1425"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2478" y="1846421"/>
              <a:ext cx="274403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让AI：①比喻解释业务逻辑 ②指出</a:t>
              </a:r>
              <a:endParaRPr lang="zh-CN" sz="1425"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2478" y="2094071"/>
              <a:ext cx="299106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核心逻辑 vs 历史遗留 ③定位修改点</a:t>
              </a:r>
              <a:endParaRPr lang="zh-CN" sz="1425"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2478" y="2417921"/>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精准修改，不误伤核心逻辑</a:t>
              </a:r>
              <a:endParaRPr lang="zh-CN" sz="1425"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8096250" y="809625"/>
            <a:ext cx="3592122" cy="1897856"/>
            <a:chOff x="8096250" y="809625"/>
            <a:chExt cx="3592122" cy="1897856"/>
          </a:xfrm>
        </p:grpSpPr>
        <p:sp>
          <p:nvSpPr>
            <p:cNvPr id="34" name="Rectangle 34"/>
            <p:cNvSpPr/>
            <p:nvPr/>
          </p:nvSpPr>
          <p:spPr>
            <a:xfrm>
              <a:off x="8096250" y="809625"/>
              <a:ext cx="3524250" cy="1809750"/>
            </a:xfrm>
            <a:prstGeom prst="roundRect">
              <a:avLst>
                <a:gd name="adj" fmla="val 5263"/>
              </a:avLst>
            </a:prstGeom>
            <a:solidFill>
              <a:srgbClr val="FFFFFF"/>
            </a:solidFill>
            <a:ln>
              <a:noFill/>
            </a:ln>
          </p:spPr>
        </p:sp>
        <p:sp>
          <p:nvSpPr>
            <p:cNvPr id="35" name="Rectangle 35"/>
            <p:cNvSpPr/>
            <p:nvPr/>
          </p:nvSpPr>
          <p:spPr>
            <a:xfrm>
              <a:off x="8096250" y="809625"/>
              <a:ext cx="3524250" cy="38100"/>
            </a:xfrm>
            <a:prstGeom prst="roundRect">
              <a:avLst>
                <a:gd name="adj" fmla="val 50000"/>
              </a:avLst>
            </a:prstGeom>
            <a:solidFill>
              <a:srgbClr val="FF6F00"/>
            </a:solidFill>
            <a:ln>
              <a:noFill/>
            </a:ln>
          </p:spPr>
        </p:sp>
        <p:grpSp>
          <p:nvGrpSpPr>
            <p:cNvPr id="38" name="Group 38"/>
            <p:cNvGrpSpPr/>
            <p:nvPr/>
          </p:nvGrpSpPr>
          <p:grpSpPr>
            <a:xfrm>
              <a:off x="8393906" y="1086445"/>
              <a:ext cx="185738" cy="193727"/>
              <a:chOff x="8393906" y="1086445"/>
              <a:chExt cx="185738" cy="193727"/>
            </a:xfrm>
          </p:grpSpPr>
          <p:sp>
            <p:nvSpPr>
              <p:cNvPr id="36" name="Freeform 36"/>
              <p:cNvSpPr/>
              <p:nvPr/>
            </p:nvSpPr>
            <p:spPr>
              <a:xfrm>
                <a:off x="8401645" y="1094184"/>
                <a:ext cx="170259" cy="178115"/>
              </a:xfrm>
              <a:custGeom>
                <a:avLst/>
                <a:gdLst/>
                <a:ahLst/>
                <a:cxnLst/>
                <a:rect l="l" t="t" r="r" b="b"/>
                <a:pathLst>
                  <a:path w="170259" h="178115">
                    <a:moveTo>
                      <a:pt x="170259" y="7739"/>
                    </a:moveTo>
                    <a:lnTo>
                      <a:pt x="170259" y="64592"/>
                    </a:lnTo>
                    <a:cubicBezTo>
                      <a:pt x="170259" y="146026"/>
                      <a:pt x="101275" y="173007"/>
                      <a:pt x="87509" y="177582"/>
                    </a:cubicBezTo>
                    <a:cubicBezTo>
                      <a:pt x="85968" y="178115"/>
                      <a:pt x="84292" y="178115"/>
                      <a:pt x="82750" y="177582"/>
                    </a:cubicBezTo>
                    <a:cubicBezTo>
                      <a:pt x="68984" y="173026"/>
                      <a:pt x="0" y="146075"/>
                      <a:pt x="0" y="64611"/>
                    </a:cubicBezTo>
                    <a:lnTo>
                      <a:pt x="0" y="7739"/>
                    </a:lnTo>
                    <a:cubicBezTo>
                      <a:pt x="0" y="3465"/>
                      <a:pt x="3465" y="0"/>
                      <a:pt x="7739" y="0"/>
                    </a:cubicBezTo>
                    <a:lnTo>
                      <a:pt x="162520" y="0"/>
                    </a:lnTo>
                    <a:cubicBezTo>
                      <a:pt x="166794" y="0"/>
                      <a:pt x="170259" y="3465"/>
                      <a:pt x="170259" y="7739"/>
                    </a:cubicBezTo>
                    <a:close/>
                  </a:path>
                </a:pathLst>
              </a:custGeom>
              <a:solidFill>
                <a:srgbClr val="FF6F00">
                  <a:alpha val="20000"/>
                </a:srgbClr>
              </a:solidFill>
              <a:ln>
                <a:noFill/>
              </a:ln>
            </p:spPr>
          </p:sp>
          <p:sp>
            <p:nvSpPr>
              <p:cNvPr id="37" name="Freeform 37"/>
              <p:cNvSpPr/>
              <p:nvPr/>
            </p:nvSpPr>
            <p:spPr>
              <a:xfrm>
                <a:off x="8393906" y="1086445"/>
                <a:ext cx="185738" cy="193727"/>
              </a:xfrm>
              <a:custGeom>
                <a:avLst/>
                <a:gdLst/>
                <a:ahLst/>
                <a:cxnLst/>
                <a:rect l="l" t="t" r="r" b="b"/>
                <a:pathLst>
                  <a:path w="185738" h="193727">
                    <a:moveTo>
                      <a:pt x="170259" y="0"/>
                    </a:moveTo>
                    <a:lnTo>
                      <a:pt x="15478" y="0"/>
                    </a:lnTo>
                    <a:cubicBezTo>
                      <a:pt x="6930" y="0"/>
                      <a:pt x="0" y="6930"/>
                      <a:pt x="0" y="15478"/>
                    </a:cubicBezTo>
                    <a:lnTo>
                      <a:pt x="0" y="72331"/>
                    </a:lnTo>
                    <a:cubicBezTo>
                      <a:pt x="0" y="159028"/>
                      <a:pt x="73347" y="187779"/>
                      <a:pt x="88032" y="192654"/>
                    </a:cubicBezTo>
                    <a:cubicBezTo>
                      <a:pt x="91167" y="193727"/>
                      <a:pt x="94570" y="193727"/>
                      <a:pt x="97706" y="192654"/>
                    </a:cubicBezTo>
                    <a:cubicBezTo>
                      <a:pt x="112410" y="187769"/>
                      <a:pt x="185738" y="159018"/>
                      <a:pt x="185738" y="72322"/>
                    </a:cubicBezTo>
                    <a:lnTo>
                      <a:pt x="185738" y="15478"/>
                    </a:lnTo>
                    <a:cubicBezTo>
                      <a:pt x="185738" y="6930"/>
                      <a:pt x="178808" y="0"/>
                      <a:pt x="170259" y="0"/>
                    </a:cubicBezTo>
                    <a:close/>
                    <a:moveTo>
                      <a:pt x="170259" y="72351"/>
                    </a:moveTo>
                    <a:cubicBezTo>
                      <a:pt x="170259" y="148213"/>
                      <a:pt x="106083" y="173558"/>
                      <a:pt x="92869" y="177969"/>
                    </a:cubicBezTo>
                    <a:cubicBezTo>
                      <a:pt x="79780" y="173616"/>
                      <a:pt x="15478" y="148290"/>
                      <a:pt x="15478" y="72351"/>
                    </a:cubicBezTo>
                    <a:lnTo>
                      <a:pt x="15478" y="15478"/>
                    </a:lnTo>
                    <a:lnTo>
                      <a:pt x="170259" y="15478"/>
                    </a:lnTo>
                    <a:close/>
                    <a:moveTo>
                      <a:pt x="85130" y="92869"/>
                    </a:moveTo>
                    <a:lnTo>
                      <a:pt x="85130" y="54173"/>
                    </a:lnTo>
                    <a:cubicBezTo>
                      <a:pt x="85130" y="49899"/>
                      <a:pt x="88595" y="46434"/>
                      <a:pt x="92869" y="46434"/>
                    </a:cubicBezTo>
                    <a:cubicBezTo>
                      <a:pt x="97143" y="46434"/>
                      <a:pt x="100608" y="49899"/>
                      <a:pt x="100608" y="54173"/>
                    </a:cubicBezTo>
                    <a:lnTo>
                      <a:pt x="100608" y="92869"/>
                    </a:lnTo>
                    <a:cubicBezTo>
                      <a:pt x="100608" y="97143"/>
                      <a:pt x="97143" y="100608"/>
                      <a:pt x="92869" y="100608"/>
                    </a:cubicBezTo>
                    <a:cubicBezTo>
                      <a:pt x="88595" y="100608"/>
                      <a:pt x="85130" y="97143"/>
                      <a:pt x="85130" y="92869"/>
                    </a:cubicBezTo>
                    <a:close/>
                    <a:moveTo>
                      <a:pt x="81260" y="127695"/>
                    </a:moveTo>
                    <a:cubicBezTo>
                      <a:pt x="81260" y="121283"/>
                      <a:pt x="86458" y="116086"/>
                      <a:pt x="92869" y="116086"/>
                    </a:cubicBezTo>
                    <a:cubicBezTo>
                      <a:pt x="99280" y="116086"/>
                      <a:pt x="104477" y="121283"/>
                      <a:pt x="104477" y="127695"/>
                    </a:cubicBezTo>
                    <a:cubicBezTo>
                      <a:pt x="104477" y="134106"/>
                      <a:pt x="99280" y="139303"/>
                      <a:pt x="92869" y="139303"/>
                    </a:cubicBezTo>
                    <a:cubicBezTo>
                      <a:pt x="86458" y="139303"/>
                      <a:pt x="81260" y="134106"/>
                      <a:pt x="81260" y="127695"/>
                    </a:cubicBezTo>
                    <a:close/>
                  </a:path>
                </a:pathLst>
              </a:custGeom>
              <a:solidFill>
                <a:srgbClr val="FF6F00"/>
              </a:solidFill>
              <a:ln>
                <a:noFill/>
              </a:ln>
            </p:spPr>
          </p:sp>
        </p:grpSp>
        <p:sp>
          <p:nvSpPr>
            <p:cNvPr id="39" name="TextBox 39"/>
            <p:cNvSpPr txBox="1"/>
            <p:nvPr/>
          </p:nvSpPr>
          <p:spPr>
            <a:xfrm>
              <a:off x="8722042" y="1042511"/>
              <a:ext cx="296633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15. 边界测试 — 懒得被投诉</a:t>
              </a:r>
              <a:endParaRPr lang="zh-CN" sz="1725" b="1" dirty="0">
                <a:solidFill>
                  <a:srgbClr val="263238"/>
                </a:solidFill>
                <a:latin typeface="Segoe UI" panose="020B0502040204020203"/>
                <a:ea typeface="微软雅黑"/>
                <a:cs typeface="Segoe UI" panose="020B0502040204020203"/>
              </a:endParaRPr>
            </a:p>
          </p:txBody>
        </p:sp>
        <p:sp>
          <p:nvSpPr>
            <p:cNvPr id="40" name="TextBox 40"/>
            <p:cNvSpPr txBox="1"/>
            <p:nvPr/>
          </p:nvSpPr>
          <p:spPr>
            <a:xfrm>
              <a:off x="8344852" y="1351121"/>
              <a:ext cx="247800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让AI主动找自己代码的漏洞。</a:t>
              </a:r>
              <a:endParaRPr lang="zh-CN" sz="1425"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4852" y="1598771"/>
              <a:ext cx="2972062"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日期解析函数只支持YYYY-MM-DD→</a:t>
              </a:r>
              <a:endParaRPr lang="zh-CN" sz="1425" dirty="0">
                <a:solidFill>
                  <a:srgbClr val="546E7A"/>
                </a:solidFill>
                <a:latin typeface="Segoe UI" panose="020B0502040204020203"/>
                <a:ea typeface="微软雅黑"/>
                <a:cs typeface="Segoe UI" panose="020B0502040204020203"/>
              </a:endParaRPr>
            </a:p>
          </p:txBody>
        </p:sp>
        <p:sp>
          <p:nvSpPr>
            <p:cNvPr id="42" name="TextBox 42"/>
            <p:cNvSpPr txBox="1"/>
            <p:nvPr/>
          </p:nvSpPr>
          <p:spPr>
            <a:xfrm>
              <a:off x="8344852" y="1846421"/>
              <a:ext cx="26205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用户输入"2024-02-30"崩了。</a:t>
              </a:r>
              <a:endParaRPr lang="zh-CN" sz="1425"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4852" y="2094071"/>
              <a:ext cx="26205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让AI找3种崩溃输入→2月30日、</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4852" y="2417921"/>
              <a:ext cx="271553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格式错误、空字符串→修复→健壮</a:t>
              </a:r>
              <a:endParaRPr lang="zh-CN" sz="1425" dirty="0">
                <a:solidFill>
                  <a:srgbClr val="FF6F00"/>
                </a:solidFill>
                <a:latin typeface="Segoe UI" panose="020B0502040204020203"/>
                <a:ea typeface="微软雅黑"/>
                <a:cs typeface="Segoe UI" panose="020B0502040204020203"/>
              </a:endParaRPr>
            </a:p>
          </p:txBody>
        </p:sp>
      </p:grpSp>
      <p:grpSp>
        <p:nvGrpSpPr>
          <p:cNvPr id="48" name="Group 48"/>
          <p:cNvGrpSpPr/>
          <p:nvPr/>
        </p:nvGrpSpPr>
        <p:grpSpPr>
          <a:xfrm>
            <a:off x="571500" y="2857500"/>
            <a:ext cx="11049000" cy="457200"/>
            <a:chOff x="571500" y="2857500"/>
            <a:chExt cx="11049000" cy="457200"/>
          </a:xfrm>
        </p:grpSpPr>
        <p:sp>
          <p:nvSpPr>
            <p:cNvPr id="46" name="Rectangle 46"/>
            <p:cNvSpPr/>
            <p:nvPr/>
          </p:nvSpPr>
          <p:spPr>
            <a:xfrm>
              <a:off x="571500" y="2857500"/>
              <a:ext cx="11049000" cy="457200"/>
            </a:xfrm>
            <a:prstGeom prst="roundRect">
              <a:avLst>
                <a:gd name="adj" fmla="val 16667"/>
              </a:avLst>
            </a:prstGeom>
            <a:solidFill>
              <a:srgbClr val="1565C0">
                <a:alpha val="6000"/>
              </a:srgbClr>
            </a:solidFill>
            <a:ln>
              <a:noFill/>
            </a:ln>
          </p:spPr>
        </p:sp>
        <p:sp>
          <p:nvSpPr>
            <p:cNvPr id="47" name="TextBox 47"/>
            <p:cNvSpPr txBox="1"/>
            <p:nvPr/>
          </p:nvSpPr>
          <p:spPr>
            <a:xfrm>
              <a:off x="2811042" y="2990850"/>
              <a:ext cx="6569916"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阶段核心：先诊断再修复、先理解再修改、先找漏洞再上线——懒在高效</a:t>
              </a:r>
              <a:endParaRPr lang="zh-CN" sz="1500" b="1" dirty="0">
                <a:solidFill>
                  <a:srgbClr val="1565C0"/>
                </a:solidFill>
                <a:latin typeface="Segoe UI" panose="020B0502040204020203"/>
                <a:ea typeface="微软雅黑"/>
                <a:cs typeface="Segoe UI" panose="020B0502040204020203"/>
              </a:endParaRPr>
            </a:p>
          </p:txBody>
        </p:sp>
      </p:grpSp>
      <p:sp>
        <p:nvSpPr>
          <p:cNvPr id="49" name="TextBox 49"/>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06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image">
                                      <p:cBhvr>
                                        <p:cTn id="7" dur="4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4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7504290"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阶段五：质量与工程化 — 懒在持久，避免后续麻烦</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8" name="Group 18"/>
          <p:cNvGrpSpPr/>
          <p:nvPr/>
        </p:nvGrpSpPr>
        <p:grpSpPr>
          <a:xfrm>
            <a:off x="571500" y="781050"/>
            <a:ext cx="4626840" cy="1031081"/>
            <a:chOff x="571500" y="781050"/>
            <a:chExt cx="4626840" cy="1031081"/>
          </a:xfrm>
        </p:grpSpPr>
        <p:sp>
          <p:nvSpPr>
            <p:cNvPr id="10" name="Rectangle 10"/>
            <p:cNvSpPr/>
            <p:nvPr/>
          </p:nvSpPr>
          <p:spPr>
            <a:xfrm>
              <a:off x="571500" y="781050"/>
              <a:ext cx="3524250" cy="1000125"/>
            </a:xfrm>
            <a:prstGeom prst="roundRect">
              <a:avLst>
                <a:gd name="adj" fmla="val 9524"/>
              </a:avLst>
            </a:prstGeom>
            <a:solidFill>
              <a:srgbClr val="FFFFFF"/>
            </a:solidFill>
            <a:ln>
              <a:noFill/>
            </a:ln>
          </p:spPr>
        </p:sp>
        <p:sp>
          <p:nvSpPr>
            <p:cNvPr id="11" name="Rectangle 11"/>
            <p:cNvSpPr/>
            <p:nvPr/>
          </p:nvSpPr>
          <p:spPr>
            <a:xfrm>
              <a:off x="571500" y="781050"/>
              <a:ext cx="3524250" cy="38100"/>
            </a:xfrm>
            <a:prstGeom prst="roundRect">
              <a:avLst>
                <a:gd name="adj" fmla="val 50000"/>
              </a:avLst>
            </a:prstGeom>
            <a:solidFill>
              <a:srgbClr val="6A1B9A"/>
            </a:solidFill>
            <a:ln>
              <a:noFill/>
            </a:ln>
          </p:spPr>
        </p:sp>
        <p:grpSp>
          <p:nvGrpSpPr>
            <p:cNvPr id="14" name="Group 14"/>
            <p:cNvGrpSpPr/>
            <p:nvPr/>
          </p:nvGrpSpPr>
          <p:grpSpPr>
            <a:xfrm>
              <a:off x="866775" y="1047750"/>
              <a:ext cx="171450" cy="171450"/>
              <a:chOff x="866775" y="1047750"/>
              <a:chExt cx="171450" cy="171450"/>
            </a:xfrm>
          </p:grpSpPr>
          <p:sp>
            <p:nvSpPr>
              <p:cNvPr id="12" name="Freeform 12"/>
              <p:cNvSpPr/>
              <p:nvPr/>
            </p:nvSpPr>
            <p:spPr>
              <a:xfrm>
                <a:off x="873919" y="1054894"/>
                <a:ext cx="157162" cy="157162"/>
              </a:xfrm>
              <a:custGeom>
                <a:avLst/>
                <a:gdLst/>
                <a:ahLst/>
                <a:cxnLst/>
                <a:rect l="l" t="t" r="r" b="b"/>
                <a:pathLst>
                  <a:path w="157162" h="157162">
                    <a:moveTo>
                      <a:pt x="157162" y="7144"/>
                    </a:moveTo>
                    <a:lnTo>
                      <a:pt x="157162" y="150019"/>
                    </a:lnTo>
                    <a:cubicBezTo>
                      <a:pt x="157162" y="153964"/>
                      <a:pt x="153964" y="157162"/>
                      <a:pt x="150019" y="157162"/>
                    </a:cubicBezTo>
                    <a:lnTo>
                      <a:pt x="7144" y="157162"/>
                    </a:lnTo>
                    <a:cubicBezTo>
                      <a:pt x="3198" y="157162"/>
                      <a:pt x="0" y="153964"/>
                      <a:pt x="0" y="150019"/>
                    </a:cubicBezTo>
                    <a:lnTo>
                      <a:pt x="0" y="7144"/>
                    </a:lnTo>
                    <a:cubicBezTo>
                      <a:pt x="0" y="3198"/>
                      <a:pt x="3198" y="0"/>
                      <a:pt x="7144" y="0"/>
                    </a:cubicBezTo>
                    <a:lnTo>
                      <a:pt x="150019" y="0"/>
                    </a:lnTo>
                    <a:cubicBezTo>
                      <a:pt x="153964" y="0"/>
                      <a:pt x="157162" y="3198"/>
                      <a:pt x="157162" y="7144"/>
                    </a:cubicBezTo>
                    <a:close/>
                  </a:path>
                </a:pathLst>
              </a:custGeom>
              <a:solidFill>
                <a:srgbClr val="6A1B9A">
                  <a:alpha val="20000"/>
                </a:srgbClr>
              </a:solidFill>
              <a:ln>
                <a:noFill/>
              </a:ln>
            </p:spPr>
          </p:sp>
          <p:sp>
            <p:nvSpPr>
              <p:cNvPr id="13" name="Freeform 13"/>
              <p:cNvSpPr/>
              <p:nvPr/>
            </p:nvSpPr>
            <p:spPr>
              <a:xfrm>
                <a:off x="866775" y="1047750"/>
                <a:ext cx="171450" cy="171450"/>
              </a:xfrm>
              <a:custGeom>
                <a:avLst/>
                <a:gdLst/>
                <a:ahLst/>
                <a:cxnLst/>
                <a:rect l="l" t="t" r="r" b="b"/>
                <a:pathLst>
                  <a:path w="171450" h="171450">
                    <a:moveTo>
                      <a:pt x="126498" y="59240"/>
                    </a:moveTo>
                    <a:cubicBezTo>
                      <a:pt x="127839" y="60579"/>
                      <a:pt x="128593" y="62398"/>
                      <a:pt x="128593" y="64294"/>
                    </a:cubicBezTo>
                    <a:cubicBezTo>
                      <a:pt x="128593" y="66190"/>
                      <a:pt x="127839" y="68008"/>
                      <a:pt x="126498" y="69348"/>
                    </a:cubicBezTo>
                    <a:lnTo>
                      <a:pt x="76492" y="119354"/>
                    </a:lnTo>
                    <a:cubicBezTo>
                      <a:pt x="75152" y="120696"/>
                      <a:pt x="73334" y="121449"/>
                      <a:pt x="71438" y="121449"/>
                    </a:cubicBezTo>
                    <a:cubicBezTo>
                      <a:pt x="69541" y="121449"/>
                      <a:pt x="67723" y="120696"/>
                      <a:pt x="66383" y="119354"/>
                    </a:cubicBezTo>
                    <a:lnTo>
                      <a:pt x="44952" y="97923"/>
                    </a:lnTo>
                    <a:cubicBezTo>
                      <a:pt x="42161" y="95132"/>
                      <a:pt x="42161" y="90606"/>
                      <a:pt x="44952" y="87815"/>
                    </a:cubicBezTo>
                    <a:cubicBezTo>
                      <a:pt x="47743" y="85023"/>
                      <a:pt x="52269" y="85023"/>
                      <a:pt x="55060" y="87815"/>
                    </a:cubicBezTo>
                    <a:lnTo>
                      <a:pt x="71438" y="104201"/>
                    </a:lnTo>
                    <a:lnTo>
                      <a:pt x="116390" y="59240"/>
                    </a:lnTo>
                    <a:cubicBezTo>
                      <a:pt x="117729" y="57898"/>
                      <a:pt x="119548" y="57144"/>
                      <a:pt x="121444" y="57144"/>
                    </a:cubicBezTo>
                    <a:cubicBezTo>
                      <a:pt x="123340" y="57144"/>
                      <a:pt x="125158" y="57898"/>
                      <a:pt x="126498" y="59240"/>
                    </a:cubicBezTo>
                    <a:close/>
                    <a:moveTo>
                      <a:pt x="171450" y="14288"/>
                    </a:moveTo>
                    <a:lnTo>
                      <a:pt x="171450" y="157162"/>
                    </a:lnTo>
                    <a:cubicBezTo>
                      <a:pt x="171450" y="165053"/>
                      <a:pt x="165053" y="171450"/>
                      <a:pt x="157162" y="171450"/>
                    </a:cubicBezTo>
                    <a:lnTo>
                      <a:pt x="14288" y="171450"/>
                    </a:lnTo>
                    <a:cubicBezTo>
                      <a:pt x="6397" y="171450"/>
                      <a:pt x="0" y="165053"/>
                      <a:pt x="0" y="157162"/>
                    </a:cubicBezTo>
                    <a:lnTo>
                      <a:pt x="0" y="14288"/>
                    </a:lnTo>
                    <a:cubicBezTo>
                      <a:pt x="0" y="6397"/>
                      <a:pt x="6397" y="0"/>
                      <a:pt x="14288" y="0"/>
                    </a:cubicBezTo>
                    <a:lnTo>
                      <a:pt x="157162" y="0"/>
                    </a:lnTo>
                    <a:cubicBezTo>
                      <a:pt x="165053" y="0"/>
                      <a:pt x="171450" y="6397"/>
                      <a:pt x="171450" y="14288"/>
                    </a:cubicBezTo>
                    <a:close/>
                    <a:moveTo>
                      <a:pt x="157162" y="157162"/>
                    </a:moveTo>
                    <a:lnTo>
                      <a:pt x="157162" y="14288"/>
                    </a:lnTo>
                    <a:lnTo>
                      <a:pt x="14288" y="14288"/>
                    </a:lnTo>
                    <a:lnTo>
                      <a:pt x="14288" y="157162"/>
                    </a:lnTo>
                    <a:lnTo>
                      <a:pt x="157162" y="157162"/>
                    </a:lnTo>
                    <a:close/>
                  </a:path>
                </a:pathLst>
              </a:custGeom>
              <a:solidFill>
                <a:srgbClr val="6A1B9A"/>
              </a:solidFill>
              <a:ln>
                <a:noFill/>
              </a:ln>
            </p:spPr>
          </p:sp>
        </p:grpSp>
        <p:sp>
          <p:nvSpPr>
            <p:cNvPr id="15" name="TextBox 15"/>
            <p:cNvSpPr txBox="1"/>
            <p:nvPr/>
          </p:nvSpPr>
          <p:spPr>
            <a:xfrm>
              <a:off x="1170622" y="1011079"/>
              <a:ext cx="2487861"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16. 回归校验 — 懒得被坑</a:t>
              </a:r>
              <a:endParaRPr lang="zh-CN" sz="157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274921"/>
              <a:ext cx="43782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改完让AI自查：影响了哪些？原有功能是否被破坏？</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22571"/>
              <a:ext cx="356113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加字段忘了更新序列化→改完输出回归报告</a:t>
              </a:r>
              <a:endParaRPr lang="zh-CN" sz="1425" dirty="0">
                <a:solidFill>
                  <a:srgbClr val="FF6F00"/>
                </a:solidFill>
                <a:latin typeface="Segoe UI" panose="020B0502040204020203"/>
                <a:ea typeface="微软雅黑"/>
                <a:cs typeface="Segoe UI" panose="020B0502040204020203"/>
              </a:endParaRPr>
            </a:p>
          </p:txBody>
        </p:sp>
      </p:grpSp>
      <p:grpSp>
        <p:nvGrpSpPr>
          <p:cNvPr id="27" name="Group 27"/>
          <p:cNvGrpSpPr/>
          <p:nvPr/>
        </p:nvGrpSpPr>
        <p:grpSpPr>
          <a:xfrm>
            <a:off x="4333875" y="781050"/>
            <a:ext cx="4294299" cy="1031081"/>
            <a:chOff x="4333875" y="781050"/>
            <a:chExt cx="4294299" cy="1031081"/>
          </a:xfrm>
        </p:grpSpPr>
        <p:sp>
          <p:nvSpPr>
            <p:cNvPr id="19" name="Rectangle 19"/>
            <p:cNvSpPr/>
            <p:nvPr/>
          </p:nvSpPr>
          <p:spPr>
            <a:xfrm>
              <a:off x="4333875" y="781050"/>
              <a:ext cx="3524250" cy="1000125"/>
            </a:xfrm>
            <a:prstGeom prst="roundRect">
              <a:avLst>
                <a:gd name="adj" fmla="val 9524"/>
              </a:avLst>
            </a:prstGeom>
            <a:solidFill>
              <a:srgbClr val="FFFFFF"/>
            </a:solidFill>
            <a:ln>
              <a:noFill/>
            </a:ln>
          </p:spPr>
        </p:sp>
        <p:sp>
          <p:nvSpPr>
            <p:cNvPr id="20" name="Rectangle 20"/>
            <p:cNvSpPr/>
            <p:nvPr/>
          </p:nvSpPr>
          <p:spPr>
            <a:xfrm>
              <a:off x="4333875" y="781050"/>
              <a:ext cx="3524250" cy="38100"/>
            </a:xfrm>
            <a:prstGeom prst="roundRect">
              <a:avLst>
                <a:gd name="adj" fmla="val 50000"/>
              </a:avLst>
            </a:prstGeom>
            <a:solidFill>
              <a:srgbClr val="00838F"/>
            </a:solidFill>
            <a:ln>
              <a:noFill/>
            </a:ln>
          </p:spPr>
        </p:sp>
        <p:grpSp>
          <p:nvGrpSpPr>
            <p:cNvPr id="23" name="Group 23"/>
            <p:cNvGrpSpPr/>
            <p:nvPr/>
          </p:nvGrpSpPr>
          <p:grpSpPr>
            <a:xfrm>
              <a:off x="4636294" y="1040605"/>
              <a:ext cx="157164" cy="185739"/>
              <a:chOff x="4636294" y="1040605"/>
              <a:chExt cx="157164" cy="185739"/>
            </a:xfrm>
          </p:grpSpPr>
          <p:sp>
            <p:nvSpPr>
              <p:cNvPr id="21" name="Freeform 21"/>
              <p:cNvSpPr/>
              <p:nvPr/>
            </p:nvSpPr>
            <p:spPr>
              <a:xfrm>
                <a:off x="4736306" y="1047750"/>
                <a:ext cx="50006" cy="50006"/>
              </a:xfrm>
              <a:custGeom>
                <a:avLst/>
                <a:gdLst/>
                <a:ahLst/>
                <a:cxnLst/>
                <a:rect l="l" t="t" r="r" b="b"/>
                <a:pathLst>
                  <a:path w="50006" h="50006">
                    <a:moveTo>
                      <a:pt x="50006" y="50006"/>
                    </a:moveTo>
                    <a:lnTo>
                      <a:pt x="0" y="50006"/>
                    </a:lnTo>
                    <a:lnTo>
                      <a:pt x="0" y="0"/>
                    </a:lnTo>
                    <a:close/>
                  </a:path>
                </a:pathLst>
              </a:custGeom>
              <a:solidFill>
                <a:srgbClr val="00838F">
                  <a:alpha val="20000"/>
                </a:srgbClr>
              </a:solidFill>
              <a:ln>
                <a:noFill/>
              </a:ln>
            </p:spPr>
          </p:sp>
          <p:sp>
            <p:nvSpPr>
              <p:cNvPr id="22" name="Freeform 22"/>
              <p:cNvSpPr/>
              <p:nvPr/>
            </p:nvSpPr>
            <p:spPr>
              <a:xfrm>
                <a:off x="4636294" y="1040605"/>
                <a:ext cx="157164" cy="185739"/>
              </a:xfrm>
              <a:custGeom>
                <a:avLst/>
                <a:gdLst/>
                <a:ahLst/>
                <a:cxnLst/>
                <a:rect l="l" t="t" r="r" b="b"/>
                <a:pathLst>
                  <a:path w="157164" h="185739">
                    <a:moveTo>
                      <a:pt x="155073" y="52097"/>
                    </a:moveTo>
                    <a:lnTo>
                      <a:pt x="105067" y="2091"/>
                    </a:lnTo>
                    <a:cubicBezTo>
                      <a:pt x="103726" y="752"/>
                      <a:pt x="101908" y="0"/>
                      <a:pt x="100012" y="1"/>
                    </a:cubicBezTo>
                    <a:lnTo>
                      <a:pt x="14288" y="1"/>
                    </a:lnTo>
                    <a:cubicBezTo>
                      <a:pt x="6397" y="1"/>
                      <a:pt x="0" y="6398"/>
                      <a:pt x="0" y="14289"/>
                    </a:cubicBezTo>
                    <a:lnTo>
                      <a:pt x="0" y="171451"/>
                    </a:lnTo>
                    <a:cubicBezTo>
                      <a:pt x="0" y="179342"/>
                      <a:pt x="6397" y="185739"/>
                      <a:pt x="14288" y="185739"/>
                    </a:cubicBezTo>
                    <a:lnTo>
                      <a:pt x="142875" y="185739"/>
                    </a:lnTo>
                    <a:cubicBezTo>
                      <a:pt x="150766" y="185739"/>
                      <a:pt x="157162" y="179342"/>
                      <a:pt x="157162" y="171451"/>
                    </a:cubicBezTo>
                    <a:lnTo>
                      <a:pt x="157162" y="57151"/>
                    </a:lnTo>
                    <a:cubicBezTo>
                      <a:pt x="157164" y="55256"/>
                      <a:pt x="156412" y="53438"/>
                      <a:pt x="155073" y="52097"/>
                    </a:cubicBezTo>
                    <a:close/>
                    <a:moveTo>
                      <a:pt x="107156" y="24388"/>
                    </a:moveTo>
                    <a:lnTo>
                      <a:pt x="132776" y="50008"/>
                    </a:lnTo>
                    <a:lnTo>
                      <a:pt x="107156" y="50008"/>
                    </a:lnTo>
                    <a:close/>
                    <a:moveTo>
                      <a:pt x="142875" y="171451"/>
                    </a:moveTo>
                    <a:lnTo>
                      <a:pt x="14288" y="171451"/>
                    </a:lnTo>
                    <a:lnTo>
                      <a:pt x="14288" y="14289"/>
                    </a:lnTo>
                    <a:lnTo>
                      <a:pt x="92869" y="14289"/>
                    </a:lnTo>
                    <a:lnTo>
                      <a:pt x="92869" y="57151"/>
                    </a:lnTo>
                    <a:cubicBezTo>
                      <a:pt x="92869" y="61097"/>
                      <a:pt x="96067" y="64295"/>
                      <a:pt x="100012" y="64295"/>
                    </a:cubicBezTo>
                    <a:lnTo>
                      <a:pt x="142875" y="64295"/>
                    </a:lnTo>
                    <a:lnTo>
                      <a:pt x="142875" y="171451"/>
                    </a:lnTo>
                    <a:close/>
                    <a:moveTo>
                      <a:pt x="114300" y="100014"/>
                    </a:moveTo>
                    <a:cubicBezTo>
                      <a:pt x="114300" y="103959"/>
                      <a:pt x="111102" y="107158"/>
                      <a:pt x="107156" y="107158"/>
                    </a:cubicBezTo>
                    <a:lnTo>
                      <a:pt x="50006" y="107158"/>
                    </a:lnTo>
                    <a:cubicBezTo>
                      <a:pt x="46061" y="107158"/>
                      <a:pt x="42862" y="103959"/>
                      <a:pt x="42862" y="100014"/>
                    </a:cubicBezTo>
                    <a:cubicBezTo>
                      <a:pt x="42862" y="96069"/>
                      <a:pt x="46061" y="92870"/>
                      <a:pt x="50006" y="92870"/>
                    </a:cubicBezTo>
                    <a:lnTo>
                      <a:pt x="107156" y="92870"/>
                    </a:lnTo>
                    <a:cubicBezTo>
                      <a:pt x="111102" y="92870"/>
                      <a:pt x="114300" y="96069"/>
                      <a:pt x="114300" y="100014"/>
                    </a:cubicBezTo>
                    <a:close/>
                    <a:moveTo>
                      <a:pt x="114300" y="128589"/>
                    </a:moveTo>
                    <a:cubicBezTo>
                      <a:pt x="114300" y="132534"/>
                      <a:pt x="111102" y="135733"/>
                      <a:pt x="107156" y="135733"/>
                    </a:cubicBezTo>
                    <a:lnTo>
                      <a:pt x="50006" y="135733"/>
                    </a:lnTo>
                    <a:cubicBezTo>
                      <a:pt x="46061" y="135733"/>
                      <a:pt x="42862" y="132534"/>
                      <a:pt x="42862" y="128589"/>
                    </a:cubicBezTo>
                    <a:cubicBezTo>
                      <a:pt x="42862" y="124644"/>
                      <a:pt x="46061" y="121445"/>
                      <a:pt x="50006" y="121445"/>
                    </a:cubicBezTo>
                    <a:lnTo>
                      <a:pt x="107156" y="121445"/>
                    </a:lnTo>
                    <a:cubicBezTo>
                      <a:pt x="111102" y="121445"/>
                      <a:pt x="114300" y="124644"/>
                      <a:pt x="114300" y="128589"/>
                    </a:cubicBezTo>
                    <a:close/>
                  </a:path>
                </a:pathLst>
              </a:custGeom>
              <a:solidFill>
                <a:srgbClr val="00838F"/>
              </a:solidFill>
              <a:ln>
                <a:noFill/>
              </a:ln>
            </p:spPr>
          </p:sp>
        </p:grpSp>
        <p:sp>
          <p:nvSpPr>
            <p:cNvPr id="24" name="TextBox 24"/>
            <p:cNvSpPr txBox="1"/>
            <p:nvPr/>
          </p:nvSpPr>
          <p:spPr>
            <a:xfrm>
              <a:off x="4932998" y="1011079"/>
              <a:ext cx="2487861"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17. 文档同步 — 懒得回忆</a:t>
              </a:r>
              <a:endParaRPr lang="zh-CN" sz="1575" b="1" dirty="0">
                <a:solidFill>
                  <a:srgbClr val="263238"/>
                </a:solidFill>
                <a:latin typeface="Segoe UI" panose="020B0502040204020203"/>
                <a:ea typeface="微软雅黑"/>
                <a:cs typeface="Segoe UI" panose="020B0502040204020203"/>
              </a:endParaRPr>
            </a:p>
          </p:txBody>
        </p:sp>
        <p:sp>
          <p:nvSpPr>
            <p:cNvPr id="25" name="TextBox 25"/>
            <p:cNvSpPr txBox="1"/>
            <p:nvPr/>
          </p:nvSpPr>
          <p:spPr>
            <a:xfrm>
              <a:off x="4582478" y="1274921"/>
              <a:ext cx="404569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代码文档一起出：函数注释+使用示例+规则说明</a:t>
              </a:r>
              <a:endParaRPr lang="zh-CN" sz="1425" dirty="0">
                <a:solidFill>
                  <a:srgbClr val="546E7A"/>
                </a:solidFill>
                <a:latin typeface="Segoe UI" panose="020B0502040204020203"/>
                <a:ea typeface="微软雅黑"/>
                <a:cs typeface="Segoe UI" panose="020B0502040204020203"/>
              </a:endParaRPr>
            </a:p>
          </p:txBody>
        </p:sp>
        <p:sp>
          <p:nvSpPr>
            <p:cNvPr id="26" name="TextBox 26"/>
            <p:cNvSpPr txBox="1"/>
            <p:nvPr/>
          </p:nvSpPr>
          <p:spPr>
            <a:xfrm>
              <a:off x="4582478" y="1522571"/>
              <a:ext cx="337111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三个月后看不懂自己的代码→顺手写文档</a:t>
              </a:r>
              <a:endParaRPr lang="zh-CN" sz="1425" dirty="0">
                <a:solidFill>
                  <a:srgbClr val="FF6F00"/>
                </a:solidFill>
                <a:latin typeface="Segoe UI" panose="020B0502040204020203"/>
                <a:ea typeface="微软雅黑"/>
                <a:cs typeface="Segoe UI" panose="020B0502040204020203"/>
              </a:endParaRPr>
            </a:p>
          </p:txBody>
        </p:sp>
      </p:grpSp>
      <p:grpSp>
        <p:nvGrpSpPr>
          <p:cNvPr id="36" name="Group 36"/>
          <p:cNvGrpSpPr/>
          <p:nvPr/>
        </p:nvGrpSpPr>
        <p:grpSpPr>
          <a:xfrm>
            <a:off x="8096250" y="781050"/>
            <a:ext cx="4094773" cy="1031081"/>
            <a:chOff x="8096250" y="781050"/>
            <a:chExt cx="4094773" cy="1031081"/>
          </a:xfrm>
        </p:grpSpPr>
        <p:sp>
          <p:nvSpPr>
            <p:cNvPr id="28" name="Rectangle 28"/>
            <p:cNvSpPr/>
            <p:nvPr/>
          </p:nvSpPr>
          <p:spPr>
            <a:xfrm>
              <a:off x="8096250" y="781050"/>
              <a:ext cx="3524250" cy="1000125"/>
            </a:xfrm>
            <a:prstGeom prst="roundRect">
              <a:avLst>
                <a:gd name="adj" fmla="val 9524"/>
              </a:avLst>
            </a:prstGeom>
            <a:solidFill>
              <a:srgbClr val="FFFFFF"/>
            </a:solidFill>
            <a:ln>
              <a:noFill/>
            </a:ln>
          </p:spPr>
        </p:sp>
        <p:sp>
          <p:nvSpPr>
            <p:cNvPr id="29" name="Rectangle 29"/>
            <p:cNvSpPr/>
            <p:nvPr/>
          </p:nvSpPr>
          <p:spPr>
            <a:xfrm>
              <a:off x="8096250" y="781050"/>
              <a:ext cx="3524250" cy="38100"/>
            </a:xfrm>
            <a:prstGeom prst="roundRect">
              <a:avLst>
                <a:gd name="adj" fmla="val 50000"/>
              </a:avLst>
            </a:prstGeom>
            <a:solidFill>
              <a:srgbClr val="FF6F00"/>
            </a:solidFill>
            <a:ln>
              <a:noFill/>
            </a:ln>
          </p:spPr>
        </p:sp>
        <p:grpSp>
          <p:nvGrpSpPr>
            <p:cNvPr id="32" name="Group 32"/>
            <p:cNvGrpSpPr/>
            <p:nvPr/>
          </p:nvGrpSpPr>
          <p:grpSpPr>
            <a:xfrm>
              <a:off x="8391525" y="1026319"/>
              <a:ext cx="171450" cy="192881"/>
              <a:chOff x="8391525" y="1026319"/>
              <a:chExt cx="171450" cy="192881"/>
            </a:xfrm>
          </p:grpSpPr>
          <p:sp>
            <p:nvSpPr>
              <p:cNvPr id="30" name="Freeform 30"/>
              <p:cNvSpPr/>
              <p:nvPr/>
            </p:nvSpPr>
            <p:spPr>
              <a:xfrm>
                <a:off x="8398669" y="1097756"/>
                <a:ext cx="157162" cy="114300"/>
              </a:xfrm>
              <a:custGeom>
                <a:avLst/>
                <a:gdLst/>
                <a:ahLst/>
                <a:cxnLst/>
                <a:rect l="l" t="t" r="r" b="b"/>
                <a:pathLst>
                  <a:path w="157162" h="114300">
                    <a:moveTo>
                      <a:pt x="157162" y="7144"/>
                    </a:moveTo>
                    <a:lnTo>
                      <a:pt x="157162" y="107156"/>
                    </a:lnTo>
                    <a:cubicBezTo>
                      <a:pt x="157162" y="111102"/>
                      <a:pt x="153964" y="114300"/>
                      <a:pt x="150019" y="114300"/>
                    </a:cubicBezTo>
                    <a:lnTo>
                      <a:pt x="7144" y="114300"/>
                    </a:lnTo>
                    <a:cubicBezTo>
                      <a:pt x="3198" y="114300"/>
                      <a:pt x="0" y="111102"/>
                      <a:pt x="0" y="107156"/>
                    </a:cubicBezTo>
                    <a:lnTo>
                      <a:pt x="0" y="7144"/>
                    </a:lnTo>
                    <a:cubicBezTo>
                      <a:pt x="0" y="3198"/>
                      <a:pt x="3198" y="0"/>
                      <a:pt x="7144" y="0"/>
                    </a:cubicBezTo>
                    <a:lnTo>
                      <a:pt x="150019" y="0"/>
                    </a:lnTo>
                    <a:cubicBezTo>
                      <a:pt x="153964" y="0"/>
                      <a:pt x="157162" y="3198"/>
                      <a:pt x="157162" y="7144"/>
                    </a:cubicBezTo>
                    <a:close/>
                  </a:path>
                </a:pathLst>
              </a:custGeom>
              <a:solidFill>
                <a:srgbClr val="FF6F00">
                  <a:alpha val="20000"/>
                </a:srgbClr>
              </a:solidFill>
              <a:ln>
                <a:noFill/>
              </a:ln>
            </p:spPr>
          </p:sp>
          <p:sp>
            <p:nvSpPr>
              <p:cNvPr id="31" name="Freeform 31"/>
              <p:cNvSpPr/>
              <p:nvPr/>
            </p:nvSpPr>
            <p:spPr>
              <a:xfrm>
                <a:off x="8391525" y="1026319"/>
                <a:ext cx="171450" cy="192881"/>
              </a:xfrm>
              <a:custGeom>
                <a:avLst/>
                <a:gdLst/>
                <a:ahLst/>
                <a:cxnLst/>
                <a:rect l="l" t="t" r="r" b="b"/>
                <a:pathLst>
                  <a:path w="171450" h="192881">
                    <a:moveTo>
                      <a:pt x="157162" y="64294"/>
                    </a:moveTo>
                    <a:lnTo>
                      <a:pt x="128588" y="64294"/>
                    </a:lnTo>
                    <a:lnTo>
                      <a:pt x="128588" y="42862"/>
                    </a:lnTo>
                    <a:cubicBezTo>
                      <a:pt x="128588" y="19190"/>
                      <a:pt x="109397" y="0"/>
                      <a:pt x="85725" y="0"/>
                    </a:cubicBezTo>
                    <a:cubicBezTo>
                      <a:pt x="62053" y="0"/>
                      <a:pt x="42862" y="19190"/>
                      <a:pt x="42862" y="42862"/>
                    </a:cubicBezTo>
                    <a:lnTo>
                      <a:pt x="42862" y="64294"/>
                    </a:lnTo>
                    <a:lnTo>
                      <a:pt x="14288" y="64294"/>
                    </a:lnTo>
                    <a:cubicBezTo>
                      <a:pt x="6397" y="64294"/>
                      <a:pt x="0" y="70690"/>
                      <a:pt x="0" y="78581"/>
                    </a:cubicBezTo>
                    <a:lnTo>
                      <a:pt x="0" y="178594"/>
                    </a:lnTo>
                    <a:cubicBezTo>
                      <a:pt x="0" y="186485"/>
                      <a:pt x="6397" y="192881"/>
                      <a:pt x="14288" y="192881"/>
                    </a:cubicBezTo>
                    <a:lnTo>
                      <a:pt x="157162" y="192881"/>
                    </a:lnTo>
                    <a:cubicBezTo>
                      <a:pt x="165053" y="192881"/>
                      <a:pt x="171450" y="186485"/>
                      <a:pt x="171450" y="178594"/>
                    </a:cubicBezTo>
                    <a:lnTo>
                      <a:pt x="171450" y="78581"/>
                    </a:lnTo>
                    <a:cubicBezTo>
                      <a:pt x="171450" y="70690"/>
                      <a:pt x="165053" y="64294"/>
                      <a:pt x="157162" y="64294"/>
                    </a:cubicBezTo>
                    <a:close/>
                    <a:moveTo>
                      <a:pt x="57150" y="42862"/>
                    </a:moveTo>
                    <a:cubicBezTo>
                      <a:pt x="57150" y="27081"/>
                      <a:pt x="69943" y="14288"/>
                      <a:pt x="85725" y="14288"/>
                    </a:cubicBezTo>
                    <a:cubicBezTo>
                      <a:pt x="101507" y="14288"/>
                      <a:pt x="114300" y="27081"/>
                      <a:pt x="114300" y="42862"/>
                    </a:cubicBezTo>
                    <a:lnTo>
                      <a:pt x="114300" y="64294"/>
                    </a:lnTo>
                    <a:lnTo>
                      <a:pt x="57150" y="64294"/>
                    </a:lnTo>
                    <a:close/>
                    <a:moveTo>
                      <a:pt x="157162" y="178594"/>
                    </a:moveTo>
                    <a:lnTo>
                      <a:pt x="14288" y="178594"/>
                    </a:lnTo>
                    <a:lnTo>
                      <a:pt x="14288" y="78581"/>
                    </a:lnTo>
                    <a:lnTo>
                      <a:pt x="157162" y="78581"/>
                    </a:lnTo>
                    <a:lnTo>
                      <a:pt x="157162" y="178594"/>
                    </a:lnTo>
                    <a:close/>
                    <a:moveTo>
                      <a:pt x="96441" y="128588"/>
                    </a:moveTo>
                    <a:cubicBezTo>
                      <a:pt x="96441" y="134506"/>
                      <a:pt x="91643" y="139303"/>
                      <a:pt x="85725" y="139303"/>
                    </a:cubicBezTo>
                    <a:cubicBezTo>
                      <a:pt x="79807" y="139303"/>
                      <a:pt x="75009" y="134506"/>
                      <a:pt x="75009" y="128588"/>
                    </a:cubicBezTo>
                    <a:cubicBezTo>
                      <a:pt x="75009" y="122669"/>
                      <a:pt x="79807" y="117872"/>
                      <a:pt x="85725" y="117872"/>
                    </a:cubicBezTo>
                    <a:cubicBezTo>
                      <a:pt x="91643" y="117872"/>
                      <a:pt x="96441" y="122669"/>
                      <a:pt x="96441" y="128588"/>
                    </a:cubicBezTo>
                    <a:close/>
                  </a:path>
                </a:pathLst>
              </a:custGeom>
              <a:solidFill>
                <a:srgbClr val="FF6F00"/>
              </a:solidFill>
              <a:ln>
                <a:noFill/>
              </a:ln>
            </p:spPr>
          </p:sp>
        </p:grpSp>
        <p:sp>
          <p:nvSpPr>
            <p:cNvPr id="33" name="TextBox 33"/>
            <p:cNvSpPr txBox="1"/>
            <p:nvPr/>
          </p:nvSpPr>
          <p:spPr>
            <a:xfrm>
              <a:off x="8695372" y="1011079"/>
              <a:ext cx="2708389"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18. 约束内化 — 懒得记规则</a:t>
              </a:r>
              <a:endParaRPr lang="zh-CN" sz="1575" b="1" dirty="0">
                <a:solidFill>
                  <a:srgbClr val="263238"/>
                </a:solidFill>
                <a:latin typeface="Segoe UI" panose="020B0502040204020203"/>
                <a:ea typeface="微软雅黑"/>
                <a:cs typeface="Segoe UI" panose="020B0502040204020203"/>
              </a:endParaRPr>
            </a:p>
          </p:txBody>
        </p:sp>
        <p:sp>
          <p:nvSpPr>
            <p:cNvPr id="34" name="TextBox 34"/>
            <p:cNvSpPr txBox="1"/>
            <p:nvPr/>
          </p:nvSpPr>
          <p:spPr>
            <a:xfrm>
              <a:off x="8344852" y="1274921"/>
              <a:ext cx="342811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规则写入代码断言，AI忘了代码也不会忘</a:t>
              </a:r>
              <a:endParaRPr lang="zh-CN" sz="1425" dirty="0">
                <a:solidFill>
                  <a:srgbClr val="546E7A"/>
                </a:solidFill>
                <a:latin typeface="Segoe UI" panose="020B0502040204020203"/>
                <a:ea typeface="微软雅黑"/>
                <a:cs typeface="Segoe UI" panose="020B0502040204020203"/>
              </a:endParaRPr>
            </a:p>
          </p:txBody>
        </p:sp>
        <p:sp>
          <p:nvSpPr>
            <p:cNvPr id="35" name="TextBox 35"/>
            <p:cNvSpPr txBox="1"/>
            <p:nvPr/>
          </p:nvSpPr>
          <p:spPr>
            <a:xfrm>
              <a:off x="8344852" y="1522571"/>
              <a:ext cx="384617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assert order.total&gt;0→规则固化，永远有效</a:t>
              </a:r>
              <a:endParaRPr lang="zh-CN" sz="1425"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571500" y="1952625"/>
            <a:ext cx="7410688" cy="1031081"/>
            <a:chOff x="571500" y="1952625"/>
            <a:chExt cx="7410688" cy="1031081"/>
          </a:xfrm>
        </p:grpSpPr>
        <p:sp>
          <p:nvSpPr>
            <p:cNvPr id="37" name="Rectangle 37"/>
            <p:cNvSpPr/>
            <p:nvPr/>
          </p:nvSpPr>
          <p:spPr>
            <a:xfrm>
              <a:off x="571500" y="1952625"/>
              <a:ext cx="5334000" cy="1000125"/>
            </a:xfrm>
            <a:prstGeom prst="roundRect">
              <a:avLst>
                <a:gd name="adj" fmla="val 9524"/>
              </a:avLst>
            </a:prstGeom>
            <a:solidFill>
              <a:srgbClr val="FFFFFF"/>
            </a:solidFill>
            <a:ln>
              <a:noFill/>
            </a:ln>
          </p:spPr>
        </p:sp>
        <p:sp>
          <p:nvSpPr>
            <p:cNvPr id="38" name="Rectangle 38"/>
            <p:cNvSpPr/>
            <p:nvPr/>
          </p:nvSpPr>
          <p:spPr>
            <a:xfrm>
              <a:off x="571500" y="1952625"/>
              <a:ext cx="5334000" cy="38100"/>
            </a:xfrm>
            <a:prstGeom prst="roundRect">
              <a:avLst>
                <a:gd name="adj" fmla="val 50000"/>
              </a:avLst>
            </a:prstGeom>
            <a:solidFill>
              <a:srgbClr val="1565C0"/>
            </a:solidFill>
            <a:ln>
              <a:noFill/>
            </a:ln>
          </p:spPr>
        </p:sp>
        <p:grpSp>
          <p:nvGrpSpPr>
            <p:cNvPr id="41" name="Group 41"/>
            <p:cNvGrpSpPr/>
            <p:nvPr/>
          </p:nvGrpSpPr>
          <p:grpSpPr>
            <a:xfrm>
              <a:off x="858689" y="2204714"/>
              <a:ext cx="187671" cy="200672"/>
              <a:chOff x="858689" y="2204714"/>
              <a:chExt cx="187671" cy="200672"/>
            </a:xfrm>
          </p:grpSpPr>
          <p:sp>
            <p:nvSpPr>
              <p:cNvPr id="39" name="Freeform 39"/>
              <p:cNvSpPr/>
              <p:nvPr/>
            </p:nvSpPr>
            <p:spPr>
              <a:xfrm>
                <a:off x="866775" y="221218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1565C0">
                  <a:alpha val="20000"/>
                </a:srgbClr>
              </a:solidFill>
              <a:ln>
                <a:noFill/>
              </a:ln>
            </p:spPr>
          </p:sp>
          <p:sp>
            <p:nvSpPr>
              <p:cNvPr id="40" name="Freeform 40"/>
              <p:cNvSpPr/>
              <p:nvPr/>
            </p:nvSpPr>
            <p:spPr>
              <a:xfrm>
                <a:off x="858689" y="220471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1565C0"/>
              </a:solidFill>
              <a:ln>
                <a:noFill/>
              </a:ln>
            </p:spPr>
          </p:sp>
        </p:grpSp>
        <p:sp>
          <p:nvSpPr>
            <p:cNvPr id="42" name="TextBox 42"/>
            <p:cNvSpPr txBox="1"/>
            <p:nvPr/>
          </p:nvSpPr>
          <p:spPr>
            <a:xfrm>
              <a:off x="1170622" y="2182654"/>
              <a:ext cx="2708389"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19. 分层实现 — 懒得拆垃圾</a:t>
              </a:r>
              <a:endParaRPr lang="zh-CN" sz="1575" b="1" dirty="0">
                <a:solidFill>
                  <a:srgbClr val="263238"/>
                </a:solidFill>
                <a:latin typeface="Segoe UI" panose="020B0502040204020203"/>
                <a:ea typeface="微软雅黑"/>
                <a:cs typeface="Segoe UI" panose="020B0502040204020203"/>
              </a:endParaRPr>
            </a:p>
          </p:txBody>
        </p:sp>
        <p:sp>
          <p:nvSpPr>
            <p:cNvPr id="43" name="TextBox 43"/>
            <p:cNvSpPr txBox="1"/>
            <p:nvPr/>
          </p:nvSpPr>
          <p:spPr>
            <a:xfrm>
              <a:off x="820102" y="2446496"/>
              <a:ext cx="716208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不分层代码是一坨，改一行翻半天。按层组织：router/service/repository/model</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20102" y="2694146"/>
              <a:ext cx="5394865"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路由+业务+数据+模型全混一个文件→结构清晰，想改哪层改哪层</a:t>
              </a:r>
              <a:endParaRPr lang="zh-CN" sz="1425" dirty="0">
                <a:solidFill>
                  <a:srgbClr val="FF6F00"/>
                </a:solidFill>
                <a:latin typeface="Segoe UI" panose="020B0502040204020203"/>
                <a:ea typeface="微软雅黑"/>
                <a:cs typeface="Segoe UI" panose="020B0502040204020203"/>
              </a:endParaRPr>
            </a:p>
          </p:txBody>
        </p:sp>
      </p:grpSp>
      <p:grpSp>
        <p:nvGrpSpPr>
          <p:cNvPr id="54" name="Group 54"/>
          <p:cNvGrpSpPr/>
          <p:nvPr/>
        </p:nvGrpSpPr>
        <p:grpSpPr>
          <a:xfrm>
            <a:off x="6286500" y="1952625"/>
            <a:ext cx="5776483" cy="1031081"/>
            <a:chOff x="6286500" y="1952625"/>
            <a:chExt cx="5776483" cy="1031081"/>
          </a:xfrm>
        </p:grpSpPr>
        <p:sp>
          <p:nvSpPr>
            <p:cNvPr id="46" name="Rectangle 46"/>
            <p:cNvSpPr/>
            <p:nvPr/>
          </p:nvSpPr>
          <p:spPr>
            <a:xfrm>
              <a:off x="6286500" y="1952625"/>
              <a:ext cx="5334000" cy="1000125"/>
            </a:xfrm>
            <a:prstGeom prst="roundRect">
              <a:avLst>
                <a:gd name="adj" fmla="val 9524"/>
              </a:avLst>
            </a:prstGeom>
            <a:solidFill>
              <a:srgbClr val="FFFFFF"/>
            </a:solidFill>
            <a:ln>
              <a:noFill/>
            </a:ln>
          </p:spPr>
        </p:sp>
        <p:sp>
          <p:nvSpPr>
            <p:cNvPr id="47" name="Rectangle 47"/>
            <p:cNvSpPr/>
            <p:nvPr/>
          </p:nvSpPr>
          <p:spPr>
            <a:xfrm>
              <a:off x="6286500" y="1952625"/>
              <a:ext cx="5334000" cy="38100"/>
            </a:xfrm>
            <a:prstGeom prst="roundRect">
              <a:avLst>
                <a:gd name="adj" fmla="val 50000"/>
              </a:avLst>
            </a:prstGeom>
            <a:solidFill>
              <a:srgbClr val="2E7D32"/>
            </a:solidFill>
            <a:ln>
              <a:noFill/>
            </a:ln>
          </p:spPr>
        </p:sp>
        <p:grpSp>
          <p:nvGrpSpPr>
            <p:cNvPr id="50" name="Group 50"/>
            <p:cNvGrpSpPr/>
            <p:nvPr/>
          </p:nvGrpSpPr>
          <p:grpSpPr>
            <a:xfrm>
              <a:off x="6587333" y="2218196"/>
              <a:ext cx="165892" cy="172565"/>
              <a:chOff x="6587333" y="2218196"/>
              <a:chExt cx="165892" cy="172565"/>
            </a:xfrm>
          </p:grpSpPr>
          <p:sp>
            <p:nvSpPr>
              <p:cNvPr id="48" name="Freeform 48"/>
              <p:cNvSpPr/>
              <p:nvPr/>
            </p:nvSpPr>
            <p:spPr>
              <a:xfrm>
                <a:off x="6703219" y="2226469"/>
                <a:ext cx="42862" cy="42862"/>
              </a:xfrm>
              <a:custGeom>
                <a:avLst/>
                <a:gdLst/>
                <a:ahLst/>
                <a:cxnLst/>
                <a:rect l="l" t="t" r="r" b="b"/>
                <a:pathLst>
                  <a:path w="42862" h="42862">
                    <a:moveTo>
                      <a:pt x="42862" y="21431"/>
                    </a:moveTo>
                    <a:cubicBezTo>
                      <a:pt x="42862" y="33267"/>
                      <a:pt x="33267" y="42862"/>
                      <a:pt x="21431" y="42862"/>
                    </a:cubicBezTo>
                    <a:cubicBezTo>
                      <a:pt x="9595" y="42862"/>
                      <a:pt x="0" y="33267"/>
                      <a:pt x="0" y="21431"/>
                    </a:cubicBezTo>
                    <a:cubicBezTo>
                      <a:pt x="0" y="9595"/>
                      <a:pt x="9595" y="0"/>
                      <a:pt x="21431" y="0"/>
                    </a:cubicBezTo>
                    <a:cubicBezTo>
                      <a:pt x="33267" y="0"/>
                      <a:pt x="42862" y="9595"/>
                      <a:pt x="42862" y="21431"/>
                    </a:cubicBezTo>
                    <a:close/>
                  </a:path>
                </a:pathLst>
              </a:custGeom>
              <a:solidFill>
                <a:srgbClr val="2E7D32">
                  <a:alpha val="20000"/>
                </a:srgbClr>
              </a:solidFill>
              <a:ln>
                <a:noFill/>
              </a:ln>
            </p:spPr>
          </p:sp>
          <p:sp>
            <p:nvSpPr>
              <p:cNvPr id="49" name="Freeform 49"/>
              <p:cNvSpPr/>
              <p:nvPr/>
            </p:nvSpPr>
            <p:spPr>
              <a:xfrm>
                <a:off x="6587333" y="2218196"/>
                <a:ext cx="165892" cy="172565"/>
              </a:xfrm>
              <a:custGeom>
                <a:avLst/>
                <a:gdLst/>
                <a:ahLst/>
                <a:cxnLst/>
                <a:rect l="l" t="t" r="r" b="b"/>
                <a:pathLst>
                  <a:path w="165892" h="172565">
                    <a:moveTo>
                      <a:pt x="165892" y="29704"/>
                    </a:moveTo>
                    <a:cubicBezTo>
                      <a:pt x="165884" y="14856"/>
                      <a:pt x="154507" y="2488"/>
                      <a:pt x="139711" y="1244"/>
                    </a:cubicBezTo>
                    <a:cubicBezTo>
                      <a:pt x="124915" y="0"/>
                      <a:pt x="111632" y="10295"/>
                      <a:pt x="109145" y="24933"/>
                    </a:cubicBezTo>
                    <a:cubicBezTo>
                      <a:pt x="106658" y="39571"/>
                      <a:pt x="115797" y="53674"/>
                      <a:pt x="130173" y="57386"/>
                    </a:cubicBezTo>
                    <a:lnTo>
                      <a:pt x="130173" y="65423"/>
                    </a:lnTo>
                    <a:cubicBezTo>
                      <a:pt x="130173" y="73314"/>
                      <a:pt x="123776" y="79710"/>
                      <a:pt x="115885" y="79710"/>
                    </a:cubicBezTo>
                    <a:lnTo>
                      <a:pt x="51592" y="79710"/>
                    </a:lnTo>
                    <a:cubicBezTo>
                      <a:pt x="46572" y="79704"/>
                      <a:pt x="41641" y="81033"/>
                      <a:pt x="37304" y="83559"/>
                    </a:cubicBezTo>
                    <a:lnTo>
                      <a:pt x="37304" y="57386"/>
                    </a:lnTo>
                    <a:cubicBezTo>
                      <a:pt x="51237" y="53789"/>
                      <a:pt x="60321" y="40393"/>
                      <a:pt x="58508" y="26118"/>
                    </a:cubicBezTo>
                    <a:cubicBezTo>
                      <a:pt x="56694" y="11843"/>
                      <a:pt x="44550" y="1144"/>
                      <a:pt x="30160" y="1144"/>
                    </a:cubicBezTo>
                    <a:cubicBezTo>
                      <a:pt x="15771" y="1144"/>
                      <a:pt x="3626" y="11843"/>
                      <a:pt x="1813" y="26118"/>
                    </a:cubicBezTo>
                    <a:cubicBezTo>
                      <a:pt x="0" y="40393"/>
                      <a:pt x="9084" y="53789"/>
                      <a:pt x="23017" y="57386"/>
                    </a:cubicBezTo>
                    <a:lnTo>
                      <a:pt x="23017" y="116322"/>
                    </a:lnTo>
                    <a:cubicBezTo>
                      <a:pt x="9084" y="119920"/>
                      <a:pt x="0" y="133316"/>
                      <a:pt x="1813" y="147590"/>
                    </a:cubicBezTo>
                    <a:cubicBezTo>
                      <a:pt x="3626" y="161865"/>
                      <a:pt x="15771" y="172565"/>
                      <a:pt x="30160" y="172565"/>
                    </a:cubicBezTo>
                    <a:cubicBezTo>
                      <a:pt x="44550" y="172565"/>
                      <a:pt x="56694" y="161865"/>
                      <a:pt x="58508" y="147590"/>
                    </a:cubicBezTo>
                    <a:cubicBezTo>
                      <a:pt x="60321" y="133316"/>
                      <a:pt x="51237" y="119920"/>
                      <a:pt x="37304" y="116322"/>
                    </a:cubicBezTo>
                    <a:lnTo>
                      <a:pt x="37304" y="108285"/>
                    </a:lnTo>
                    <a:cubicBezTo>
                      <a:pt x="37304" y="100395"/>
                      <a:pt x="43701" y="93998"/>
                      <a:pt x="51592" y="93998"/>
                    </a:cubicBezTo>
                    <a:lnTo>
                      <a:pt x="115885" y="93998"/>
                    </a:lnTo>
                    <a:cubicBezTo>
                      <a:pt x="131667" y="93998"/>
                      <a:pt x="144460" y="81205"/>
                      <a:pt x="144460" y="65423"/>
                    </a:cubicBezTo>
                    <a:lnTo>
                      <a:pt x="144460" y="57386"/>
                    </a:lnTo>
                    <a:cubicBezTo>
                      <a:pt x="157071" y="54111"/>
                      <a:pt x="165879" y="42733"/>
                      <a:pt x="165892" y="29704"/>
                    </a:cubicBezTo>
                    <a:close/>
                    <a:moveTo>
                      <a:pt x="15873" y="29704"/>
                    </a:moveTo>
                    <a:cubicBezTo>
                      <a:pt x="15873" y="21813"/>
                      <a:pt x="22270" y="15417"/>
                      <a:pt x="30160" y="15417"/>
                    </a:cubicBezTo>
                    <a:cubicBezTo>
                      <a:pt x="38051" y="15417"/>
                      <a:pt x="44448" y="21813"/>
                      <a:pt x="44448" y="29704"/>
                    </a:cubicBezTo>
                    <a:cubicBezTo>
                      <a:pt x="44448" y="37595"/>
                      <a:pt x="38051" y="43992"/>
                      <a:pt x="30160" y="43992"/>
                    </a:cubicBezTo>
                    <a:cubicBezTo>
                      <a:pt x="22270" y="43992"/>
                      <a:pt x="15873" y="37595"/>
                      <a:pt x="15873" y="29704"/>
                    </a:cubicBezTo>
                    <a:close/>
                    <a:moveTo>
                      <a:pt x="44448" y="144004"/>
                    </a:moveTo>
                    <a:cubicBezTo>
                      <a:pt x="44448" y="151895"/>
                      <a:pt x="38051" y="158292"/>
                      <a:pt x="30160" y="158292"/>
                    </a:cubicBezTo>
                    <a:cubicBezTo>
                      <a:pt x="22270" y="158292"/>
                      <a:pt x="15873" y="151895"/>
                      <a:pt x="15873" y="144004"/>
                    </a:cubicBezTo>
                    <a:cubicBezTo>
                      <a:pt x="15873" y="136113"/>
                      <a:pt x="22270" y="129717"/>
                      <a:pt x="30160" y="129717"/>
                    </a:cubicBezTo>
                    <a:cubicBezTo>
                      <a:pt x="38051" y="129717"/>
                      <a:pt x="44448" y="136113"/>
                      <a:pt x="44448" y="144004"/>
                    </a:cubicBezTo>
                    <a:close/>
                    <a:moveTo>
                      <a:pt x="137317" y="43992"/>
                    </a:moveTo>
                    <a:cubicBezTo>
                      <a:pt x="129426" y="43992"/>
                      <a:pt x="123029" y="37595"/>
                      <a:pt x="123029" y="29704"/>
                    </a:cubicBezTo>
                    <a:cubicBezTo>
                      <a:pt x="123029" y="21813"/>
                      <a:pt x="129426" y="15417"/>
                      <a:pt x="137317" y="15417"/>
                    </a:cubicBezTo>
                    <a:cubicBezTo>
                      <a:pt x="145207" y="15417"/>
                      <a:pt x="151604" y="21813"/>
                      <a:pt x="151604" y="29704"/>
                    </a:cubicBezTo>
                    <a:cubicBezTo>
                      <a:pt x="151604" y="37595"/>
                      <a:pt x="145207" y="43992"/>
                      <a:pt x="137317" y="43992"/>
                    </a:cubicBezTo>
                    <a:close/>
                  </a:path>
                </a:pathLst>
              </a:custGeom>
              <a:solidFill>
                <a:srgbClr val="2E7D32"/>
              </a:solidFill>
              <a:ln>
                <a:noFill/>
              </a:ln>
            </p:spPr>
          </p:sp>
        </p:grpSp>
        <p:sp>
          <p:nvSpPr>
            <p:cNvPr id="51" name="TextBox 51"/>
            <p:cNvSpPr txBox="1"/>
            <p:nvPr/>
          </p:nvSpPr>
          <p:spPr>
            <a:xfrm>
              <a:off x="6885622" y="2182654"/>
              <a:ext cx="2487861"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20. 版本隔离 — 懒得后悔</a:t>
              </a:r>
              <a:endParaRPr lang="zh-CN" sz="1575" b="1" dirty="0">
                <a:solidFill>
                  <a:srgbClr val="263238"/>
                </a:solidFill>
                <a:latin typeface="Segoe UI" panose="020B0502040204020203"/>
                <a:ea typeface="微软雅黑"/>
                <a:cs typeface="Segoe UI" panose="020B0502040204020203"/>
              </a:endParaRPr>
            </a:p>
          </p:txBody>
        </p:sp>
        <p:sp>
          <p:nvSpPr>
            <p:cNvPr id="52" name="TextBox 52"/>
            <p:cNvSpPr txBox="1"/>
            <p:nvPr/>
          </p:nvSpPr>
          <p:spPr>
            <a:xfrm>
              <a:off x="6535102" y="2446496"/>
              <a:ext cx="552788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永不覆盖，保留历史。payment_v2.py→payment_v3.py→v2不变</a:t>
              </a:r>
              <a:endParaRPr lang="zh-CN" sz="1425" dirty="0">
                <a:solidFill>
                  <a:srgbClr val="546E7A"/>
                </a:solidFill>
                <a:latin typeface="Segoe UI" panose="020B0502040204020203"/>
                <a:ea typeface="微软雅黑"/>
                <a:cs typeface="Segoe UI" panose="020B0502040204020203"/>
              </a:endParaRPr>
            </a:p>
          </p:txBody>
        </p:sp>
        <p:sp>
          <p:nvSpPr>
            <p:cNvPr id="53" name="TextBox 53"/>
            <p:cNvSpPr txBox="1"/>
            <p:nvPr/>
          </p:nvSpPr>
          <p:spPr>
            <a:xfrm>
              <a:off x="6535102" y="2694146"/>
              <a:ext cx="465377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优化性能改坏了→v2被覆盖找不回→改错了一键回滚到v2</a:t>
              </a:r>
              <a:endParaRPr lang="zh-CN" sz="1425" dirty="0">
                <a:solidFill>
                  <a:srgbClr val="FF6F00"/>
                </a:solidFill>
                <a:latin typeface="Segoe UI" panose="020B0502040204020203"/>
                <a:ea typeface="微软雅黑"/>
                <a:cs typeface="Segoe UI" panose="020B0502040204020203"/>
              </a:endParaRPr>
            </a:p>
          </p:txBody>
        </p:sp>
      </p:grpSp>
      <p:grpSp>
        <p:nvGrpSpPr>
          <p:cNvPr id="56" name="Group 56"/>
          <p:cNvGrpSpPr/>
          <p:nvPr/>
        </p:nvGrpSpPr>
        <p:grpSpPr>
          <a:xfrm>
            <a:off x="571500" y="3190875"/>
            <a:ext cx="11049000" cy="190500"/>
            <a:chOff x="571500" y="3190875"/>
            <a:chExt cx="11049000" cy="190500"/>
          </a:xfrm>
        </p:grpSpPr>
        <p:sp>
          <p:nvSpPr>
            <p:cNvPr id="55" name="Rectangle 55"/>
            <p:cNvSpPr/>
            <p:nvPr/>
          </p:nvSpPr>
          <p:spPr>
            <a:xfrm>
              <a:off x="571500" y="3190875"/>
              <a:ext cx="11049000" cy="190500"/>
            </a:xfrm>
            <a:prstGeom prst="rect">
              <a:avLst/>
            </a:prstGeom>
            <a:noFill/>
            <a:ln>
              <a:noFill/>
            </a:ln>
          </p:spPr>
        </p:sp>
      </p:grpSp>
      <p:grpSp>
        <p:nvGrpSpPr>
          <p:cNvPr id="59" name="Group 59"/>
          <p:cNvGrpSpPr/>
          <p:nvPr/>
        </p:nvGrpSpPr>
        <p:grpSpPr>
          <a:xfrm>
            <a:off x="571500" y="3238500"/>
            <a:ext cx="11049000" cy="457200"/>
            <a:chOff x="571500" y="3238500"/>
            <a:chExt cx="11049000" cy="457200"/>
          </a:xfrm>
        </p:grpSpPr>
        <p:sp>
          <p:nvSpPr>
            <p:cNvPr id="57" name="Rectangle 57"/>
            <p:cNvSpPr/>
            <p:nvPr/>
          </p:nvSpPr>
          <p:spPr>
            <a:xfrm>
              <a:off x="571500" y="3238500"/>
              <a:ext cx="11049000" cy="457200"/>
            </a:xfrm>
            <a:prstGeom prst="roundRect">
              <a:avLst>
                <a:gd name="adj" fmla="val 16667"/>
              </a:avLst>
            </a:prstGeom>
            <a:solidFill>
              <a:srgbClr val="6A1B9A">
                <a:alpha val="6000"/>
              </a:srgbClr>
            </a:solidFill>
            <a:ln>
              <a:noFill/>
            </a:ln>
          </p:spPr>
        </p:sp>
        <p:sp>
          <p:nvSpPr>
            <p:cNvPr id="58" name="TextBox 58"/>
            <p:cNvSpPr txBox="1"/>
            <p:nvPr/>
          </p:nvSpPr>
          <p:spPr>
            <a:xfrm>
              <a:off x="2685026" y="3371850"/>
              <a:ext cx="6821948" cy="304800"/>
            </a:xfrm>
            <a:prstGeom prst="rect">
              <a:avLst/>
            </a:prstGeom>
            <a:noFill/>
            <a:ln>
              <a:noFill/>
            </a:ln>
          </p:spPr>
          <p:txBody>
            <a:bodyPr wrap="none" lIns="0" tIns="0" rIns="0" bIns="0" anchor="t" anchorCtr="0">
              <a:spAutoFit/>
            </a:bodyPr>
            <a:lstStyle/>
            <a:p>
              <a:pPr algn="ctr"/>
              <a:r>
                <a:rPr lang="zh-CN" sz="1500" b="1" dirty="0">
                  <a:solidFill>
                    <a:srgbClr val="6A1B9A"/>
                  </a:solidFill>
                  <a:latin typeface="Segoe UI" panose="020B0502040204020203"/>
                  <a:ea typeface="微软雅黑"/>
                  <a:cs typeface="Segoe UI" panose="020B0502040204020203"/>
                </a:rPr>
                <a:t>阶段核心：回归校验→文档同步→约束内化→分层实现→版本隔离——懒在持久</a:t>
              </a:r>
              <a:endParaRPr lang="zh-CN" sz="1500" b="1" dirty="0">
                <a:solidFill>
                  <a:srgbClr val="6A1B9A"/>
                </a:solidFill>
                <a:latin typeface="Segoe UI" panose="020B0502040204020203"/>
                <a:ea typeface="微软雅黑"/>
                <a:cs typeface="Segoe UI" panose="020B0502040204020203"/>
              </a:endParaRPr>
            </a:p>
          </p:txBody>
        </p:sp>
      </p:grpSp>
      <p:sp>
        <p:nvSpPr>
          <p:cNvPr id="60" name="TextBox 60"/>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07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400"/>
                                        <p:tgtEl>
                                          <p:spTgt spid="36"/>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slide(fromBottom)">
                                      <p:cBhvr>
                                        <p:cTn id="19" dur="400"/>
                                        <p:tgtEl>
                                          <p:spTgt spid="45"/>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image">
                                      <p:cBhvr>
                                        <p:cTn id="23" dur="400"/>
                                        <p:tgtEl>
                                          <p:spTgt spid="54"/>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400"/>
                                        <p:tgtEl>
                                          <p:spTgt spid="56"/>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36" grpId="0"/>
      <p:bldP spid="45" grpId="0"/>
      <p:bldP spid="54" grpId="0"/>
      <p:bldP spid="56" grpId="0"/>
      <p:bldP spid="5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01955"/>
            <a:chOff x="571500" y="198120"/>
            <a:chExt cx="11049000" cy="401955"/>
          </a:xfrm>
        </p:grpSpPr>
        <p:sp>
          <p:nvSpPr>
            <p:cNvPr id="7" name="TextBox 7"/>
            <p:cNvSpPr txBox="1"/>
            <p:nvPr/>
          </p:nvSpPr>
          <p:spPr>
            <a:xfrm>
              <a:off x="571500" y="198120"/>
              <a:ext cx="2851150" cy="368935"/>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20条</a:t>
              </a:r>
              <a:r>
                <a:rPr lang="zh-CN" sz="2400" b="1" dirty="0">
                  <a:solidFill>
                    <a:srgbClr val="263238"/>
                  </a:solidFill>
                  <a:latin typeface="Segoe UI" panose="020B0502040204020203"/>
                  <a:ea typeface="微软雅黑"/>
                  <a:cs typeface="Segoe UI" panose="020B0502040204020203"/>
                </a:rPr>
                <a:t>工作模式速查表</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sp>
        <p:nvSpPr>
          <p:cNvPr id="10" name="Rectangle 10"/>
          <p:cNvSpPr/>
          <p:nvPr/>
        </p:nvSpPr>
        <p:spPr>
          <a:xfrm>
            <a:off x="571500" y="685800"/>
            <a:ext cx="11049000" cy="266700"/>
          </a:xfrm>
          <a:prstGeom prst="roundRect">
            <a:avLst>
              <a:gd name="adj" fmla="val 14286"/>
            </a:avLst>
          </a:prstGeom>
          <a:solidFill>
            <a:srgbClr val="1565C0">
              <a:alpha val="10000"/>
            </a:srgbClr>
          </a:solidFill>
          <a:ln>
            <a:noFill/>
          </a:ln>
        </p:spPr>
      </p:sp>
      <p:sp>
        <p:nvSpPr>
          <p:cNvPr id="11" name="TextBox 11"/>
          <p:cNvSpPr txBox="1"/>
          <p:nvPr/>
        </p:nvSpPr>
        <p:spPr>
          <a:xfrm>
            <a:off x="1316355" y="721042"/>
            <a:ext cx="412337"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阶段</a:t>
            </a:r>
            <a:endParaRPr lang="zh-CN" sz="1350" b="1" dirty="0">
              <a:solidFill>
                <a:srgbClr val="1565C0"/>
              </a:solidFill>
              <a:latin typeface="Segoe UI" panose="020B0502040204020203"/>
              <a:ea typeface="微软雅黑"/>
              <a:cs typeface="Segoe UI" panose="020B0502040204020203"/>
            </a:endParaRPr>
          </a:p>
        </p:txBody>
      </p:sp>
      <p:sp>
        <p:nvSpPr>
          <p:cNvPr id="12" name="TextBox 12"/>
          <p:cNvSpPr txBox="1"/>
          <p:nvPr/>
        </p:nvSpPr>
        <p:spPr>
          <a:xfrm>
            <a:off x="2697480" y="721042"/>
            <a:ext cx="412337"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模式</a:t>
            </a:r>
            <a:endParaRPr lang="zh-CN" sz="1350" b="1" dirty="0">
              <a:solidFill>
                <a:srgbClr val="1565C0"/>
              </a:solidFill>
              <a:latin typeface="Segoe UI" panose="020B0502040204020203"/>
              <a:ea typeface="微软雅黑"/>
              <a:cs typeface="Segoe UI" panose="020B0502040204020203"/>
            </a:endParaRPr>
          </a:p>
        </p:txBody>
      </p:sp>
      <p:sp>
        <p:nvSpPr>
          <p:cNvPr id="13" name="TextBox 13"/>
          <p:cNvSpPr txBox="1"/>
          <p:nvPr/>
        </p:nvSpPr>
        <p:spPr>
          <a:xfrm>
            <a:off x="5316855" y="721042"/>
            <a:ext cx="790384"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核心原则</a:t>
            </a:r>
            <a:endParaRPr lang="zh-CN" sz="1350" b="1" dirty="0">
              <a:solidFill>
                <a:srgbClr val="1565C0"/>
              </a:solidFill>
              <a:latin typeface="Segoe UI" panose="020B0502040204020203"/>
              <a:ea typeface="微软雅黑"/>
              <a:cs typeface="Segoe UI" panose="020B0502040204020203"/>
            </a:endParaRPr>
          </a:p>
        </p:txBody>
      </p:sp>
      <p:sp>
        <p:nvSpPr>
          <p:cNvPr id="14" name="TextBox 14"/>
          <p:cNvSpPr txBox="1"/>
          <p:nvPr/>
        </p:nvSpPr>
        <p:spPr>
          <a:xfrm>
            <a:off x="9698355" y="721042"/>
            <a:ext cx="979408"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一句话口诀</a:t>
            </a:r>
            <a:endParaRPr lang="zh-CN" sz="1350" b="1" dirty="0">
              <a:solidFill>
                <a:srgbClr val="1565C0"/>
              </a:solidFill>
              <a:latin typeface="Segoe UI" panose="020B0502040204020203"/>
              <a:ea typeface="微软雅黑"/>
              <a:cs typeface="Segoe UI" panose="020B0502040204020203"/>
            </a:endParaRPr>
          </a:p>
        </p:txBody>
      </p:sp>
      <p:sp>
        <p:nvSpPr>
          <p:cNvPr id="15" name="Rectangle 15"/>
          <p:cNvSpPr/>
          <p:nvPr/>
        </p:nvSpPr>
        <p:spPr>
          <a:xfrm>
            <a:off x="571500" y="952500"/>
            <a:ext cx="11049000" cy="228600"/>
          </a:xfrm>
          <a:prstGeom prst="rect">
            <a:avLst/>
          </a:prstGeom>
          <a:solidFill>
            <a:srgbClr val="1565C0">
              <a:alpha val="5000"/>
            </a:srgbClr>
          </a:solidFill>
          <a:ln>
            <a:noFill/>
          </a:ln>
        </p:spPr>
      </p:sp>
      <p:sp>
        <p:nvSpPr>
          <p:cNvPr id="16" name="TextBox 16"/>
          <p:cNvSpPr txBox="1"/>
          <p:nvPr/>
        </p:nvSpPr>
        <p:spPr>
          <a:xfrm>
            <a:off x="1315402" y="960596"/>
            <a:ext cx="1033820" cy="289560"/>
          </a:xfrm>
          <a:prstGeom prst="rect">
            <a:avLst/>
          </a:prstGeom>
          <a:noFill/>
          <a:ln>
            <a:noFill/>
          </a:ln>
        </p:spPr>
        <p:txBody>
          <a:bodyPr wrap="none" lIns="0" tIns="0" rIns="0" bIns="0" anchor="t" anchorCtr="0">
            <a:spAutoFit/>
          </a:bodyPr>
          <a:lstStyle/>
          <a:p>
            <a:pPr algn="l"/>
            <a:r>
              <a:rPr lang="zh-CN" sz="1425" b="1" dirty="0">
                <a:solidFill>
                  <a:srgbClr val="1565C0"/>
                </a:solidFill>
                <a:latin typeface="Segoe UI" panose="020B0502040204020203"/>
                <a:ea typeface="微软雅黑"/>
                <a:cs typeface="Segoe UI" panose="020B0502040204020203"/>
              </a:rPr>
              <a:t>需求与设计</a:t>
            </a:r>
            <a:endParaRPr lang="zh-CN" sz="1425" b="1" dirty="0">
              <a:solidFill>
                <a:srgbClr val="1565C0"/>
              </a:solidFill>
              <a:latin typeface="Segoe UI" panose="020B0502040204020203"/>
              <a:ea typeface="微软雅黑"/>
              <a:cs typeface="Segoe UI" panose="020B0502040204020203"/>
            </a:endParaRPr>
          </a:p>
        </p:txBody>
      </p:sp>
      <p:sp>
        <p:nvSpPr>
          <p:cNvPr id="17" name="TextBox 17"/>
          <p:cNvSpPr txBox="1"/>
          <p:nvPr/>
        </p:nvSpPr>
        <p:spPr>
          <a:xfrm>
            <a:off x="2696528" y="9605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 思路先行</a:t>
            </a:r>
            <a:endParaRPr lang="zh-CN" sz="1425" dirty="0">
              <a:solidFill>
                <a:srgbClr val="263238"/>
              </a:solidFill>
              <a:latin typeface="Segoe UI" panose="020B0502040204020203"/>
              <a:ea typeface="微软雅黑"/>
              <a:cs typeface="Segoe UI" panose="020B0502040204020203"/>
            </a:endParaRPr>
          </a:p>
        </p:txBody>
      </p:sp>
      <p:sp>
        <p:nvSpPr>
          <p:cNvPr id="18" name="TextBox 18"/>
          <p:cNvSpPr txBox="1"/>
          <p:nvPr/>
        </p:nvSpPr>
        <p:spPr>
          <a:xfrm>
            <a:off x="5315902" y="960596"/>
            <a:ext cx="174640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先出方案，再写代码</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9697402" y="960596"/>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先想清楚一步，少做两遍功</a:t>
            </a:r>
            <a:endParaRPr lang="zh-CN" sz="1425" dirty="0">
              <a:solidFill>
                <a:srgbClr val="FF6F00"/>
              </a:solidFill>
              <a:latin typeface="Segoe UI" panose="020B0502040204020203"/>
              <a:ea typeface="微软雅黑"/>
              <a:cs typeface="Segoe UI" panose="020B0502040204020203"/>
            </a:endParaRPr>
          </a:p>
        </p:txBody>
      </p:sp>
      <p:sp>
        <p:nvSpPr>
          <p:cNvPr id="20" name="Rectangle 20"/>
          <p:cNvSpPr/>
          <p:nvPr/>
        </p:nvSpPr>
        <p:spPr>
          <a:xfrm>
            <a:off x="571500" y="1181100"/>
            <a:ext cx="11049000" cy="209550"/>
          </a:xfrm>
          <a:prstGeom prst="rect">
            <a:avLst/>
          </a:prstGeom>
          <a:solidFill>
            <a:srgbClr val="FFFFFF"/>
          </a:solidFill>
          <a:ln>
            <a:noFill/>
          </a:ln>
        </p:spPr>
      </p:sp>
      <p:sp>
        <p:nvSpPr>
          <p:cNvPr id="21" name="TextBox 21"/>
          <p:cNvSpPr txBox="1"/>
          <p:nvPr/>
        </p:nvSpPr>
        <p:spPr>
          <a:xfrm>
            <a:off x="2696528" y="117014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2. 逆向评审</a:t>
            </a:r>
            <a:endParaRPr lang="zh-CN" sz="1425" dirty="0">
              <a:solidFill>
                <a:srgbClr val="263238"/>
              </a:solidFill>
              <a:latin typeface="Segoe UI" panose="020B0502040204020203"/>
              <a:ea typeface="微软雅黑"/>
              <a:cs typeface="Segoe UI" panose="020B0502040204020203"/>
            </a:endParaRPr>
          </a:p>
        </p:txBody>
      </p:sp>
      <p:sp>
        <p:nvSpPr>
          <p:cNvPr id="22" name="TextBox 22"/>
          <p:cNvSpPr txBox="1"/>
          <p:nvPr/>
        </p:nvSpPr>
        <p:spPr>
          <a:xfrm>
            <a:off x="5315902" y="1170146"/>
            <a:ext cx="171790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让AI先挑刺，再动手</a:t>
            </a:r>
            <a:endParaRPr lang="zh-CN" sz="1425" dirty="0">
              <a:solidFill>
                <a:srgbClr val="546E7A"/>
              </a:solidFill>
              <a:latin typeface="Segoe UI" panose="020B0502040204020203"/>
              <a:ea typeface="微软雅黑"/>
              <a:cs typeface="Segoe UI" panose="020B0502040204020203"/>
            </a:endParaRPr>
          </a:p>
        </p:txBody>
      </p:sp>
      <p:sp>
        <p:nvSpPr>
          <p:cNvPr id="23" name="TextBox 23"/>
          <p:cNvSpPr txBox="1"/>
          <p:nvPr/>
        </p:nvSpPr>
        <p:spPr>
          <a:xfrm>
            <a:off x="9697402" y="1170146"/>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先找坑再写代码，省得踩坑</a:t>
            </a:r>
            <a:endParaRPr lang="zh-CN" sz="1425" dirty="0">
              <a:solidFill>
                <a:srgbClr val="FF6F00"/>
              </a:solidFill>
              <a:latin typeface="Segoe UI" panose="020B0502040204020203"/>
              <a:ea typeface="微软雅黑"/>
              <a:cs typeface="Segoe UI" panose="020B0502040204020203"/>
            </a:endParaRPr>
          </a:p>
        </p:txBody>
      </p:sp>
      <p:sp>
        <p:nvSpPr>
          <p:cNvPr id="24" name="Rectangle 24"/>
          <p:cNvSpPr/>
          <p:nvPr/>
        </p:nvSpPr>
        <p:spPr>
          <a:xfrm>
            <a:off x="571500" y="1390650"/>
            <a:ext cx="11049000" cy="209550"/>
          </a:xfrm>
          <a:prstGeom prst="rect">
            <a:avLst/>
          </a:prstGeom>
          <a:solidFill>
            <a:srgbClr val="1565C0">
              <a:alpha val="5000"/>
            </a:srgbClr>
          </a:solidFill>
          <a:ln>
            <a:noFill/>
          </a:ln>
        </p:spPr>
      </p:sp>
      <p:sp>
        <p:nvSpPr>
          <p:cNvPr id="25" name="TextBox 25"/>
          <p:cNvSpPr txBox="1"/>
          <p:nvPr/>
        </p:nvSpPr>
        <p:spPr>
          <a:xfrm>
            <a:off x="2696528" y="13796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3. 方案对比</a:t>
            </a:r>
            <a:endParaRPr lang="zh-CN" sz="1425"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5315902" y="1379696"/>
            <a:ext cx="171790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AI给方案，人做选择</a:t>
            </a:r>
            <a:endParaRPr lang="zh-CN" sz="1425"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9697402" y="1379696"/>
            <a:ext cx="152788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把纠结的事交给AI</a:t>
            </a:r>
            <a:endParaRPr lang="zh-CN" sz="1425" dirty="0">
              <a:solidFill>
                <a:srgbClr val="FF6F00"/>
              </a:solidFill>
              <a:latin typeface="Segoe UI" panose="020B0502040204020203"/>
              <a:ea typeface="微软雅黑"/>
              <a:cs typeface="Segoe UI" panose="020B0502040204020203"/>
            </a:endParaRPr>
          </a:p>
        </p:txBody>
      </p:sp>
      <p:sp>
        <p:nvSpPr>
          <p:cNvPr id="28" name="Rectangle 28"/>
          <p:cNvSpPr/>
          <p:nvPr/>
        </p:nvSpPr>
        <p:spPr>
          <a:xfrm>
            <a:off x="571500" y="1600200"/>
            <a:ext cx="11049000" cy="209550"/>
          </a:xfrm>
          <a:prstGeom prst="rect">
            <a:avLst/>
          </a:prstGeom>
          <a:solidFill>
            <a:srgbClr val="FFFFFF"/>
          </a:solidFill>
          <a:ln>
            <a:noFill/>
          </a:ln>
        </p:spPr>
      </p:sp>
      <p:sp>
        <p:nvSpPr>
          <p:cNvPr id="29" name="TextBox 29"/>
          <p:cNvSpPr txBox="1"/>
          <p:nvPr/>
        </p:nvSpPr>
        <p:spPr>
          <a:xfrm>
            <a:off x="2696528" y="158924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4. 任务拆解</a:t>
            </a:r>
            <a:endParaRPr lang="zh-CN" sz="1425" dirty="0">
              <a:solidFill>
                <a:srgbClr val="263238"/>
              </a:solidFill>
              <a:latin typeface="Segoe UI" panose="020B0502040204020203"/>
              <a:ea typeface="微软雅黑"/>
              <a:cs typeface="Segoe UI" panose="020B0502040204020203"/>
            </a:endParaRPr>
          </a:p>
        </p:txBody>
      </p:sp>
      <p:sp>
        <p:nvSpPr>
          <p:cNvPr id="30" name="TextBox 30"/>
          <p:cNvSpPr txBox="1"/>
          <p:nvPr/>
        </p:nvSpPr>
        <p:spPr>
          <a:xfrm>
            <a:off x="5315902" y="158924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大需求拆成小任务</a:t>
            </a:r>
            <a:endParaRPr lang="zh-CN" sz="1425"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9697402" y="158924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一次只做一件事</a:t>
            </a:r>
            <a:endParaRPr lang="zh-CN" sz="1425" dirty="0">
              <a:solidFill>
                <a:srgbClr val="FF6F00"/>
              </a:solidFill>
              <a:latin typeface="Segoe UI" panose="020B0502040204020203"/>
              <a:ea typeface="微软雅黑"/>
              <a:cs typeface="Segoe UI" panose="020B0502040204020203"/>
            </a:endParaRPr>
          </a:p>
        </p:txBody>
      </p:sp>
      <p:sp>
        <p:nvSpPr>
          <p:cNvPr id="32" name="Rectangle 32"/>
          <p:cNvSpPr/>
          <p:nvPr/>
        </p:nvSpPr>
        <p:spPr>
          <a:xfrm>
            <a:off x="571500" y="1866900"/>
            <a:ext cx="11049000" cy="228600"/>
          </a:xfrm>
          <a:prstGeom prst="rect">
            <a:avLst/>
          </a:prstGeom>
          <a:solidFill>
            <a:srgbClr val="00838F">
              <a:alpha val="5000"/>
            </a:srgbClr>
          </a:solidFill>
          <a:ln>
            <a:noFill/>
          </a:ln>
        </p:spPr>
      </p:sp>
      <p:sp>
        <p:nvSpPr>
          <p:cNvPr id="33" name="TextBox 33"/>
          <p:cNvSpPr txBox="1"/>
          <p:nvPr/>
        </p:nvSpPr>
        <p:spPr>
          <a:xfrm>
            <a:off x="1315402" y="1874996"/>
            <a:ext cx="834295" cy="289560"/>
          </a:xfrm>
          <a:prstGeom prst="rect">
            <a:avLst/>
          </a:prstGeom>
          <a:noFill/>
          <a:ln>
            <a:noFill/>
          </a:ln>
        </p:spPr>
        <p:txBody>
          <a:bodyPr wrap="none" lIns="0" tIns="0" rIns="0" bIns="0" anchor="t" anchorCtr="0">
            <a:spAutoFit/>
          </a:bodyPr>
          <a:lstStyle/>
          <a:p>
            <a:pPr algn="l"/>
            <a:r>
              <a:rPr lang="zh-CN" sz="1425" b="1" dirty="0">
                <a:solidFill>
                  <a:srgbClr val="00838F"/>
                </a:solidFill>
                <a:latin typeface="Segoe UI" panose="020B0502040204020203"/>
                <a:ea typeface="微软雅黑"/>
                <a:cs typeface="Segoe UI" panose="020B0502040204020203"/>
              </a:rPr>
              <a:t>编码实施</a:t>
            </a:r>
            <a:endParaRPr lang="zh-CN" sz="1425" b="1" dirty="0">
              <a:solidFill>
                <a:srgbClr val="00838F"/>
              </a:solidFill>
              <a:latin typeface="Segoe UI" panose="020B0502040204020203"/>
              <a:ea typeface="微软雅黑"/>
              <a:cs typeface="Segoe UI" panose="020B0502040204020203"/>
            </a:endParaRPr>
          </a:p>
        </p:txBody>
      </p:sp>
      <p:sp>
        <p:nvSpPr>
          <p:cNvPr id="34" name="TextBox 34"/>
          <p:cNvSpPr txBox="1"/>
          <p:nvPr/>
        </p:nvSpPr>
        <p:spPr>
          <a:xfrm>
            <a:off x="2696528" y="18749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5. 圈定边界</a:t>
            </a:r>
            <a:endParaRPr lang="zh-CN" sz="1425" dirty="0">
              <a:solidFill>
                <a:srgbClr val="263238"/>
              </a:solidFill>
              <a:latin typeface="Segoe UI" panose="020B0502040204020203"/>
              <a:ea typeface="微软雅黑"/>
              <a:cs typeface="Segoe UI" panose="020B0502040204020203"/>
            </a:endParaRPr>
          </a:p>
        </p:txBody>
      </p:sp>
      <p:sp>
        <p:nvSpPr>
          <p:cNvPr id="35" name="TextBox 35"/>
          <p:cNvSpPr txBox="1"/>
          <p:nvPr/>
        </p:nvSpPr>
        <p:spPr>
          <a:xfrm>
            <a:off x="5315902" y="1874996"/>
            <a:ext cx="1936432"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能改什么、不能改什么</a:t>
            </a:r>
            <a:endParaRPr lang="zh-CN" sz="1425" dirty="0">
              <a:solidFill>
                <a:srgbClr val="546E7A"/>
              </a:solidFill>
              <a:latin typeface="Segoe UI" panose="020B0502040204020203"/>
              <a:ea typeface="微软雅黑"/>
              <a:cs typeface="Segoe UI" panose="020B0502040204020203"/>
            </a:endParaRPr>
          </a:p>
        </p:txBody>
      </p:sp>
      <p:sp>
        <p:nvSpPr>
          <p:cNvPr id="36" name="TextBox 36"/>
          <p:cNvSpPr txBox="1"/>
          <p:nvPr/>
        </p:nvSpPr>
        <p:spPr>
          <a:xfrm>
            <a:off x="9697402" y="1874996"/>
            <a:ext cx="212645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冻结无关区域，精准修改</a:t>
            </a:r>
            <a:endParaRPr lang="zh-CN" sz="1425" dirty="0">
              <a:solidFill>
                <a:srgbClr val="FF6F00"/>
              </a:solidFill>
              <a:latin typeface="Segoe UI" panose="020B0502040204020203"/>
              <a:ea typeface="微软雅黑"/>
              <a:cs typeface="Segoe UI" panose="020B0502040204020203"/>
            </a:endParaRPr>
          </a:p>
        </p:txBody>
      </p:sp>
      <p:sp>
        <p:nvSpPr>
          <p:cNvPr id="37" name="Rectangle 37"/>
          <p:cNvSpPr/>
          <p:nvPr/>
        </p:nvSpPr>
        <p:spPr>
          <a:xfrm>
            <a:off x="571500" y="2095500"/>
            <a:ext cx="11049000" cy="209550"/>
          </a:xfrm>
          <a:prstGeom prst="rect">
            <a:avLst/>
          </a:prstGeom>
          <a:solidFill>
            <a:srgbClr val="FFFFFF"/>
          </a:solidFill>
          <a:ln>
            <a:noFill/>
          </a:ln>
        </p:spPr>
      </p:sp>
      <p:sp>
        <p:nvSpPr>
          <p:cNvPr id="38" name="TextBox 38"/>
          <p:cNvSpPr txBox="1"/>
          <p:nvPr/>
        </p:nvSpPr>
        <p:spPr>
          <a:xfrm>
            <a:off x="2696528" y="208454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6. 最小补丁</a:t>
            </a:r>
            <a:endParaRPr lang="zh-CN" sz="1425" dirty="0">
              <a:solidFill>
                <a:srgbClr val="263238"/>
              </a:solidFill>
              <a:latin typeface="Segoe UI" panose="020B0502040204020203"/>
              <a:ea typeface="微软雅黑"/>
              <a:cs typeface="Segoe UI" panose="020B0502040204020203"/>
            </a:endParaRPr>
          </a:p>
        </p:txBody>
      </p:sp>
      <p:sp>
        <p:nvSpPr>
          <p:cNvPr id="39" name="TextBox 39"/>
          <p:cNvSpPr txBox="1"/>
          <p:nvPr/>
        </p:nvSpPr>
        <p:spPr>
          <a:xfrm>
            <a:off x="5315902" y="2084546"/>
            <a:ext cx="136636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只输出修改片段</a:t>
            </a:r>
            <a:endParaRPr lang="zh-CN" sz="1425" dirty="0">
              <a:solidFill>
                <a:srgbClr val="546E7A"/>
              </a:solidFill>
              <a:latin typeface="Segoe UI" panose="020B0502040204020203"/>
              <a:ea typeface="微软雅黑"/>
              <a:cs typeface="Segoe UI" panose="020B0502040204020203"/>
            </a:endParaRPr>
          </a:p>
        </p:txBody>
      </p:sp>
      <p:sp>
        <p:nvSpPr>
          <p:cNvPr id="40" name="TextBox 40"/>
          <p:cNvSpPr txBox="1"/>
          <p:nvPr/>
        </p:nvSpPr>
        <p:spPr>
          <a:xfrm>
            <a:off x="9697402" y="2084546"/>
            <a:ext cx="178441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不比对500行就找3行</a:t>
            </a:r>
            <a:endParaRPr lang="zh-CN" sz="1425" dirty="0">
              <a:solidFill>
                <a:srgbClr val="FF6F00"/>
              </a:solidFill>
              <a:latin typeface="Segoe UI" panose="020B0502040204020203"/>
              <a:ea typeface="微软雅黑"/>
              <a:cs typeface="Segoe UI" panose="020B0502040204020203"/>
            </a:endParaRPr>
          </a:p>
        </p:txBody>
      </p:sp>
      <p:sp>
        <p:nvSpPr>
          <p:cNvPr id="41" name="Rectangle 41"/>
          <p:cNvSpPr/>
          <p:nvPr/>
        </p:nvSpPr>
        <p:spPr>
          <a:xfrm>
            <a:off x="571500" y="2305050"/>
            <a:ext cx="11049000" cy="209550"/>
          </a:xfrm>
          <a:prstGeom prst="rect">
            <a:avLst/>
          </a:prstGeom>
          <a:solidFill>
            <a:srgbClr val="00838F">
              <a:alpha val="5000"/>
            </a:srgbClr>
          </a:solidFill>
          <a:ln>
            <a:noFill/>
          </a:ln>
        </p:spPr>
      </p:sp>
      <p:sp>
        <p:nvSpPr>
          <p:cNvPr id="42" name="TextBox 42"/>
          <p:cNvSpPr txBox="1"/>
          <p:nvPr/>
        </p:nvSpPr>
        <p:spPr>
          <a:xfrm>
            <a:off x="2696528" y="2294096"/>
            <a:ext cx="1252347"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7. 伪代码翻译</a:t>
            </a:r>
            <a:endParaRPr lang="zh-CN" sz="1425" dirty="0">
              <a:solidFill>
                <a:srgbClr val="263238"/>
              </a:solidFill>
              <a:latin typeface="Segoe UI" panose="020B0502040204020203"/>
              <a:ea typeface="微软雅黑"/>
              <a:cs typeface="Segoe UI" panose="020B0502040204020203"/>
            </a:endParaRPr>
          </a:p>
        </p:txBody>
      </p:sp>
      <p:sp>
        <p:nvSpPr>
          <p:cNvPr id="43" name="TextBox 43"/>
          <p:cNvSpPr txBox="1"/>
          <p:nvPr/>
        </p:nvSpPr>
        <p:spPr>
          <a:xfrm>
            <a:off x="5315902" y="2294096"/>
            <a:ext cx="18224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中文逻辑→AI翻译代码</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9697402" y="2294096"/>
            <a:ext cx="193643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不懂语法也能写出代码</a:t>
            </a:r>
            <a:endParaRPr lang="zh-CN" sz="1425" dirty="0">
              <a:solidFill>
                <a:srgbClr val="FF6F00"/>
              </a:solidFill>
              <a:latin typeface="Segoe UI" panose="020B0502040204020203"/>
              <a:ea typeface="微软雅黑"/>
              <a:cs typeface="Segoe UI" panose="020B0502040204020203"/>
            </a:endParaRPr>
          </a:p>
        </p:txBody>
      </p:sp>
      <p:sp>
        <p:nvSpPr>
          <p:cNvPr id="45" name="Rectangle 45"/>
          <p:cNvSpPr/>
          <p:nvPr/>
        </p:nvSpPr>
        <p:spPr>
          <a:xfrm>
            <a:off x="571500" y="2514600"/>
            <a:ext cx="11049000" cy="209550"/>
          </a:xfrm>
          <a:prstGeom prst="rect">
            <a:avLst/>
          </a:prstGeom>
          <a:solidFill>
            <a:srgbClr val="FFFFFF"/>
          </a:solidFill>
          <a:ln>
            <a:noFill/>
          </a:ln>
        </p:spPr>
      </p:sp>
      <p:sp>
        <p:nvSpPr>
          <p:cNvPr id="46" name="TextBox 46"/>
          <p:cNvSpPr txBox="1"/>
          <p:nvPr/>
        </p:nvSpPr>
        <p:spPr>
          <a:xfrm>
            <a:off x="2696528" y="2503646"/>
            <a:ext cx="872300"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8. 红绿蓝</a:t>
            </a:r>
            <a:endParaRPr lang="zh-CN" sz="1425" dirty="0">
              <a:solidFill>
                <a:srgbClr val="263238"/>
              </a:solidFill>
              <a:latin typeface="Segoe UI" panose="020B0502040204020203"/>
              <a:ea typeface="微软雅黑"/>
              <a:cs typeface="Segoe UI" panose="020B0502040204020203"/>
            </a:endParaRPr>
          </a:p>
        </p:txBody>
      </p:sp>
      <p:sp>
        <p:nvSpPr>
          <p:cNvPr id="47" name="TextBox 47"/>
          <p:cNvSpPr txBox="1"/>
          <p:nvPr/>
        </p:nvSpPr>
        <p:spPr>
          <a:xfrm>
            <a:off x="5315902" y="2503646"/>
            <a:ext cx="1575387"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先测试→实现→优化</a:t>
            </a:r>
            <a:endParaRPr lang="zh-CN" sz="1425"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9697402" y="2503646"/>
            <a:ext cx="138536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"必须通过测试"</a:t>
            </a:r>
            <a:endParaRPr lang="zh-CN" sz="1425" dirty="0">
              <a:solidFill>
                <a:srgbClr val="FF6F00"/>
              </a:solidFill>
              <a:latin typeface="Segoe UI" panose="020B0502040204020203"/>
              <a:ea typeface="微软雅黑"/>
              <a:cs typeface="Segoe UI" panose="020B0502040204020203"/>
            </a:endParaRPr>
          </a:p>
        </p:txBody>
      </p:sp>
      <p:sp>
        <p:nvSpPr>
          <p:cNvPr id="49" name="Rectangle 49"/>
          <p:cNvSpPr/>
          <p:nvPr/>
        </p:nvSpPr>
        <p:spPr>
          <a:xfrm>
            <a:off x="571500" y="2724150"/>
            <a:ext cx="11049000" cy="209550"/>
          </a:xfrm>
          <a:prstGeom prst="rect">
            <a:avLst/>
          </a:prstGeom>
          <a:solidFill>
            <a:srgbClr val="00838F">
              <a:alpha val="5000"/>
            </a:srgbClr>
          </a:solidFill>
          <a:ln>
            <a:noFill/>
          </a:ln>
        </p:spPr>
      </p:sp>
      <p:sp>
        <p:nvSpPr>
          <p:cNvPr id="50" name="TextBox 50"/>
          <p:cNvSpPr txBox="1"/>
          <p:nvPr/>
        </p:nvSpPr>
        <p:spPr>
          <a:xfrm>
            <a:off x="2696528" y="27131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9. 单一职责</a:t>
            </a:r>
            <a:endParaRPr lang="zh-CN" sz="1425" dirty="0">
              <a:solidFill>
                <a:srgbClr val="263238"/>
              </a:solidFill>
              <a:latin typeface="Segoe UI" panose="020B0502040204020203"/>
              <a:ea typeface="微软雅黑"/>
              <a:cs typeface="Segoe UI" panose="020B0502040204020203"/>
            </a:endParaRPr>
          </a:p>
        </p:txBody>
      </p:sp>
      <p:sp>
        <p:nvSpPr>
          <p:cNvPr id="51" name="TextBox 51"/>
          <p:cNvSpPr txBox="1"/>
          <p:nvPr/>
        </p:nvSpPr>
        <p:spPr>
          <a:xfrm>
            <a:off x="5315902" y="2713196"/>
            <a:ext cx="136636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一次只做一件事</a:t>
            </a:r>
            <a:endParaRPr lang="zh-CN" sz="1425" dirty="0">
              <a:solidFill>
                <a:srgbClr val="546E7A"/>
              </a:solidFill>
              <a:latin typeface="Segoe UI" panose="020B0502040204020203"/>
              <a:ea typeface="微软雅黑"/>
              <a:cs typeface="Segoe UI" panose="020B0502040204020203"/>
            </a:endParaRPr>
          </a:p>
        </p:txBody>
      </p:sp>
      <p:sp>
        <p:nvSpPr>
          <p:cNvPr id="52" name="TextBox 52"/>
          <p:cNvSpPr txBox="1"/>
          <p:nvPr/>
        </p:nvSpPr>
        <p:spPr>
          <a:xfrm>
            <a:off x="9697402" y="2713196"/>
            <a:ext cx="166089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多任务混杂→一团糟</a:t>
            </a:r>
            <a:endParaRPr lang="zh-CN" sz="1425" dirty="0">
              <a:solidFill>
                <a:srgbClr val="FF6F00"/>
              </a:solidFill>
              <a:latin typeface="Segoe UI" panose="020B0502040204020203"/>
              <a:ea typeface="微软雅黑"/>
              <a:cs typeface="Segoe UI" panose="020B0502040204020203"/>
            </a:endParaRPr>
          </a:p>
        </p:txBody>
      </p:sp>
      <p:sp>
        <p:nvSpPr>
          <p:cNvPr id="53" name="Rectangle 53"/>
          <p:cNvSpPr/>
          <p:nvPr/>
        </p:nvSpPr>
        <p:spPr>
          <a:xfrm>
            <a:off x="571500" y="2990850"/>
            <a:ext cx="11049000" cy="228600"/>
          </a:xfrm>
          <a:prstGeom prst="rect">
            <a:avLst/>
          </a:prstGeom>
          <a:solidFill>
            <a:srgbClr val="2E7D32">
              <a:alpha val="5000"/>
            </a:srgbClr>
          </a:solidFill>
          <a:ln>
            <a:noFill/>
          </a:ln>
        </p:spPr>
      </p:sp>
      <p:sp>
        <p:nvSpPr>
          <p:cNvPr id="54" name="TextBox 54"/>
          <p:cNvSpPr txBox="1"/>
          <p:nvPr/>
        </p:nvSpPr>
        <p:spPr>
          <a:xfrm>
            <a:off x="1315402" y="2998946"/>
            <a:ext cx="1033820" cy="289560"/>
          </a:xfrm>
          <a:prstGeom prst="rect">
            <a:avLst/>
          </a:prstGeom>
          <a:noFill/>
          <a:ln>
            <a:noFill/>
          </a:ln>
        </p:spPr>
        <p:txBody>
          <a:bodyPr wrap="none" lIns="0" tIns="0" rIns="0" bIns="0" anchor="t" anchorCtr="0">
            <a:spAutoFit/>
          </a:bodyPr>
          <a:lstStyle/>
          <a:p>
            <a:pPr algn="l"/>
            <a:r>
              <a:rPr lang="zh-CN" sz="1425" b="1" dirty="0">
                <a:solidFill>
                  <a:srgbClr val="2E7D32"/>
                </a:solidFill>
                <a:latin typeface="Segoe UI" panose="020B0502040204020203"/>
                <a:ea typeface="微软雅黑"/>
                <a:cs typeface="Segoe UI" panose="020B0502040204020203"/>
              </a:rPr>
              <a:t>迭代与优化</a:t>
            </a:r>
            <a:endParaRPr lang="zh-CN" sz="1425" b="1" dirty="0">
              <a:solidFill>
                <a:srgbClr val="2E7D32"/>
              </a:solidFill>
              <a:latin typeface="Segoe UI" panose="020B0502040204020203"/>
              <a:ea typeface="微软雅黑"/>
              <a:cs typeface="Segoe UI" panose="020B0502040204020203"/>
            </a:endParaRPr>
          </a:p>
        </p:txBody>
      </p:sp>
      <p:sp>
        <p:nvSpPr>
          <p:cNvPr id="55" name="TextBox 55"/>
          <p:cNvSpPr txBox="1"/>
          <p:nvPr/>
        </p:nvSpPr>
        <p:spPr>
          <a:xfrm>
            <a:off x="2696528" y="29989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10. 主线优先</a:t>
            </a:r>
            <a:endParaRPr lang="zh-CN" sz="1425" dirty="0">
              <a:solidFill>
                <a:srgbClr val="263238"/>
              </a:solidFill>
              <a:latin typeface="Segoe UI" panose="020B0502040204020203"/>
              <a:ea typeface="微软雅黑"/>
              <a:cs typeface="Segoe UI" panose="020B0502040204020203"/>
            </a:endParaRPr>
          </a:p>
        </p:txBody>
      </p:sp>
      <p:sp>
        <p:nvSpPr>
          <p:cNvPr id="56" name="TextBox 56"/>
          <p:cNvSpPr txBox="1"/>
          <p:nvPr/>
        </p:nvSpPr>
        <p:spPr>
          <a:xfrm>
            <a:off x="5315902" y="299894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先主干后细节</a:t>
            </a:r>
            <a:endParaRPr lang="zh-CN" sz="1425" dirty="0">
              <a:solidFill>
                <a:srgbClr val="546E7A"/>
              </a:solidFill>
              <a:latin typeface="Segoe UI" panose="020B0502040204020203"/>
              <a:ea typeface="微软雅黑"/>
              <a:cs typeface="Segoe UI" panose="020B0502040204020203"/>
            </a:endParaRPr>
          </a:p>
        </p:txBody>
      </p:sp>
      <p:sp>
        <p:nvSpPr>
          <p:cNvPr id="57" name="TextBox 57"/>
          <p:cNvSpPr txBox="1"/>
          <p:nvPr/>
        </p:nvSpPr>
        <p:spPr>
          <a:xfrm>
            <a:off x="9697402" y="299894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先能用，再好用</a:t>
            </a:r>
            <a:endParaRPr lang="zh-CN" sz="1425" dirty="0">
              <a:solidFill>
                <a:srgbClr val="FF6F00"/>
              </a:solidFill>
              <a:latin typeface="Segoe UI" panose="020B0502040204020203"/>
              <a:ea typeface="微软雅黑"/>
              <a:cs typeface="Segoe UI" panose="020B0502040204020203"/>
            </a:endParaRPr>
          </a:p>
        </p:txBody>
      </p:sp>
      <p:sp>
        <p:nvSpPr>
          <p:cNvPr id="58" name="Rectangle 58"/>
          <p:cNvSpPr/>
          <p:nvPr/>
        </p:nvSpPr>
        <p:spPr>
          <a:xfrm>
            <a:off x="571500" y="3219450"/>
            <a:ext cx="11049000" cy="209550"/>
          </a:xfrm>
          <a:prstGeom prst="rect">
            <a:avLst/>
          </a:prstGeom>
          <a:solidFill>
            <a:srgbClr val="FFFFFF"/>
          </a:solidFill>
          <a:ln>
            <a:noFill/>
          </a:ln>
        </p:spPr>
      </p:sp>
      <p:sp>
        <p:nvSpPr>
          <p:cNvPr id="59" name="TextBox 59"/>
          <p:cNvSpPr txBox="1"/>
          <p:nvPr/>
        </p:nvSpPr>
        <p:spPr>
          <a:xfrm>
            <a:off x="2696528" y="32084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11. 渐进对话</a:t>
            </a:r>
            <a:endParaRPr lang="zh-CN" sz="1425" dirty="0">
              <a:solidFill>
                <a:srgbClr val="263238"/>
              </a:solidFill>
              <a:latin typeface="Segoe UI" panose="020B0502040204020203"/>
              <a:ea typeface="微软雅黑"/>
              <a:cs typeface="Segoe UI" panose="020B0502040204020203"/>
            </a:endParaRPr>
          </a:p>
        </p:txBody>
      </p:sp>
      <p:sp>
        <p:nvSpPr>
          <p:cNvPr id="60" name="TextBox 60"/>
          <p:cNvSpPr txBox="1"/>
          <p:nvPr/>
        </p:nvSpPr>
        <p:spPr>
          <a:xfrm>
            <a:off x="5315902" y="320849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逐步叠加需求</a:t>
            </a:r>
            <a:endParaRPr lang="zh-CN" sz="1425" dirty="0">
              <a:solidFill>
                <a:srgbClr val="546E7A"/>
              </a:solidFill>
              <a:latin typeface="Segoe UI" panose="020B0502040204020203"/>
              <a:ea typeface="微软雅黑"/>
              <a:cs typeface="Segoe UI" panose="020B0502040204020203"/>
            </a:endParaRPr>
          </a:p>
        </p:txBody>
      </p:sp>
      <p:sp>
        <p:nvSpPr>
          <p:cNvPr id="61" name="TextBox 61"/>
          <p:cNvSpPr txBox="1"/>
          <p:nvPr/>
        </p:nvSpPr>
        <p:spPr>
          <a:xfrm>
            <a:off x="9697402" y="320849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一口吃不成胖子</a:t>
            </a:r>
            <a:endParaRPr lang="zh-CN" sz="1425" dirty="0">
              <a:solidFill>
                <a:srgbClr val="FF6F00"/>
              </a:solidFill>
              <a:latin typeface="Segoe UI" panose="020B0502040204020203"/>
              <a:ea typeface="微软雅黑"/>
              <a:cs typeface="Segoe UI" panose="020B0502040204020203"/>
            </a:endParaRPr>
          </a:p>
        </p:txBody>
      </p:sp>
      <p:sp>
        <p:nvSpPr>
          <p:cNvPr id="62" name="Rectangle 62"/>
          <p:cNvSpPr/>
          <p:nvPr/>
        </p:nvSpPr>
        <p:spPr>
          <a:xfrm>
            <a:off x="571500" y="3429000"/>
            <a:ext cx="11049000" cy="209550"/>
          </a:xfrm>
          <a:prstGeom prst="rect">
            <a:avLst/>
          </a:prstGeom>
          <a:solidFill>
            <a:srgbClr val="2E7D32">
              <a:alpha val="5000"/>
            </a:srgbClr>
          </a:solidFill>
          <a:ln>
            <a:noFill/>
          </a:ln>
        </p:spPr>
      </p:sp>
      <p:sp>
        <p:nvSpPr>
          <p:cNvPr id="63" name="TextBox 63"/>
          <p:cNvSpPr txBox="1"/>
          <p:nvPr/>
        </p:nvSpPr>
        <p:spPr>
          <a:xfrm>
            <a:off x="2696528" y="34180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12. 外科手术</a:t>
            </a:r>
            <a:endParaRPr lang="zh-CN" sz="1425" dirty="0">
              <a:solidFill>
                <a:srgbClr val="263238"/>
              </a:solidFill>
              <a:latin typeface="Segoe UI" panose="020B0502040204020203"/>
              <a:ea typeface="微软雅黑"/>
              <a:cs typeface="Segoe UI" panose="020B0502040204020203"/>
            </a:endParaRPr>
          </a:p>
        </p:txBody>
      </p:sp>
      <p:sp>
        <p:nvSpPr>
          <p:cNvPr id="64" name="TextBox 64"/>
          <p:cNvSpPr txBox="1"/>
          <p:nvPr/>
        </p:nvSpPr>
        <p:spPr>
          <a:xfrm>
            <a:off x="5315902" y="341804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先评估影响再动手</a:t>
            </a:r>
            <a:endParaRPr lang="zh-CN" sz="1425" dirty="0">
              <a:solidFill>
                <a:srgbClr val="546E7A"/>
              </a:solidFill>
              <a:latin typeface="Segoe UI" panose="020B0502040204020203"/>
              <a:ea typeface="微软雅黑"/>
              <a:cs typeface="Segoe UI" panose="020B0502040204020203"/>
            </a:endParaRPr>
          </a:p>
        </p:txBody>
      </p:sp>
      <p:sp>
        <p:nvSpPr>
          <p:cNvPr id="65" name="TextBox 65"/>
          <p:cNvSpPr txBox="1"/>
          <p:nvPr/>
        </p:nvSpPr>
        <p:spPr>
          <a:xfrm>
            <a:off x="9697402" y="3418046"/>
            <a:ext cx="205994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平稳过渡，不连夜修bug</a:t>
            </a:r>
            <a:endParaRPr lang="zh-CN" sz="1425" dirty="0">
              <a:solidFill>
                <a:srgbClr val="FF6F00"/>
              </a:solidFill>
              <a:latin typeface="Segoe UI" panose="020B0502040204020203"/>
              <a:ea typeface="微软雅黑"/>
              <a:cs typeface="Segoe UI" panose="020B0502040204020203"/>
            </a:endParaRPr>
          </a:p>
        </p:txBody>
      </p:sp>
      <p:sp>
        <p:nvSpPr>
          <p:cNvPr id="66" name="Rectangle 66"/>
          <p:cNvSpPr/>
          <p:nvPr/>
        </p:nvSpPr>
        <p:spPr>
          <a:xfrm>
            <a:off x="571500" y="3695700"/>
            <a:ext cx="11049000" cy="228600"/>
          </a:xfrm>
          <a:prstGeom prst="rect">
            <a:avLst/>
          </a:prstGeom>
          <a:solidFill>
            <a:srgbClr val="C62828">
              <a:alpha val="5000"/>
            </a:srgbClr>
          </a:solidFill>
          <a:ln>
            <a:noFill/>
          </a:ln>
        </p:spPr>
      </p:sp>
      <p:sp>
        <p:nvSpPr>
          <p:cNvPr id="67" name="TextBox 67"/>
          <p:cNvSpPr txBox="1"/>
          <p:nvPr/>
        </p:nvSpPr>
        <p:spPr>
          <a:xfrm>
            <a:off x="1315402" y="3703796"/>
            <a:ext cx="1033820" cy="289560"/>
          </a:xfrm>
          <a:prstGeom prst="rect">
            <a:avLst/>
          </a:prstGeom>
          <a:noFill/>
          <a:ln>
            <a:noFill/>
          </a:ln>
        </p:spPr>
        <p:txBody>
          <a:bodyPr wrap="none" lIns="0" tIns="0" rIns="0" bIns="0" anchor="t" anchorCtr="0">
            <a:spAutoFit/>
          </a:bodyPr>
          <a:lstStyle/>
          <a:p>
            <a:pPr algn="l"/>
            <a:r>
              <a:rPr lang="zh-CN" sz="1425" b="1" dirty="0">
                <a:solidFill>
                  <a:srgbClr val="C62828"/>
                </a:solidFill>
                <a:latin typeface="Segoe UI" panose="020B0502040204020203"/>
                <a:ea typeface="微软雅黑"/>
                <a:cs typeface="Segoe UI" panose="020B0502040204020203"/>
              </a:rPr>
              <a:t>调试与维护</a:t>
            </a:r>
            <a:endParaRPr lang="zh-CN" sz="1425" b="1" dirty="0">
              <a:solidFill>
                <a:srgbClr val="C62828"/>
              </a:solidFill>
              <a:latin typeface="Segoe UI" panose="020B0502040204020203"/>
              <a:ea typeface="微软雅黑"/>
              <a:cs typeface="Segoe UI" panose="020B0502040204020203"/>
            </a:endParaRPr>
          </a:p>
        </p:txBody>
      </p:sp>
      <p:sp>
        <p:nvSpPr>
          <p:cNvPr id="68" name="TextBox 68"/>
          <p:cNvSpPr txBox="1"/>
          <p:nvPr/>
        </p:nvSpPr>
        <p:spPr>
          <a:xfrm>
            <a:off x="2696528" y="37037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13. 侦探破案</a:t>
            </a:r>
            <a:endParaRPr lang="zh-CN" sz="1425" dirty="0">
              <a:solidFill>
                <a:srgbClr val="263238"/>
              </a:solidFill>
              <a:latin typeface="Segoe UI" panose="020B0502040204020203"/>
              <a:ea typeface="微软雅黑"/>
              <a:cs typeface="Segoe UI" panose="020B0502040204020203"/>
            </a:endParaRPr>
          </a:p>
        </p:txBody>
      </p:sp>
      <p:sp>
        <p:nvSpPr>
          <p:cNvPr id="69" name="TextBox 69"/>
          <p:cNvSpPr txBox="1"/>
          <p:nvPr/>
        </p:nvSpPr>
        <p:spPr>
          <a:xfrm>
            <a:off x="5315902" y="3703796"/>
            <a:ext cx="186992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先诊断bug原因再修复</a:t>
            </a:r>
            <a:endParaRPr lang="zh-CN" sz="1425" dirty="0">
              <a:solidFill>
                <a:srgbClr val="546E7A"/>
              </a:solidFill>
              <a:latin typeface="Segoe UI" panose="020B0502040204020203"/>
              <a:ea typeface="微软雅黑"/>
              <a:cs typeface="Segoe UI" panose="020B0502040204020203"/>
            </a:endParaRPr>
          </a:p>
        </p:txBody>
      </p:sp>
      <p:sp>
        <p:nvSpPr>
          <p:cNvPr id="70" name="TextBox 70"/>
          <p:cNvSpPr txBox="1"/>
          <p:nvPr/>
        </p:nvSpPr>
        <p:spPr>
          <a:xfrm>
            <a:off x="9697402" y="3703796"/>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先诊断、再修复、一针见效</a:t>
            </a:r>
            <a:endParaRPr lang="zh-CN" sz="1425" dirty="0">
              <a:solidFill>
                <a:srgbClr val="FF6F00"/>
              </a:solidFill>
              <a:latin typeface="Segoe UI" panose="020B0502040204020203"/>
              <a:ea typeface="微软雅黑"/>
              <a:cs typeface="Segoe UI" panose="020B0502040204020203"/>
            </a:endParaRPr>
          </a:p>
        </p:txBody>
      </p:sp>
      <p:sp>
        <p:nvSpPr>
          <p:cNvPr id="71" name="Rectangle 71"/>
          <p:cNvSpPr/>
          <p:nvPr/>
        </p:nvSpPr>
        <p:spPr>
          <a:xfrm>
            <a:off x="571500" y="3924300"/>
            <a:ext cx="11049000" cy="209550"/>
          </a:xfrm>
          <a:prstGeom prst="rect">
            <a:avLst/>
          </a:prstGeom>
          <a:solidFill>
            <a:srgbClr val="FFFFFF"/>
          </a:solidFill>
          <a:ln>
            <a:noFill/>
          </a:ln>
        </p:spPr>
      </p:sp>
      <p:sp>
        <p:nvSpPr>
          <p:cNvPr id="72" name="TextBox 72"/>
          <p:cNvSpPr txBox="1"/>
          <p:nvPr/>
        </p:nvSpPr>
        <p:spPr>
          <a:xfrm>
            <a:off x="2696528" y="39133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14. 代码考古</a:t>
            </a:r>
            <a:endParaRPr lang="zh-CN" sz="1425" dirty="0">
              <a:solidFill>
                <a:srgbClr val="263238"/>
              </a:solidFill>
              <a:latin typeface="Segoe UI" panose="020B0502040204020203"/>
              <a:ea typeface="微软雅黑"/>
              <a:cs typeface="Segoe UI" panose="020B0502040204020203"/>
            </a:endParaRPr>
          </a:p>
        </p:txBody>
      </p:sp>
      <p:sp>
        <p:nvSpPr>
          <p:cNvPr id="73" name="TextBox 73"/>
          <p:cNvSpPr txBox="1"/>
          <p:nvPr/>
        </p:nvSpPr>
        <p:spPr>
          <a:xfrm>
            <a:off x="5315902" y="391334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先理解后修改</a:t>
            </a:r>
            <a:endParaRPr lang="zh-CN" sz="1425" dirty="0">
              <a:solidFill>
                <a:srgbClr val="546E7A"/>
              </a:solidFill>
              <a:latin typeface="Segoe UI" panose="020B0502040204020203"/>
              <a:ea typeface="微软雅黑"/>
              <a:cs typeface="Segoe UI" panose="020B0502040204020203"/>
            </a:endParaRPr>
          </a:p>
        </p:txBody>
      </p:sp>
      <p:sp>
        <p:nvSpPr>
          <p:cNvPr id="74" name="TextBox 74"/>
          <p:cNvSpPr txBox="1"/>
          <p:nvPr/>
        </p:nvSpPr>
        <p:spPr>
          <a:xfrm>
            <a:off x="9697402" y="3913346"/>
            <a:ext cx="223096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不理解就改=不知道对不对</a:t>
            </a:r>
            <a:endParaRPr lang="zh-CN" sz="1425" dirty="0">
              <a:solidFill>
                <a:srgbClr val="FF6F00"/>
              </a:solidFill>
              <a:latin typeface="Segoe UI" panose="020B0502040204020203"/>
              <a:ea typeface="微软雅黑"/>
              <a:cs typeface="Segoe UI" panose="020B0502040204020203"/>
            </a:endParaRPr>
          </a:p>
        </p:txBody>
      </p:sp>
      <p:sp>
        <p:nvSpPr>
          <p:cNvPr id="75" name="Rectangle 75"/>
          <p:cNvSpPr/>
          <p:nvPr/>
        </p:nvSpPr>
        <p:spPr>
          <a:xfrm>
            <a:off x="571500" y="4133850"/>
            <a:ext cx="11049000" cy="209550"/>
          </a:xfrm>
          <a:prstGeom prst="rect">
            <a:avLst/>
          </a:prstGeom>
          <a:solidFill>
            <a:srgbClr val="C62828">
              <a:alpha val="5000"/>
            </a:srgbClr>
          </a:solidFill>
          <a:ln>
            <a:noFill/>
          </a:ln>
        </p:spPr>
      </p:sp>
      <p:sp>
        <p:nvSpPr>
          <p:cNvPr id="76" name="TextBox 76"/>
          <p:cNvSpPr txBox="1"/>
          <p:nvPr/>
        </p:nvSpPr>
        <p:spPr>
          <a:xfrm>
            <a:off x="2696528" y="41228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15. 边界测试</a:t>
            </a:r>
            <a:endParaRPr lang="zh-CN" sz="1425" dirty="0">
              <a:solidFill>
                <a:srgbClr val="263238"/>
              </a:solidFill>
              <a:latin typeface="Segoe UI" panose="020B0502040204020203"/>
              <a:ea typeface="微软雅黑"/>
              <a:cs typeface="Segoe UI" panose="020B0502040204020203"/>
            </a:endParaRPr>
          </a:p>
        </p:txBody>
      </p:sp>
      <p:sp>
        <p:nvSpPr>
          <p:cNvPr id="77" name="TextBox 77"/>
          <p:cNvSpPr txBox="1"/>
          <p:nvPr/>
        </p:nvSpPr>
        <p:spPr>
          <a:xfrm>
            <a:off x="5315902" y="4122896"/>
            <a:ext cx="133785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让AI主动找漏洞</a:t>
            </a:r>
            <a:endParaRPr lang="zh-CN" sz="1425" dirty="0">
              <a:solidFill>
                <a:srgbClr val="546E7A"/>
              </a:solidFill>
              <a:latin typeface="Segoe UI" panose="020B0502040204020203"/>
              <a:ea typeface="微软雅黑"/>
              <a:cs typeface="Segoe UI" panose="020B0502040204020203"/>
            </a:endParaRPr>
          </a:p>
        </p:txBody>
      </p:sp>
      <p:sp>
        <p:nvSpPr>
          <p:cNvPr id="78" name="TextBox 78"/>
          <p:cNvSpPr txBox="1"/>
          <p:nvPr/>
        </p:nvSpPr>
        <p:spPr>
          <a:xfrm>
            <a:off x="9697402" y="4122896"/>
            <a:ext cx="228797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AI自己找茬比被用户发现强</a:t>
            </a:r>
            <a:endParaRPr lang="zh-CN" sz="1425" dirty="0">
              <a:solidFill>
                <a:srgbClr val="FF6F00"/>
              </a:solidFill>
              <a:latin typeface="Segoe UI" panose="020B0502040204020203"/>
              <a:ea typeface="微软雅黑"/>
              <a:cs typeface="Segoe UI" panose="020B0502040204020203"/>
            </a:endParaRPr>
          </a:p>
        </p:txBody>
      </p:sp>
      <p:sp>
        <p:nvSpPr>
          <p:cNvPr id="79" name="Rectangle 79"/>
          <p:cNvSpPr/>
          <p:nvPr/>
        </p:nvSpPr>
        <p:spPr>
          <a:xfrm>
            <a:off x="571500" y="4400550"/>
            <a:ext cx="11049000" cy="228600"/>
          </a:xfrm>
          <a:prstGeom prst="rect">
            <a:avLst/>
          </a:prstGeom>
          <a:solidFill>
            <a:srgbClr val="6A1B9A">
              <a:alpha val="5000"/>
            </a:srgbClr>
          </a:solidFill>
          <a:ln>
            <a:noFill/>
          </a:ln>
        </p:spPr>
      </p:sp>
      <p:sp>
        <p:nvSpPr>
          <p:cNvPr id="80" name="TextBox 80"/>
          <p:cNvSpPr txBox="1"/>
          <p:nvPr/>
        </p:nvSpPr>
        <p:spPr>
          <a:xfrm>
            <a:off x="1315402" y="4408646"/>
            <a:ext cx="1233345" cy="289560"/>
          </a:xfrm>
          <a:prstGeom prst="rect">
            <a:avLst/>
          </a:prstGeom>
          <a:noFill/>
          <a:ln>
            <a:noFill/>
          </a:ln>
        </p:spPr>
        <p:txBody>
          <a:bodyPr wrap="none" lIns="0" tIns="0" rIns="0" bIns="0" anchor="t" anchorCtr="0">
            <a:spAutoFit/>
          </a:bodyPr>
          <a:lstStyle/>
          <a:p>
            <a:pPr algn="l"/>
            <a:r>
              <a:rPr lang="zh-CN" sz="1425" b="1" dirty="0">
                <a:solidFill>
                  <a:srgbClr val="6A1B9A"/>
                </a:solidFill>
                <a:latin typeface="Segoe UI" panose="020B0502040204020203"/>
                <a:ea typeface="微软雅黑"/>
                <a:cs typeface="Segoe UI" panose="020B0502040204020203"/>
              </a:rPr>
              <a:t>质量与工程化</a:t>
            </a:r>
            <a:endParaRPr lang="zh-CN" sz="1425" b="1" dirty="0">
              <a:solidFill>
                <a:srgbClr val="6A1B9A"/>
              </a:solidFill>
              <a:latin typeface="Segoe UI" panose="020B0502040204020203"/>
              <a:ea typeface="微软雅黑"/>
              <a:cs typeface="Segoe UI" panose="020B0502040204020203"/>
            </a:endParaRPr>
          </a:p>
        </p:txBody>
      </p:sp>
      <p:sp>
        <p:nvSpPr>
          <p:cNvPr id="81" name="TextBox 81"/>
          <p:cNvSpPr txBox="1"/>
          <p:nvPr/>
        </p:nvSpPr>
        <p:spPr>
          <a:xfrm>
            <a:off x="2696528" y="44086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16. 回归校验</a:t>
            </a:r>
            <a:endParaRPr lang="zh-CN" sz="1425" dirty="0">
              <a:solidFill>
                <a:srgbClr val="263238"/>
              </a:solidFill>
              <a:latin typeface="Segoe UI" panose="020B0502040204020203"/>
              <a:ea typeface="微软雅黑"/>
              <a:cs typeface="Segoe UI" panose="020B0502040204020203"/>
            </a:endParaRPr>
          </a:p>
        </p:txBody>
      </p:sp>
      <p:sp>
        <p:nvSpPr>
          <p:cNvPr id="82" name="TextBox 82"/>
          <p:cNvSpPr txBox="1"/>
          <p:nvPr/>
        </p:nvSpPr>
        <p:spPr>
          <a:xfrm>
            <a:off x="5315902" y="4408646"/>
            <a:ext cx="98631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改完必自查</a:t>
            </a:r>
            <a:endParaRPr lang="zh-CN" sz="1425" dirty="0">
              <a:solidFill>
                <a:srgbClr val="546E7A"/>
              </a:solidFill>
              <a:latin typeface="Segoe UI" panose="020B0502040204020203"/>
              <a:ea typeface="微软雅黑"/>
              <a:cs typeface="Segoe UI" panose="020B0502040204020203"/>
            </a:endParaRPr>
          </a:p>
        </p:txBody>
      </p:sp>
      <p:sp>
        <p:nvSpPr>
          <p:cNvPr id="83" name="TextBox 83"/>
          <p:cNvSpPr txBox="1"/>
          <p:nvPr/>
        </p:nvSpPr>
        <p:spPr>
          <a:xfrm>
            <a:off x="9697402" y="4408646"/>
            <a:ext cx="1955435"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别等"怎么这里也坏了"</a:t>
            </a:r>
            <a:endParaRPr lang="zh-CN" sz="1425" dirty="0">
              <a:solidFill>
                <a:srgbClr val="FF6F00"/>
              </a:solidFill>
              <a:latin typeface="Segoe UI" panose="020B0502040204020203"/>
              <a:ea typeface="微软雅黑"/>
              <a:cs typeface="Segoe UI" panose="020B0502040204020203"/>
            </a:endParaRPr>
          </a:p>
        </p:txBody>
      </p:sp>
      <p:sp>
        <p:nvSpPr>
          <p:cNvPr id="84" name="Rectangle 84"/>
          <p:cNvSpPr/>
          <p:nvPr/>
        </p:nvSpPr>
        <p:spPr>
          <a:xfrm>
            <a:off x="571500" y="4629150"/>
            <a:ext cx="11049000" cy="209550"/>
          </a:xfrm>
          <a:prstGeom prst="rect">
            <a:avLst/>
          </a:prstGeom>
          <a:solidFill>
            <a:srgbClr val="FFFFFF"/>
          </a:solidFill>
          <a:ln>
            <a:noFill/>
          </a:ln>
        </p:spPr>
      </p:sp>
      <p:sp>
        <p:nvSpPr>
          <p:cNvPr id="85" name="TextBox 85"/>
          <p:cNvSpPr txBox="1"/>
          <p:nvPr/>
        </p:nvSpPr>
        <p:spPr>
          <a:xfrm>
            <a:off x="2696528" y="46181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17. 文档同步</a:t>
            </a:r>
            <a:endParaRPr lang="zh-CN" sz="1425" dirty="0">
              <a:solidFill>
                <a:srgbClr val="263238"/>
              </a:solidFill>
              <a:latin typeface="Segoe UI" panose="020B0502040204020203"/>
              <a:ea typeface="微软雅黑"/>
              <a:cs typeface="Segoe UI" panose="020B0502040204020203"/>
            </a:endParaRPr>
          </a:p>
        </p:txBody>
      </p:sp>
      <p:sp>
        <p:nvSpPr>
          <p:cNvPr id="86" name="TextBox 86"/>
          <p:cNvSpPr txBox="1"/>
          <p:nvPr/>
        </p:nvSpPr>
        <p:spPr>
          <a:xfrm>
            <a:off x="5315902" y="461819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代码文档一起产出</a:t>
            </a:r>
            <a:endParaRPr lang="zh-CN" sz="1425" dirty="0">
              <a:solidFill>
                <a:srgbClr val="546E7A"/>
              </a:solidFill>
              <a:latin typeface="Segoe UI" panose="020B0502040204020203"/>
              <a:ea typeface="微软雅黑"/>
              <a:cs typeface="Segoe UI" panose="020B0502040204020203"/>
            </a:endParaRPr>
          </a:p>
        </p:txBody>
      </p:sp>
      <p:sp>
        <p:nvSpPr>
          <p:cNvPr id="87" name="TextBox 87"/>
          <p:cNvSpPr txBox="1"/>
          <p:nvPr/>
        </p:nvSpPr>
        <p:spPr>
          <a:xfrm>
            <a:off x="9697402" y="4618196"/>
            <a:ext cx="204094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三个月后看不懂→顺手写</a:t>
            </a:r>
            <a:endParaRPr lang="zh-CN" sz="1425" dirty="0">
              <a:solidFill>
                <a:srgbClr val="FF6F00"/>
              </a:solidFill>
              <a:latin typeface="Segoe UI" panose="020B0502040204020203"/>
              <a:ea typeface="微软雅黑"/>
              <a:cs typeface="Segoe UI" panose="020B0502040204020203"/>
            </a:endParaRPr>
          </a:p>
        </p:txBody>
      </p:sp>
      <p:sp>
        <p:nvSpPr>
          <p:cNvPr id="88" name="Rectangle 88"/>
          <p:cNvSpPr/>
          <p:nvPr/>
        </p:nvSpPr>
        <p:spPr>
          <a:xfrm>
            <a:off x="571500" y="4838700"/>
            <a:ext cx="11049000" cy="209550"/>
          </a:xfrm>
          <a:prstGeom prst="rect">
            <a:avLst/>
          </a:prstGeom>
          <a:solidFill>
            <a:srgbClr val="6A1B9A">
              <a:alpha val="5000"/>
            </a:srgbClr>
          </a:solidFill>
          <a:ln>
            <a:noFill/>
          </a:ln>
        </p:spPr>
      </p:sp>
      <p:sp>
        <p:nvSpPr>
          <p:cNvPr id="89" name="TextBox 89"/>
          <p:cNvSpPr txBox="1"/>
          <p:nvPr/>
        </p:nvSpPr>
        <p:spPr>
          <a:xfrm>
            <a:off x="2696528" y="48277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18. 约束内化</a:t>
            </a:r>
            <a:endParaRPr lang="zh-CN" sz="1425" dirty="0">
              <a:solidFill>
                <a:srgbClr val="263238"/>
              </a:solidFill>
              <a:latin typeface="Segoe UI" panose="020B0502040204020203"/>
              <a:ea typeface="微软雅黑"/>
              <a:cs typeface="Segoe UI" panose="020B0502040204020203"/>
            </a:endParaRPr>
          </a:p>
        </p:txBody>
      </p:sp>
      <p:sp>
        <p:nvSpPr>
          <p:cNvPr id="90" name="TextBox 90"/>
          <p:cNvSpPr txBox="1"/>
          <p:nvPr/>
        </p:nvSpPr>
        <p:spPr>
          <a:xfrm>
            <a:off x="5315902" y="482774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规则写入代码断言</a:t>
            </a:r>
            <a:endParaRPr lang="zh-CN" sz="1425" dirty="0">
              <a:solidFill>
                <a:srgbClr val="546E7A"/>
              </a:solidFill>
              <a:latin typeface="Segoe UI" panose="020B0502040204020203"/>
              <a:ea typeface="微软雅黑"/>
              <a:cs typeface="Segoe UI" panose="020B0502040204020203"/>
            </a:endParaRPr>
          </a:p>
        </p:txBody>
      </p:sp>
      <p:sp>
        <p:nvSpPr>
          <p:cNvPr id="91" name="TextBox 91"/>
          <p:cNvSpPr txBox="1"/>
          <p:nvPr/>
        </p:nvSpPr>
        <p:spPr>
          <a:xfrm>
            <a:off x="9697402" y="4827746"/>
            <a:ext cx="1717905"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AI忘了代码也不会忘</a:t>
            </a:r>
            <a:endParaRPr lang="zh-CN" sz="1425" dirty="0">
              <a:solidFill>
                <a:srgbClr val="FF6F00"/>
              </a:solidFill>
              <a:latin typeface="Segoe UI" panose="020B0502040204020203"/>
              <a:ea typeface="微软雅黑"/>
              <a:cs typeface="Segoe UI" panose="020B0502040204020203"/>
            </a:endParaRPr>
          </a:p>
        </p:txBody>
      </p:sp>
      <p:sp>
        <p:nvSpPr>
          <p:cNvPr id="92" name="Rectangle 92"/>
          <p:cNvSpPr/>
          <p:nvPr/>
        </p:nvSpPr>
        <p:spPr>
          <a:xfrm>
            <a:off x="571500" y="5048250"/>
            <a:ext cx="11049000" cy="209550"/>
          </a:xfrm>
          <a:prstGeom prst="rect">
            <a:avLst/>
          </a:prstGeom>
          <a:solidFill>
            <a:srgbClr val="FFFFFF"/>
          </a:solidFill>
          <a:ln>
            <a:noFill/>
          </a:ln>
        </p:spPr>
      </p:sp>
      <p:sp>
        <p:nvSpPr>
          <p:cNvPr id="93" name="TextBox 93"/>
          <p:cNvSpPr txBox="1"/>
          <p:nvPr/>
        </p:nvSpPr>
        <p:spPr>
          <a:xfrm>
            <a:off x="2696528" y="50372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19. 分层实现</a:t>
            </a:r>
            <a:endParaRPr lang="zh-CN" sz="1425" dirty="0">
              <a:solidFill>
                <a:srgbClr val="263238"/>
              </a:solidFill>
              <a:latin typeface="Segoe UI" panose="020B0502040204020203"/>
              <a:ea typeface="微软雅黑"/>
              <a:cs typeface="Segoe UI" panose="020B0502040204020203"/>
            </a:endParaRPr>
          </a:p>
        </p:txBody>
      </p:sp>
      <p:sp>
        <p:nvSpPr>
          <p:cNvPr id="94" name="TextBox 94"/>
          <p:cNvSpPr txBox="1"/>
          <p:nvPr/>
        </p:nvSpPr>
        <p:spPr>
          <a:xfrm>
            <a:off x="5315902" y="503729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按层组织代码</a:t>
            </a:r>
            <a:endParaRPr lang="zh-CN" sz="1425" dirty="0">
              <a:solidFill>
                <a:srgbClr val="546E7A"/>
              </a:solidFill>
              <a:latin typeface="Segoe UI" panose="020B0502040204020203"/>
              <a:ea typeface="微软雅黑"/>
              <a:cs typeface="Segoe UI" panose="020B0502040204020203"/>
            </a:endParaRPr>
          </a:p>
        </p:txBody>
      </p:sp>
      <p:sp>
        <p:nvSpPr>
          <p:cNvPr id="95" name="TextBox 95"/>
          <p:cNvSpPr txBox="1"/>
          <p:nvPr/>
        </p:nvSpPr>
        <p:spPr>
          <a:xfrm>
            <a:off x="9697402" y="503729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想改哪层改哪层</a:t>
            </a:r>
            <a:endParaRPr lang="zh-CN" sz="1425" dirty="0">
              <a:solidFill>
                <a:srgbClr val="FF6F00"/>
              </a:solidFill>
              <a:latin typeface="Segoe UI" panose="020B0502040204020203"/>
              <a:ea typeface="微软雅黑"/>
              <a:cs typeface="Segoe UI" panose="020B0502040204020203"/>
            </a:endParaRPr>
          </a:p>
        </p:txBody>
      </p:sp>
      <p:sp>
        <p:nvSpPr>
          <p:cNvPr id="96" name="Rectangle 96"/>
          <p:cNvSpPr/>
          <p:nvPr/>
        </p:nvSpPr>
        <p:spPr>
          <a:xfrm>
            <a:off x="571500" y="5257800"/>
            <a:ext cx="11049000" cy="209550"/>
          </a:xfrm>
          <a:prstGeom prst="rect">
            <a:avLst/>
          </a:prstGeom>
          <a:solidFill>
            <a:srgbClr val="6A1B9A">
              <a:alpha val="5000"/>
            </a:srgbClr>
          </a:solidFill>
          <a:ln>
            <a:noFill/>
          </a:ln>
        </p:spPr>
      </p:sp>
      <p:sp>
        <p:nvSpPr>
          <p:cNvPr id="97" name="TextBox 97"/>
          <p:cNvSpPr txBox="1"/>
          <p:nvPr/>
        </p:nvSpPr>
        <p:spPr>
          <a:xfrm>
            <a:off x="2696528" y="52468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20. 版本隔离</a:t>
            </a:r>
            <a:endParaRPr lang="zh-CN" sz="1425" dirty="0">
              <a:solidFill>
                <a:srgbClr val="263238"/>
              </a:solidFill>
              <a:latin typeface="Segoe UI" panose="020B0502040204020203"/>
              <a:ea typeface="微软雅黑"/>
              <a:cs typeface="Segoe UI" panose="020B0502040204020203"/>
            </a:endParaRPr>
          </a:p>
        </p:txBody>
      </p:sp>
      <p:sp>
        <p:nvSpPr>
          <p:cNvPr id="98" name="TextBox 98"/>
          <p:cNvSpPr txBox="1"/>
          <p:nvPr/>
        </p:nvSpPr>
        <p:spPr>
          <a:xfrm>
            <a:off x="5315902" y="5246846"/>
            <a:ext cx="174640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永不覆盖，保留历史</a:t>
            </a:r>
            <a:endParaRPr lang="zh-CN" sz="1425" dirty="0">
              <a:solidFill>
                <a:srgbClr val="546E7A"/>
              </a:solidFill>
              <a:latin typeface="Segoe UI" panose="020B0502040204020203"/>
              <a:ea typeface="微软雅黑"/>
              <a:cs typeface="Segoe UI" panose="020B0502040204020203"/>
            </a:endParaRPr>
          </a:p>
        </p:txBody>
      </p:sp>
      <p:sp>
        <p:nvSpPr>
          <p:cNvPr id="99" name="TextBox 99"/>
          <p:cNvSpPr txBox="1"/>
          <p:nvPr/>
        </p:nvSpPr>
        <p:spPr>
          <a:xfrm>
            <a:off x="9697402" y="5246846"/>
            <a:ext cx="193643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一键回滚比后悔药管用</a:t>
            </a:r>
            <a:endParaRPr lang="zh-CN" sz="1425" dirty="0">
              <a:solidFill>
                <a:srgbClr val="FF6F00"/>
              </a:solidFill>
              <a:latin typeface="Segoe UI" panose="020B0502040204020203"/>
              <a:ea typeface="微软雅黑"/>
              <a:cs typeface="Segoe UI" panose="020B0502040204020203"/>
            </a:endParaRPr>
          </a:p>
        </p:txBody>
      </p:sp>
      <p:grpSp>
        <p:nvGrpSpPr>
          <p:cNvPr id="102" name="Group 102"/>
          <p:cNvGrpSpPr/>
          <p:nvPr/>
        </p:nvGrpSpPr>
        <p:grpSpPr>
          <a:xfrm>
            <a:off x="571500" y="5715000"/>
            <a:ext cx="11049000" cy="428625"/>
            <a:chOff x="571500" y="5715000"/>
            <a:chExt cx="11049000" cy="428625"/>
          </a:xfrm>
        </p:grpSpPr>
        <p:sp>
          <p:nvSpPr>
            <p:cNvPr id="100" name="Rectangle 100"/>
            <p:cNvSpPr/>
            <p:nvPr/>
          </p:nvSpPr>
          <p:spPr>
            <a:xfrm>
              <a:off x="571500" y="5715000"/>
              <a:ext cx="11049000" cy="428625"/>
            </a:xfrm>
            <a:prstGeom prst="roundRect">
              <a:avLst>
                <a:gd name="adj" fmla="val 17778"/>
              </a:avLst>
            </a:prstGeom>
            <a:solidFill>
              <a:srgbClr val="1565C0">
                <a:alpha val="6000"/>
              </a:srgbClr>
            </a:solidFill>
            <a:ln>
              <a:noFill/>
            </a:ln>
          </p:spPr>
        </p:sp>
        <p:sp>
          <p:nvSpPr>
            <p:cNvPr id="101" name="TextBox 101"/>
            <p:cNvSpPr txBox="1"/>
            <p:nvPr/>
          </p:nvSpPr>
          <p:spPr>
            <a:xfrm>
              <a:off x="2012582" y="5846921"/>
              <a:ext cx="8166836" cy="289560"/>
            </a:xfrm>
            <a:prstGeom prst="rect">
              <a:avLst/>
            </a:prstGeom>
            <a:noFill/>
            <a:ln>
              <a:noFill/>
            </a:ln>
          </p:spPr>
          <p:txBody>
            <a:bodyPr wrap="none" lIns="0" tIns="0" rIns="0" bIns="0" anchor="t" anchorCtr="0">
              <a:spAutoFit/>
            </a:bodyPr>
            <a:lstStyle/>
            <a:p>
              <a:pPr algn="ctr"/>
              <a:r>
                <a:rPr lang="zh-CN" sz="1425" b="1" dirty="0">
                  <a:solidFill>
                    <a:srgbClr val="1565C0"/>
                  </a:solidFill>
                  <a:latin typeface="Segoe UI" panose="020B0502040204020203"/>
                  <a:ea typeface="微软雅黑"/>
                  <a:cs typeface="Segoe UI" panose="020B0502040204020203"/>
                </a:rPr>
                <a:t>真正的"懒人"用最省劲儿的方法做对事。想清楚→少返工，圈边界→少出错，分步来→少焦虑。</a:t>
              </a:r>
              <a:endParaRPr lang="zh-CN" sz="1425" b="1" dirty="0">
                <a:solidFill>
                  <a:srgbClr val="1565C0"/>
                </a:solidFill>
                <a:latin typeface="Segoe UI" panose="020B0502040204020203"/>
                <a:ea typeface="微软雅黑"/>
                <a:cs typeface="Segoe UI" panose="020B0502040204020203"/>
              </a:endParaRPr>
            </a:p>
          </p:txBody>
        </p:sp>
      </p:grpSp>
      <p:sp>
        <p:nvSpPr>
          <p:cNvPr id="103" name="TextBox 103"/>
          <p:cNvSpPr txBox="1"/>
          <p:nvPr/>
        </p:nvSpPr>
        <p:spPr>
          <a:xfrm>
            <a:off x="11156323" y="6513671"/>
            <a:ext cx="672775" cy="289560"/>
          </a:xfrm>
          <a:prstGeom prst="rect">
            <a:avLst/>
          </a:prstGeom>
          <a:noFill/>
          <a:ln>
            <a:noFill/>
          </a:ln>
        </p:spPr>
        <p:txBody>
          <a:bodyPr wrap="none" lIns="0" tIns="0" rIns="0" bIns="0" anchor="t" anchorCtr="0">
            <a:spAutoFit/>
          </a:bodyPr>
          <a:lstStyle/>
          <a:p>
            <a:pPr algn="r"/>
            <a:r>
              <a:rPr lang="zh-CN" sz="1425" dirty="0">
                <a:solidFill>
                  <a:srgbClr val="90A4AE"/>
                </a:solidFill>
                <a:latin typeface="Segoe UI" panose="020B0502040204020203"/>
                <a:ea typeface="微软雅黑"/>
                <a:cs typeface="Segoe UI" panose="020B0502040204020203"/>
              </a:rPr>
              <a:t>08 / 09</a:t>
            </a:r>
            <a:endParaRPr lang="zh-CN" sz="1425" dirty="0">
              <a:solidFill>
                <a:srgbClr val="90A4AE"/>
              </a:solidFill>
              <a:latin typeface="Segoe UI" panose="020B0502040204020203"/>
              <a:ea typeface="微软雅黑"/>
              <a:cs typeface="Segoe UI" panose="020B0502040204020203"/>
            </a:endParaRPr>
          </a:p>
        </p:txBody>
      </p:sp>
      <p:pic>
        <p:nvPicPr>
          <p:cNvPr id="104" name="图片 103"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4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3421380"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总结：懒人智慧的核心</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9" name="Group 19"/>
          <p:cNvGrpSpPr/>
          <p:nvPr/>
        </p:nvGrpSpPr>
        <p:grpSpPr>
          <a:xfrm>
            <a:off x="571500" y="781050"/>
            <a:ext cx="3524250" cy="1326356"/>
            <a:chOff x="571500" y="781050"/>
            <a:chExt cx="3524250" cy="1326356"/>
          </a:xfrm>
        </p:grpSpPr>
        <p:sp>
          <p:nvSpPr>
            <p:cNvPr id="10" name="Rectangle 10"/>
            <p:cNvSpPr/>
            <p:nvPr/>
          </p:nvSpPr>
          <p:spPr>
            <a:xfrm>
              <a:off x="571500" y="781050"/>
              <a:ext cx="3524250" cy="1238250"/>
            </a:xfrm>
            <a:prstGeom prst="roundRect">
              <a:avLst>
                <a:gd name="adj" fmla="val 7692"/>
              </a:avLst>
            </a:prstGeom>
            <a:solidFill>
              <a:srgbClr val="FFFFFF"/>
            </a:solidFill>
            <a:ln>
              <a:noFill/>
            </a:ln>
          </p:spPr>
        </p:sp>
        <p:sp>
          <p:nvSpPr>
            <p:cNvPr id="11" name="Rectangle 11"/>
            <p:cNvSpPr/>
            <p:nvPr/>
          </p:nvSpPr>
          <p:spPr>
            <a:xfrm>
              <a:off x="571500" y="781050"/>
              <a:ext cx="3524250" cy="38100"/>
            </a:xfrm>
            <a:prstGeom prst="roundRect">
              <a:avLst>
                <a:gd name="adj" fmla="val 50000"/>
              </a:avLst>
            </a:prstGeom>
            <a:solidFill>
              <a:srgbClr val="1565C0"/>
            </a:solidFill>
            <a:ln>
              <a:noFill/>
            </a:ln>
          </p:spPr>
        </p:sp>
        <p:grpSp>
          <p:nvGrpSpPr>
            <p:cNvPr id="14" name="Group 14"/>
            <p:cNvGrpSpPr/>
            <p:nvPr/>
          </p:nvGrpSpPr>
          <p:grpSpPr>
            <a:xfrm>
              <a:off x="846527" y="1039990"/>
              <a:ext cx="250039" cy="216736"/>
              <a:chOff x="846527" y="1039990"/>
              <a:chExt cx="250039" cy="216736"/>
            </a:xfrm>
          </p:grpSpPr>
          <p:sp>
            <p:nvSpPr>
              <p:cNvPr id="12" name="Freeform 12"/>
              <p:cNvSpPr/>
              <p:nvPr/>
            </p:nvSpPr>
            <p:spPr>
              <a:xfrm>
                <a:off x="854824" y="1052512"/>
                <a:ext cx="233414" cy="191691"/>
              </a:xfrm>
              <a:custGeom>
                <a:avLst/>
                <a:gdLst/>
                <a:ahLst/>
                <a:cxnLst/>
                <a:rect l="l" t="t" r="r" b="b"/>
                <a:pathLst>
                  <a:path w="233414" h="191691">
                    <a:moveTo>
                      <a:pt x="233407" y="95845"/>
                    </a:moveTo>
                    <a:cubicBezTo>
                      <a:pt x="233414" y="117043"/>
                      <a:pt x="220055" y="135942"/>
                      <a:pt x="200070" y="143007"/>
                    </a:cubicBezTo>
                    <a:lnTo>
                      <a:pt x="200070" y="143007"/>
                    </a:lnTo>
                    <a:lnTo>
                      <a:pt x="200070" y="150019"/>
                    </a:lnTo>
                    <a:cubicBezTo>
                      <a:pt x="200070" y="173033"/>
                      <a:pt x="181413" y="191691"/>
                      <a:pt x="158398" y="191691"/>
                    </a:cubicBezTo>
                    <a:cubicBezTo>
                      <a:pt x="135383" y="191691"/>
                      <a:pt x="116726" y="173033"/>
                      <a:pt x="116726" y="150019"/>
                    </a:cubicBezTo>
                    <a:cubicBezTo>
                      <a:pt x="116726" y="173033"/>
                      <a:pt x="98069" y="191691"/>
                      <a:pt x="75054" y="191691"/>
                    </a:cubicBezTo>
                    <a:cubicBezTo>
                      <a:pt x="52039" y="191691"/>
                      <a:pt x="33382" y="173033"/>
                      <a:pt x="33382" y="150019"/>
                    </a:cubicBezTo>
                    <a:lnTo>
                      <a:pt x="33382" y="143007"/>
                    </a:lnTo>
                    <a:lnTo>
                      <a:pt x="33382" y="143007"/>
                    </a:lnTo>
                    <a:cubicBezTo>
                      <a:pt x="13379" y="135957"/>
                      <a:pt x="0" y="117055"/>
                      <a:pt x="0" y="95845"/>
                    </a:cubicBezTo>
                    <a:cubicBezTo>
                      <a:pt x="0" y="74636"/>
                      <a:pt x="13379" y="55734"/>
                      <a:pt x="33382" y="48683"/>
                    </a:cubicBezTo>
                    <a:lnTo>
                      <a:pt x="33382" y="41672"/>
                    </a:lnTo>
                    <a:cubicBezTo>
                      <a:pt x="33382" y="18657"/>
                      <a:pt x="52039" y="0"/>
                      <a:pt x="75054" y="0"/>
                    </a:cubicBezTo>
                    <a:cubicBezTo>
                      <a:pt x="98069" y="0"/>
                      <a:pt x="116726" y="18657"/>
                      <a:pt x="116726" y="41672"/>
                    </a:cubicBezTo>
                    <a:cubicBezTo>
                      <a:pt x="116726" y="18657"/>
                      <a:pt x="135383" y="0"/>
                      <a:pt x="158398" y="0"/>
                    </a:cubicBezTo>
                    <a:cubicBezTo>
                      <a:pt x="181413" y="0"/>
                      <a:pt x="200070" y="18657"/>
                      <a:pt x="200070" y="41672"/>
                    </a:cubicBezTo>
                    <a:lnTo>
                      <a:pt x="200070" y="48683"/>
                    </a:lnTo>
                    <a:cubicBezTo>
                      <a:pt x="220055" y="55749"/>
                      <a:pt x="233414" y="74648"/>
                      <a:pt x="233407" y="95845"/>
                    </a:cubicBezTo>
                    <a:close/>
                  </a:path>
                </a:pathLst>
              </a:custGeom>
              <a:solidFill>
                <a:srgbClr val="1565C0">
                  <a:alpha val="20000"/>
                </a:srgbClr>
              </a:solidFill>
              <a:ln>
                <a:noFill/>
              </a:ln>
            </p:spPr>
          </p:sp>
          <p:sp>
            <p:nvSpPr>
              <p:cNvPr id="13" name="Freeform 13"/>
              <p:cNvSpPr/>
              <p:nvPr/>
            </p:nvSpPr>
            <p:spPr>
              <a:xfrm>
                <a:off x="846527" y="1039990"/>
                <a:ext cx="250039" cy="216736"/>
              </a:xfrm>
              <a:custGeom>
                <a:avLst/>
                <a:gdLst/>
                <a:ahLst/>
                <a:cxnLst/>
                <a:rect l="l" t="t" r="r" b="b"/>
                <a:pathLst>
                  <a:path w="250039" h="216736">
                    <a:moveTo>
                      <a:pt x="250039" y="108368"/>
                    </a:moveTo>
                    <a:cubicBezTo>
                      <a:pt x="250017" y="85837"/>
                      <a:pt x="237047" y="65324"/>
                      <a:pt x="216702" y="55643"/>
                    </a:cubicBezTo>
                    <a:lnTo>
                      <a:pt x="216702" y="54195"/>
                    </a:lnTo>
                    <a:cubicBezTo>
                      <a:pt x="216682" y="32145"/>
                      <a:pt x="202223" y="12711"/>
                      <a:pt x="181109" y="6356"/>
                    </a:cubicBezTo>
                    <a:cubicBezTo>
                      <a:pt x="159996" y="0"/>
                      <a:pt x="137212" y="8223"/>
                      <a:pt x="125023" y="26597"/>
                    </a:cubicBezTo>
                    <a:cubicBezTo>
                      <a:pt x="112835" y="8223"/>
                      <a:pt x="90051" y="0"/>
                      <a:pt x="68937" y="6356"/>
                    </a:cubicBezTo>
                    <a:cubicBezTo>
                      <a:pt x="47824" y="12711"/>
                      <a:pt x="33365" y="32145"/>
                      <a:pt x="33345" y="54195"/>
                    </a:cubicBezTo>
                    <a:lnTo>
                      <a:pt x="33345" y="55643"/>
                    </a:lnTo>
                    <a:cubicBezTo>
                      <a:pt x="12981" y="65299"/>
                      <a:pt x="0" y="85820"/>
                      <a:pt x="0" y="108358"/>
                    </a:cubicBezTo>
                    <a:cubicBezTo>
                      <a:pt x="0" y="130895"/>
                      <a:pt x="12981" y="151417"/>
                      <a:pt x="33345" y="161073"/>
                    </a:cubicBezTo>
                    <a:lnTo>
                      <a:pt x="33345" y="162542"/>
                    </a:lnTo>
                    <a:cubicBezTo>
                      <a:pt x="33365" y="184591"/>
                      <a:pt x="47824" y="204025"/>
                      <a:pt x="68937" y="210381"/>
                    </a:cubicBezTo>
                    <a:cubicBezTo>
                      <a:pt x="90051" y="216736"/>
                      <a:pt x="112835" y="208513"/>
                      <a:pt x="125023" y="190139"/>
                    </a:cubicBezTo>
                    <a:cubicBezTo>
                      <a:pt x="137212" y="208513"/>
                      <a:pt x="159996" y="216736"/>
                      <a:pt x="181109" y="210381"/>
                    </a:cubicBezTo>
                    <a:cubicBezTo>
                      <a:pt x="202223" y="204025"/>
                      <a:pt x="216682" y="184591"/>
                      <a:pt x="216702" y="162542"/>
                    </a:cubicBezTo>
                    <a:lnTo>
                      <a:pt x="216702" y="161073"/>
                    </a:lnTo>
                    <a:cubicBezTo>
                      <a:pt x="237043" y="151398"/>
                      <a:pt x="250014" y="130893"/>
                      <a:pt x="250039" y="108368"/>
                    </a:cubicBezTo>
                    <a:close/>
                    <a:moveTo>
                      <a:pt x="83352" y="195879"/>
                    </a:moveTo>
                    <a:cubicBezTo>
                      <a:pt x="66329" y="195877"/>
                      <a:pt x="52042" y="183050"/>
                      <a:pt x="50212" y="166125"/>
                    </a:cubicBezTo>
                    <a:cubicBezTo>
                      <a:pt x="52907" y="166510"/>
                      <a:pt x="55626" y="166705"/>
                      <a:pt x="58348" y="166709"/>
                    </a:cubicBezTo>
                    <a:lnTo>
                      <a:pt x="66683" y="166709"/>
                    </a:lnTo>
                    <a:cubicBezTo>
                      <a:pt x="71286" y="166709"/>
                      <a:pt x="75017" y="162977"/>
                      <a:pt x="75017" y="158374"/>
                    </a:cubicBezTo>
                    <a:cubicBezTo>
                      <a:pt x="75017" y="153771"/>
                      <a:pt x="71286" y="150040"/>
                      <a:pt x="66683" y="150040"/>
                    </a:cubicBezTo>
                    <a:lnTo>
                      <a:pt x="58348" y="150040"/>
                    </a:lnTo>
                    <a:cubicBezTo>
                      <a:pt x="38033" y="150064"/>
                      <a:pt x="20661" y="135435"/>
                      <a:pt x="17227" y="115412"/>
                    </a:cubicBezTo>
                    <a:cubicBezTo>
                      <a:pt x="13794" y="95389"/>
                      <a:pt x="25299" y="75807"/>
                      <a:pt x="44461" y="69061"/>
                    </a:cubicBezTo>
                    <a:cubicBezTo>
                      <a:pt x="47789" y="67883"/>
                      <a:pt x="50013" y="64736"/>
                      <a:pt x="50014" y="61206"/>
                    </a:cubicBezTo>
                    <a:lnTo>
                      <a:pt x="50014" y="54195"/>
                    </a:lnTo>
                    <a:cubicBezTo>
                      <a:pt x="50014" y="35783"/>
                      <a:pt x="64940" y="20857"/>
                      <a:pt x="83352" y="20857"/>
                    </a:cubicBezTo>
                    <a:cubicBezTo>
                      <a:pt x="101763" y="20857"/>
                      <a:pt x="116689" y="35783"/>
                      <a:pt x="116689" y="54195"/>
                    </a:cubicBezTo>
                    <a:lnTo>
                      <a:pt x="116689" y="125308"/>
                    </a:lnTo>
                    <a:cubicBezTo>
                      <a:pt x="107537" y="117076"/>
                      <a:pt x="95661" y="112526"/>
                      <a:pt x="83352" y="112535"/>
                    </a:cubicBezTo>
                    <a:cubicBezTo>
                      <a:pt x="78749" y="112535"/>
                      <a:pt x="75017" y="116267"/>
                      <a:pt x="75017" y="120870"/>
                    </a:cubicBezTo>
                    <a:cubicBezTo>
                      <a:pt x="75017" y="125473"/>
                      <a:pt x="78749" y="129204"/>
                      <a:pt x="83352" y="129204"/>
                    </a:cubicBezTo>
                    <a:cubicBezTo>
                      <a:pt x="101763" y="129204"/>
                      <a:pt x="116689" y="144130"/>
                      <a:pt x="116689" y="162542"/>
                    </a:cubicBezTo>
                    <a:cubicBezTo>
                      <a:pt x="116689" y="180953"/>
                      <a:pt x="101763" y="195879"/>
                      <a:pt x="83352" y="195879"/>
                    </a:cubicBezTo>
                    <a:close/>
                    <a:moveTo>
                      <a:pt x="191698" y="150040"/>
                    </a:moveTo>
                    <a:lnTo>
                      <a:pt x="183364" y="150040"/>
                    </a:lnTo>
                    <a:cubicBezTo>
                      <a:pt x="178761" y="150040"/>
                      <a:pt x="175030" y="153771"/>
                      <a:pt x="175030" y="158374"/>
                    </a:cubicBezTo>
                    <a:cubicBezTo>
                      <a:pt x="175030" y="162977"/>
                      <a:pt x="178761" y="166709"/>
                      <a:pt x="183364" y="166709"/>
                    </a:cubicBezTo>
                    <a:lnTo>
                      <a:pt x="191698" y="166709"/>
                    </a:lnTo>
                    <a:cubicBezTo>
                      <a:pt x="194421" y="166705"/>
                      <a:pt x="197140" y="166510"/>
                      <a:pt x="199835" y="166125"/>
                    </a:cubicBezTo>
                    <a:cubicBezTo>
                      <a:pt x="197906" y="183968"/>
                      <a:pt x="182198" y="197081"/>
                      <a:pt x="164297" y="195793"/>
                    </a:cubicBezTo>
                    <a:cubicBezTo>
                      <a:pt x="146397" y="194505"/>
                      <a:pt x="132729" y="179277"/>
                      <a:pt x="133375" y="161342"/>
                    </a:cubicBezTo>
                    <a:cubicBezTo>
                      <a:pt x="134021" y="143407"/>
                      <a:pt x="148749" y="129201"/>
                      <a:pt x="166695" y="129204"/>
                    </a:cubicBezTo>
                    <a:cubicBezTo>
                      <a:pt x="171298" y="129204"/>
                      <a:pt x="175030" y="125473"/>
                      <a:pt x="175030" y="120870"/>
                    </a:cubicBezTo>
                    <a:cubicBezTo>
                      <a:pt x="175030" y="116267"/>
                      <a:pt x="171298" y="112535"/>
                      <a:pt x="166695" y="112535"/>
                    </a:cubicBezTo>
                    <a:cubicBezTo>
                      <a:pt x="154386" y="112526"/>
                      <a:pt x="142510" y="117076"/>
                      <a:pt x="133358" y="125308"/>
                    </a:cubicBezTo>
                    <a:lnTo>
                      <a:pt x="133358" y="54195"/>
                    </a:lnTo>
                    <a:cubicBezTo>
                      <a:pt x="133358" y="35783"/>
                      <a:pt x="148284" y="20857"/>
                      <a:pt x="166695" y="20857"/>
                    </a:cubicBezTo>
                    <a:cubicBezTo>
                      <a:pt x="185107" y="20857"/>
                      <a:pt x="200033" y="35783"/>
                      <a:pt x="200033" y="54195"/>
                    </a:cubicBezTo>
                    <a:lnTo>
                      <a:pt x="200033" y="61206"/>
                    </a:lnTo>
                    <a:cubicBezTo>
                      <a:pt x="200033" y="64736"/>
                      <a:pt x="202258" y="67883"/>
                      <a:pt x="205586" y="69061"/>
                    </a:cubicBezTo>
                    <a:cubicBezTo>
                      <a:pt x="224748" y="75807"/>
                      <a:pt x="236253" y="95389"/>
                      <a:pt x="232819" y="115412"/>
                    </a:cubicBezTo>
                    <a:cubicBezTo>
                      <a:pt x="229386" y="135435"/>
                      <a:pt x="212014" y="150064"/>
                      <a:pt x="191698" y="150040"/>
                    </a:cubicBezTo>
                    <a:close/>
                    <a:moveTo>
                      <a:pt x="208367" y="95867"/>
                    </a:moveTo>
                    <a:cubicBezTo>
                      <a:pt x="208367" y="100469"/>
                      <a:pt x="204636" y="104201"/>
                      <a:pt x="200033" y="104201"/>
                    </a:cubicBezTo>
                    <a:lnTo>
                      <a:pt x="195866" y="104201"/>
                    </a:lnTo>
                    <a:cubicBezTo>
                      <a:pt x="175152" y="104201"/>
                      <a:pt x="158361" y="87409"/>
                      <a:pt x="158361" y="66696"/>
                    </a:cubicBezTo>
                    <a:lnTo>
                      <a:pt x="158361" y="62529"/>
                    </a:lnTo>
                    <a:cubicBezTo>
                      <a:pt x="158361" y="57926"/>
                      <a:pt x="162092" y="54195"/>
                      <a:pt x="166695" y="54195"/>
                    </a:cubicBezTo>
                    <a:cubicBezTo>
                      <a:pt x="171298" y="54195"/>
                      <a:pt x="175030" y="57926"/>
                      <a:pt x="175030" y="62529"/>
                    </a:cubicBezTo>
                    <a:lnTo>
                      <a:pt x="175030" y="66696"/>
                    </a:lnTo>
                    <a:cubicBezTo>
                      <a:pt x="175030" y="78204"/>
                      <a:pt x="184358" y="87532"/>
                      <a:pt x="195866" y="87532"/>
                    </a:cubicBezTo>
                    <a:lnTo>
                      <a:pt x="200033" y="87532"/>
                    </a:lnTo>
                    <a:cubicBezTo>
                      <a:pt x="204636" y="87532"/>
                      <a:pt x="208367" y="91264"/>
                      <a:pt x="208367" y="95867"/>
                    </a:cubicBezTo>
                    <a:close/>
                    <a:moveTo>
                      <a:pt x="54181" y="104201"/>
                    </a:moveTo>
                    <a:lnTo>
                      <a:pt x="50014" y="104201"/>
                    </a:lnTo>
                    <a:cubicBezTo>
                      <a:pt x="45411" y="104201"/>
                      <a:pt x="41680" y="100469"/>
                      <a:pt x="41680" y="95867"/>
                    </a:cubicBezTo>
                    <a:cubicBezTo>
                      <a:pt x="41680" y="91264"/>
                      <a:pt x="45411" y="87532"/>
                      <a:pt x="50014" y="87532"/>
                    </a:cubicBezTo>
                    <a:lnTo>
                      <a:pt x="54181" y="87532"/>
                    </a:lnTo>
                    <a:cubicBezTo>
                      <a:pt x="65689" y="87532"/>
                      <a:pt x="75017" y="78204"/>
                      <a:pt x="75017" y="66696"/>
                    </a:cubicBezTo>
                    <a:lnTo>
                      <a:pt x="75017" y="62529"/>
                    </a:lnTo>
                    <a:cubicBezTo>
                      <a:pt x="75017" y="57926"/>
                      <a:pt x="78749" y="54195"/>
                      <a:pt x="83352" y="54195"/>
                    </a:cubicBezTo>
                    <a:cubicBezTo>
                      <a:pt x="87955" y="54195"/>
                      <a:pt x="91686" y="57926"/>
                      <a:pt x="91686" y="62529"/>
                    </a:cubicBezTo>
                    <a:lnTo>
                      <a:pt x="91686" y="66696"/>
                    </a:lnTo>
                    <a:cubicBezTo>
                      <a:pt x="91686" y="87409"/>
                      <a:pt x="74895" y="104201"/>
                      <a:pt x="54181" y="104201"/>
                    </a:cubicBezTo>
                    <a:close/>
                  </a:path>
                </a:pathLst>
              </a:custGeom>
              <a:solidFill>
                <a:srgbClr val="1565C0"/>
              </a:solidFill>
              <a:ln>
                <a:noFill/>
              </a:ln>
            </p:spPr>
          </p:sp>
        </p:grpSp>
        <p:sp>
          <p:nvSpPr>
            <p:cNvPr id="15" name="TextBox 15"/>
            <p:cNvSpPr txBox="1"/>
            <p:nvPr/>
          </p:nvSpPr>
          <p:spPr>
            <a:xfrm>
              <a:off x="1216342" y="1013936"/>
              <a:ext cx="1492996"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人机分工清晰</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351121"/>
              <a:ext cx="250650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人：出思路、定方向、做判断</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98771"/>
              <a:ext cx="304807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AI：枚举方案、生成代码、诊断问题</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17846"/>
              <a:ext cx="193643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各司其职，效率最大化</a:t>
              </a:r>
              <a:endParaRPr lang="zh-CN" sz="1425" dirty="0">
                <a:solidFill>
                  <a:srgbClr val="FF6F00"/>
                </a:solidFill>
                <a:latin typeface="Segoe UI" panose="020B0502040204020203"/>
                <a:ea typeface="微软雅黑"/>
                <a:cs typeface="Segoe UI" panose="020B0502040204020203"/>
              </a:endParaRPr>
            </a:p>
          </p:txBody>
        </p:sp>
      </p:grpSp>
      <p:grpSp>
        <p:nvGrpSpPr>
          <p:cNvPr id="29" name="Group 29"/>
          <p:cNvGrpSpPr/>
          <p:nvPr/>
        </p:nvGrpSpPr>
        <p:grpSpPr>
          <a:xfrm>
            <a:off x="4333875" y="781050"/>
            <a:ext cx="3524250" cy="1326356"/>
            <a:chOff x="4333875" y="781050"/>
            <a:chExt cx="3524250" cy="1326356"/>
          </a:xfrm>
        </p:grpSpPr>
        <p:sp>
          <p:nvSpPr>
            <p:cNvPr id="20" name="Rectangle 20"/>
            <p:cNvSpPr/>
            <p:nvPr/>
          </p:nvSpPr>
          <p:spPr>
            <a:xfrm>
              <a:off x="4333875" y="781050"/>
              <a:ext cx="3524250" cy="1238250"/>
            </a:xfrm>
            <a:prstGeom prst="roundRect">
              <a:avLst>
                <a:gd name="adj" fmla="val 7692"/>
              </a:avLst>
            </a:prstGeom>
            <a:solidFill>
              <a:srgbClr val="FFFFFF"/>
            </a:solidFill>
            <a:ln>
              <a:noFill/>
            </a:ln>
          </p:spPr>
        </p:sp>
        <p:sp>
          <p:nvSpPr>
            <p:cNvPr id="21" name="Rectangle 21"/>
            <p:cNvSpPr/>
            <p:nvPr/>
          </p:nvSpPr>
          <p:spPr>
            <a:xfrm>
              <a:off x="4333875" y="781050"/>
              <a:ext cx="3524250" cy="38100"/>
            </a:xfrm>
            <a:prstGeom prst="roundRect">
              <a:avLst>
                <a:gd name="adj" fmla="val 50000"/>
              </a:avLst>
            </a:prstGeom>
            <a:solidFill>
              <a:srgbClr val="00838F"/>
            </a:solidFill>
            <a:ln>
              <a:noFill/>
            </a:ln>
          </p:spPr>
        </p:sp>
        <p:grpSp>
          <p:nvGrpSpPr>
            <p:cNvPr id="24" name="Group 24"/>
            <p:cNvGrpSpPr/>
            <p:nvPr/>
          </p:nvGrpSpPr>
          <p:grpSpPr>
            <a:xfrm>
              <a:off x="4614026" y="1034100"/>
              <a:ext cx="241647" cy="239974"/>
              <a:chOff x="4614026" y="1034100"/>
              <a:chExt cx="241647" cy="239974"/>
            </a:xfrm>
          </p:grpSpPr>
          <p:sp>
            <p:nvSpPr>
              <p:cNvPr id="22" name="Freeform 22"/>
              <p:cNvSpPr/>
              <p:nvPr/>
            </p:nvSpPr>
            <p:spPr>
              <a:xfrm>
                <a:off x="4683919" y="1102519"/>
                <a:ext cx="100012" cy="100012"/>
              </a:xfrm>
              <a:custGeom>
                <a:avLst/>
                <a:gdLst/>
                <a:ahLst/>
                <a:cxnLst/>
                <a:rect l="l" t="t" r="r" b="b"/>
                <a:pathLst>
                  <a:path w="100012" h="100012">
                    <a:moveTo>
                      <a:pt x="100012" y="50006"/>
                    </a:moveTo>
                    <a:cubicBezTo>
                      <a:pt x="100012" y="77624"/>
                      <a:pt x="77624" y="100012"/>
                      <a:pt x="50006" y="100012"/>
                    </a:cubicBezTo>
                    <a:cubicBezTo>
                      <a:pt x="22389" y="100012"/>
                      <a:pt x="0" y="77624"/>
                      <a:pt x="0" y="50006"/>
                    </a:cubicBezTo>
                    <a:cubicBezTo>
                      <a:pt x="0" y="22389"/>
                      <a:pt x="22389" y="0"/>
                      <a:pt x="50006" y="0"/>
                    </a:cubicBezTo>
                    <a:cubicBezTo>
                      <a:pt x="77624" y="0"/>
                      <a:pt x="100012" y="22389"/>
                      <a:pt x="100012" y="50006"/>
                    </a:cubicBezTo>
                    <a:close/>
                  </a:path>
                </a:pathLst>
              </a:custGeom>
              <a:solidFill>
                <a:srgbClr val="00838F">
                  <a:alpha val="20000"/>
                </a:srgbClr>
              </a:solidFill>
              <a:ln>
                <a:noFill/>
              </a:ln>
            </p:spPr>
          </p:sp>
          <p:sp>
            <p:nvSpPr>
              <p:cNvPr id="23" name="Freeform 23"/>
              <p:cNvSpPr/>
              <p:nvPr/>
            </p:nvSpPr>
            <p:spPr>
              <a:xfrm>
                <a:off x="4614026" y="1034100"/>
                <a:ext cx="241647" cy="239974"/>
              </a:xfrm>
              <a:custGeom>
                <a:avLst/>
                <a:gdLst/>
                <a:ahLst/>
                <a:cxnLst/>
                <a:rect l="l" t="t" r="r" b="b"/>
                <a:pathLst>
                  <a:path w="241647" h="239974">
                    <a:moveTo>
                      <a:pt x="217692" y="71711"/>
                    </a:moveTo>
                    <a:cubicBezTo>
                      <a:pt x="241647" y="121810"/>
                      <a:pt x="223887" y="181910"/>
                      <a:pt x="176549" y="210942"/>
                    </a:cubicBezTo>
                    <a:cubicBezTo>
                      <a:pt x="129211" y="239974"/>
                      <a:pt x="67591" y="228558"/>
                      <a:pt x="33796" y="184494"/>
                    </a:cubicBezTo>
                    <a:cubicBezTo>
                      <a:pt x="0" y="140431"/>
                      <a:pt x="4949" y="77958"/>
                      <a:pt x="45260" y="39765"/>
                    </a:cubicBezTo>
                    <a:cubicBezTo>
                      <a:pt x="85572" y="1572"/>
                      <a:pt x="148221" y="0"/>
                      <a:pt x="190397" y="36123"/>
                    </a:cubicBezTo>
                    <a:lnTo>
                      <a:pt x="214015" y="12495"/>
                    </a:lnTo>
                    <a:cubicBezTo>
                      <a:pt x="217271" y="9239"/>
                      <a:pt x="222551" y="9239"/>
                      <a:pt x="225808" y="12495"/>
                    </a:cubicBezTo>
                    <a:cubicBezTo>
                      <a:pt x="229065" y="15752"/>
                      <a:pt x="229065" y="21032"/>
                      <a:pt x="225808" y="24288"/>
                    </a:cubicBezTo>
                    <a:lnTo>
                      <a:pt x="125796" y="124301"/>
                    </a:lnTo>
                    <a:cubicBezTo>
                      <a:pt x="122539" y="127557"/>
                      <a:pt x="117259" y="127557"/>
                      <a:pt x="114002" y="124301"/>
                    </a:cubicBezTo>
                    <a:cubicBezTo>
                      <a:pt x="110746" y="121044"/>
                      <a:pt x="110746" y="115764"/>
                      <a:pt x="114002" y="112508"/>
                    </a:cubicBezTo>
                    <a:lnTo>
                      <a:pt x="142881" y="83629"/>
                    </a:lnTo>
                    <a:cubicBezTo>
                      <a:pt x="126769" y="72973"/>
                      <a:pt x="105445" y="74787"/>
                      <a:pt x="91364" y="88012"/>
                    </a:cubicBezTo>
                    <a:cubicBezTo>
                      <a:pt x="77284" y="101237"/>
                      <a:pt x="74138" y="122405"/>
                      <a:pt x="83764" y="139153"/>
                    </a:cubicBezTo>
                    <a:cubicBezTo>
                      <a:pt x="93391" y="155901"/>
                      <a:pt x="113265" y="163838"/>
                      <a:pt x="131780" y="158327"/>
                    </a:cubicBezTo>
                    <a:cubicBezTo>
                      <a:pt x="150295" y="152817"/>
                      <a:pt x="162596" y="135305"/>
                      <a:pt x="161498" y="116018"/>
                    </a:cubicBezTo>
                    <a:cubicBezTo>
                      <a:pt x="161239" y="111415"/>
                      <a:pt x="164761" y="107474"/>
                      <a:pt x="169363" y="107215"/>
                    </a:cubicBezTo>
                    <a:cubicBezTo>
                      <a:pt x="173966" y="106956"/>
                      <a:pt x="177908" y="110478"/>
                      <a:pt x="178167" y="115081"/>
                    </a:cubicBezTo>
                    <a:cubicBezTo>
                      <a:pt x="179732" y="142397"/>
                      <a:pt x="162104" y="167131"/>
                      <a:pt x="135772" y="174564"/>
                    </a:cubicBezTo>
                    <a:cubicBezTo>
                      <a:pt x="109441" y="181998"/>
                      <a:pt x="81481" y="170134"/>
                      <a:pt x="68530" y="146033"/>
                    </a:cubicBezTo>
                    <a:cubicBezTo>
                      <a:pt x="55580" y="121931"/>
                      <a:pt x="61118" y="92067"/>
                      <a:pt x="81850" y="74212"/>
                    </a:cubicBezTo>
                    <a:cubicBezTo>
                      <a:pt x="102582" y="56357"/>
                      <a:pt x="132936" y="55309"/>
                      <a:pt x="154851" y="71690"/>
                    </a:cubicBezTo>
                    <a:lnTo>
                      <a:pt x="178552" y="47989"/>
                    </a:lnTo>
                    <a:cubicBezTo>
                      <a:pt x="142584" y="18127"/>
                      <a:pt x="89895" y="20159"/>
                      <a:pt x="56335" y="52703"/>
                    </a:cubicBezTo>
                    <a:cubicBezTo>
                      <a:pt x="22774" y="85247"/>
                      <a:pt x="19122" y="137849"/>
                      <a:pt x="47865" y="174718"/>
                    </a:cubicBezTo>
                    <a:cubicBezTo>
                      <a:pt x="76607" y="211587"/>
                      <a:pt x="128510" y="220879"/>
                      <a:pt x="168258" y="196273"/>
                    </a:cubicBezTo>
                    <a:cubicBezTo>
                      <a:pt x="208007" y="171667"/>
                      <a:pt x="222833" y="121066"/>
                      <a:pt x="202649" y="78899"/>
                    </a:cubicBezTo>
                    <a:cubicBezTo>
                      <a:pt x="200664" y="74745"/>
                      <a:pt x="202422" y="69768"/>
                      <a:pt x="206576" y="67783"/>
                    </a:cubicBezTo>
                    <a:cubicBezTo>
                      <a:pt x="210731" y="65798"/>
                      <a:pt x="215707" y="67557"/>
                      <a:pt x="217692" y="71711"/>
                    </a:cubicBezTo>
                    <a:close/>
                  </a:path>
                </a:pathLst>
              </a:custGeom>
              <a:solidFill>
                <a:srgbClr val="00838F"/>
              </a:solidFill>
              <a:ln>
                <a:noFill/>
              </a:ln>
            </p:spPr>
          </p:sp>
        </p:grpSp>
        <p:sp>
          <p:nvSpPr>
            <p:cNvPr id="25" name="TextBox 25"/>
            <p:cNvSpPr txBox="1"/>
            <p:nvPr/>
          </p:nvSpPr>
          <p:spPr>
            <a:xfrm>
              <a:off x="4978718" y="1013936"/>
              <a:ext cx="1492996"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精确控制边界</a:t>
              </a:r>
              <a:endParaRPr lang="zh-CN" sz="1725" b="1"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4582478" y="1351121"/>
              <a:ext cx="209795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告诉AI改什么、不改什么</a:t>
              </a:r>
              <a:endParaRPr lang="zh-CN" sz="1425"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4582478" y="1598771"/>
              <a:ext cx="269652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任务拆解、圈定范围、最小修改</a:t>
              </a:r>
              <a:endParaRPr lang="zh-CN" sz="1425"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4582478" y="1817846"/>
              <a:ext cx="174640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改得越少，错得越少</a:t>
              </a:r>
              <a:endParaRPr lang="zh-CN" sz="1425" dirty="0">
                <a:solidFill>
                  <a:srgbClr val="FF6F00"/>
                </a:solidFill>
                <a:latin typeface="Segoe UI" panose="020B0502040204020203"/>
                <a:ea typeface="微软雅黑"/>
                <a:cs typeface="Segoe UI" panose="020B0502040204020203"/>
              </a:endParaRPr>
            </a:p>
          </p:txBody>
        </p:sp>
      </p:grpSp>
      <p:grpSp>
        <p:nvGrpSpPr>
          <p:cNvPr id="39" name="Group 39"/>
          <p:cNvGrpSpPr/>
          <p:nvPr/>
        </p:nvGrpSpPr>
        <p:grpSpPr>
          <a:xfrm>
            <a:off x="8096250" y="781050"/>
            <a:ext cx="3524250" cy="1326356"/>
            <a:chOff x="8096250" y="781050"/>
            <a:chExt cx="3524250" cy="1326356"/>
          </a:xfrm>
        </p:grpSpPr>
        <p:sp>
          <p:nvSpPr>
            <p:cNvPr id="30" name="Rectangle 30"/>
            <p:cNvSpPr/>
            <p:nvPr/>
          </p:nvSpPr>
          <p:spPr>
            <a:xfrm>
              <a:off x="8096250" y="781050"/>
              <a:ext cx="3524250" cy="1238250"/>
            </a:xfrm>
            <a:prstGeom prst="roundRect">
              <a:avLst>
                <a:gd name="adj" fmla="val 7692"/>
              </a:avLst>
            </a:prstGeom>
            <a:solidFill>
              <a:srgbClr val="FFFFFF"/>
            </a:solidFill>
            <a:ln>
              <a:noFill/>
            </a:ln>
          </p:spPr>
        </p:sp>
        <p:sp>
          <p:nvSpPr>
            <p:cNvPr id="31" name="Rectangle 31"/>
            <p:cNvSpPr/>
            <p:nvPr/>
          </p:nvSpPr>
          <p:spPr>
            <a:xfrm>
              <a:off x="8096250" y="781050"/>
              <a:ext cx="3524250" cy="38100"/>
            </a:xfrm>
            <a:prstGeom prst="roundRect">
              <a:avLst>
                <a:gd name="adj" fmla="val 50000"/>
              </a:avLst>
            </a:prstGeom>
            <a:solidFill>
              <a:srgbClr val="2E7D32"/>
            </a:solidFill>
            <a:ln>
              <a:noFill/>
            </a:ln>
          </p:spPr>
        </p:sp>
        <p:grpSp>
          <p:nvGrpSpPr>
            <p:cNvPr id="34" name="Group 34"/>
            <p:cNvGrpSpPr/>
            <p:nvPr/>
          </p:nvGrpSpPr>
          <p:grpSpPr>
            <a:xfrm>
              <a:off x="8395577" y="1026332"/>
              <a:ext cx="201447" cy="234540"/>
              <a:chOff x="8395577" y="1026332"/>
              <a:chExt cx="201447" cy="234540"/>
            </a:xfrm>
          </p:grpSpPr>
          <p:sp>
            <p:nvSpPr>
              <p:cNvPr id="32" name="Freeform 32"/>
              <p:cNvSpPr/>
              <p:nvPr/>
            </p:nvSpPr>
            <p:spPr>
              <a:xfrm>
                <a:off x="8404257" y="1134721"/>
                <a:ext cx="184085" cy="109960"/>
              </a:xfrm>
              <a:custGeom>
                <a:avLst/>
                <a:gdLst/>
                <a:ahLst/>
                <a:cxnLst/>
                <a:rect l="l" t="t" r="r" b="b"/>
                <a:pathLst>
                  <a:path w="184085" h="109960">
                    <a:moveTo>
                      <a:pt x="57465" y="84479"/>
                    </a:moveTo>
                    <a:lnTo>
                      <a:pt x="26784" y="107649"/>
                    </a:lnTo>
                    <a:cubicBezTo>
                      <a:pt x="24538" y="109448"/>
                      <a:pt x="21522" y="109960"/>
                      <a:pt x="18807" y="109005"/>
                    </a:cubicBezTo>
                    <a:cubicBezTo>
                      <a:pt x="16093" y="108049"/>
                      <a:pt x="14063" y="105760"/>
                      <a:pt x="13439" y="102950"/>
                    </a:cubicBezTo>
                    <a:lnTo>
                      <a:pt x="562" y="44995"/>
                    </a:lnTo>
                    <a:cubicBezTo>
                      <a:pt x="0" y="42474"/>
                      <a:pt x="639" y="39834"/>
                      <a:pt x="2292" y="37848"/>
                    </a:cubicBezTo>
                    <a:lnTo>
                      <a:pt x="33869" y="0"/>
                    </a:lnTo>
                    <a:cubicBezTo>
                      <a:pt x="32660" y="24316"/>
                      <a:pt x="38598" y="52632"/>
                      <a:pt x="57465" y="84479"/>
                    </a:cubicBezTo>
                    <a:close/>
                    <a:moveTo>
                      <a:pt x="181793" y="37848"/>
                    </a:moveTo>
                    <a:lnTo>
                      <a:pt x="150216" y="0"/>
                    </a:lnTo>
                    <a:cubicBezTo>
                      <a:pt x="151477" y="24316"/>
                      <a:pt x="145487" y="52632"/>
                      <a:pt x="126620" y="84479"/>
                    </a:cubicBezTo>
                    <a:lnTo>
                      <a:pt x="157301" y="107649"/>
                    </a:lnTo>
                    <a:cubicBezTo>
                      <a:pt x="159547" y="109448"/>
                      <a:pt x="162563" y="109960"/>
                      <a:pt x="165278" y="109005"/>
                    </a:cubicBezTo>
                    <a:cubicBezTo>
                      <a:pt x="167993" y="108049"/>
                      <a:pt x="170022" y="105760"/>
                      <a:pt x="170646" y="102950"/>
                    </a:cubicBezTo>
                    <a:lnTo>
                      <a:pt x="183523" y="44995"/>
                    </a:lnTo>
                    <a:cubicBezTo>
                      <a:pt x="184085" y="42474"/>
                      <a:pt x="183446" y="39834"/>
                      <a:pt x="181793" y="37848"/>
                    </a:cubicBezTo>
                    <a:close/>
                  </a:path>
                </a:pathLst>
              </a:custGeom>
              <a:solidFill>
                <a:srgbClr val="2E7D32">
                  <a:alpha val="20000"/>
                </a:srgbClr>
              </a:solidFill>
              <a:ln>
                <a:noFill/>
              </a:ln>
            </p:spPr>
          </p:sp>
          <p:sp>
            <p:nvSpPr>
              <p:cNvPr id="33" name="Freeform 33"/>
              <p:cNvSpPr/>
              <p:nvPr/>
            </p:nvSpPr>
            <p:spPr>
              <a:xfrm>
                <a:off x="8395577" y="1026332"/>
                <a:ext cx="201447" cy="234540"/>
              </a:xfrm>
              <a:custGeom>
                <a:avLst/>
                <a:gdLst/>
                <a:ahLst/>
                <a:cxnLst/>
                <a:rect l="l" t="t" r="r" b="b"/>
                <a:pathLst>
                  <a:path w="201447" h="234540">
                    <a:moveTo>
                      <a:pt x="125727" y="226205"/>
                    </a:moveTo>
                    <a:cubicBezTo>
                      <a:pt x="125727" y="230808"/>
                      <a:pt x="121995" y="234540"/>
                      <a:pt x="117392" y="234540"/>
                    </a:cubicBezTo>
                    <a:lnTo>
                      <a:pt x="84055" y="234540"/>
                    </a:lnTo>
                    <a:cubicBezTo>
                      <a:pt x="79452" y="234540"/>
                      <a:pt x="75720" y="230808"/>
                      <a:pt x="75720" y="226205"/>
                    </a:cubicBezTo>
                    <a:cubicBezTo>
                      <a:pt x="75720" y="221602"/>
                      <a:pt x="79452" y="217871"/>
                      <a:pt x="84055" y="217871"/>
                    </a:cubicBezTo>
                    <a:lnTo>
                      <a:pt x="117392" y="217871"/>
                    </a:lnTo>
                    <a:cubicBezTo>
                      <a:pt x="121995" y="217871"/>
                      <a:pt x="125727" y="221602"/>
                      <a:pt x="125727" y="226205"/>
                    </a:cubicBezTo>
                    <a:close/>
                    <a:moveTo>
                      <a:pt x="100723" y="109524"/>
                    </a:moveTo>
                    <a:cubicBezTo>
                      <a:pt x="107628" y="109524"/>
                      <a:pt x="113225" y="103927"/>
                      <a:pt x="113225" y="97023"/>
                    </a:cubicBezTo>
                    <a:cubicBezTo>
                      <a:pt x="113225" y="90118"/>
                      <a:pt x="107628" y="84521"/>
                      <a:pt x="100723" y="84521"/>
                    </a:cubicBezTo>
                    <a:cubicBezTo>
                      <a:pt x="93819" y="84521"/>
                      <a:pt x="88222" y="90118"/>
                      <a:pt x="88222" y="97023"/>
                    </a:cubicBezTo>
                    <a:cubicBezTo>
                      <a:pt x="88222" y="103927"/>
                      <a:pt x="93819" y="109524"/>
                      <a:pt x="100723" y="109524"/>
                    </a:cubicBezTo>
                    <a:close/>
                    <a:moveTo>
                      <a:pt x="200340" y="155186"/>
                    </a:moveTo>
                    <a:lnTo>
                      <a:pt x="187463" y="213141"/>
                    </a:lnTo>
                    <a:cubicBezTo>
                      <a:pt x="186222" y="218735"/>
                      <a:pt x="182193" y="223300"/>
                      <a:pt x="176797" y="225227"/>
                    </a:cubicBezTo>
                    <a:cubicBezTo>
                      <a:pt x="171400" y="227154"/>
                      <a:pt x="165392" y="226174"/>
                      <a:pt x="160887" y="222632"/>
                    </a:cubicBezTo>
                    <a:lnTo>
                      <a:pt x="132509" y="201202"/>
                    </a:lnTo>
                    <a:lnTo>
                      <a:pt x="68959" y="201202"/>
                    </a:lnTo>
                    <a:lnTo>
                      <a:pt x="40560" y="222632"/>
                    </a:lnTo>
                    <a:cubicBezTo>
                      <a:pt x="36055" y="226174"/>
                      <a:pt x="30047" y="227154"/>
                      <a:pt x="24650" y="225227"/>
                    </a:cubicBezTo>
                    <a:cubicBezTo>
                      <a:pt x="19253" y="223300"/>
                      <a:pt x="15225" y="218735"/>
                      <a:pt x="13983" y="213141"/>
                    </a:cubicBezTo>
                    <a:lnTo>
                      <a:pt x="1107" y="155186"/>
                    </a:lnTo>
                    <a:cubicBezTo>
                      <a:pt x="0" y="150146"/>
                      <a:pt x="1276" y="144878"/>
                      <a:pt x="4566" y="140903"/>
                    </a:cubicBezTo>
                    <a:lnTo>
                      <a:pt x="34319" y="105211"/>
                    </a:lnTo>
                    <a:cubicBezTo>
                      <a:pt x="35318" y="92094"/>
                      <a:pt x="38329" y="79209"/>
                      <a:pt x="43247" y="67008"/>
                    </a:cubicBezTo>
                    <a:cubicBezTo>
                      <a:pt x="56687" y="33317"/>
                      <a:pt x="80752" y="12179"/>
                      <a:pt x="90514" y="4657"/>
                    </a:cubicBezTo>
                    <a:cubicBezTo>
                      <a:pt x="96524" y="0"/>
                      <a:pt x="104923" y="0"/>
                      <a:pt x="110933" y="4657"/>
                    </a:cubicBezTo>
                    <a:cubicBezTo>
                      <a:pt x="120663" y="12179"/>
                      <a:pt x="144760" y="33317"/>
                      <a:pt x="158199" y="67008"/>
                    </a:cubicBezTo>
                    <a:cubicBezTo>
                      <a:pt x="163118" y="79209"/>
                      <a:pt x="166129" y="92094"/>
                      <a:pt x="167128" y="105211"/>
                    </a:cubicBezTo>
                    <a:lnTo>
                      <a:pt x="196881" y="140903"/>
                    </a:lnTo>
                    <a:cubicBezTo>
                      <a:pt x="200171" y="144878"/>
                      <a:pt x="201447" y="150146"/>
                      <a:pt x="200340" y="155186"/>
                    </a:cubicBezTo>
                    <a:close/>
                    <a:moveTo>
                      <a:pt x="70959" y="184533"/>
                    </a:moveTo>
                    <a:lnTo>
                      <a:pt x="130488" y="184533"/>
                    </a:lnTo>
                    <a:cubicBezTo>
                      <a:pt x="152490" y="145424"/>
                      <a:pt x="156605" y="107982"/>
                      <a:pt x="142718" y="73186"/>
                    </a:cubicBezTo>
                    <a:cubicBezTo>
                      <a:pt x="130467" y="42474"/>
                      <a:pt x="107485" y="23055"/>
                      <a:pt x="100723" y="17846"/>
                    </a:cubicBezTo>
                    <a:cubicBezTo>
                      <a:pt x="93941" y="23055"/>
                      <a:pt x="70959" y="42474"/>
                      <a:pt x="58708" y="73186"/>
                    </a:cubicBezTo>
                    <a:cubicBezTo>
                      <a:pt x="44841" y="107982"/>
                      <a:pt x="48956" y="145424"/>
                      <a:pt x="70959" y="184533"/>
                    </a:cubicBezTo>
                    <a:close/>
                    <a:moveTo>
                      <a:pt x="55332" y="190628"/>
                    </a:moveTo>
                    <a:cubicBezTo>
                      <a:pt x="44116" y="170243"/>
                      <a:pt x="37309" y="150210"/>
                      <a:pt x="34913" y="130527"/>
                    </a:cubicBezTo>
                    <a:lnTo>
                      <a:pt x="17380" y="151571"/>
                    </a:lnTo>
                    <a:lnTo>
                      <a:pt x="30256" y="209537"/>
                    </a:lnTo>
                    <a:lnTo>
                      <a:pt x="30444" y="209401"/>
                    </a:lnTo>
                    <a:close/>
                    <a:moveTo>
                      <a:pt x="184067" y="151571"/>
                    </a:moveTo>
                    <a:lnTo>
                      <a:pt x="166534" y="130527"/>
                    </a:lnTo>
                    <a:cubicBezTo>
                      <a:pt x="164158" y="150168"/>
                      <a:pt x="157366" y="170202"/>
                      <a:pt x="146156" y="190628"/>
                    </a:cubicBezTo>
                    <a:lnTo>
                      <a:pt x="171003" y="209380"/>
                    </a:lnTo>
                    <a:lnTo>
                      <a:pt x="171191" y="209516"/>
                    </a:lnTo>
                    <a:close/>
                  </a:path>
                </a:pathLst>
              </a:custGeom>
              <a:solidFill>
                <a:srgbClr val="2E7D32"/>
              </a:solidFill>
              <a:ln>
                <a:noFill/>
              </a:ln>
            </p:spPr>
          </p:sp>
        </p:grpSp>
        <p:sp>
          <p:nvSpPr>
            <p:cNvPr id="35" name="TextBox 35"/>
            <p:cNvSpPr txBox="1"/>
            <p:nvPr/>
          </p:nvSpPr>
          <p:spPr>
            <a:xfrm>
              <a:off x="8741092" y="1013936"/>
              <a:ext cx="1492996"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小步迭代验证</a:t>
              </a:r>
              <a:endParaRPr lang="zh-CN" sz="1725" b="1" dirty="0">
                <a:solidFill>
                  <a:srgbClr val="263238"/>
                </a:solidFill>
                <a:latin typeface="Segoe UI" panose="020B0502040204020203"/>
                <a:ea typeface="微软雅黑"/>
                <a:cs typeface="Segoe UI" panose="020B0502040204020203"/>
              </a:endParaRPr>
            </a:p>
          </p:txBody>
        </p:sp>
        <p:sp>
          <p:nvSpPr>
            <p:cNvPr id="36" name="TextBox 36"/>
            <p:cNvSpPr txBox="1"/>
            <p:nvPr/>
          </p:nvSpPr>
          <p:spPr>
            <a:xfrm>
              <a:off x="8344852" y="1351121"/>
              <a:ext cx="212645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先跑通主干，再完善枝叶</a:t>
              </a:r>
              <a:endParaRPr lang="zh-CN" sz="1425"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8344852" y="1598771"/>
              <a:ext cx="212645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逐步加需求，每步都确认</a:t>
              </a:r>
              <a:endParaRPr lang="zh-CN" sz="1425"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8344852" y="1817846"/>
              <a:ext cx="174640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一次成型，不用返工</a:t>
              </a:r>
              <a:endParaRPr lang="zh-CN" sz="1425" dirty="0">
                <a:solidFill>
                  <a:srgbClr val="FF6F00"/>
                </a:solidFill>
                <a:latin typeface="Segoe UI" panose="020B0502040204020203"/>
                <a:ea typeface="微软雅黑"/>
                <a:cs typeface="Segoe UI" panose="020B0502040204020203"/>
              </a:endParaRPr>
            </a:p>
          </p:txBody>
        </p:sp>
      </p:grpSp>
      <p:grpSp>
        <p:nvGrpSpPr>
          <p:cNvPr id="55" name="Group 55"/>
          <p:cNvGrpSpPr/>
          <p:nvPr/>
        </p:nvGrpSpPr>
        <p:grpSpPr>
          <a:xfrm>
            <a:off x="571500" y="2266950"/>
            <a:ext cx="11049000" cy="1000125"/>
            <a:chOff x="571500" y="2266950"/>
            <a:chExt cx="11049000" cy="1000125"/>
          </a:xfrm>
        </p:grpSpPr>
        <p:sp>
          <p:nvSpPr>
            <p:cNvPr id="40" name="Rectangle 40"/>
            <p:cNvSpPr/>
            <p:nvPr/>
          </p:nvSpPr>
          <p:spPr>
            <a:xfrm>
              <a:off x="571500" y="2266950"/>
              <a:ext cx="11049000" cy="1000125"/>
            </a:xfrm>
            <a:prstGeom prst="roundRect">
              <a:avLst>
                <a:gd name="adj" fmla="val 9524"/>
              </a:avLst>
            </a:prstGeom>
            <a:solidFill>
              <a:srgbClr val="FFFFFF"/>
            </a:solidFill>
            <a:ln>
              <a:noFill/>
            </a:ln>
          </p:spPr>
        </p:sp>
        <p:sp>
          <p:nvSpPr>
            <p:cNvPr id="41" name="TextBox 41"/>
            <p:cNvSpPr txBox="1"/>
            <p:nvPr/>
          </p:nvSpPr>
          <p:spPr>
            <a:xfrm>
              <a:off x="4895717" y="2465546"/>
              <a:ext cx="2400566" cy="289560"/>
            </a:xfrm>
            <a:prstGeom prst="rect">
              <a:avLst/>
            </a:prstGeom>
            <a:noFill/>
            <a:ln>
              <a:noFill/>
            </a:ln>
          </p:spPr>
          <p:txBody>
            <a:bodyPr wrap="none" lIns="0" tIns="0" rIns="0" bIns="0" anchor="t" anchorCtr="0">
              <a:spAutoFit/>
            </a:bodyPr>
            <a:lstStyle/>
            <a:p>
              <a:pPr algn="ctr"/>
              <a:r>
                <a:rPr lang="zh-CN" sz="1425" b="1" dirty="0">
                  <a:solidFill>
                    <a:srgbClr val="263238"/>
                  </a:solidFill>
                  <a:latin typeface="Segoe UI" panose="020B0502040204020203"/>
                  <a:ea typeface="微软雅黑"/>
                  <a:cs typeface="Segoe UI" panose="020B0502040204020203"/>
                </a:rPr>
                <a:t>懒人AI结对编程完整工作流</a:t>
              </a:r>
              <a:endParaRPr lang="zh-CN" sz="1425" b="1" dirty="0">
                <a:solidFill>
                  <a:srgbClr val="263238"/>
                </a:solidFill>
                <a:latin typeface="Segoe UI" panose="020B0502040204020203"/>
                <a:ea typeface="微软雅黑"/>
                <a:cs typeface="Segoe UI" panose="020B0502040204020203"/>
              </a:endParaRPr>
            </a:p>
          </p:txBody>
        </p:sp>
        <p:sp>
          <p:nvSpPr>
            <p:cNvPr id="42" name="Rectangle 42"/>
            <p:cNvSpPr/>
            <p:nvPr/>
          </p:nvSpPr>
          <p:spPr>
            <a:xfrm>
              <a:off x="857250" y="2857500"/>
              <a:ext cx="1714500" cy="342900"/>
            </a:xfrm>
            <a:prstGeom prst="roundRect">
              <a:avLst>
                <a:gd name="adj" fmla="val 22222"/>
              </a:avLst>
            </a:prstGeom>
            <a:solidFill>
              <a:srgbClr val="1565C0">
                <a:alpha val="10000"/>
              </a:srgbClr>
            </a:solidFill>
            <a:ln>
              <a:noFill/>
            </a:ln>
          </p:spPr>
        </p:sp>
        <p:sp>
          <p:nvSpPr>
            <p:cNvPr id="43" name="TextBox 43"/>
            <p:cNvSpPr txBox="1"/>
            <p:nvPr/>
          </p:nvSpPr>
          <p:spPr>
            <a:xfrm>
              <a:off x="758635" y="2922746"/>
              <a:ext cx="1911729" cy="289560"/>
            </a:xfrm>
            <a:prstGeom prst="rect">
              <a:avLst/>
            </a:prstGeom>
            <a:noFill/>
            <a:ln>
              <a:noFill/>
            </a:ln>
          </p:spPr>
          <p:txBody>
            <a:bodyPr wrap="none" lIns="0" tIns="0" rIns="0" bIns="0" anchor="t" anchorCtr="0">
              <a:spAutoFit/>
            </a:bodyPr>
            <a:lstStyle/>
            <a:p>
              <a:pPr algn="ctr"/>
              <a:r>
                <a:rPr lang="zh-CN" sz="1425" b="1" dirty="0">
                  <a:solidFill>
                    <a:srgbClr val="1565C0"/>
                  </a:solidFill>
                  <a:latin typeface="Segoe UI" panose="020B0502040204020203"/>
                  <a:ea typeface="微软雅黑"/>
                  <a:cs typeface="Segoe UI" panose="020B0502040204020203"/>
                </a:rPr>
                <a:t>确认方案 (思路先行)</a:t>
              </a:r>
              <a:endParaRPr lang="zh-CN" sz="1425" b="1" dirty="0">
                <a:solidFill>
                  <a:srgbClr val="1565C0"/>
                </a:solidFill>
                <a:latin typeface="Segoe UI" panose="020B0502040204020203"/>
                <a:ea typeface="微软雅黑"/>
                <a:cs typeface="Segoe UI" panose="020B0502040204020203"/>
              </a:endParaRPr>
            </a:p>
          </p:txBody>
        </p:sp>
        <p:sp>
          <p:nvSpPr>
            <p:cNvPr id="44" name="TextBox 44"/>
            <p:cNvSpPr txBox="1"/>
            <p:nvPr/>
          </p:nvSpPr>
          <p:spPr>
            <a:xfrm>
              <a:off x="27241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45" name="Rectangle 45"/>
            <p:cNvSpPr/>
            <p:nvPr/>
          </p:nvSpPr>
          <p:spPr>
            <a:xfrm>
              <a:off x="2952750" y="2857500"/>
              <a:ext cx="1714500" cy="342900"/>
            </a:xfrm>
            <a:prstGeom prst="roundRect">
              <a:avLst>
                <a:gd name="adj" fmla="val 22222"/>
              </a:avLst>
            </a:prstGeom>
            <a:solidFill>
              <a:srgbClr val="00838F">
                <a:alpha val="10000"/>
              </a:srgbClr>
            </a:solidFill>
            <a:ln>
              <a:noFill/>
            </a:ln>
          </p:spPr>
        </p:sp>
        <p:sp>
          <p:nvSpPr>
            <p:cNvPr id="46" name="TextBox 46"/>
            <p:cNvSpPr txBox="1"/>
            <p:nvPr/>
          </p:nvSpPr>
          <p:spPr>
            <a:xfrm>
              <a:off x="2854135" y="2922746"/>
              <a:ext cx="1911729" cy="289560"/>
            </a:xfrm>
            <a:prstGeom prst="rect">
              <a:avLst/>
            </a:prstGeom>
            <a:noFill/>
            <a:ln>
              <a:noFill/>
            </a:ln>
          </p:spPr>
          <p:txBody>
            <a:bodyPr wrap="none" lIns="0" tIns="0" rIns="0" bIns="0" anchor="t" anchorCtr="0">
              <a:spAutoFit/>
            </a:bodyPr>
            <a:lstStyle/>
            <a:p>
              <a:pPr algn="ctr"/>
              <a:r>
                <a:rPr lang="zh-CN" sz="1425" b="1" dirty="0">
                  <a:solidFill>
                    <a:srgbClr val="00838F"/>
                  </a:solidFill>
                  <a:latin typeface="Segoe UI" panose="020B0502040204020203"/>
                  <a:ea typeface="微软雅黑"/>
                  <a:cs typeface="Segoe UI" panose="020B0502040204020203"/>
                </a:rPr>
                <a:t>风险排查 (逆向评审)</a:t>
              </a:r>
              <a:endParaRPr lang="zh-CN" sz="1425" b="1" dirty="0">
                <a:solidFill>
                  <a:srgbClr val="00838F"/>
                </a:solidFill>
                <a:latin typeface="Segoe UI" panose="020B0502040204020203"/>
                <a:ea typeface="微软雅黑"/>
                <a:cs typeface="Segoe UI" panose="020B0502040204020203"/>
              </a:endParaRPr>
            </a:p>
          </p:txBody>
        </p:sp>
        <p:sp>
          <p:nvSpPr>
            <p:cNvPr id="47" name="TextBox 47"/>
            <p:cNvSpPr txBox="1"/>
            <p:nvPr/>
          </p:nvSpPr>
          <p:spPr>
            <a:xfrm>
              <a:off x="48196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48" name="Rectangle 48"/>
            <p:cNvSpPr/>
            <p:nvPr/>
          </p:nvSpPr>
          <p:spPr>
            <a:xfrm>
              <a:off x="5048250" y="2857500"/>
              <a:ext cx="1714500" cy="342900"/>
            </a:xfrm>
            <a:prstGeom prst="roundRect">
              <a:avLst>
                <a:gd name="adj" fmla="val 22222"/>
              </a:avLst>
            </a:prstGeom>
            <a:solidFill>
              <a:srgbClr val="FF6F00">
                <a:alpha val="10000"/>
              </a:srgbClr>
            </a:solidFill>
            <a:ln>
              <a:noFill/>
            </a:ln>
          </p:spPr>
        </p:sp>
        <p:sp>
          <p:nvSpPr>
            <p:cNvPr id="49" name="TextBox 49"/>
            <p:cNvSpPr txBox="1"/>
            <p:nvPr/>
          </p:nvSpPr>
          <p:spPr>
            <a:xfrm>
              <a:off x="4949635" y="2922746"/>
              <a:ext cx="1911729" cy="289560"/>
            </a:xfrm>
            <a:prstGeom prst="rect">
              <a:avLst/>
            </a:prstGeom>
            <a:noFill/>
            <a:ln>
              <a:noFill/>
            </a:ln>
          </p:spPr>
          <p:txBody>
            <a:bodyPr wrap="none" lIns="0" tIns="0" rIns="0" bIns="0" anchor="t" anchorCtr="0">
              <a:spAutoFit/>
            </a:bodyPr>
            <a:lstStyle/>
            <a:p>
              <a:pPr algn="ctr"/>
              <a:r>
                <a:rPr lang="zh-CN" sz="1425" b="1" dirty="0">
                  <a:solidFill>
                    <a:srgbClr val="FF6F00"/>
                  </a:solidFill>
                  <a:latin typeface="Segoe UI" panose="020B0502040204020203"/>
                  <a:ea typeface="微软雅黑"/>
                  <a:cs typeface="Segoe UI" panose="020B0502040204020203"/>
                </a:rPr>
                <a:t>精准编码 (圈定边界)</a:t>
              </a:r>
              <a:endParaRPr lang="zh-CN" sz="1425" b="1" dirty="0">
                <a:solidFill>
                  <a:srgbClr val="FF6F00"/>
                </a:solidFill>
                <a:latin typeface="Segoe UI" panose="020B0502040204020203"/>
                <a:ea typeface="微软雅黑"/>
                <a:cs typeface="Segoe UI" panose="020B0502040204020203"/>
              </a:endParaRPr>
            </a:p>
          </p:txBody>
        </p:sp>
        <p:sp>
          <p:nvSpPr>
            <p:cNvPr id="50" name="TextBox 50"/>
            <p:cNvSpPr txBox="1"/>
            <p:nvPr/>
          </p:nvSpPr>
          <p:spPr>
            <a:xfrm>
              <a:off x="69151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51" name="Rectangle 51"/>
            <p:cNvSpPr/>
            <p:nvPr/>
          </p:nvSpPr>
          <p:spPr>
            <a:xfrm>
              <a:off x="7143750" y="2857500"/>
              <a:ext cx="1905000" cy="342900"/>
            </a:xfrm>
            <a:prstGeom prst="roundRect">
              <a:avLst>
                <a:gd name="adj" fmla="val 22222"/>
              </a:avLst>
            </a:prstGeom>
            <a:solidFill>
              <a:srgbClr val="2E7D32">
                <a:alpha val="10000"/>
              </a:srgbClr>
            </a:solidFill>
            <a:ln>
              <a:noFill/>
            </a:ln>
          </p:spPr>
        </p:sp>
        <p:sp>
          <p:nvSpPr>
            <p:cNvPr id="52" name="TextBox 52"/>
            <p:cNvSpPr txBox="1"/>
            <p:nvPr/>
          </p:nvSpPr>
          <p:spPr>
            <a:xfrm>
              <a:off x="7240148" y="2922746"/>
              <a:ext cx="1712204" cy="289560"/>
            </a:xfrm>
            <a:prstGeom prst="rect">
              <a:avLst/>
            </a:prstGeom>
            <a:noFill/>
            <a:ln>
              <a:noFill/>
            </a:ln>
          </p:spPr>
          <p:txBody>
            <a:bodyPr wrap="none" lIns="0" tIns="0" rIns="0" bIns="0" anchor="t" anchorCtr="0">
              <a:spAutoFit/>
            </a:bodyPr>
            <a:lstStyle/>
            <a:p>
              <a:pPr algn="ctr"/>
              <a:r>
                <a:rPr lang="zh-CN" sz="1425" b="1" dirty="0">
                  <a:solidFill>
                    <a:srgbClr val="2E7D32"/>
                  </a:solidFill>
                  <a:latin typeface="Segoe UI" panose="020B0502040204020203"/>
                  <a:ea typeface="微软雅黑"/>
                  <a:cs typeface="Segoe UI" panose="020B0502040204020203"/>
                </a:rPr>
                <a:t>测试验证 (红绿蓝)</a:t>
              </a:r>
              <a:endParaRPr lang="zh-CN" sz="1425" b="1" dirty="0">
                <a:solidFill>
                  <a:srgbClr val="2E7D32"/>
                </a:solidFill>
                <a:latin typeface="Segoe UI" panose="020B0502040204020203"/>
                <a:ea typeface="微软雅黑"/>
                <a:cs typeface="Segoe UI" panose="020B0502040204020203"/>
              </a:endParaRPr>
            </a:p>
          </p:txBody>
        </p:sp>
        <p:sp>
          <p:nvSpPr>
            <p:cNvPr id="53" name="TextBox 53"/>
            <p:cNvSpPr txBox="1"/>
            <p:nvPr/>
          </p:nvSpPr>
          <p:spPr>
            <a:xfrm>
              <a:off x="92011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54" name="TextBox 54"/>
            <p:cNvSpPr txBox="1"/>
            <p:nvPr/>
          </p:nvSpPr>
          <p:spPr>
            <a:xfrm>
              <a:off x="9602152" y="2922746"/>
              <a:ext cx="1742133" cy="289560"/>
            </a:xfrm>
            <a:prstGeom prst="rect">
              <a:avLst/>
            </a:prstGeom>
            <a:noFill/>
            <a:ln>
              <a:noFill/>
            </a:ln>
          </p:spPr>
          <p:txBody>
            <a:bodyPr wrap="none" lIns="0" tIns="0" rIns="0" bIns="0" anchor="t" anchorCtr="0">
              <a:spAutoFit/>
            </a:bodyPr>
            <a:lstStyle/>
            <a:p>
              <a:pPr algn="l"/>
              <a:r>
                <a:rPr lang="zh-CN" sz="1425" b="1" dirty="0">
                  <a:solidFill>
                    <a:srgbClr val="1565C0"/>
                  </a:solidFill>
                  <a:latin typeface="Segoe UI" panose="020B0502040204020203"/>
                  <a:ea typeface="微软雅黑"/>
                  <a:cs typeface="Segoe UI" panose="020B0502040204020203"/>
                </a:rPr>
                <a:t>迭代优化+版本隔离</a:t>
              </a:r>
              <a:endParaRPr lang="zh-CN" sz="1425" b="1" dirty="0">
                <a:solidFill>
                  <a:srgbClr val="1565C0"/>
                </a:solidFill>
                <a:latin typeface="Segoe UI" panose="020B0502040204020203"/>
                <a:ea typeface="微软雅黑"/>
                <a:cs typeface="Segoe UI" panose="020B0502040204020203"/>
              </a:endParaRPr>
            </a:p>
          </p:txBody>
        </p:sp>
      </p:grpSp>
      <p:grpSp>
        <p:nvGrpSpPr>
          <p:cNvPr id="62" name="Group 62"/>
          <p:cNvGrpSpPr/>
          <p:nvPr/>
        </p:nvGrpSpPr>
        <p:grpSpPr>
          <a:xfrm>
            <a:off x="431518" y="3505200"/>
            <a:ext cx="11449729" cy="1000125"/>
            <a:chOff x="431518" y="3505200"/>
            <a:chExt cx="11449729" cy="1000125"/>
          </a:xfrm>
        </p:grpSpPr>
        <p:sp>
          <p:nvSpPr>
            <p:cNvPr id="56" name="Rectangle 56"/>
            <p:cNvSpPr/>
            <p:nvPr/>
          </p:nvSpPr>
          <p:spPr>
            <a:xfrm>
              <a:off x="571500" y="3505200"/>
              <a:ext cx="11049000" cy="1000125"/>
            </a:xfrm>
            <a:prstGeom prst="roundRect">
              <a:avLst>
                <a:gd name="adj" fmla="val 9524"/>
              </a:avLst>
            </a:prstGeom>
            <a:solidFill>
              <a:srgbClr val="FFFFFF"/>
            </a:solidFill>
            <a:ln>
              <a:noFill/>
            </a:ln>
          </p:spPr>
        </p:sp>
        <p:sp>
          <p:nvSpPr>
            <p:cNvPr id="57" name="Rectangle 57"/>
            <p:cNvSpPr/>
            <p:nvPr/>
          </p:nvSpPr>
          <p:spPr>
            <a:xfrm>
              <a:off x="571500" y="3505200"/>
              <a:ext cx="11049000" cy="38100"/>
            </a:xfrm>
            <a:prstGeom prst="roundRect">
              <a:avLst>
                <a:gd name="adj" fmla="val 50000"/>
              </a:avLst>
            </a:prstGeom>
            <a:solidFill>
              <a:srgbClr val="FF6F00"/>
            </a:solidFill>
            <a:ln>
              <a:noFill/>
            </a:ln>
          </p:spPr>
        </p:sp>
        <p:sp>
          <p:nvSpPr>
            <p:cNvPr id="58" name="TextBox 58"/>
            <p:cNvSpPr txBox="1"/>
            <p:nvPr/>
          </p:nvSpPr>
          <p:spPr>
            <a:xfrm>
              <a:off x="5279803" y="3703796"/>
              <a:ext cx="1632395" cy="289560"/>
            </a:xfrm>
            <a:prstGeom prst="rect">
              <a:avLst/>
            </a:prstGeom>
            <a:noFill/>
            <a:ln>
              <a:noFill/>
            </a:ln>
          </p:spPr>
          <p:txBody>
            <a:bodyPr wrap="none" lIns="0" tIns="0" rIns="0" bIns="0" anchor="t" anchorCtr="0">
              <a:spAutoFit/>
            </a:bodyPr>
            <a:lstStyle/>
            <a:p>
              <a:pPr algn="ctr"/>
              <a:r>
                <a:rPr lang="zh-CN" sz="1425" b="1" dirty="0">
                  <a:solidFill>
                    <a:srgbClr val="263238"/>
                  </a:solidFill>
                  <a:latin typeface="Segoe UI" panose="020B0502040204020203"/>
                  <a:ea typeface="微软雅黑"/>
                  <a:cs typeface="Segoe UI" panose="020B0502040204020203"/>
                </a:rPr>
                <a:t>回到三大懒人法则</a:t>
              </a:r>
              <a:endParaRPr lang="zh-CN" sz="1425" b="1" dirty="0">
                <a:solidFill>
                  <a:srgbClr val="263238"/>
                </a:solidFill>
                <a:latin typeface="Segoe UI" panose="020B0502040204020203"/>
                <a:ea typeface="微软雅黑"/>
                <a:cs typeface="Segoe UI" panose="020B0502040204020203"/>
              </a:endParaRPr>
            </a:p>
          </p:txBody>
        </p:sp>
        <p:sp>
          <p:nvSpPr>
            <p:cNvPr id="59" name="TextBox 59"/>
            <p:cNvSpPr txBox="1"/>
            <p:nvPr/>
          </p:nvSpPr>
          <p:spPr>
            <a:xfrm>
              <a:off x="431518" y="4105275"/>
              <a:ext cx="2946964" cy="304800"/>
            </a:xfrm>
            <a:prstGeom prst="rect">
              <a:avLst/>
            </a:prstGeom>
            <a:noFill/>
            <a:ln>
              <a:noFill/>
            </a:ln>
          </p:spPr>
          <p:txBody>
            <a:bodyPr wrap="none" lIns="0" tIns="0" rIns="0" bIns="0" anchor="t" anchorCtr="0">
              <a:spAutoFit/>
            </a:bodyPr>
            <a:lstStyle/>
            <a:p>
              <a:pPr algn="ctr"/>
              <a:r>
                <a:rPr lang="zh-CN" sz="1500" b="1" dirty="0">
                  <a:solidFill>
                    <a:srgbClr val="FF6F00"/>
                  </a:solidFill>
                  <a:latin typeface="Segoe UI" panose="020B0502040204020203"/>
                  <a:ea typeface="微软雅黑"/>
                  <a:cs typeface="Segoe UI" panose="020B0502040204020203"/>
                </a:rPr>
                <a:t>法则一：先想清楚，再让AI动手</a:t>
              </a:r>
              <a:endParaRPr lang="zh-CN" sz="1500" b="1" dirty="0">
                <a:solidFill>
                  <a:srgbClr val="FF6F00"/>
                </a:solidFill>
                <a:latin typeface="Segoe UI" panose="020B0502040204020203"/>
                <a:ea typeface="微软雅黑"/>
                <a:cs typeface="Segoe UI" panose="020B0502040204020203"/>
              </a:endParaRPr>
            </a:p>
          </p:txBody>
        </p:sp>
        <p:sp>
          <p:nvSpPr>
            <p:cNvPr id="60" name="TextBox 60"/>
            <p:cNvSpPr txBox="1"/>
            <p:nvPr/>
          </p:nvSpPr>
          <p:spPr>
            <a:xfrm>
              <a:off x="4501753" y="4105275"/>
              <a:ext cx="3188494" cy="304800"/>
            </a:xfrm>
            <a:prstGeom prst="rect">
              <a:avLst/>
            </a:prstGeom>
            <a:noFill/>
            <a:ln>
              <a:noFill/>
            </a:ln>
          </p:spPr>
          <p:txBody>
            <a:bodyPr wrap="none" lIns="0" tIns="0" rIns="0" bIns="0" anchor="t" anchorCtr="0">
              <a:spAutoFit/>
            </a:bodyPr>
            <a:lstStyle/>
            <a:p>
              <a:pPr algn="ctr"/>
              <a:r>
                <a:rPr lang="zh-CN" sz="1500" b="1" dirty="0">
                  <a:solidFill>
                    <a:srgbClr val="00838F"/>
                  </a:solidFill>
                  <a:latin typeface="Segoe UI" panose="020B0502040204020203"/>
                  <a:ea typeface="微软雅黑"/>
                  <a:cs typeface="Segoe UI" panose="020B0502040204020203"/>
                </a:rPr>
                <a:t>法则二：改哪里说哪里，圈外不动</a:t>
              </a:r>
              <a:endParaRPr lang="zh-CN" sz="1500" b="1" dirty="0">
                <a:solidFill>
                  <a:srgbClr val="00838F"/>
                </a:solidFill>
                <a:latin typeface="Segoe UI" panose="020B0502040204020203"/>
                <a:ea typeface="微软雅黑"/>
                <a:cs typeface="Segoe UI" panose="020B0502040204020203"/>
              </a:endParaRPr>
            </a:p>
          </p:txBody>
        </p:sp>
        <p:sp>
          <p:nvSpPr>
            <p:cNvPr id="61" name="TextBox 61"/>
            <p:cNvSpPr txBox="1"/>
            <p:nvPr/>
          </p:nvSpPr>
          <p:spPr>
            <a:xfrm>
              <a:off x="8692753" y="4105275"/>
              <a:ext cx="3188494"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Segoe UI" panose="020B0502040204020203"/>
                  <a:ea typeface="微软雅黑"/>
                  <a:cs typeface="Segoe UI" panose="020B0502040204020203"/>
                </a:rPr>
                <a:t>法则三：先跑通主干，再完善枝叶</a:t>
              </a:r>
              <a:endParaRPr lang="zh-CN" sz="1500" b="1" dirty="0">
                <a:solidFill>
                  <a:srgbClr val="2E7D32"/>
                </a:solidFill>
                <a:latin typeface="Segoe UI" panose="020B0502040204020203"/>
                <a:ea typeface="微软雅黑"/>
                <a:cs typeface="Segoe UI" panose="020B0502040204020203"/>
              </a:endParaRPr>
            </a:p>
          </p:txBody>
        </p:sp>
      </p:grpSp>
      <p:grpSp>
        <p:nvGrpSpPr>
          <p:cNvPr id="68" name="Group 68"/>
          <p:cNvGrpSpPr/>
          <p:nvPr/>
        </p:nvGrpSpPr>
        <p:grpSpPr>
          <a:xfrm>
            <a:off x="571500" y="4762500"/>
            <a:ext cx="11049000" cy="476250"/>
            <a:chOff x="571500" y="4762500"/>
            <a:chExt cx="11049000" cy="476250"/>
          </a:xfrm>
        </p:grpSpPr>
        <p:sp>
          <p:nvSpPr>
            <p:cNvPr id="63" name="Rectangle 63"/>
            <p:cNvSpPr/>
            <p:nvPr/>
          </p:nvSpPr>
          <p:spPr>
            <a:xfrm>
              <a:off x="571500" y="4762500"/>
              <a:ext cx="11049000" cy="476250"/>
            </a:xfrm>
            <a:prstGeom prst="roundRect">
              <a:avLst>
                <a:gd name="adj" fmla="val 16000"/>
              </a:avLst>
            </a:prstGeom>
            <a:solidFill>
              <a:srgbClr val="1565C0">
                <a:alpha val="6000"/>
              </a:srgbClr>
            </a:solidFill>
            <a:ln>
              <a:noFill/>
            </a:ln>
          </p:spPr>
        </p:sp>
        <p:grpSp>
          <p:nvGrpSpPr>
            <p:cNvPr id="66" name="Group 66"/>
            <p:cNvGrpSpPr/>
            <p:nvPr/>
          </p:nvGrpSpPr>
          <p:grpSpPr>
            <a:xfrm>
              <a:off x="876895" y="5046464"/>
              <a:ext cx="170259" cy="124420"/>
              <a:chOff x="876895" y="5046464"/>
              <a:chExt cx="170259" cy="124420"/>
            </a:xfrm>
          </p:grpSpPr>
          <p:sp>
            <p:nvSpPr>
              <p:cNvPr id="64" name="Freeform 64"/>
              <p:cNvSpPr/>
              <p:nvPr/>
            </p:nvSpPr>
            <p:spPr>
              <a:xfrm>
                <a:off x="883444" y="5053012"/>
                <a:ext cx="157162" cy="65484"/>
              </a:xfrm>
              <a:custGeom>
                <a:avLst/>
                <a:gdLst/>
                <a:ahLst/>
                <a:cxnLst/>
                <a:rect l="l" t="t" r="r" b="b"/>
                <a:pathLst>
                  <a:path w="157162" h="65484">
                    <a:moveTo>
                      <a:pt x="62210" y="6548"/>
                    </a:moveTo>
                    <a:lnTo>
                      <a:pt x="62210" y="65484"/>
                    </a:lnTo>
                    <a:lnTo>
                      <a:pt x="6548" y="65484"/>
                    </a:lnTo>
                    <a:cubicBezTo>
                      <a:pt x="2932" y="65484"/>
                      <a:pt x="0" y="62553"/>
                      <a:pt x="0" y="58936"/>
                    </a:cubicBezTo>
                    <a:lnTo>
                      <a:pt x="0" y="6548"/>
                    </a:lnTo>
                    <a:cubicBezTo>
                      <a:pt x="0" y="2932"/>
                      <a:pt x="2932" y="0"/>
                      <a:pt x="6548" y="0"/>
                    </a:cubicBezTo>
                    <a:lnTo>
                      <a:pt x="55662" y="0"/>
                    </a:lnTo>
                    <a:cubicBezTo>
                      <a:pt x="59278" y="0"/>
                      <a:pt x="62210" y="2932"/>
                      <a:pt x="62210" y="6548"/>
                    </a:cubicBezTo>
                    <a:close/>
                    <a:moveTo>
                      <a:pt x="150614" y="0"/>
                    </a:moveTo>
                    <a:lnTo>
                      <a:pt x="101501" y="0"/>
                    </a:lnTo>
                    <a:cubicBezTo>
                      <a:pt x="97884" y="0"/>
                      <a:pt x="94952" y="2932"/>
                      <a:pt x="94952" y="6548"/>
                    </a:cubicBezTo>
                    <a:lnTo>
                      <a:pt x="94952" y="58936"/>
                    </a:lnTo>
                    <a:cubicBezTo>
                      <a:pt x="94952" y="62553"/>
                      <a:pt x="97884" y="65484"/>
                      <a:pt x="101501" y="65484"/>
                    </a:cubicBezTo>
                    <a:lnTo>
                      <a:pt x="157162" y="65484"/>
                    </a:lnTo>
                    <a:lnTo>
                      <a:pt x="157162" y="6548"/>
                    </a:lnTo>
                    <a:cubicBezTo>
                      <a:pt x="157162" y="2932"/>
                      <a:pt x="154231" y="0"/>
                      <a:pt x="150614" y="0"/>
                    </a:cubicBezTo>
                    <a:close/>
                  </a:path>
                </a:pathLst>
              </a:custGeom>
              <a:solidFill>
                <a:srgbClr val="1565C0">
                  <a:alpha val="20000"/>
                </a:srgbClr>
              </a:solidFill>
              <a:ln>
                <a:noFill/>
              </a:ln>
            </p:spPr>
          </p:sp>
          <p:sp>
            <p:nvSpPr>
              <p:cNvPr id="65" name="Freeform 65"/>
              <p:cNvSpPr/>
              <p:nvPr/>
            </p:nvSpPr>
            <p:spPr>
              <a:xfrm>
                <a:off x="876895" y="5046464"/>
                <a:ext cx="170259" cy="124420"/>
              </a:xfrm>
              <a:custGeom>
                <a:avLst/>
                <a:gdLst/>
                <a:ahLst/>
                <a:cxnLst/>
                <a:rect l="l" t="t" r="r" b="b"/>
                <a:pathLst>
                  <a:path w="170259" h="124420">
                    <a:moveTo>
                      <a:pt x="62210" y="0"/>
                    </a:moveTo>
                    <a:lnTo>
                      <a:pt x="13097" y="0"/>
                    </a:lnTo>
                    <a:cubicBezTo>
                      <a:pt x="5864" y="0"/>
                      <a:pt x="0" y="5864"/>
                      <a:pt x="0" y="13097"/>
                    </a:cubicBezTo>
                    <a:lnTo>
                      <a:pt x="0" y="65484"/>
                    </a:lnTo>
                    <a:cubicBezTo>
                      <a:pt x="0" y="72718"/>
                      <a:pt x="5864" y="78581"/>
                      <a:pt x="13097" y="78581"/>
                    </a:cubicBezTo>
                    <a:lnTo>
                      <a:pt x="62210" y="78581"/>
                    </a:lnTo>
                    <a:lnTo>
                      <a:pt x="62210" y="85130"/>
                    </a:lnTo>
                    <a:cubicBezTo>
                      <a:pt x="62210" y="99596"/>
                      <a:pt x="50483" y="111323"/>
                      <a:pt x="36016" y="111323"/>
                    </a:cubicBezTo>
                    <a:cubicBezTo>
                      <a:pt x="32400" y="111323"/>
                      <a:pt x="29468" y="114255"/>
                      <a:pt x="29468" y="117872"/>
                    </a:cubicBezTo>
                    <a:cubicBezTo>
                      <a:pt x="29468" y="121488"/>
                      <a:pt x="32400" y="124420"/>
                      <a:pt x="36016" y="124420"/>
                    </a:cubicBezTo>
                    <a:cubicBezTo>
                      <a:pt x="57707" y="124398"/>
                      <a:pt x="75284" y="106820"/>
                      <a:pt x="75307" y="85130"/>
                    </a:cubicBezTo>
                    <a:lnTo>
                      <a:pt x="75307" y="13097"/>
                    </a:lnTo>
                    <a:cubicBezTo>
                      <a:pt x="75307" y="5864"/>
                      <a:pt x="69443" y="0"/>
                      <a:pt x="62210" y="0"/>
                    </a:cubicBezTo>
                    <a:close/>
                    <a:moveTo>
                      <a:pt x="62210" y="65484"/>
                    </a:moveTo>
                    <a:lnTo>
                      <a:pt x="13097" y="65484"/>
                    </a:lnTo>
                    <a:lnTo>
                      <a:pt x="13097" y="13097"/>
                    </a:lnTo>
                    <a:lnTo>
                      <a:pt x="62210" y="13097"/>
                    </a:lnTo>
                    <a:close/>
                    <a:moveTo>
                      <a:pt x="157162" y="0"/>
                    </a:moveTo>
                    <a:lnTo>
                      <a:pt x="108049" y="0"/>
                    </a:lnTo>
                    <a:cubicBezTo>
                      <a:pt x="100816" y="0"/>
                      <a:pt x="94952" y="5864"/>
                      <a:pt x="94952" y="13097"/>
                    </a:cubicBezTo>
                    <a:lnTo>
                      <a:pt x="94952" y="65484"/>
                    </a:lnTo>
                    <a:cubicBezTo>
                      <a:pt x="94952" y="72718"/>
                      <a:pt x="100816" y="78581"/>
                      <a:pt x="108049" y="78581"/>
                    </a:cubicBezTo>
                    <a:lnTo>
                      <a:pt x="157162" y="78581"/>
                    </a:lnTo>
                    <a:lnTo>
                      <a:pt x="157162" y="85130"/>
                    </a:lnTo>
                    <a:cubicBezTo>
                      <a:pt x="157162" y="99596"/>
                      <a:pt x="145435" y="111323"/>
                      <a:pt x="130969" y="111323"/>
                    </a:cubicBezTo>
                    <a:cubicBezTo>
                      <a:pt x="127352" y="111323"/>
                      <a:pt x="124420" y="114255"/>
                      <a:pt x="124420" y="117872"/>
                    </a:cubicBezTo>
                    <a:cubicBezTo>
                      <a:pt x="124420" y="121488"/>
                      <a:pt x="127352" y="124420"/>
                      <a:pt x="130969" y="124420"/>
                    </a:cubicBezTo>
                    <a:cubicBezTo>
                      <a:pt x="152659" y="124398"/>
                      <a:pt x="170237" y="106820"/>
                      <a:pt x="170259" y="85130"/>
                    </a:cubicBezTo>
                    <a:lnTo>
                      <a:pt x="170259" y="13097"/>
                    </a:lnTo>
                    <a:cubicBezTo>
                      <a:pt x="170259" y="5864"/>
                      <a:pt x="164396" y="0"/>
                      <a:pt x="157162" y="0"/>
                    </a:cubicBezTo>
                    <a:close/>
                    <a:moveTo>
                      <a:pt x="157162" y="65484"/>
                    </a:moveTo>
                    <a:lnTo>
                      <a:pt x="108049" y="65484"/>
                    </a:lnTo>
                    <a:lnTo>
                      <a:pt x="108049" y="13097"/>
                    </a:lnTo>
                    <a:lnTo>
                      <a:pt x="157162" y="13097"/>
                    </a:lnTo>
                    <a:close/>
                  </a:path>
                </a:pathLst>
              </a:custGeom>
              <a:solidFill>
                <a:srgbClr val="1565C0"/>
              </a:solidFill>
              <a:ln>
                <a:noFill/>
              </a:ln>
            </p:spPr>
          </p:sp>
        </p:grpSp>
        <p:sp>
          <p:nvSpPr>
            <p:cNvPr id="67" name="TextBox 67"/>
            <p:cNvSpPr txBox="1"/>
            <p:nvPr/>
          </p:nvSpPr>
          <p:spPr>
            <a:xfrm>
              <a:off x="2496002" y="4914900"/>
              <a:ext cx="7199995"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真正的"懒人"从不是啥都不做，而是用最省劲儿的方法做对事，避免无用功。</a:t>
              </a:r>
              <a:endParaRPr lang="zh-CN" sz="1500" b="1" dirty="0">
                <a:solidFill>
                  <a:srgbClr val="1565C0"/>
                </a:solidFill>
                <a:latin typeface="Segoe UI" panose="020B0502040204020203"/>
                <a:ea typeface="微软雅黑"/>
                <a:cs typeface="Segoe UI" panose="020B0502040204020203"/>
              </a:endParaRPr>
            </a:p>
          </p:txBody>
        </p:sp>
      </p:grpSp>
      <p:sp>
        <p:nvSpPr>
          <p:cNvPr id="69" name="TextBox 69"/>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09 / 09</a:t>
            </a:r>
            <a:endParaRPr lang="zh-CN" sz="1125" dirty="0">
              <a:solidFill>
                <a:srgbClr val="90A4AE"/>
              </a:solidFill>
              <a:latin typeface="Segoe UI" panose="020B0502040204020203"/>
              <a:ea typeface="微软雅黑"/>
              <a:cs typeface="Segoe UI" panose="020B0502040204020203"/>
            </a:endParaRPr>
          </a:p>
        </p:txBody>
      </p:sp>
      <p:pic>
        <p:nvPicPr>
          <p:cNvPr id="70" name="图片 69"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image">
                                      <p:cBhvr>
                                        <p:cTn id="7" dur="4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400"/>
                                        <p:tgtEl>
                                          <p:spTgt spid="2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400"/>
                                        <p:tgtEl>
                                          <p:spTgt spid="39"/>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lide(fromBottom)">
                                      <p:cBhvr>
                                        <p:cTn id="19" dur="400"/>
                                        <p:tgtEl>
                                          <p:spTgt spid="55"/>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image">
                                      <p:cBhvr>
                                        <p:cTn id="23" dur="400"/>
                                        <p:tgtEl>
                                          <p:spTgt spid="6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fade">
                                      <p:cBhvr>
                                        <p:cTn id="27"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55" grpId="0"/>
      <p:bldP spid="62" grpId="0"/>
      <p:bldP spid="6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2892504"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本章小结：过程体系</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7" name="Group 17"/>
          <p:cNvGrpSpPr/>
          <p:nvPr/>
        </p:nvGrpSpPr>
        <p:grpSpPr>
          <a:xfrm>
            <a:off x="571500" y="904875"/>
            <a:ext cx="11049000" cy="523875"/>
            <a:chOff x="571500" y="904875"/>
            <a:chExt cx="11049000" cy="523875"/>
          </a:xfrm>
        </p:grpSpPr>
        <p:sp>
          <p:nvSpPr>
            <p:cNvPr id="10" name="Rectangle 10"/>
            <p:cNvSpPr/>
            <p:nvPr/>
          </p:nvSpPr>
          <p:spPr>
            <a:xfrm>
              <a:off x="571500" y="904875"/>
              <a:ext cx="11049000" cy="523875"/>
            </a:xfrm>
            <a:prstGeom prst="roundRect">
              <a:avLst>
                <a:gd name="adj" fmla="val 14545"/>
              </a:avLst>
            </a:prstGeom>
            <a:solidFill>
              <a:srgbClr val="FFFFFF"/>
            </a:solidFill>
            <a:ln>
              <a:noFill/>
            </a:ln>
          </p:spPr>
        </p:sp>
        <p:sp>
          <p:nvSpPr>
            <p:cNvPr id="11" name="Rectangle 11"/>
            <p:cNvSpPr/>
            <p:nvPr/>
          </p:nvSpPr>
          <p:spPr>
            <a:xfrm>
              <a:off x="571500" y="904875"/>
              <a:ext cx="57150" cy="523875"/>
            </a:xfrm>
            <a:prstGeom prst="roundRect">
              <a:avLst>
                <a:gd name="adj" fmla="val 50000"/>
              </a:avLst>
            </a:prstGeom>
            <a:solidFill>
              <a:srgbClr val="1565C0"/>
            </a:solidFill>
            <a:ln>
              <a:noFill/>
            </a:ln>
          </p:spPr>
        </p:sp>
        <p:grpSp>
          <p:nvGrpSpPr>
            <p:cNvPr id="14" name="Group 14"/>
            <p:cNvGrpSpPr/>
            <p:nvPr/>
          </p:nvGrpSpPr>
          <p:grpSpPr>
            <a:xfrm>
              <a:off x="892737" y="1137727"/>
              <a:ext cx="157457" cy="200535"/>
              <a:chOff x="892737" y="1137727"/>
              <a:chExt cx="157457" cy="200535"/>
            </a:xfrm>
          </p:grpSpPr>
          <p:sp>
            <p:nvSpPr>
              <p:cNvPr id="12" name="Freeform 12"/>
              <p:cNvSpPr/>
              <p:nvPr/>
            </p:nvSpPr>
            <p:spPr>
              <a:xfrm>
                <a:off x="899898" y="1144917"/>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1565C0">
                  <a:alpha val="20000"/>
                </a:srgbClr>
              </a:solidFill>
              <a:ln>
                <a:noFill/>
              </a:ln>
            </p:spPr>
          </p:sp>
          <p:sp>
            <p:nvSpPr>
              <p:cNvPr id="13" name="Freeform 13"/>
              <p:cNvSpPr/>
              <p:nvPr/>
            </p:nvSpPr>
            <p:spPr>
              <a:xfrm>
                <a:off x="892737" y="1137727"/>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1565C0"/>
              </a:solidFill>
              <a:ln>
                <a:noFill/>
              </a:ln>
            </p:spPr>
          </p:sp>
        </p:grpSp>
        <p:sp>
          <p:nvSpPr>
            <p:cNvPr id="15" name="TextBox 15"/>
            <p:cNvSpPr txBox="1"/>
            <p:nvPr/>
          </p:nvSpPr>
          <p:spPr>
            <a:xfrm>
              <a:off x="1222058" y="1081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核心洞察</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2461260" y="1089660"/>
              <a:ext cx="513511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人类爱敏捷，AI爱CMMI —— 两者互补而非对立，构成人机协作的黄金搭档</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571500" y="1571625"/>
            <a:ext cx="11049000" cy="523875"/>
            <a:chOff x="571500" y="1571625"/>
            <a:chExt cx="11049000" cy="523875"/>
          </a:xfrm>
        </p:grpSpPr>
        <p:sp>
          <p:nvSpPr>
            <p:cNvPr id="18" name="Rectangle 18"/>
            <p:cNvSpPr/>
            <p:nvPr/>
          </p:nvSpPr>
          <p:spPr>
            <a:xfrm>
              <a:off x="571500" y="1571625"/>
              <a:ext cx="11049000" cy="523875"/>
            </a:xfrm>
            <a:prstGeom prst="roundRect">
              <a:avLst>
                <a:gd name="adj" fmla="val 14545"/>
              </a:avLst>
            </a:prstGeom>
            <a:solidFill>
              <a:srgbClr val="FFFFFF"/>
            </a:solidFill>
            <a:ln>
              <a:noFill/>
            </a:ln>
          </p:spPr>
        </p:sp>
        <p:sp>
          <p:nvSpPr>
            <p:cNvPr id="19" name="Rectangle 19"/>
            <p:cNvSpPr/>
            <p:nvPr/>
          </p:nvSpPr>
          <p:spPr>
            <a:xfrm>
              <a:off x="571500" y="1571625"/>
              <a:ext cx="57150" cy="523875"/>
            </a:xfrm>
            <a:prstGeom prst="roundRect">
              <a:avLst>
                <a:gd name="adj" fmla="val 50000"/>
              </a:avLst>
            </a:prstGeom>
            <a:solidFill>
              <a:srgbClr val="00838F"/>
            </a:solidFill>
            <a:ln>
              <a:noFill/>
            </a:ln>
          </p:spPr>
        </p:sp>
        <p:grpSp>
          <p:nvGrpSpPr>
            <p:cNvPr id="22" name="Group 22"/>
            <p:cNvGrpSpPr/>
            <p:nvPr/>
          </p:nvGrpSpPr>
          <p:grpSpPr>
            <a:xfrm>
              <a:off x="877739" y="1804664"/>
              <a:ext cx="187671" cy="200672"/>
              <a:chOff x="877739" y="1804664"/>
              <a:chExt cx="187671" cy="200672"/>
            </a:xfrm>
          </p:grpSpPr>
          <p:sp>
            <p:nvSpPr>
              <p:cNvPr id="20" name="Freeform 20"/>
              <p:cNvSpPr/>
              <p:nvPr/>
            </p:nvSpPr>
            <p:spPr>
              <a:xfrm>
                <a:off x="885825" y="181213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1" name="Freeform 21"/>
              <p:cNvSpPr/>
              <p:nvPr/>
            </p:nvSpPr>
            <p:spPr>
              <a:xfrm>
                <a:off x="877739" y="180466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3" name="TextBox 23"/>
            <p:cNvSpPr txBox="1"/>
            <p:nvPr/>
          </p:nvSpPr>
          <p:spPr>
            <a:xfrm>
              <a:off x="1222058" y="174831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体系架构</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2461260" y="1756410"/>
              <a:ext cx="487908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OSSP基线 → PDP适配 → Harness执行，三级递进覆盖组织-项目-个人</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571500" y="2238375"/>
            <a:ext cx="11049000" cy="523875"/>
            <a:chOff x="571500" y="2238375"/>
            <a:chExt cx="11049000" cy="523875"/>
          </a:xfrm>
        </p:grpSpPr>
        <p:sp>
          <p:nvSpPr>
            <p:cNvPr id="26" name="Rectangle 26"/>
            <p:cNvSpPr/>
            <p:nvPr/>
          </p:nvSpPr>
          <p:spPr>
            <a:xfrm>
              <a:off x="571500" y="2238375"/>
              <a:ext cx="11049000" cy="523875"/>
            </a:xfrm>
            <a:prstGeom prst="roundRect">
              <a:avLst>
                <a:gd name="adj" fmla="val 14545"/>
              </a:avLst>
            </a:prstGeom>
            <a:solidFill>
              <a:srgbClr val="FFFFFF"/>
            </a:solidFill>
            <a:ln>
              <a:noFill/>
            </a:ln>
          </p:spPr>
        </p:sp>
        <p:sp>
          <p:nvSpPr>
            <p:cNvPr id="27" name="Rectangle 27"/>
            <p:cNvSpPr/>
            <p:nvPr/>
          </p:nvSpPr>
          <p:spPr>
            <a:xfrm>
              <a:off x="571500" y="2238375"/>
              <a:ext cx="57150" cy="523875"/>
            </a:xfrm>
            <a:prstGeom prst="roundRect">
              <a:avLst>
                <a:gd name="adj" fmla="val 50000"/>
              </a:avLst>
            </a:prstGeom>
            <a:solidFill>
              <a:srgbClr val="FF6F00"/>
            </a:solidFill>
            <a:ln>
              <a:noFill/>
            </a:ln>
          </p:spPr>
        </p:sp>
        <p:grpSp>
          <p:nvGrpSpPr>
            <p:cNvPr id="30" name="Group 30"/>
            <p:cNvGrpSpPr/>
            <p:nvPr/>
          </p:nvGrpSpPr>
          <p:grpSpPr>
            <a:xfrm>
              <a:off x="870836" y="2500310"/>
              <a:ext cx="200729" cy="129292"/>
              <a:chOff x="870836" y="2500310"/>
              <a:chExt cx="200729" cy="129292"/>
            </a:xfrm>
          </p:grpSpPr>
          <p:sp>
            <p:nvSpPr>
              <p:cNvPr id="28" name="Freeform 28"/>
              <p:cNvSpPr/>
              <p:nvPr/>
            </p:nvSpPr>
            <p:spPr>
              <a:xfrm>
                <a:off x="1007269" y="2507456"/>
                <a:ext cx="57150" cy="57150"/>
              </a:xfrm>
              <a:custGeom>
                <a:avLst/>
                <a:gdLst/>
                <a:ahLst/>
                <a:cxnLst/>
                <a:rect l="l" t="t" r="r" b="b"/>
                <a:pathLst>
                  <a:path w="57150" h="57150">
                    <a:moveTo>
                      <a:pt x="57150" y="0"/>
                    </a:moveTo>
                    <a:lnTo>
                      <a:pt x="57150" y="57150"/>
                    </a:lnTo>
                    <a:lnTo>
                      <a:pt x="0" y="0"/>
                    </a:lnTo>
                    <a:close/>
                  </a:path>
                </a:pathLst>
              </a:custGeom>
              <a:solidFill>
                <a:srgbClr val="FF6F00">
                  <a:alpha val="20000"/>
                </a:srgbClr>
              </a:solidFill>
              <a:ln>
                <a:noFill/>
              </a:ln>
            </p:spPr>
          </p:sp>
          <p:sp>
            <p:nvSpPr>
              <p:cNvPr id="29" name="Freeform 29"/>
              <p:cNvSpPr/>
              <p:nvPr/>
            </p:nvSpPr>
            <p:spPr>
              <a:xfrm>
                <a:off x="870836" y="2500310"/>
                <a:ext cx="200729" cy="129292"/>
              </a:xfrm>
              <a:custGeom>
                <a:avLst/>
                <a:gdLst/>
                <a:ahLst/>
                <a:cxnLst/>
                <a:rect l="l" t="t" r="r" b="b"/>
                <a:pathLst>
                  <a:path w="200729" h="129292">
                    <a:moveTo>
                      <a:pt x="193583" y="2"/>
                    </a:moveTo>
                    <a:lnTo>
                      <a:pt x="136433" y="2"/>
                    </a:lnTo>
                    <a:cubicBezTo>
                      <a:pt x="133542" y="0"/>
                      <a:pt x="130934" y="1741"/>
                      <a:pt x="129828" y="4411"/>
                    </a:cubicBezTo>
                    <a:cubicBezTo>
                      <a:pt x="128721" y="7082"/>
                      <a:pt x="129333" y="10157"/>
                      <a:pt x="131379" y="12200"/>
                    </a:cubicBezTo>
                    <a:lnTo>
                      <a:pt x="154909" y="35721"/>
                    </a:lnTo>
                    <a:lnTo>
                      <a:pt x="107858" y="82772"/>
                    </a:lnTo>
                    <a:lnTo>
                      <a:pt x="77194" y="52098"/>
                    </a:lnTo>
                    <a:cubicBezTo>
                      <a:pt x="75854" y="50757"/>
                      <a:pt x="74035" y="50003"/>
                      <a:pt x="72139" y="50003"/>
                    </a:cubicBezTo>
                    <a:cubicBezTo>
                      <a:pt x="70243" y="50003"/>
                      <a:pt x="68425" y="50757"/>
                      <a:pt x="67085" y="52098"/>
                    </a:cubicBezTo>
                    <a:lnTo>
                      <a:pt x="2791" y="116392"/>
                    </a:lnTo>
                    <a:cubicBezTo>
                      <a:pt x="0" y="119183"/>
                      <a:pt x="0" y="123709"/>
                      <a:pt x="2791" y="126500"/>
                    </a:cubicBezTo>
                    <a:cubicBezTo>
                      <a:pt x="5583" y="129292"/>
                      <a:pt x="10108" y="129292"/>
                      <a:pt x="12900" y="126500"/>
                    </a:cubicBezTo>
                    <a:lnTo>
                      <a:pt x="72139" y="67252"/>
                    </a:lnTo>
                    <a:lnTo>
                      <a:pt x="102804" y="97925"/>
                    </a:lnTo>
                    <a:cubicBezTo>
                      <a:pt x="104144" y="99267"/>
                      <a:pt x="105962" y="100020"/>
                      <a:pt x="107858" y="100020"/>
                    </a:cubicBezTo>
                    <a:cubicBezTo>
                      <a:pt x="109754" y="100020"/>
                      <a:pt x="111572" y="99267"/>
                      <a:pt x="112912" y="97925"/>
                    </a:cubicBezTo>
                    <a:lnTo>
                      <a:pt x="165008" y="45821"/>
                    </a:lnTo>
                    <a:lnTo>
                      <a:pt x="188529" y="69350"/>
                    </a:lnTo>
                    <a:cubicBezTo>
                      <a:pt x="190572" y="71396"/>
                      <a:pt x="193647" y="72008"/>
                      <a:pt x="196318" y="70901"/>
                    </a:cubicBezTo>
                    <a:cubicBezTo>
                      <a:pt x="198989" y="69795"/>
                      <a:pt x="200729" y="67187"/>
                      <a:pt x="200727" y="64296"/>
                    </a:cubicBezTo>
                    <a:lnTo>
                      <a:pt x="200727" y="7146"/>
                    </a:lnTo>
                    <a:cubicBezTo>
                      <a:pt x="200727" y="3201"/>
                      <a:pt x="197528" y="2"/>
                      <a:pt x="193583" y="2"/>
                    </a:cubicBezTo>
                    <a:close/>
                    <a:moveTo>
                      <a:pt x="186439" y="47053"/>
                    </a:moveTo>
                    <a:lnTo>
                      <a:pt x="153676" y="14290"/>
                    </a:lnTo>
                    <a:lnTo>
                      <a:pt x="186439" y="14290"/>
                    </a:lnTo>
                    <a:close/>
                  </a:path>
                </a:pathLst>
              </a:custGeom>
              <a:solidFill>
                <a:srgbClr val="FF6F00"/>
              </a:solidFill>
              <a:ln>
                <a:noFill/>
              </a:ln>
            </p:spPr>
          </p:sp>
        </p:grpSp>
        <p:sp>
          <p:nvSpPr>
            <p:cNvPr id="31" name="TextBox 31"/>
            <p:cNvSpPr txBox="1"/>
            <p:nvPr/>
          </p:nvSpPr>
          <p:spPr>
            <a:xfrm>
              <a:off x="1222058" y="2415064"/>
              <a:ext cx="924997"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成熟度模型</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461260" y="2423160"/>
              <a:ext cx="457504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HMM五级模型，从L1个人英雄主义到L5 AI自驱动演进，逐步升级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571500" y="2905125"/>
            <a:ext cx="11049000" cy="523875"/>
            <a:chOff x="571500" y="2905125"/>
            <a:chExt cx="11049000" cy="523875"/>
          </a:xfrm>
        </p:grpSpPr>
        <p:sp>
          <p:nvSpPr>
            <p:cNvPr id="34" name="Rectangle 34"/>
            <p:cNvSpPr/>
            <p:nvPr/>
          </p:nvSpPr>
          <p:spPr>
            <a:xfrm>
              <a:off x="571500" y="2905125"/>
              <a:ext cx="11049000" cy="523875"/>
            </a:xfrm>
            <a:prstGeom prst="roundRect">
              <a:avLst>
                <a:gd name="adj" fmla="val 14545"/>
              </a:avLst>
            </a:prstGeom>
            <a:solidFill>
              <a:srgbClr val="FFFFFF"/>
            </a:solidFill>
            <a:ln>
              <a:noFill/>
            </a:ln>
          </p:spPr>
        </p:sp>
        <p:sp>
          <p:nvSpPr>
            <p:cNvPr id="35" name="Rectangle 35"/>
            <p:cNvSpPr/>
            <p:nvPr/>
          </p:nvSpPr>
          <p:spPr>
            <a:xfrm>
              <a:off x="571500" y="2905125"/>
              <a:ext cx="57150" cy="523875"/>
            </a:xfrm>
            <a:prstGeom prst="roundRect">
              <a:avLst>
                <a:gd name="adj" fmla="val 50000"/>
              </a:avLst>
            </a:prstGeom>
            <a:solidFill>
              <a:srgbClr val="2E7D32"/>
            </a:solidFill>
            <a:ln>
              <a:noFill/>
            </a:ln>
          </p:spPr>
        </p:sp>
        <p:grpSp>
          <p:nvGrpSpPr>
            <p:cNvPr id="38" name="Group 38"/>
            <p:cNvGrpSpPr/>
            <p:nvPr/>
          </p:nvGrpSpPr>
          <p:grpSpPr>
            <a:xfrm>
              <a:off x="864387" y="3142041"/>
              <a:ext cx="214319" cy="185774"/>
              <a:chOff x="864387" y="3142041"/>
              <a:chExt cx="214319" cy="185774"/>
            </a:xfrm>
          </p:grpSpPr>
          <p:sp>
            <p:nvSpPr>
              <p:cNvPr id="36" name="Freeform 36"/>
              <p:cNvSpPr/>
              <p:nvPr/>
            </p:nvSpPr>
            <p:spPr>
              <a:xfrm>
                <a:off x="871499" y="3152775"/>
                <a:ext cx="200069" cy="164306"/>
              </a:xfrm>
              <a:custGeom>
                <a:avLst/>
                <a:gdLst/>
                <a:ahLst/>
                <a:cxnLst/>
                <a:rect l="l" t="t" r="r" b="b"/>
                <a:pathLst>
                  <a:path w="200069" h="164306">
                    <a:moveTo>
                      <a:pt x="200063" y="82153"/>
                    </a:moveTo>
                    <a:cubicBezTo>
                      <a:pt x="200069" y="100322"/>
                      <a:pt x="188619" y="116521"/>
                      <a:pt x="171488" y="122578"/>
                    </a:cubicBezTo>
                    <a:lnTo>
                      <a:pt x="171488" y="122578"/>
                    </a:lnTo>
                    <a:lnTo>
                      <a:pt x="171488" y="128588"/>
                    </a:lnTo>
                    <a:cubicBezTo>
                      <a:pt x="171488" y="148314"/>
                      <a:pt x="155497" y="164306"/>
                      <a:pt x="135770" y="164306"/>
                    </a:cubicBezTo>
                    <a:cubicBezTo>
                      <a:pt x="116043" y="164306"/>
                      <a:pt x="100051" y="148314"/>
                      <a:pt x="100051" y="128588"/>
                    </a:cubicBezTo>
                    <a:cubicBezTo>
                      <a:pt x="100051" y="148314"/>
                      <a:pt x="84059" y="164306"/>
                      <a:pt x="64332" y="164306"/>
                    </a:cubicBezTo>
                    <a:cubicBezTo>
                      <a:pt x="44605" y="164306"/>
                      <a:pt x="28613" y="148314"/>
                      <a:pt x="28613" y="128588"/>
                    </a:cubicBezTo>
                    <a:lnTo>
                      <a:pt x="28613" y="122578"/>
                    </a:lnTo>
                    <a:lnTo>
                      <a:pt x="28613" y="122578"/>
                    </a:lnTo>
                    <a:cubicBezTo>
                      <a:pt x="11468" y="116534"/>
                      <a:pt x="0" y="100332"/>
                      <a:pt x="0" y="82153"/>
                    </a:cubicBezTo>
                    <a:cubicBezTo>
                      <a:pt x="0" y="63974"/>
                      <a:pt x="11468" y="47772"/>
                      <a:pt x="28613" y="41728"/>
                    </a:cubicBezTo>
                    <a:lnTo>
                      <a:pt x="28613" y="35719"/>
                    </a:lnTo>
                    <a:cubicBezTo>
                      <a:pt x="28613" y="15992"/>
                      <a:pt x="44605" y="0"/>
                      <a:pt x="64332" y="0"/>
                    </a:cubicBezTo>
                    <a:cubicBezTo>
                      <a:pt x="84059" y="0"/>
                      <a:pt x="100051" y="15992"/>
                      <a:pt x="100051" y="35719"/>
                    </a:cubicBezTo>
                    <a:cubicBezTo>
                      <a:pt x="100051" y="15992"/>
                      <a:pt x="116043" y="0"/>
                      <a:pt x="135770" y="0"/>
                    </a:cubicBezTo>
                    <a:cubicBezTo>
                      <a:pt x="155497" y="0"/>
                      <a:pt x="171488" y="15992"/>
                      <a:pt x="171488" y="35719"/>
                    </a:cubicBezTo>
                    <a:lnTo>
                      <a:pt x="171488" y="41728"/>
                    </a:lnTo>
                    <a:cubicBezTo>
                      <a:pt x="188619" y="47785"/>
                      <a:pt x="200069" y="63984"/>
                      <a:pt x="200063" y="82153"/>
                    </a:cubicBezTo>
                    <a:close/>
                  </a:path>
                </a:pathLst>
              </a:custGeom>
              <a:solidFill>
                <a:srgbClr val="2E7D32">
                  <a:alpha val="20000"/>
                </a:srgbClr>
              </a:solidFill>
              <a:ln>
                <a:noFill/>
              </a:ln>
            </p:spPr>
          </p:sp>
          <p:sp>
            <p:nvSpPr>
              <p:cNvPr id="37" name="Freeform 37"/>
              <p:cNvSpPr/>
              <p:nvPr/>
            </p:nvSpPr>
            <p:spPr>
              <a:xfrm>
                <a:off x="864387" y="3142041"/>
                <a:ext cx="214319" cy="185774"/>
              </a:xfrm>
              <a:custGeom>
                <a:avLst/>
                <a:gdLst/>
                <a:ahLst/>
                <a:cxnLst/>
                <a:rect l="l" t="t" r="r" b="b"/>
                <a:pathLst>
                  <a:path w="214319" h="185774">
                    <a:moveTo>
                      <a:pt x="214319" y="92887"/>
                    </a:moveTo>
                    <a:cubicBezTo>
                      <a:pt x="214300" y="73574"/>
                      <a:pt x="203183" y="55992"/>
                      <a:pt x="185744" y="47694"/>
                    </a:cubicBezTo>
                    <a:lnTo>
                      <a:pt x="185744" y="46453"/>
                    </a:lnTo>
                    <a:cubicBezTo>
                      <a:pt x="185727" y="27553"/>
                      <a:pt x="173334" y="10895"/>
                      <a:pt x="155237" y="5448"/>
                    </a:cubicBezTo>
                    <a:cubicBezTo>
                      <a:pt x="137139" y="0"/>
                      <a:pt x="117610" y="7048"/>
                      <a:pt x="107163" y="22798"/>
                    </a:cubicBezTo>
                    <a:cubicBezTo>
                      <a:pt x="96716" y="7048"/>
                      <a:pt x="77186" y="0"/>
                      <a:pt x="59089" y="5448"/>
                    </a:cubicBezTo>
                    <a:cubicBezTo>
                      <a:pt x="40992" y="10895"/>
                      <a:pt x="28599" y="27553"/>
                      <a:pt x="28582" y="46453"/>
                    </a:cubicBezTo>
                    <a:lnTo>
                      <a:pt x="28582" y="47694"/>
                    </a:lnTo>
                    <a:cubicBezTo>
                      <a:pt x="11127" y="55970"/>
                      <a:pt x="0" y="73560"/>
                      <a:pt x="0" y="92878"/>
                    </a:cubicBezTo>
                    <a:cubicBezTo>
                      <a:pt x="0" y="112196"/>
                      <a:pt x="11127" y="129786"/>
                      <a:pt x="28582" y="138062"/>
                    </a:cubicBezTo>
                    <a:lnTo>
                      <a:pt x="28582" y="139321"/>
                    </a:lnTo>
                    <a:cubicBezTo>
                      <a:pt x="28599" y="158221"/>
                      <a:pt x="40992" y="174879"/>
                      <a:pt x="59089" y="180326"/>
                    </a:cubicBezTo>
                    <a:cubicBezTo>
                      <a:pt x="77186" y="185774"/>
                      <a:pt x="96716" y="178726"/>
                      <a:pt x="107163" y="162976"/>
                    </a:cubicBezTo>
                    <a:cubicBezTo>
                      <a:pt x="117610" y="178726"/>
                      <a:pt x="137139" y="185774"/>
                      <a:pt x="155237" y="180326"/>
                    </a:cubicBezTo>
                    <a:cubicBezTo>
                      <a:pt x="173334" y="174879"/>
                      <a:pt x="185727" y="158221"/>
                      <a:pt x="185744" y="139321"/>
                    </a:cubicBezTo>
                    <a:lnTo>
                      <a:pt x="185744" y="138062"/>
                    </a:lnTo>
                    <a:cubicBezTo>
                      <a:pt x="203180" y="129770"/>
                      <a:pt x="214297" y="112194"/>
                      <a:pt x="214319" y="92887"/>
                    </a:cubicBezTo>
                    <a:close/>
                    <a:moveTo>
                      <a:pt x="71444" y="167896"/>
                    </a:moveTo>
                    <a:cubicBezTo>
                      <a:pt x="56853" y="167894"/>
                      <a:pt x="44607" y="156900"/>
                      <a:pt x="43039" y="142393"/>
                    </a:cubicBezTo>
                    <a:cubicBezTo>
                      <a:pt x="45349" y="142723"/>
                      <a:pt x="47679" y="142890"/>
                      <a:pt x="50013" y="142893"/>
                    </a:cubicBezTo>
                    <a:lnTo>
                      <a:pt x="57157" y="142893"/>
                    </a:lnTo>
                    <a:cubicBezTo>
                      <a:pt x="61102" y="142893"/>
                      <a:pt x="64300" y="139695"/>
                      <a:pt x="64300" y="135749"/>
                    </a:cubicBezTo>
                    <a:cubicBezTo>
                      <a:pt x="64300" y="131804"/>
                      <a:pt x="61102" y="128606"/>
                      <a:pt x="57157" y="128606"/>
                    </a:cubicBezTo>
                    <a:lnTo>
                      <a:pt x="50013" y="128606"/>
                    </a:lnTo>
                    <a:cubicBezTo>
                      <a:pt x="32600" y="128626"/>
                      <a:pt x="17710" y="116087"/>
                      <a:pt x="14766" y="98924"/>
                    </a:cubicBezTo>
                    <a:cubicBezTo>
                      <a:pt x="11823" y="81762"/>
                      <a:pt x="21685" y="64978"/>
                      <a:pt x="38110" y="59195"/>
                    </a:cubicBezTo>
                    <a:cubicBezTo>
                      <a:pt x="40962" y="58185"/>
                      <a:pt x="42869" y="55488"/>
                      <a:pt x="42869" y="52462"/>
                    </a:cubicBezTo>
                    <a:lnTo>
                      <a:pt x="42869" y="46453"/>
                    </a:lnTo>
                    <a:cubicBezTo>
                      <a:pt x="42869" y="30671"/>
                      <a:pt x="55663" y="17878"/>
                      <a:pt x="71444" y="17878"/>
                    </a:cubicBezTo>
                    <a:cubicBezTo>
                      <a:pt x="87226" y="17878"/>
                      <a:pt x="100019" y="30671"/>
                      <a:pt x="100019" y="46453"/>
                    </a:cubicBezTo>
                    <a:lnTo>
                      <a:pt x="100019" y="107407"/>
                    </a:lnTo>
                    <a:cubicBezTo>
                      <a:pt x="92175" y="100351"/>
                      <a:pt x="81995" y="96451"/>
                      <a:pt x="71444" y="96459"/>
                    </a:cubicBezTo>
                    <a:cubicBezTo>
                      <a:pt x="67499" y="96459"/>
                      <a:pt x="64300" y="99657"/>
                      <a:pt x="64300" y="103603"/>
                    </a:cubicBezTo>
                    <a:cubicBezTo>
                      <a:pt x="64300" y="107548"/>
                      <a:pt x="67499" y="110746"/>
                      <a:pt x="71444" y="110746"/>
                    </a:cubicBezTo>
                    <a:cubicBezTo>
                      <a:pt x="87226" y="110746"/>
                      <a:pt x="100019" y="123540"/>
                      <a:pt x="100019" y="139321"/>
                    </a:cubicBezTo>
                    <a:cubicBezTo>
                      <a:pt x="100019" y="155103"/>
                      <a:pt x="87226" y="167896"/>
                      <a:pt x="71444" y="167896"/>
                    </a:cubicBezTo>
                    <a:close/>
                    <a:moveTo>
                      <a:pt x="164313" y="128606"/>
                    </a:moveTo>
                    <a:lnTo>
                      <a:pt x="157169" y="128606"/>
                    </a:lnTo>
                    <a:cubicBezTo>
                      <a:pt x="153224" y="128606"/>
                      <a:pt x="150025" y="131804"/>
                      <a:pt x="150025" y="135749"/>
                    </a:cubicBezTo>
                    <a:cubicBezTo>
                      <a:pt x="150025" y="139695"/>
                      <a:pt x="153224" y="142893"/>
                      <a:pt x="157169" y="142893"/>
                    </a:cubicBezTo>
                    <a:lnTo>
                      <a:pt x="164313" y="142893"/>
                    </a:lnTo>
                    <a:cubicBezTo>
                      <a:pt x="166646" y="142890"/>
                      <a:pt x="168977" y="142723"/>
                      <a:pt x="171287" y="142393"/>
                    </a:cubicBezTo>
                    <a:cubicBezTo>
                      <a:pt x="169633" y="157687"/>
                      <a:pt x="156169" y="168927"/>
                      <a:pt x="140826" y="167823"/>
                    </a:cubicBezTo>
                    <a:cubicBezTo>
                      <a:pt x="125483" y="166718"/>
                      <a:pt x="113768" y="153666"/>
                      <a:pt x="114321" y="138293"/>
                    </a:cubicBezTo>
                    <a:cubicBezTo>
                      <a:pt x="114875" y="122920"/>
                      <a:pt x="127499" y="110744"/>
                      <a:pt x="142882" y="110746"/>
                    </a:cubicBezTo>
                    <a:cubicBezTo>
                      <a:pt x="146827" y="110746"/>
                      <a:pt x="150025" y="107548"/>
                      <a:pt x="150025" y="103603"/>
                    </a:cubicBezTo>
                    <a:cubicBezTo>
                      <a:pt x="150025" y="99657"/>
                      <a:pt x="146827" y="96459"/>
                      <a:pt x="142882" y="96459"/>
                    </a:cubicBezTo>
                    <a:cubicBezTo>
                      <a:pt x="132331" y="96451"/>
                      <a:pt x="122151" y="100351"/>
                      <a:pt x="114307" y="107407"/>
                    </a:cubicBezTo>
                    <a:lnTo>
                      <a:pt x="114307" y="46453"/>
                    </a:lnTo>
                    <a:cubicBezTo>
                      <a:pt x="114307" y="30671"/>
                      <a:pt x="127100" y="17878"/>
                      <a:pt x="142882" y="17878"/>
                    </a:cubicBezTo>
                    <a:cubicBezTo>
                      <a:pt x="158663" y="17878"/>
                      <a:pt x="171457" y="30671"/>
                      <a:pt x="171457" y="46453"/>
                    </a:cubicBezTo>
                    <a:lnTo>
                      <a:pt x="171457" y="52462"/>
                    </a:lnTo>
                    <a:cubicBezTo>
                      <a:pt x="171457" y="55488"/>
                      <a:pt x="173364" y="58185"/>
                      <a:pt x="176216" y="59195"/>
                    </a:cubicBezTo>
                    <a:cubicBezTo>
                      <a:pt x="192641" y="64978"/>
                      <a:pt x="202503" y="81762"/>
                      <a:pt x="199560" y="98924"/>
                    </a:cubicBezTo>
                    <a:cubicBezTo>
                      <a:pt x="196616" y="116087"/>
                      <a:pt x="181726" y="128626"/>
                      <a:pt x="164313" y="128606"/>
                    </a:cubicBezTo>
                    <a:close/>
                    <a:moveTo>
                      <a:pt x="178600" y="82171"/>
                    </a:moveTo>
                    <a:cubicBezTo>
                      <a:pt x="178600" y="86117"/>
                      <a:pt x="175402" y="89315"/>
                      <a:pt x="171457" y="89315"/>
                    </a:cubicBezTo>
                    <a:lnTo>
                      <a:pt x="167885" y="89315"/>
                    </a:lnTo>
                    <a:cubicBezTo>
                      <a:pt x="150131" y="89315"/>
                      <a:pt x="135738" y="74922"/>
                      <a:pt x="135738" y="57168"/>
                    </a:cubicBezTo>
                    <a:lnTo>
                      <a:pt x="135738" y="53596"/>
                    </a:lnTo>
                    <a:cubicBezTo>
                      <a:pt x="135738" y="49651"/>
                      <a:pt x="138936" y="46453"/>
                      <a:pt x="142882" y="46453"/>
                    </a:cubicBezTo>
                    <a:cubicBezTo>
                      <a:pt x="146827" y="46453"/>
                      <a:pt x="150025" y="49651"/>
                      <a:pt x="150025" y="53596"/>
                    </a:cubicBezTo>
                    <a:lnTo>
                      <a:pt x="150025" y="57168"/>
                    </a:lnTo>
                    <a:cubicBezTo>
                      <a:pt x="150025" y="67032"/>
                      <a:pt x="158021" y="75028"/>
                      <a:pt x="167885" y="75028"/>
                    </a:cubicBezTo>
                    <a:lnTo>
                      <a:pt x="171457" y="75028"/>
                    </a:lnTo>
                    <a:cubicBezTo>
                      <a:pt x="175402" y="75028"/>
                      <a:pt x="178600" y="78226"/>
                      <a:pt x="178600" y="82171"/>
                    </a:cubicBezTo>
                    <a:close/>
                    <a:moveTo>
                      <a:pt x="46441" y="89315"/>
                    </a:moveTo>
                    <a:lnTo>
                      <a:pt x="42869" y="89315"/>
                    </a:lnTo>
                    <a:cubicBezTo>
                      <a:pt x="38924" y="89315"/>
                      <a:pt x="35725" y="86117"/>
                      <a:pt x="35725" y="82171"/>
                    </a:cubicBezTo>
                    <a:cubicBezTo>
                      <a:pt x="35725" y="78226"/>
                      <a:pt x="38924" y="75028"/>
                      <a:pt x="42869" y="75028"/>
                    </a:cubicBezTo>
                    <a:lnTo>
                      <a:pt x="46441" y="75028"/>
                    </a:lnTo>
                    <a:cubicBezTo>
                      <a:pt x="56305" y="75028"/>
                      <a:pt x="64300" y="67032"/>
                      <a:pt x="64300" y="57168"/>
                    </a:cubicBezTo>
                    <a:lnTo>
                      <a:pt x="64300" y="53596"/>
                    </a:lnTo>
                    <a:cubicBezTo>
                      <a:pt x="64300" y="49651"/>
                      <a:pt x="67499" y="46453"/>
                      <a:pt x="71444" y="46453"/>
                    </a:cubicBezTo>
                    <a:cubicBezTo>
                      <a:pt x="75390" y="46453"/>
                      <a:pt x="78588" y="49651"/>
                      <a:pt x="78588" y="53596"/>
                    </a:cubicBezTo>
                    <a:lnTo>
                      <a:pt x="78588" y="57168"/>
                    </a:lnTo>
                    <a:cubicBezTo>
                      <a:pt x="78588" y="74922"/>
                      <a:pt x="64195" y="89315"/>
                      <a:pt x="46441" y="89315"/>
                    </a:cubicBezTo>
                    <a:close/>
                  </a:path>
                </a:pathLst>
              </a:custGeom>
              <a:solidFill>
                <a:srgbClr val="2E7D32"/>
              </a:solidFill>
              <a:ln>
                <a:noFill/>
              </a:ln>
            </p:spPr>
          </p:sp>
        </p:grpSp>
        <p:sp>
          <p:nvSpPr>
            <p:cNvPr id="39" name="TextBox 39"/>
            <p:cNvSpPr txBox="1"/>
            <p:nvPr/>
          </p:nvSpPr>
          <p:spPr>
            <a:xfrm>
              <a:off x="1222058" y="3081814"/>
              <a:ext cx="1139223"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LLM赋能CMMI</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2461260" y="3089910"/>
              <a:ext cx="55591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覆盖全部20个实践域的AI协作方案，统一的"动态知识+静态资产→AI→人审"模式</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71500" y="3571875"/>
            <a:ext cx="11049000" cy="523875"/>
            <a:chOff x="571500" y="3571875"/>
            <a:chExt cx="11049000" cy="523875"/>
          </a:xfrm>
        </p:grpSpPr>
        <p:sp>
          <p:nvSpPr>
            <p:cNvPr id="42" name="Rectangle 42"/>
            <p:cNvSpPr/>
            <p:nvPr/>
          </p:nvSpPr>
          <p:spPr>
            <a:xfrm>
              <a:off x="571500" y="3571875"/>
              <a:ext cx="11049000" cy="523875"/>
            </a:xfrm>
            <a:prstGeom prst="roundRect">
              <a:avLst>
                <a:gd name="adj" fmla="val 14545"/>
              </a:avLst>
            </a:prstGeom>
            <a:solidFill>
              <a:srgbClr val="FFFFFF"/>
            </a:solidFill>
            <a:ln>
              <a:noFill/>
            </a:ln>
          </p:spPr>
        </p:sp>
        <p:sp>
          <p:nvSpPr>
            <p:cNvPr id="43" name="Rectangle 43"/>
            <p:cNvSpPr/>
            <p:nvPr/>
          </p:nvSpPr>
          <p:spPr>
            <a:xfrm>
              <a:off x="571500" y="3571875"/>
              <a:ext cx="57150" cy="523875"/>
            </a:xfrm>
            <a:prstGeom prst="roundRect">
              <a:avLst>
                <a:gd name="adj" fmla="val 50000"/>
              </a:avLst>
            </a:prstGeom>
            <a:solidFill>
              <a:srgbClr val="1565C0"/>
            </a:solidFill>
            <a:ln>
              <a:noFill/>
            </a:ln>
          </p:spPr>
        </p:sp>
        <p:grpSp>
          <p:nvGrpSpPr>
            <p:cNvPr id="46" name="Group 46"/>
            <p:cNvGrpSpPr/>
            <p:nvPr/>
          </p:nvGrpSpPr>
          <p:grpSpPr>
            <a:xfrm>
              <a:off x="885216" y="3797085"/>
              <a:ext cx="172669" cy="201034"/>
              <a:chOff x="885216" y="3797085"/>
              <a:chExt cx="172669" cy="201034"/>
            </a:xfrm>
          </p:grpSpPr>
          <p:sp>
            <p:nvSpPr>
              <p:cNvPr id="44" name="Freeform 44"/>
              <p:cNvSpPr/>
              <p:nvPr/>
            </p:nvSpPr>
            <p:spPr>
              <a:xfrm>
                <a:off x="892656" y="3889989"/>
                <a:ext cx="157787" cy="94252"/>
              </a:xfrm>
              <a:custGeom>
                <a:avLst/>
                <a:gdLst/>
                <a:ahLst/>
                <a:cxnLst/>
                <a:rect l="l" t="t" r="r" b="b"/>
                <a:pathLst>
                  <a:path w="157787" h="94252">
                    <a:moveTo>
                      <a:pt x="49256" y="72411"/>
                    </a:moveTo>
                    <a:lnTo>
                      <a:pt x="22958" y="92270"/>
                    </a:lnTo>
                    <a:cubicBezTo>
                      <a:pt x="21032" y="93812"/>
                      <a:pt x="18447" y="94252"/>
                      <a:pt x="16121" y="93432"/>
                    </a:cubicBezTo>
                    <a:cubicBezTo>
                      <a:pt x="13794" y="92613"/>
                      <a:pt x="12054" y="90651"/>
                      <a:pt x="11519" y="88243"/>
                    </a:cubicBezTo>
                    <a:lnTo>
                      <a:pt x="482" y="38567"/>
                    </a:lnTo>
                    <a:cubicBezTo>
                      <a:pt x="0" y="36406"/>
                      <a:pt x="548" y="34143"/>
                      <a:pt x="1964" y="32442"/>
                    </a:cubicBezTo>
                    <a:lnTo>
                      <a:pt x="29030" y="0"/>
                    </a:lnTo>
                    <a:cubicBezTo>
                      <a:pt x="27994" y="20842"/>
                      <a:pt x="33084" y="45113"/>
                      <a:pt x="49256" y="72411"/>
                    </a:cubicBezTo>
                    <a:close/>
                    <a:moveTo>
                      <a:pt x="155823" y="32442"/>
                    </a:moveTo>
                    <a:lnTo>
                      <a:pt x="128757" y="0"/>
                    </a:lnTo>
                    <a:cubicBezTo>
                      <a:pt x="129837" y="20842"/>
                      <a:pt x="124703" y="45113"/>
                      <a:pt x="108531" y="72411"/>
                    </a:cubicBezTo>
                    <a:lnTo>
                      <a:pt x="134829" y="92270"/>
                    </a:lnTo>
                    <a:cubicBezTo>
                      <a:pt x="136755" y="93812"/>
                      <a:pt x="139340" y="94252"/>
                      <a:pt x="141667" y="93432"/>
                    </a:cubicBezTo>
                    <a:cubicBezTo>
                      <a:pt x="143994" y="92613"/>
                      <a:pt x="145733" y="90651"/>
                      <a:pt x="146268" y="88243"/>
                    </a:cubicBezTo>
                    <a:lnTo>
                      <a:pt x="157305" y="38567"/>
                    </a:lnTo>
                    <a:cubicBezTo>
                      <a:pt x="157787" y="36406"/>
                      <a:pt x="157240" y="34143"/>
                      <a:pt x="155823" y="32442"/>
                    </a:cubicBezTo>
                    <a:close/>
                  </a:path>
                </a:pathLst>
              </a:custGeom>
              <a:solidFill>
                <a:srgbClr val="1565C0">
                  <a:alpha val="20000"/>
                </a:srgbClr>
              </a:solidFill>
              <a:ln>
                <a:noFill/>
              </a:ln>
            </p:spPr>
          </p:sp>
          <p:sp>
            <p:nvSpPr>
              <p:cNvPr id="45" name="Freeform 45"/>
              <p:cNvSpPr/>
              <p:nvPr/>
            </p:nvSpPr>
            <p:spPr>
              <a:xfrm>
                <a:off x="885216" y="3797085"/>
                <a:ext cx="172669" cy="201034"/>
              </a:xfrm>
              <a:custGeom>
                <a:avLst/>
                <a:gdLst/>
                <a:ahLst/>
                <a:cxnLst/>
                <a:rect l="l" t="t" r="r" b="b"/>
                <a:pathLst>
                  <a:path w="172669" h="201034">
                    <a:moveTo>
                      <a:pt x="107766" y="193890"/>
                    </a:moveTo>
                    <a:cubicBezTo>
                      <a:pt x="107766" y="197836"/>
                      <a:pt x="104567" y="201034"/>
                      <a:pt x="100622" y="201034"/>
                    </a:cubicBezTo>
                    <a:lnTo>
                      <a:pt x="72047" y="201034"/>
                    </a:lnTo>
                    <a:cubicBezTo>
                      <a:pt x="68101" y="201034"/>
                      <a:pt x="64903" y="197836"/>
                      <a:pt x="64903" y="193890"/>
                    </a:cubicBezTo>
                    <a:cubicBezTo>
                      <a:pt x="64903" y="189945"/>
                      <a:pt x="68101" y="186747"/>
                      <a:pt x="72047" y="186747"/>
                    </a:cubicBezTo>
                    <a:lnTo>
                      <a:pt x="100622" y="186747"/>
                    </a:lnTo>
                    <a:cubicBezTo>
                      <a:pt x="104567" y="186747"/>
                      <a:pt x="107766" y="189945"/>
                      <a:pt x="107766" y="193890"/>
                    </a:cubicBezTo>
                    <a:close/>
                    <a:moveTo>
                      <a:pt x="86334" y="93878"/>
                    </a:moveTo>
                    <a:cubicBezTo>
                      <a:pt x="92252" y="93878"/>
                      <a:pt x="97050" y="89080"/>
                      <a:pt x="97050" y="83162"/>
                    </a:cubicBezTo>
                    <a:cubicBezTo>
                      <a:pt x="97050" y="77244"/>
                      <a:pt x="92252" y="72447"/>
                      <a:pt x="86334" y="72447"/>
                    </a:cubicBezTo>
                    <a:cubicBezTo>
                      <a:pt x="80416" y="72447"/>
                      <a:pt x="75619" y="77244"/>
                      <a:pt x="75619" y="83162"/>
                    </a:cubicBezTo>
                    <a:cubicBezTo>
                      <a:pt x="75619" y="89080"/>
                      <a:pt x="80416" y="93878"/>
                      <a:pt x="86334" y="93878"/>
                    </a:cubicBezTo>
                    <a:close/>
                    <a:moveTo>
                      <a:pt x="171720" y="133017"/>
                    </a:moveTo>
                    <a:lnTo>
                      <a:pt x="160683" y="182692"/>
                    </a:lnTo>
                    <a:cubicBezTo>
                      <a:pt x="159619" y="187488"/>
                      <a:pt x="156166" y="191400"/>
                      <a:pt x="151540" y="193052"/>
                    </a:cubicBezTo>
                    <a:cubicBezTo>
                      <a:pt x="146914" y="194704"/>
                      <a:pt x="141764" y="193864"/>
                      <a:pt x="137903" y="190827"/>
                    </a:cubicBezTo>
                    <a:lnTo>
                      <a:pt x="113579" y="172459"/>
                    </a:lnTo>
                    <a:lnTo>
                      <a:pt x="59108" y="172459"/>
                    </a:lnTo>
                    <a:lnTo>
                      <a:pt x="34765" y="190827"/>
                    </a:lnTo>
                    <a:cubicBezTo>
                      <a:pt x="30904" y="193864"/>
                      <a:pt x="25754" y="194704"/>
                      <a:pt x="21129" y="193052"/>
                    </a:cubicBezTo>
                    <a:cubicBezTo>
                      <a:pt x="16503" y="191400"/>
                      <a:pt x="13050" y="187488"/>
                      <a:pt x="11986" y="182692"/>
                    </a:cubicBezTo>
                    <a:lnTo>
                      <a:pt x="949" y="133017"/>
                    </a:lnTo>
                    <a:cubicBezTo>
                      <a:pt x="0" y="128697"/>
                      <a:pt x="1094" y="124181"/>
                      <a:pt x="3913" y="120774"/>
                    </a:cubicBezTo>
                    <a:lnTo>
                      <a:pt x="29416" y="90181"/>
                    </a:lnTo>
                    <a:cubicBezTo>
                      <a:pt x="30272" y="78938"/>
                      <a:pt x="32854" y="67894"/>
                      <a:pt x="37069" y="57436"/>
                    </a:cubicBezTo>
                    <a:cubicBezTo>
                      <a:pt x="48589" y="28557"/>
                      <a:pt x="69216" y="10439"/>
                      <a:pt x="77583" y="3992"/>
                    </a:cubicBezTo>
                    <a:cubicBezTo>
                      <a:pt x="82735" y="0"/>
                      <a:pt x="89934" y="0"/>
                      <a:pt x="95085" y="3992"/>
                    </a:cubicBezTo>
                    <a:cubicBezTo>
                      <a:pt x="103426" y="10439"/>
                      <a:pt x="124080" y="28557"/>
                      <a:pt x="135599" y="57436"/>
                    </a:cubicBezTo>
                    <a:cubicBezTo>
                      <a:pt x="139815" y="67894"/>
                      <a:pt x="142396" y="78938"/>
                      <a:pt x="143252" y="90181"/>
                    </a:cubicBezTo>
                    <a:lnTo>
                      <a:pt x="168755" y="120774"/>
                    </a:lnTo>
                    <a:cubicBezTo>
                      <a:pt x="171575" y="124181"/>
                      <a:pt x="172669" y="128697"/>
                      <a:pt x="171720" y="133017"/>
                    </a:cubicBezTo>
                    <a:close/>
                    <a:moveTo>
                      <a:pt x="60822" y="158172"/>
                    </a:moveTo>
                    <a:lnTo>
                      <a:pt x="111846" y="158172"/>
                    </a:lnTo>
                    <a:cubicBezTo>
                      <a:pt x="130706" y="124649"/>
                      <a:pt x="134233" y="92556"/>
                      <a:pt x="122330" y="62731"/>
                    </a:cubicBezTo>
                    <a:cubicBezTo>
                      <a:pt x="111829" y="36406"/>
                      <a:pt x="92130" y="19761"/>
                      <a:pt x="86334" y="15297"/>
                    </a:cubicBezTo>
                    <a:cubicBezTo>
                      <a:pt x="80521" y="19761"/>
                      <a:pt x="60822" y="36406"/>
                      <a:pt x="50321" y="62731"/>
                    </a:cubicBezTo>
                    <a:cubicBezTo>
                      <a:pt x="38435" y="92556"/>
                      <a:pt x="41963" y="124649"/>
                      <a:pt x="60822" y="158172"/>
                    </a:cubicBezTo>
                    <a:close/>
                    <a:moveTo>
                      <a:pt x="47428" y="163395"/>
                    </a:moveTo>
                    <a:cubicBezTo>
                      <a:pt x="37813" y="145923"/>
                      <a:pt x="31979" y="128751"/>
                      <a:pt x="29925" y="111880"/>
                    </a:cubicBezTo>
                    <a:lnTo>
                      <a:pt x="14897" y="129918"/>
                    </a:lnTo>
                    <a:lnTo>
                      <a:pt x="25934" y="179603"/>
                    </a:lnTo>
                    <a:lnTo>
                      <a:pt x="26095" y="179487"/>
                    </a:lnTo>
                    <a:close/>
                    <a:moveTo>
                      <a:pt x="157772" y="129918"/>
                    </a:moveTo>
                    <a:lnTo>
                      <a:pt x="142743" y="111880"/>
                    </a:lnTo>
                    <a:cubicBezTo>
                      <a:pt x="140707" y="128715"/>
                      <a:pt x="134885" y="145887"/>
                      <a:pt x="125277" y="163395"/>
                    </a:cubicBezTo>
                    <a:lnTo>
                      <a:pt x="146574" y="179469"/>
                    </a:lnTo>
                    <a:lnTo>
                      <a:pt x="146735" y="179585"/>
                    </a:lnTo>
                    <a:close/>
                  </a:path>
                </a:pathLst>
              </a:custGeom>
              <a:solidFill>
                <a:srgbClr val="1565C0"/>
              </a:solidFill>
              <a:ln>
                <a:noFill/>
              </a:ln>
            </p:spPr>
          </p:sp>
        </p:grpSp>
        <p:sp>
          <p:nvSpPr>
            <p:cNvPr id="47" name="TextBox 47"/>
            <p:cNvSpPr txBox="1"/>
            <p:nvPr/>
          </p:nvSpPr>
          <p:spPr>
            <a:xfrm>
              <a:off x="1222058" y="3748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关键行动</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2461260" y="3756660"/>
              <a:ext cx="542315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建立Harness体系，推动过程成熟度持续升级，将AI纳入过程管理的每个环节</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571500" y="4476750"/>
            <a:ext cx="11049000" cy="952500"/>
            <a:chOff x="571500" y="4476750"/>
            <a:chExt cx="11049000" cy="952500"/>
          </a:xfrm>
        </p:grpSpPr>
        <p:sp>
          <p:nvSpPr>
            <p:cNvPr id="50" name="Rectangle 50"/>
            <p:cNvSpPr/>
            <p:nvPr/>
          </p:nvSpPr>
          <p:spPr>
            <a:xfrm>
              <a:off x="571500" y="4476750"/>
              <a:ext cx="11049000" cy="952500"/>
            </a:xfrm>
            <a:prstGeom prst="roundRect">
              <a:avLst>
                <a:gd name="adj" fmla="val 12000"/>
              </a:avLst>
            </a:prstGeom>
            <a:solidFill>
              <a:srgbClr val="1565C0">
                <a:alpha val="6000"/>
              </a:srgbClr>
            </a:solidFill>
            <a:ln>
              <a:noFill/>
            </a:ln>
          </p:spPr>
        </p:sp>
        <p:sp>
          <p:nvSpPr>
            <p:cNvPr id="51" name="TextBox 51"/>
            <p:cNvSpPr txBox="1"/>
            <p:nvPr/>
          </p:nvSpPr>
          <p:spPr>
            <a:xfrm>
              <a:off x="935355" y="4664392"/>
              <a:ext cx="790384"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核心理念</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938212" y="4974431"/>
              <a:ext cx="806958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AI时代的过程体系不是抛弃传统工程方法，而是用AI重新激活它们 —— CMMI不再是负担，而是在AI加持下成为效率倍增器。</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937260" y="5185410"/>
              <a:ext cx="6667310"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关键行动：评估当前HMM等级 → 识别短板 → 制定升级计划 → 建立Harness → 持续度量改进</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sp>
        <p:nvSpPr>
          <p:cNvPr id="55" name="TextBox 5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6" name="图片 5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400"/>
                                        <p:tgtEl>
                                          <p:spTgt spid="4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41" grpId="0"/>
      <p:bldP spid="49" grpId="0"/>
      <p:bldP spid="5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35"/>
          <p:cNvSpPr/>
          <p:nvPr>
            <p:custDataLst>
              <p:tags r:id="rId1"/>
            </p:custDataLst>
          </p:nvPr>
        </p:nvSpPr>
        <p:spPr>
          <a:xfrm>
            <a:off x="6929755" y="1904365"/>
            <a:ext cx="1905000" cy="666750"/>
          </a:xfrm>
          <a:prstGeom prst="roundRect">
            <a:avLst>
              <a:gd name="adj" fmla="val 17143"/>
            </a:avLst>
          </a:prstGeom>
          <a:solidFill>
            <a:srgbClr val="FFFFFF"/>
          </a:solidFill>
          <a:ln>
            <a:noFill/>
          </a:ln>
        </p:spPr>
      </p:sp>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13993" y="252412"/>
            <a:ext cx="11106507" cy="457200"/>
            <a:chOff x="513993" y="252412"/>
            <a:chExt cx="11106507" cy="457200"/>
          </a:xfrm>
        </p:grpSpPr>
        <p:sp>
          <p:nvSpPr>
            <p:cNvPr id="5" name="Rectangle 5"/>
            <p:cNvSpPr/>
            <p:nvPr/>
          </p:nvSpPr>
          <p:spPr>
            <a:xfrm>
              <a:off x="571500" y="285750"/>
              <a:ext cx="533400" cy="266700"/>
            </a:xfrm>
            <a:prstGeom prst="roundRect">
              <a:avLst>
                <a:gd name="adj" fmla="val 50000"/>
              </a:avLst>
            </a:prstGeom>
            <a:solidFill>
              <a:srgbClr val="1565C0">
                <a:alpha val="10000"/>
              </a:srgbClr>
            </a:solidFill>
            <a:ln>
              <a:noFill/>
            </a:ln>
          </p:spPr>
        </p:sp>
        <p:sp>
          <p:nvSpPr>
            <p:cNvPr id="6" name="TextBox 6"/>
            <p:cNvSpPr txBox="1"/>
            <p:nvPr/>
          </p:nvSpPr>
          <p:spPr>
            <a:xfrm>
              <a:off x="513993" y="345281"/>
              <a:ext cx="343614"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Segoe UI" panose="020B0502040204020203"/>
                  <a:ea typeface="微软雅黑" panose="020B0503020204020204" charset="-122"/>
                  <a:cs typeface="Segoe UI" panose="020B0502040204020203"/>
                </a:rPr>
                <a:t>总结</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7" name="TextBox 7"/>
            <p:cNvSpPr txBox="1"/>
            <p:nvPr/>
          </p:nvSpPr>
          <p:spPr>
            <a:xfrm>
              <a:off x="1209675" y="252412"/>
              <a:ext cx="3050024"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AI4SE思想与实践全景</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44" name="Group 44"/>
          <p:cNvGrpSpPr/>
          <p:nvPr/>
        </p:nvGrpSpPr>
        <p:grpSpPr>
          <a:xfrm>
            <a:off x="2659380" y="952500"/>
            <a:ext cx="6191250" cy="1571625"/>
            <a:chOff x="762000" y="952500"/>
            <a:chExt cx="6191250" cy="1571625"/>
          </a:xfrm>
        </p:grpSpPr>
        <p:sp>
          <p:nvSpPr>
            <p:cNvPr id="40" name="Rectangle 40"/>
            <p:cNvSpPr/>
            <p:nvPr/>
          </p:nvSpPr>
          <p:spPr>
            <a:xfrm>
              <a:off x="762000" y="1857375"/>
              <a:ext cx="1905000" cy="666750"/>
            </a:xfrm>
            <a:prstGeom prst="roundRect">
              <a:avLst>
                <a:gd name="adj" fmla="val 17143"/>
              </a:avLst>
            </a:prstGeom>
            <a:solidFill>
              <a:srgbClr val="FFFFFF"/>
            </a:solidFill>
            <a:ln>
              <a:noFill/>
            </a:ln>
          </p:spPr>
        </p:sp>
        <p:sp>
          <p:nvSpPr>
            <p:cNvPr id="10" name="Rectangle 10"/>
            <p:cNvSpPr/>
            <p:nvPr/>
          </p:nvSpPr>
          <p:spPr>
            <a:xfrm>
              <a:off x="762000" y="952500"/>
              <a:ext cx="1905000" cy="666750"/>
            </a:xfrm>
            <a:prstGeom prst="roundRect">
              <a:avLst>
                <a:gd name="adj" fmla="val 17143"/>
              </a:avLst>
            </a:prstGeom>
            <a:solidFill>
              <a:srgbClr val="FFFFFF"/>
            </a:solidFill>
            <a:ln>
              <a:noFill/>
            </a:ln>
          </p:spPr>
        </p:sp>
        <p:sp>
          <p:nvSpPr>
            <p:cNvPr id="11" name="Rectangle 11"/>
            <p:cNvSpPr/>
            <p:nvPr/>
          </p:nvSpPr>
          <p:spPr>
            <a:xfrm>
              <a:off x="762000" y="952500"/>
              <a:ext cx="1905000" cy="38100"/>
            </a:xfrm>
            <a:prstGeom prst="roundRect">
              <a:avLst>
                <a:gd name="adj" fmla="val 50000"/>
              </a:avLst>
            </a:prstGeom>
            <a:solidFill>
              <a:srgbClr val="1565C0"/>
            </a:solidFill>
            <a:ln>
              <a:noFill/>
            </a:ln>
          </p:spPr>
        </p:sp>
        <p:sp>
          <p:nvSpPr>
            <p:cNvPr id="12" name="TextBox 12"/>
            <p:cNvSpPr txBox="1"/>
            <p:nvPr/>
          </p:nvSpPr>
          <p:spPr>
            <a:xfrm>
              <a:off x="1274909" y="1135856"/>
              <a:ext cx="879181"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Segoe UI" panose="020B0502040204020203"/>
                  <a:ea typeface="微软雅黑" panose="020B0503020204020204" charset="-122"/>
                  <a:cs typeface="Segoe UI" panose="020B0502040204020203"/>
                </a:rPr>
                <a:t>01 认知重塑</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379220" y="13468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思想基础</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2905125" y="952500"/>
              <a:ext cx="1905000" cy="666750"/>
            </a:xfrm>
            <a:prstGeom prst="roundRect">
              <a:avLst>
                <a:gd name="adj" fmla="val 17143"/>
              </a:avLst>
            </a:prstGeom>
            <a:solidFill>
              <a:srgbClr val="FFFFFF"/>
            </a:solidFill>
            <a:ln>
              <a:noFill/>
            </a:ln>
          </p:spPr>
        </p:sp>
        <p:sp>
          <p:nvSpPr>
            <p:cNvPr id="16" name="Rectangle 16"/>
            <p:cNvSpPr/>
            <p:nvPr/>
          </p:nvSpPr>
          <p:spPr>
            <a:xfrm>
              <a:off x="2905125" y="952500"/>
              <a:ext cx="1905000" cy="38100"/>
            </a:xfrm>
            <a:prstGeom prst="roundRect">
              <a:avLst>
                <a:gd name="adj" fmla="val 50000"/>
              </a:avLst>
            </a:prstGeom>
            <a:solidFill>
              <a:srgbClr val="00838F"/>
            </a:solidFill>
            <a:ln>
              <a:noFill/>
            </a:ln>
          </p:spPr>
        </p:sp>
        <p:sp>
          <p:nvSpPr>
            <p:cNvPr id="17" name="TextBox 17"/>
            <p:cNvSpPr txBox="1"/>
            <p:nvPr/>
          </p:nvSpPr>
          <p:spPr>
            <a:xfrm>
              <a:off x="3418034" y="1135856"/>
              <a:ext cx="879181" cy="228600"/>
            </a:xfrm>
            <a:prstGeom prst="rect">
              <a:avLst/>
            </a:prstGeom>
            <a:noFill/>
            <a:ln>
              <a:noFill/>
            </a:ln>
          </p:spPr>
          <p:txBody>
            <a:bodyPr wrap="none" lIns="0" tIns="0" rIns="0" bIns="0" anchor="t" anchorCtr="0">
              <a:spAutoFit/>
            </a:bodyPr>
            <a:lstStyle/>
            <a:p>
              <a:pPr algn="ctr"/>
              <a:r>
                <a:rPr lang="zh-CN" sz="1125" b="1" dirty="0">
                  <a:solidFill>
                    <a:srgbClr val="00838F"/>
                  </a:solidFill>
                  <a:latin typeface="Segoe UI" panose="020B0502040204020203"/>
                  <a:ea typeface="微软雅黑" panose="020B0503020204020204" charset="-122"/>
                  <a:cs typeface="Segoe UI" panose="020B0502040204020203"/>
                </a:rPr>
                <a:t>02 工程哲学</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3282315" y="1346835"/>
              <a:ext cx="115062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价值观与方法论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5048250" y="952500"/>
              <a:ext cx="1905000" cy="666750"/>
            </a:xfrm>
            <a:prstGeom prst="roundRect">
              <a:avLst>
                <a:gd name="adj" fmla="val 17143"/>
              </a:avLst>
            </a:prstGeom>
            <a:solidFill>
              <a:srgbClr val="FFFFFF"/>
            </a:solidFill>
            <a:ln>
              <a:noFill/>
            </a:ln>
          </p:spPr>
        </p:sp>
        <p:sp>
          <p:nvSpPr>
            <p:cNvPr id="21" name="Rectangle 21"/>
            <p:cNvSpPr/>
            <p:nvPr/>
          </p:nvSpPr>
          <p:spPr>
            <a:xfrm>
              <a:off x="5048250" y="952500"/>
              <a:ext cx="1905000" cy="38100"/>
            </a:xfrm>
            <a:prstGeom prst="roundRect">
              <a:avLst>
                <a:gd name="adj" fmla="val 50000"/>
              </a:avLst>
            </a:prstGeom>
            <a:solidFill>
              <a:srgbClr val="FF6F00"/>
            </a:solidFill>
            <a:ln>
              <a:noFill/>
            </a:ln>
          </p:spPr>
        </p:sp>
        <p:sp>
          <p:nvSpPr>
            <p:cNvPr id="22" name="TextBox 22"/>
            <p:cNvSpPr txBox="1"/>
            <p:nvPr/>
          </p:nvSpPr>
          <p:spPr>
            <a:xfrm>
              <a:off x="5482400" y="1135856"/>
              <a:ext cx="1036701" cy="228600"/>
            </a:xfrm>
            <a:prstGeom prst="rect">
              <a:avLst/>
            </a:prstGeom>
            <a:noFill/>
            <a:ln>
              <a:noFill/>
            </a:ln>
          </p:spPr>
          <p:txBody>
            <a:bodyPr wrap="none" lIns="0" tIns="0" rIns="0" bIns="0" anchor="t" anchorCtr="0">
              <a:spAutoFit/>
            </a:bodyPr>
            <a:lstStyle/>
            <a:p>
              <a:pPr algn="ctr"/>
              <a:r>
                <a:rPr lang="zh-CN" sz="1125" b="1" dirty="0">
                  <a:solidFill>
                    <a:srgbClr val="FF6F00"/>
                  </a:solidFill>
                  <a:latin typeface="Segoe UI" panose="020B0502040204020203"/>
                  <a:ea typeface="微软雅黑" panose="020B0503020204020204" charset="-122"/>
                  <a:cs typeface="Segoe UI" panose="020B0502040204020203"/>
                </a:rPr>
                <a:t>03 需求与设计</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5665470" y="13468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输入质量</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767715" y="1855470"/>
              <a:ext cx="1905000" cy="38100"/>
            </a:xfrm>
            <a:prstGeom prst="roundRect">
              <a:avLst>
                <a:gd name="adj" fmla="val 50000"/>
              </a:avLst>
            </a:prstGeom>
            <a:solidFill>
              <a:srgbClr val="1565C0"/>
            </a:solidFill>
            <a:ln>
              <a:noFill/>
            </a:ln>
          </p:spPr>
        </p:sp>
        <p:sp>
          <p:nvSpPr>
            <p:cNvPr id="27" name="TextBox 27"/>
            <p:cNvSpPr txBox="1"/>
            <p:nvPr/>
          </p:nvSpPr>
          <p:spPr>
            <a:xfrm>
              <a:off x="1438144" y="2038826"/>
              <a:ext cx="564142"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Segoe UI" panose="020B0502040204020203"/>
                  <a:ea typeface="微软雅黑" panose="020B0503020204020204" charset="-122"/>
                  <a:cs typeface="Segoe UI" panose="020B0502040204020203"/>
                </a:rPr>
                <a:t>04 编码</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1384935" y="224980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执行效率</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2905125" y="1857375"/>
              <a:ext cx="1905000" cy="666750"/>
            </a:xfrm>
            <a:prstGeom prst="roundRect">
              <a:avLst>
                <a:gd name="adj" fmla="val 17143"/>
              </a:avLst>
            </a:prstGeom>
            <a:solidFill>
              <a:srgbClr val="FFFFFF"/>
            </a:solidFill>
            <a:ln>
              <a:noFill/>
            </a:ln>
          </p:spPr>
        </p:sp>
        <p:sp>
          <p:nvSpPr>
            <p:cNvPr id="36" name="Rectangle 36"/>
            <p:cNvSpPr/>
            <p:nvPr/>
          </p:nvSpPr>
          <p:spPr>
            <a:xfrm>
              <a:off x="5031105" y="1857375"/>
              <a:ext cx="1905000" cy="38100"/>
            </a:xfrm>
            <a:prstGeom prst="roundRect">
              <a:avLst>
                <a:gd name="adj" fmla="val 50000"/>
              </a:avLst>
            </a:prstGeom>
            <a:solidFill>
              <a:srgbClr val="00838F"/>
            </a:solidFill>
            <a:ln>
              <a:noFill/>
            </a:ln>
          </p:spPr>
        </p:sp>
        <p:sp>
          <p:nvSpPr>
            <p:cNvPr id="37" name="TextBox 37"/>
            <p:cNvSpPr txBox="1"/>
            <p:nvPr/>
          </p:nvSpPr>
          <p:spPr>
            <a:xfrm>
              <a:off x="5544014" y="2040731"/>
              <a:ext cx="879181" cy="228600"/>
            </a:xfrm>
            <a:prstGeom prst="rect">
              <a:avLst/>
            </a:prstGeom>
            <a:noFill/>
            <a:ln>
              <a:noFill/>
            </a:ln>
          </p:spPr>
          <p:txBody>
            <a:bodyPr wrap="none" lIns="0" tIns="0" rIns="0" bIns="0" anchor="t" anchorCtr="0">
              <a:spAutoFit/>
            </a:bodyPr>
            <a:lstStyle/>
            <a:p>
              <a:pPr algn="ctr"/>
              <a:r>
                <a:rPr lang="zh-CN" sz="1125" b="1" dirty="0">
                  <a:solidFill>
                    <a:srgbClr val="00838F"/>
                  </a:solidFill>
                  <a:latin typeface="Segoe UI" panose="020B0502040204020203"/>
                  <a:ea typeface="微软雅黑" panose="020B0503020204020204" charset="-122"/>
                  <a:cs typeface="Segoe UI" panose="020B0502040204020203"/>
                </a:rPr>
                <a:t>06 过程体系</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5648325" y="2251710"/>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组织能力</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2887980" y="1857375"/>
              <a:ext cx="1905000" cy="38100"/>
            </a:xfrm>
            <a:prstGeom prst="roundRect">
              <a:avLst>
                <a:gd name="adj" fmla="val 50000"/>
              </a:avLst>
            </a:prstGeom>
            <a:solidFill>
              <a:srgbClr val="FF6F00"/>
            </a:solidFill>
            <a:ln>
              <a:noFill/>
            </a:ln>
          </p:spPr>
        </p:sp>
        <p:sp>
          <p:nvSpPr>
            <p:cNvPr id="42" name="TextBox 42"/>
            <p:cNvSpPr txBox="1"/>
            <p:nvPr/>
          </p:nvSpPr>
          <p:spPr>
            <a:xfrm>
              <a:off x="3224852" y="2040731"/>
              <a:ext cx="1231265" cy="173355"/>
            </a:xfrm>
            <a:prstGeom prst="rect">
              <a:avLst/>
            </a:prstGeom>
            <a:noFill/>
            <a:ln>
              <a:noFill/>
            </a:ln>
          </p:spPr>
          <p:txBody>
            <a:bodyPr wrap="none" lIns="0" tIns="0" rIns="0" bIns="0" anchor="t" anchorCtr="0">
              <a:spAutoFit/>
            </a:bodyPr>
            <a:lstStyle/>
            <a:p>
              <a:pPr algn="ctr"/>
              <a:r>
                <a:rPr lang="zh-CN" sz="1125" b="1" dirty="0">
                  <a:solidFill>
                    <a:srgbClr val="FF6F00"/>
                  </a:solidFill>
                  <a:latin typeface="Segoe UI" panose="020B0502040204020203"/>
                  <a:ea typeface="微软雅黑" panose="020B0503020204020204" charset="-122"/>
                  <a:cs typeface="Segoe UI" panose="020B0502040204020203"/>
                </a:rPr>
                <a:t>0</a:t>
              </a:r>
              <a:r>
                <a:rPr lang="en-US" altLang="zh-CN" sz="1125" b="1" dirty="0">
                  <a:solidFill>
                    <a:srgbClr val="FF6F00"/>
                  </a:solidFill>
                  <a:latin typeface="Segoe UI" panose="020B0502040204020203"/>
                  <a:ea typeface="微软雅黑" panose="020B0503020204020204" charset="-122"/>
                  <a:cs typeface="Segoe UI" panose="020B0502040204020203"/>
                </a:rPr>
                <a:t>5</a:t>
              </a:r>
              <a:r>
                <a:rPr lang="zh-CN" sz="1125" b="1" dirty="0">
                  <a:solidFill>
                    <a:srgbClr val="FF6F00"/>
                  </a:solidFill>
                  <a:latin typeface="Segoe UI" panose="020B0502040204020203"/>
                  <a:ea typeface="微软雅黑" panose="020B0503020204020204" charset="-122"/>
                  <a:cs typeface="Segoe UI" panose="020B0502040204020203"/>
                </a:rPr>
                <a:t> 测试与质量</a:t>
              </a:r>
              <a:r>
                <a:rPr lang="zh-CN" sz="1125" b="1" dirty="0">
                  <a:solidFill>
                    <a:srgbClr val="FF6F00"/>
                  </a:solidFill>
                  <a:latin typeface="Segoe UI" panose="020B0502040204020203"/>
                  <a:ea typeface="微软雅黑" panose="020B0503020204020204" charset="-122"/>
                  <a:cs typeface="Segoe UI" panose="020B0502040204020203"/>
                </a:rPr>
                <a:t>保障</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3611882" y="2251710"/>
              <a:ext cx="457200" cy="18415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安全</a:t>
              </a:r>
              <a:r>
                <a:rPr lang="zh-CN" sz="1200" dirty="0">
                  <a:solidFill>
                    <a:srgbClr val="546E7A"/>
                  </a:solidFill>
                  <a:latin typeface="Segoe UI" panose="020B0502040204020203"/>
                  <a:ea typeface="微软雅黑" panose="020B0503020204020204" charset="-122"/>
                  <a:cs typeface="Segoe UI" panose="020B0502040204020203"/>
                </a:rPr>
                <a:t>网</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2905125"/>
            <a:ext cx="11049000" cy="857250"/>
            <a:chOff x="571500" y="2905125"/>
            <a:chExt cx="11049000" cy="857250"/>
          </a:xfrm>
        </p:grpSpPr>
        <p:sp>
          <p:nvSpPr>
            <p:cNvPr id="45" name="Rectangle 45"/>
            <p:cNvSpPr/>
            <p:nvPr/>
          </p:nvSpPr>
          <p:spPr>
            <a:xfrm>
              <a:off x="571500" y="2905125"/>
              <a:ext cx="11049000" cy="857250"/>
            </a:xfrm>
            <a:prstGeom prst="roundRect">
              <a:avLst>
                <a:gd name="adj" fmla="val 13333"/>
              </a:avLst>
            </a:prstGeom>
            <a:solidFill>
              <a:srgbClr val="FFFFFF"/>
            </a:solidFill>
            <a:ln>
              <a:noFill/>
            </a:ln>
          </p:spPr>
        </p:sp>
        <p:sp>
          <p:nvSpPr>
            <p:cNvPr id="46" name="TextBox 46"/>
            <p:cNvSpPr txBox="1"/>
            <p:nvPr/>
          </p:nvSpPr>
          <p:spPr>
            <a:xfrm>
              <a:off x="5760720" y="3108960"/>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核心公式</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2246401" y="3426142"/>
              <a:ext cx="7699198"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AI4SE成功 = 正确认知 × 工程哲学 × 精准需求 × 规范编码 × 完备测试 × 成熟过程 × 持续落地</a:t>
              </a:r>
              <a:endParaRPr lang="zh-CN" sz="1350" b="1" dirty="0">
                <a:solidFill>
                  <a:srgbClr val="1565C0"/>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571500" y="4000500"/>
            <a:ext cx="11049000" cy="1143000"/>
            <a:chOff x="571500" y="4000500"/>
            <a:chExt cx="11049000" cy="1143000"/>
          </a:xfrm>
        </p:grpSpPr>
        <p:sp>
          <p:nvSpPr>
            <p:cNvPr id="49" name="Rectangle 49"/>
            <p:cNvSpPr/>
            <p:nvPr/>
          </p:nvSpPr>
          <p:spPr>
            <a:xfrm>
              <a:off x="571500" y="4000500"/>
              <a:ext cx="11049000" cy="1143000"/>
            </a:xfrm>
            <a:prstGeom prst="roundRect">
              <a:avLst>
                <a:gd name="adj" fmla="val 10000"/>
              </a:avLst>
            </a:prstGeom>
            <a:solidFill>
              <a:srgbClr val="1565C0">
                <a:alpha val="5000"/>
              </a:srgbClr>
            </a:solidFill>
            <a:ln>
              <a:noFill/>
            </a:ln>
          </p:spPr>
        </p:sp>
        <p:sp>
          <p:nvSpPr>
            <p:cNvPr id="50" name="Rectangle 50"/>
            <p:cNvSpPr/>
            <p:nvPr/>
          </p:nvSpPr>
          <p:spPr>
            <a:xfrm>
              <a:off x="762000" y="4143375"/>
              <a:ext cx="57150" cy="476250"/>
            </a:xfrm>
            <a:prstGeom prst="roundRect">
              <a:avLst>
                <a:gd name="adj" fmla="val 50000"/>
              </a:avLst>
            </a:prstGeom>
            <a:solidFill>
              <a:srgbClr val="FF6F00"/>
            </a:solidFill>
            <a:ln>
              <a:noFill/>
            </a:ln>
          </p:spPr>
        </p:sp>
        <p:sp>
          <p:nvSpPr>
            <p:cNvPr id="51" name="TextBox 51"/>
            <p:cNvSpPr txBox="1"/>
            <p:nvPr/>
          </p:nvSpPr>
          <p:spPr>
            <a:xfrm>
              <a:off x="1030605" y="4254818"/>
              <a:ext cx="1168432"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一个核心理念</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3036427" y="4605814"/>
              <a:ext cx="6119146" cy="259080"/>
            </a:xfrm>
            <a:prstGeom prst="rect">
              <a:avLst/>
            </a:prstGeom>
            <a:noFill/>
            <a:ln>
              <a:noFill/>
            </a:ln>
          </p:spPr>
          <p:txBody>
            <a:bodyPr wrap="none" lIns="0" tIns="0" rIns="0" bIns="0" anchor="t" anchorCtr="0">
              <a:spAutoFit/>
            </a:bodyPr>
            <a:lstStyle/>
            <a:p>
              <a:pPr algn="ctr"/>
              <a:r>
                <a:rPr lang="zh-CN" sz="1275" dirty="0">
                  <a:solidFill>
                    <a:srgbClr val="263238"/>
                  </a:solidFill>
                  <a:latin typeface="Segoe UI" panose="020B0502040204020203"/>
                  <a:ea typeface="微软雅黑" panose="020B0503020204020204" charset="-122"/>
                  <a:cs typeface="Segoe UI" panose="020B0502040204020203"/>
                </a:rPr>
                <a:t>AI不是银弹，但是最强辅助——拥抱AI效率红利，清醒认知能力边界，回归工程本质</a:t>
              </a:r>
              <a:endParaRPr lang="zh-CN" sz="1275" dirty="0">
                <a:solidFill>
                  <a:srgbClr val="263238"/>
                </a:solidFill>
                <a:latin typeface="Segoe UI" panose="020B0502040204020203"/>
                <a:ea typeface="微软雅黑" panose="020B0503020204020204" charset="-122"/>
                <a:cs typeface="Segoe UI" panose="020B0502040204020203"/>
              </a:endParaRPr>
            </a:p>
          </p:txBody>
        </p:sp>
        <p:sp>
          <p:nvSpPr>
            <p:cNvPr id="53" name="Rectangle 53"/>
            <p:cNvSpPr/>
            <p:nvPr/>
          </p:nvSpPr>
          <p:spPr>
            <a:xfrm>
              <a:off x="3238500" y="4857750"/>
              <a:ext cx="19050" cy="171450"/>
            </a:xfrm>
            <a:prstGeom prst="rect">
              <a:avLst/>
            </a:prstGeom>
            <a:solidFill>
              <a:srgbClr val="FF6F00"/>
            </a:solidFill>
            <a:ln>
              <a:noFill/>
            </a:ln>
          </p:spPr>
        </p:sp>
      </p:grpSp>
      <p:grpSp>
        <p:nvGrpSpPr>
          <p:cNvPr id="73" name="Group 73"/>
          <p:cNvGrpSpPr/>
          <p:nvPr/>
        </p:nvGrpSpPr>
        <p:grpSpPr>
          <a:xfrm>
            <a:off x="571500" y="5381625"/>
            <a:ext cx="11049000" cy="762000"/>
            <a:chOff x="571500" y="5381625"/>
            <a:chExt cx="11049000" cy="762000"/>
          </a:xfrm>
        </p:grpSpPr>
        <p:sp>
          <p:nvSpPr>
            <p:cNvPr id="55" name="Rectangle 55"/>
            <p:cNvSpPr/>
            <p:nvPr/>
          </p:nvSpPr>
          <p:spPr>
            <a:xfrm>
              <a:off x="571500" y="5381625"/>
              <a:ext cx="3524250" cy="762000"/>
            </a:xfrm>
            <a:prstGeom prst="roundRect">
              <a:avLst>
                <a:gd name="adj" fmla="val 15000"/>
              </a:avLst>
            </a:prstGeom>
            <a:solidFill>
              <a:srgbClr val="FFFFFF"/>
            </a:solidFill>
            <a:ln>
              <a:noFill/>
            </a:ln>
          </p:spPr>
        </p:sp>
        <p:grpSp>
          <p:nvGrpSpPr>
            <p:cNvPr id="58" name="Group 58"/>
            <p:cNvGrpSpPr/>
            <p:nvPr/>
          </p:nvGrpSpPr>
          <p:grpSpPr>
            <a:xfrm>
              <a:off x="873687" y="5633527"/>
              <a:ext cx="157457" cy="200535"/>
              <a:chOff x="873687" y="5633527"/>
              <a:chExt cx="157457" cy="200535"/>
            </a:xfrm>
          </p:grpSpPr>
          <p:sp>
            <p:nvSpPr>
              <p:cNvPr id="56" name="Freeform 56"/>
              <p:cNvSpPr/>
              <p:nvPr/>
            </p:nvSpPr>
            <p:spPr>
              <a:xfrm>
                <a:off x="880848" y="5640717"/>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1565C0">
                  <a:alpha val="20000"/>
                </a:srgbClr>
              </a:solidFill>
              <a:ln>
                <a:noFill/>
              </a:ln>
            </p:spPr>
          </p:sp>
          <p:sp>
            <p:nvSpPr>
              <p:cNvPr id="57" name="Freeform 57"/>
              <p:cNvSpPr/>
              <p:nvPr/>
            </p:nvSpPr>
            <p:spPr>
              <a:xfrm>
                <a:off x="873687" y="5633527"/>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1565C0"/>
              </a:solidFill>
              <a:ln>
                <a:noFill/>
              </a:ln>
            </p:spPr>
          </p:sp>
        </p:grpSp>
        <p:sp>
          <p:nvSpPr>
            <p:cNvPr id="59" name="TextBox 59"/>
            <p:cNvSpPr txBox="1"/>
            <p:nvPr/>
          </p:nvSpPr>
          <p:spPr>
            <a:xfrm>
              <a:off x="1176338" y="5545931"/>
              <a:ext cx="950065"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AI负责确定性</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1176338" y="5784056"/>
              <a:ext cx="15287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人类负责探索不确定性</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1" name="Rectangle 61"/>
            <p:cNvSpPr/>
            <p:nvPr/>
          </p:nvSpPr>
          <p:spPr>
            <a:xfrm>
              <a:off x="4333875" y="5381625"/>
              <a:ext cx="3524250" cy="762000"/>
            </a:xfrm>
            <a:prstGeom prst="roundRect">
              <a:avLst>
                <a:gd name="adj" fmla="val 15000"/>
              </a:avLst>
            </a:prstGeom>
            <a:solidFill>
              <a:srgbClr val="FFFFFF"/>
            </a:solidFill>
            <a:ln>
              <a:noFill/>
            </a:ln>
          </p:spPr>
        </p:sp>
        <p:grpSp>
          <p:nvGrpSpPr>
            <p:cNvPr id="64" name="Group 64"/>
            <p:cNvGrpSpPr/>
            <p:nvPr/>
          </p:nvGrpSpPr>
          <p:grpSpPr>
            <a:xfrm>
              <a:off x="4612104" y="5632543"/>
              <a:ext cx="207126" cy="205692"/>
              <a:chOff x="4612104" y="5632543"/>
              <a:chExt cx="207126" cy="205692"/>
            </a:xfrm>
          </p:grpSpPr>
          <p:sp>
            <p:nvSpPr>
              <p:cNvPr id="62" name="Freeform 62"/>
              <p:cNvSpPr/>
              <p:nvPr/>
            </p:nvSpPr>
            <p:spPr>
              <a:xfrm>
                <a:off x="4672012" y="5691188"/>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FF6F00">
                  <a:alpha val="20000"/>
                </a:srgbClr>
              </a:solidFill>
              <a:ln>
                <a:noFill/>
              </a:ln>
            </p:spPr>
          </p:sp>
          <p:sp>
            <p:nvSpPr>
              <p:cNvPr id="63" name="Freeform 63"/>
              <p:cNvSpPr/>
              <p:nvPr/>
            </p:nvSpPr>
            <p:spPr>
              <a:xfrm>
                <a:off x="4612104" y="5632543"/>
                <a:ext cx="207126" cy="205692"/>
              </a:xfrm>
              <a:custGeom>
                <a:avLst/>
                <a:gdLst/>
                <a:ahLst/>
                <a:cxnLst/>
                <a:rect l="l" t="t" r="r" b="b"/>
                <a:pathLst>
                  <a:path w="207126" h="205692">
                    <a:moveTo>
                      <a:pt x="186594" y="61466"/>
                    </a:moveTo>
                    <a:cubicBezTo>
                      <a:pt x="207126" y="104409"/>
                      <a:pt x="191903" y="155922"/>
                      <a:pt x="151328" y="180807"/>
                    </a:cubicBezTo>
                    <a:cubicBezTo>
                      <a:pt x="110753" y="205692"/>
                      <a:pt x="57936" y="195907"/>
                      <a:pt x="28968" y="158138"/>
                    </a:cubicBezTo>
                    <a:cubicBezTo>
                      <a:pt x="0" y="120369"/>
                      <a:pt x="4242" y="66821"/>
                      <a:pt x="38795" y="34084"/>
                    </a:cubicBezTo>
                    <a:cubicBezTo>
                      <a:pt x="73347" y="1348"/>
                      <a:pt x="127046" y="0"/>
                      <a:pt x="163198" y="30963"/>
                    </a:cubicBezTo>
                    <a:lnTo>
                      <a:pt x="183441" y="10710"/>
                    </a:lnTo>
                    <a:cubicBezTo>
                      <a:pt x="186233" y="7919"/>
                      <a:pt x="190758" y="7919"/>
                      <a:pt x="193550" y="10710"/>
                    </a:cubicBezTo>
                    <a:cubicBezTo>
                      <a:pt x="196341" y="13501"/>
                      <a:pt x="196341" y="18027"/>
                      <a:pt x="193550" y="20818"/>
                    </a:cubicBezTo>
                    <a:lnTo>
                      <a:pt x="107825" y="106543"/>
                    </a:lnTo>
                    <a:cubicBezTo>
                      <a:pt x="105033" y="109335"/>
                      <a:pt x="100508" y="109335"/>
                      <a:pt x="97716" y="106543"/>
                    </a:cubicBezTo>
                    <a:cubicBezTo>
                      <a:pt x="94925" y="103752"/>
                      <a:pt x="94925" y="99226"/>
                      <a:pt x="97716" y="96435"/>
                    </a:cubicBezTo>
                    <a:lnTo>
                      <a:pt x="122469" y="71682"/>
                    </a:lnTo>
                    <a:cubicBezTo>
                      <a:pt x="108659" y="62548"/>
                      <a:pt x="90381" y="64103"/>
                      <a:pt x="78312" y="75439"/>
                    </a:cubicBezTo>
                    <a:cubicBezTo>
                      <a:pt x="66243" y="86775"/>
                      <a:pt x="63547" y="104919"/>
                      <a:pt x="71798" y="119274"/>
                    </a:cubicBezTo>
                    <a:cubicBezTo>
                      <a:pt x="80049" y="133630"/>
                      <a:pt x="97085" y="140432"/>
                      <a:pt x="112955" y="135709"/>
                    </a:cubicBezTo>
                    <a:cubicBezTo>
                      <a:pt x="128825" y="130986"/>
                      <a:pt x="139368" y="115975"/>
                      <a:pt x="138427" y="99444"/>
                    </a:cubicBezTo>
                    <a:cubicBezTo>
                      <a:pt x="138205" y="95499"/>
                      <a:pt x="141223" y="92121"/>
                      <a:pt x="145169" y="91899"/>
                    </a:cubicBezTo>
                    <a:cubicBezTo>
                      <a:pt x="149114" y="91677"/>
                      <a:pt x="152492" y="94695"/>
                      <a:pt x="152714" y="98641"/>
                    </a:cubicBezTo>
                    <a:cubicBezTo>
                      <a:pt x="154056" y="122054"/>
                      <a:pt x="138946" y="143255"/>
                      <a:pt x="116376" y="149627"/>
                    </a:cubicBezTo>
                    <a:cubicBezTo>
                      <a:pt x="93807" y="155998"/>
                      <a:pt x="69841" y="145830"/>
                      <a:pt x="58740" y="125171"/>
                    </a:cubicBezTo>
                    <a:cubicBezTo>
                      <a:pt x="47640" y="104512"/>
                      <a:pt x="52387" y="78915"/>
                      <a:pt x="70157" y="63611"/>
                    </a:cubicBezTo>
                    <a:cubicBezTo>
                      <a:pt x="87927" y="48306"/>
                      <a:pt x="113946" y="47407"/>
                      <a:pt x="132730" y="61449"/>
                    </a:cubicBezTo>
                    <a:lnTo>
                      <a:pt x="153045" y="41134"/>
                    </a:lnTo>
                    <a:cubicBezTo>
                      <a:pt x="122215" y="15537"/>
                      <a:pt x="77053" y="17279"/>
                      <a:pt x="48287" y="45174"/>
                    </a:cubicBezTo>
                    <a:cubicBezTo>
                      <a:pt x="19520" y="73069"/>
                      <a:pt x="16391" y="118156"/>
                      <a:pt x="41027" y="149758"/>
                    </a:cubicBezTo>
                    <a:cubicBezTo>
                      <a:pt x="65663" y="181360"/>
                      <a:pt x="110151" y="189325"/>
                      <a:pt x="144222" y="168234"/>
                    </a:cubicBezTo>
                    <a:cubicBezTo>
                      <a:pt x="178292" y="147143"/>
                      <a:pt x="191000" y="103771"/>
                      <a:pt x="173699" y="67628"/>
                    </a:cubicBezTo>
                    <a:cubicBezTo>
                      <a:pt x="171998" y="64067"/>
                      <a:pt x="173505" y="59801"/>
                      <a:pt x="177066" y="58100"/>
                    </a:cubicBezTo>
                    <a:cubicBezTo>
                      <a:pt x="180626" y="56398"/>
                      <a:pt x="184892" y="57906"/>
                      <a:pt x="186594" y="61466"/>
                    </a:cubicBezTo>
                    <a:close/>
                  </a:path>
                </a:pathLst>
              </a:custGeom>
              <a:solidFill>
                <a:srgbClr val="FF6F00"/>
              </a:solidFill>
              <a:ln>
                <a:noFill/>
              </a:ln>
            </p:spPr>
          </p:sp>
        </p:grpSp>
        <p:sp>
          <p:nvSpPr>
            <p:cNvPr id="65" name="TextBox 65"/>
            <p:cNvSpPr txBox="1"/>
            <p:nvPr/>
          </p:nvSpPr>
          <p:spPr>
            <a:xfrm>
              <a:off x="4938712" y="5545931"/>
              <a:ext cx="1469880"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去模糊化 + Skill体系</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4938712" y="5784056"/>
              <a:ext cx="150626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AI协同的两大基础设施</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7" name="Rectangle 67"/>
            <p:cNvSpPr/>
            <p:nvPr/>
          </p:nvSpPr>
          <p:spPr>
            <a:xfrm>
              <a:off x="8096250" y="5381625"/>
              <a:ext cx="3524250" cy="762000"/>
            </a:xfrm>
            <a:prstGeom prst="roundRect">
              <a:avLst>
                <a:gd name="adj" fmla="val 15000"/>
              </a:avLst>
            </a:prstGeom>
            <a:solidFill>
              <a:srgbClr val="FFFFFF"/>
            </a:solidFill>
            <a:ln>
              <a:noFill/>
            </a:ln>
          </p:spPr>
        </p:sp>
        <p:grpSp>
          <p:nvGrpSpPr>
            <p:cNvPr id="70" name="Group 70"/>
            <p:cNvGrpSpPr/>
            <p:nvPr/>
          </p:nvGrpSpPr>
          <p:grpSpPr>
            <a:xfrm>
              <a:off x="8390916" y="5625885"/>
              <a:ext cx="172669" cy="201034"/>
              <a:chOff x="8390916" y="5625885"/>
              <a:chExt cx="172669" cy="201034"/>
            </a:xfrm>
          </p:grpSpPr>
          <p:sp>
            <p:nvSpPr>
              <p:cNvPr id="68" name="Freeform 68"/>
              <p:cNvSpPr/>
              <p:nvPr/>
            </p:nvSpPr>
            <p:spPr>
              <a:xfrm>
                <a:off x="8398356" y="5718789"/>
                <a:ext cx="157787" cy="94252"/>
              </a:xfrm>
              <a:custGeom>
                <a:avLst/>
                <a:gdLst/>
                <a:ahLst/>
                <a:cxnLst/>
                <a:rect l="l" t="t" r="r" b="b"/>
                <a:pathLst>
                  <a:path w="157787" h="94252">
                    <a:moveTo>
                      <a:pt x="49256" y="72411"/>
                    </a:moveTo>
                    <a:lnTo>
                      <a:pt x="22958" y="92270"/>
                    </a:lnTo>
                    <a:cubicBezTo>
                      <a:pt x="21032" y="93812"/>
                      <a:pt x="18447" y="94252"/>
                      <a:pt x="16121" y="93432"/>
                    </a:cubicBezTo>
                    <a:cubicBezTo>
                      <a:pt x="13794" y="92613"/>
                      <a:pt x="12054" y="90651"/>
                      <a:pt x="11519" y="88243"/>
                    </a:cubicBezTo>
                    <a:lnTo>
                      <a:pt x="482" y="38567"/>
                    </a:lnTo>
                    <a:cubicBezTo>
                      <a:pt x="0" y="36406"/>
                      <a:pt x="548" y="34143"/>
                      <a:pt x="1964" y="32442"/>
                    </a:cubicBezTo>
                    <a:lnTo>
                      <a:pt x="29030" y="0"/>
                    </a:lnTo>
                    <a:cubicBezTo>
                      <a:pt x="27994" y="20842"/>
                      <a:pt x="33084" y="45113"/>
                      <a:pt x="49256" y="72411"/>
                    </a:cubicBezTo>
                    <a:close/>
                    <a:moveTo>
                      <a:pt x="155823" y="32442"/>
                    </a:moveTo>
                    <a:lnTo>
                      <a:pt x="128757" y="0"/>
                    </a:lnTo>
                    <a:cubicBezTo>
                      <a:pt x="129837" y="20842"/>
                      <a:pt x="124703" y="45113"/>
                      <a:pt x="108531" y="72411"/>
                    </a:cubicBezTo>
                    <a:lnTo>
                      <a:pt x="134829" y="92270"/>
                    </a:lnTo>
                    <a:cubicBezTo>
                      <a:pt x="136755" y="93812"/>
                      <a:pt x="139340" y="94252"/>
                      <a:pt x="141667" y="93432"/>
                    </a:cubicBezTo>
                    <a:cubicBezTo>
                      <a:pt x="143994" y="92613"/>
                      <a:pt x="145733" y="90651"/>
                      <a:pt x="146268" y="88243"/>
                    </a:cubicBezTo>
                    <a:lnTo>
                      <a:pt x="157305" y="38567"/>
                    </a:lnTo>
                    <a:cubicBezTo>
                      <a:pt x="157787" y="36406"/>
                      <a:pt x="157240" y="34143"/>
                      <a:pt x="155823" y="32442"/>
                    </a:cubicBezTo>
                    <a:close/>
                  </a:path>
                </a:pathLst>
              </a:custGeom>
              <a:solidFill>
                <a:srgbClr val="2E7D32">
                  <a:alpha val="20000"/>
                </a:srgbClr>
              </a:solidFill>
              <a:ln>
                <a:noFill/>
              </a:ln>
            </p:spPr>
          </p:sp>
          <p:sp>
            <p:nvSpPr>
              <p:cNvPr id="69" name="Freeform 69"/>
              <p:cNvSpPr/>
              <p:nvPr/>
            </p:nvSpPr>
            <p:spPr>
              <a:xfrm>
                <a:off x="8390916" y="5625885"/>
                <a:ext cx="172669" cy="201034"/>
              </a:xfrm>
              <a:custGeom>
                <a:avLst/>
                <a:gdLst/>
                <a:ahLst/>
                <a:cxnLst/>
                <a:rect l="l" t="t" r="r" b="b"/>
                <a:pathLst>
                  <a:path w="172669" h="201034">
                    <a:moveTo>
                      <a:pt x="107766" y="193890"/>
                    </a:moveTo>
                    <a:cubicBezTo>
                      <a:pt x="107766" y="197836"/>
                      <a:pt x="104567" y="201034"/>
                      <a:pt x="100622" y="201034"/>
                    </a:cubicBezTo>
                    <a:lnTo>
                      <a:pt x="72047" y="201034"/>
                    </a:lnTo>
                    <a:cubicBezTo>
                      <a:pt x="68101" y="201034"/>
                      <a:pt x="64903" y="197836"/>
                      <a:pt x="64903" y="193890"/>
                    </a:cubicBezTo>
                    <a:cubicBezTo>
                      <a:pt x="64903" y="189945"/>
                      <a:pt x="68101" y="186747"/>
                      <a:pt x="72047" y="186747"/>
                    </a:cubicBezTo>
                    <a:lnTo>
                      <a:pt x="100622" y="186747"/>
                    </a:lnTo>
                    <a:cubicBezTo>
                      <a:pt x="104567" y="186747"/>
                      <a:pt x="107766" y="189945"/>
                      <a:pt x="107766" y="193890"/>
                    </a:cubicBezTo>
                    <a:close/>
                    <a:moveTo>
                      <a:pt x="86334" y="93878"/>
                    </a:moveTo>
                    <a:cubicBezTo>
                      <a:pt x="92252" y="93878"/>
                      <a:pt x="97050" y="89080"/>
                      <a:pt x="97050" y="83162"/>
                    </a:cubicBezTo>
                    <a:cubicBezTo>
                      <a:pt x="97050" y="77244"/>
                      <a:pt x="92252" y="72447"/>
                      <a:pt x="86334" y="72447"/>
                    </a:cubicBezTo>
                    <a:cubicBezTo>
                      <a:pt x="80416" y="72447"/>
                      <a:pt x="75619" y="77244"/>
                      <a:pt x="75619" y="83162"/>
                    </a:cubicBezTo>
                    <a:cubicBezTo>
                      <a:pt x="75619" y="89080"/>
                      <a:pt x="80416" y="93878"/>
                      <a:pt x="86334" y="93878"/>
                    </a:cubicBezTo>
                    <a:close/>
                    <a:moveTo>
                      <a:pt x="171720" y="133017"/>
                    </a:moveTo>
                    <a:lnTo>
                      <a:pt x="160683" y="182692"/>
                    </a:lnTo>
                    <a:cubicBezTo>
                      <a:pt x="159619" y="187488"/>
                      <a:pt x="156166" y="191400"/>
                      <a:pt x="151540" y="193052"/>
                    </a:cubicBezTo>
                    <a:cubicBezTo>
                      <a:pt x="146914" y="194704"/>
                      <a:pt x="141764" y="193864"/>
                      <a:pt x="137903" y="190827"/>
                    </a:cubicBezTo>
                    <a:lnTo>
                      <a:pt x="113579" y="172459"/>
                    </a:lnTo>
                    <a:lnTo>
                      <a:pt x="59108" y="172459"/>
                    </a:lnTo>
                    <a:lnTo>
                      <a:pt x="34765" y="190827"/>
                    </a:lnTo>
                    <a:cubicBezTo>
                      <a:pt x="30904" y="193864"/>
                      <a:pt x="25754" y="194704"/>
                      <a:pt x="21129" y="193052"/>
                    </a:cubicBezTo>
                    <a:cubicBezTo>
                      <a:pt x="16503" y="191400"/>
                      <a:pt x="13050" y="187488"/>
                      <a:pt x="11986" y="182692"/>
                    </a:cubicBezTo>
                    <a:lnTo>
                      <a:pt x="949" y="133017"/>
                    </a:lnTo>
                    <a:cubicBezTo>
                      <a:pt x="0" y="128697"/>
                      <a:pt x="1094" y="124181"/>
                      <a:pt x="3913" y="120774"/>
                    </a:cubicBezTo>
                    <a:lnTo>
                      <a:pt x="29416" y="90181"/>
                    </a:lnTo>
                    <a:cubicBezTo>
                      <a:pt x="30272" y="78938"/>
                      <a:pt x="32854" y="67894"/>
                      <a:pt x="37069" y="57436"/>
                    </a:cubicBezTo>
                    <a:cubicBezTo>
                      <a:pt x="48589" y="28557"/>
                      <a:pt x="69216" y="10439"/>
                      <a:pt x="77583" y="3992"/>
                    </a:cubicBezTo>
                    <a:cubicBezTo>
                      <a:pt x="82735" y="0"/>
                      <a:pt x="89934" y="0"/>
                      <a:pt x="95085" y="3992"/>
                    </a:cubicBezTo>
                    <a:cubicBezTo>
                      <a:pt x="103426" y="10439"/>
                      <a:pt x="124080" y="28557"/>
                      <a:pt x="135599" y="57436"/>
                    </a:cubicBezTo>
                    <a:cubicBezTo>
                      <a:pt x="139815" y="67894"/>
                      <a:pt x="142396" y="78938"/>
                      <a:pt x="143252" y="90181"/>
                    </a:cubicBezTo>
                    <a:lnTo>
                      <a:pt x="168755" y="120774"/>
                    </a:lnTo>
                    <a:cubicBezTo>
                      <a:pt x="171575" y="124181"/>
                      <a:pt x="172669" y="128697"/>
                      <a:pt x="171720" y="133017"/>
                    </a:cubicBezTo>
                    <a:close/>
                    <a:moveTo>
                      <a:pt x="60822" y="158172"/>
                    </a:moveTo>
                    <a:lnTo>
                      <a:pt x="111846" y="158172"/>
                    </a:lnTo>
                    <a:cubicBezTo>
                      <a:pt x="130706" y="124649"/>
                      <a:pt x="134233" y="92556"/>
                      <a:pt x="122330" y="62731"/>
                    </a:cubicBezTo>
                    <a:cubicBezTo>
                      <a:pt x="111829" y="36406"/>
                      <a:pt x="92130" y="19761"/>
                      <a:pt x="86334" y="15297"/>
                    </a:cubicBezTo>
                    <a:cubicBezTo>
                      <a:pt x="80521" y="19761"/>
                      <a:pt x="60822" y="36406"/>
                      <a:pt x="50321" y="62731"/>
                    </a:cubicBezTo>
                    <a:cubicBezTo>
                      <a:pt x="38435" y="92556"/>
                      <a:pt x="41963" y="124649"/>
                      <a:pt x="60822" y="158172"/>
                    </a:cubicBezTo>
                    <a:close/>
                    <a:moveTo>
                      <a:pt x="47428" y="163395"/>
                    </a:moveTo>
                    <a:cubicBezTo>
                      <a:pt x="37813" y="145923"/>
                      <a:pt x="31979" y="128751"/>
                      <a:pt x="29925" y="111880"/>
                    </a:cubicBezTo>
                    <a:lnTo>
                      <a:pt x="14897" y="129918"/>
                    </a:lnTo>
                    <a:lnTo>
                      <a:pt x="25934" y="179603"/>
                    </a:lnTo>
                    <a:lnTo>
                      <a:pt x="26095" y="179487"/>
                    </a:lnTo>
                    <a:close/>
                    <a:moveTo>
                      <a:pt x="157772" y="129918"/>
                    </a:moveTo>
                    <a:lnTo>
                      <a:pt x="142743" y="111880"/>
                    </a:lnTo>
                    <a:cubicBezTo>
                      <a:pt x="140707" y="128715"/>
                      <a:pt x="134885" y="145887"/>
                      <a:pt x="125277" y="163395"/>
                    </a:cubicBezTo>
                    <a:lnTo>
                      <a:pt x="146574" y="179469"/>
                    </a:lnTo>
                    <a:lnTo>
                      <a:pt x="146735" y="179585"/>
                    </a:lnTo>
                    <a:close/>
                  </a:path>
                </a:pathLst>
              </a:custGeom>
              <a:solidFill>
                <a:srgbClr val="2E7D32"/>
              </a:solidFill>
              <a:ln>
                <a:noFill/>
              </a:ln>
            </p:spPr>
          </p:sp>
        </p:grpSp>
        <p:sp>
          <p:nvSpPr>
            <p:cNvPr id="71" name="TextBox 71"/>
            <p:cNvSpPr txBox="1"/>
            <p:nvPr/>
          </p:nvSpPr>
          <p:spPr>
            <a:xfrm>
              <a:off x="8701088" y="5545931"/>
              <a:ext cx="1335988"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持续迭代 持续进化</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8701088" y="5784056"/>
              <a:ext cx="182880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让每次变更都成为团队资产</a:t>
              </a:r>
              <a:endParaRPr lang="zh-CN" sz="1125" dirty="0">
                <a:solidFill>
                  <a:srgbClr val="546E7A"/>
                </a:solidFill>
                <a:latin typeface="Segoe UI" panose="020B0502040204020203"/>
                <a:ea typeface="微软雅黑" panose="020B0503020204020204" charset="-122"/>
                <a:cs typeface="Segoe UI" panose="020B0502040204020203"/>
              </a:endParaRPr>
            </a:p>
          </p:txBody>
        </p:sp>
      </p:grpSp>
      <p:sp>
        <p:nvSpPr>
          <p:cNvPr id="74" name="TextBox 7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81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5" name="图片 74" descr="麦哲思logo-横版透明底"/>
          <p:cNvPicPr>
            <a:picLocks noChangeAspect="1"/>
          </p:cNvPicPr>
          <p:nvPr userDrawn="1"/>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400"/>
                                        <p:tgtEl>
                                          <p:spTgt spid="4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slide(fromBottom)">
                                      <p:cBhvr>
                                        <p:cTn id="11" dur="400"/>
                                        <p:tgtEl>
                                          <p:spTgt spid="48"/>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image">
                                      <p:cBhvr>
                                        <p:cTn id="15" dur="400"/>
                                        <p:tgtEl>
                                          <p:spTgt spid="5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8" grpId="0"/>
      <p:bldP spid="54" grpId="0"/>
      <p:bldP spid="7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1428750"/>
            <a:ext cx="13335000" cy="9048750"/>
            <a:chOff x="0" y="-1428750"/>
            <a:chExt cx="13335000" cy="904875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1428750"/>
              <a:ext cx="5715000" cy="5715000"/>
            </a:xfrm>
            <a:prstGeom prst="ellipse">
              <a:avLst/>
            </a:prstGeom>
            <a:solidFill>
              <a:srgbClr val="FFFFFF">
                <a:alpha val="4000"/>
              </a:srgbClr>
            </a:solidFill>
            <a:ln>
              <a:noFill/>
            </a:ln>
          </p:spPr>
        </p:sp>
        <p:sp>
          <p:nvSpPr>
            <p:cNvPr id="4" name="Ellipse 4"/>
            <p:cNvSpPr/>
            <p:nvPr/>
          </p:nvSpPr>
          <p:spPr>
            <a:xfrm>
              <a:off x="0" y="3810000"/>
              <a:ext cx="3810000" cy="3810000"/>
            </a:xfrm>
            <a:prstGeom prst="ellipse">
              <a:avLst/>
            </a:prstGeom>
            <a:solidFill>
              <a:srgbClr val="FFFFFF">
                <a:alpha val="3000"/>
              </a:srgbClr>
            </a:solidFill>
            <a:ln>
              <a:noFill/>
            </a:ln>
          </p:spPr>
        </p:sp>
        <p:sp>
          <p:nvSpPr>
            <p:cNvPr id="5" name="Rectangle 5"/>
            <p:cNvSpPr/>
            <p:nvPr/>
          </p:nvSpPr>
          <p:spPr>
            <a:xfrm>
              <a:off x="0" y="0"/>
              <a:ext cx="12192000" cy="57150"/>
            </a:xfrm>
            <a:prstGeom prst="rect">
              <a:avLst/>
            </a:prstGeom>
            <a:gradFill>
              <a:gsLst>
                <a:gs pos="0">
                  <a:srgbClr val="FF6F00"/>
                </a:gs>
                <a:gs pos="100000">
                  <a:srgbClr val="FF6F00">
                    <a:alpha val="0"/>
                  </a:srgbClr>
                </a:gs>
              </a:gsLst>
              <a:lin ang="0" scaled="1"/>
            </a:gradFill>
            <a:ln>
              <a:noFill/>
            </a:ln>
          </p:spPr>
        </p:sp>
      </p:grpSp>
      <p:grpSp>
        <p:nvGrpSpPr>
          <p:cNvPr id="10" name="Group 10"/>
          <p:cNvGrpSpPr/>
          <p:nvPr/>
        </p:nvGrpSpPr>
        <p:grpSpPr>
          <a:xfrm>
            <a:off x="4953000" y="2181225"/>
            <a:ext cx="2286000" cy="1447800"/>
            <a:chOff x="4953000" y="2181225"/>
            <a:chExt cx="2286000" cy="1447800"/>
          </a:xfrm>
        </p:grpSpPr>
        <p:sp>
          <p:nvSpPr>
            <p:cNvPr id="7" name="TextBox 7"/>
            <p:cNvSpPr txBox="1"/>
            <p:nvPr/>
          </p:nvSpPr>
          <p:spPr>
            <a:xfrm>
              <a:off x="5408771" y="2181225"/>
              <a:ext cx="1374458" cy="914400"/>
            </a:xfrm>
            <a:prstGeom prst="rect">
              <a:avLst/>
            </a:prstGeom>
            <a:noFill/>
            <a:ln>
              <a:noFill/>
            </a:ln>
          </p:spPr>
          <p:txBody>
            <a:bodyPr wrap="none" lIns="0" tIns="0" rIns="0" bIns="0" anchor="t" anchorCtr="0">
              <a:spAutoFit/>
            </a:bodyPr>
            <a:lstStyle/>
            <a:p>
              <a:pPr algn="ctr"/>
              <a:r>
                <a:rPr lang="zh-CN" sz="4500" b="1" dirty="0">
                  <a:solidFill>
                    <a:srgbClr val="FFFFFF"/>
                  </a:solidFill>
                  <a:latin typeface="Segoe UI" panose="020B0502040204020203"/>
                  <a:ea typeface="微软雅黑" panose="020B0503020204020204" charset="-122"/>
                  <a:cs typeface="Segoe UI" panose="020B0502040204020203"/>
                </a:rPr>
                <a:t>谢谢</a:t>
              </a:r>
              <a:endParaRPr lang="zh-CN" sz="4500" b="1" dirty="0">
                <a:solidFill>
                  <a:srgbClr val="FFFFFF"/>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4953000" y="2905125"/>
              <a:ext cx="2286000" cy="28575"/>
            </a:xfrm>
            <a:prstGeom prst="roundRect">
              <a:avLst>
                <a:gd name="adj" fmla="val 50000"/>
              </a:avLst>
            </a:prstGeom>
            <a:solidFill>
              <a:srgbClr val="FF6F00">
                <a:alpha val="80000"/>
              </a:srgbClr>
            </a:solidFill>
            <a:ln>
              <a:noFill/>
            </a:ln>
          </p:spPr>
        </p:sp>
        <p:sp>
          <p:nvSpPr>
            <p:cNvPr id="9" name="TextBox 9"/>
            <p:cNvSpPr txBox="1"/>
            <p:nvPr/>
          </p:nvSpPr>
          <p:spPr>
            <a:xfrm>
              <a:off x="5229225" y="3202305"/>
              <a:ext cx="1733550" cy="426720"/>
            </a:xfrm>
            <a:prstGeom prst="rect">
              <a:avLst/>
            </a:prstGeom>
            <a:noFill/>
            <a:ln>
              <a:noFill/>
            </a:ln>
          </p:spPr>
          <p:txBody>
            <a:bodyPr wrap="none" lIns="0" tIns="0" rIns="0" bIns="0" anchor="t" anchorCtr="0">
              <a:spAutoFit/>
            </a:bodyPr>
            <a:lstStyle/>
            <a:p>
              <a:pPr algn="ctr"/>
              <a:r>
                <a:rPr lang="zh-CN" sz="2100" dirty="0">
                  <a:solidFill>
                    <a:srgbClr val="FFFFFF">
                      <a:alphaMod val="90000"/>
                    </a:srgbClr>
                  </a:solidFill>
                  <a:latin typeface="Segoe UI" panose="020B0502040204020203"/>
                  <a:ea typeface="微软雅黑" panose="020B0503020204020204" charset="-122"/>
                  <a:cs typeface="Segoe UI" panose="020B0502040204020203"/>
                </a:rPr>
                <a:t>欢迎提问交流</a:t>
              </a:r>
              <a:endParaRPr lang="zh-CN" sz="2100" dirty="0">
                <a:solidFill>
                  <a:srgbClr val="FFFFFF">
                    <a:alphaMod val="90000"/>
                  </a:srgbClr>
                </a:solidFill>
                <a:latin typeface="Segoe UI" panose="020B0502040204020203"/>
                <a:ea typeface="微软雅黑" panose="020B0503020204020204" charset="-122"/>
                <a:cs typeface="Segoe UI" panose="020B0502040204020203"/>
              </a:endParaRPr>
            </a:p>
          </p:txBody>
        </p:sp>
      </p:grpSp>
      <p:grpSp>
        <p:nvGrpSpPr>
          <p:cNvPr id="15" name="Group 15"/>
          <p:cNvGrpSpPr/>
          <p:nvPr/>
        </p:nvGrpSpPr>
        <p:grpSpPr>
          <a:xfrm>
            <a:off x="4252531" y="4442460"/>
            <a:ext cx="3686937" cy="1951196"/>
            <a:chOff x="4252531" y="4442460"/>
            <a:chExt cx="3686937" cy="1951196"/>
          </a:xfrm>
        </p:grpSpPr>
        <p:sp>
          <p:nvSpPr>
            <p:cNvPr id="11" name="TextBox 11"/>
            <p:cNvSpPr txBox="1"/>
            <p:nvPr/>
          </p:nvSpPr>
          <p:spPr>
            <a:xfrm>
              <a:off x="4464558" y="4442460"/>
              <a:ext cx="3262884" cy="243840"/>
            </a:xfrm>
            <a:prstGeom prst="rect">
              <a:avLst/>
            </a:prstGeom>
            <a:noFill/>
            <a:ln>
              <a:noFill/>
            </a:ln>
          </p:spPr>
          <p:txBody>
            <a:bodyPr wrap="none" lIns="0" tIns="0" rIns="0" bIns="0" anchor="t" anchorCtr="0">
              <a:spAutoFit/>
            </a:bodyPr>
            <a:lstStyle/>
            <a:p>
              <a:pPr algn="ctr"/>
              <a:r>
                <a:rPr lang="zh-CN" sz="1200" dirty="0">
                  <a:solidFill>
                    <a:srgbClr val="FFFFFF">
                      <a:alphaMod val="55000"/>
                    </a:srgbClr>
                  </a:solidFill>
                  <a:latin typeface="Segoe UI" panose="020B0502040204020203"/>
                  <a:ea typeface="微软雅黑" panose="020B0503020204020204" charset="-122"/>
                  <a:cs typeface="Segoe UI" panose="020B0502040204020203"/>
                </a:rPr>
                <a:t>AI4SE —— 人工智能时代的软件工程思想与实践</a:t>
              </a:r>
              <a:endParaRPr lang="zh-CN" sz="1200" dirty="0">
                <a:solidFill>
                  <a:srgbClr val="FFFFFF">
                    <a:alphaMod val="55000"/>
                  </a:srgbClr>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4252531" y="4728210"/>
              <a:ext cx="3686937" cy="243840"/>
            </a:xfrm>
            <a:prstGeom prst="rect">
              <a:avLst/>
            </a:prstGeom>
            <a:noFill/>
            <a:ln>
              <a:noFill/>
            </a:ln>
          </p:spPr>
          <p:txBody>
            <a:bodyPr wrap="none" lIns="0" tIns="0" rIns="0" bIns="0" anchor="t" anchorCtr="0">
              <a:spAutoFit/>
            </a:bodyPr>
            <a:lstStyle/>
            <a:p>
              <a:pPr algn="ctr"/>
              <a:r>
                <a:rPr lang="zh-CN" sz="1200" dirty="0">
                  <a:solidFill>
                    <a:srgbClr val="FFFFFF">
                      <a:alphaMod val="40000"/>
                    </a:srgbClr>
                  </a:solidFill>
                  <a:latin typeface="Segoe UI" panose="020B0502040204020203"/>
                  <a:ea typeface="微软雅黑" panose="020B0503020204020204" charset="-122"/>
                  <a:cs typeface="Segoe UI" panose="020B0502040204020203"/>
                </a:rPr>
                <a:t>从认知重塑到能力落地，构建AI时代软件工程新范式</a:t>
              </a:r>
              <a:endParaRPr lang="zh-CN" sz="1200" dirty="0">
                <a:solidFill>
                  <a:srgbClr val="FFFFFF">
                    <a:alphaMod val="40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5916692" y="6165056"/>
              <a:ext cx="358616" cy="228600"/>
            </a:xfrm>
            <a:prstGeom prst="rect">
              <a:avLst/>
            </a:prstGeom>
            <a:noFill/>
            <a:ln>
              <a:noFill/>
            </a:ln>
          </p:spPr>
          <p:txBody>
            <a:bodyPr wrap="none" lIns="0" tIns="0" rIns="0" bIns="0" anchor="t" anchorCtr="0">
              <a:spAutoFit/>
            </a:bodyPr>
            <a:lstStyle/>
            <a:p>
              <a:pPr algn="ctr"/>
              <a:r>
                <a:rPr lang="zh-CN" sz="1125" dirty="0">
                  <a:solidFill>
                    <a:srgbClr val="FFFFFF">
                      <a:alphaMod val="30000"/>
                    </a:srgbClr>
                  </a:solidFill>
                  <a:latin typeface="Segoe UI" panose="020B0502040204020203"/>
                  <a:ea typeface="微软雅黑" panose="020B0503020204020204" charset="-122"/>
                  <a:cs typeface="Segoe UI" panose="020B0502040204020203"/>
                </a:rPr>
                <a:t>2026</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gr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20823</Words>
  <Application>WPS 文字</Application>
  <PresentationFormat>On-screen Show (16:9)</PresentationFormat>
  <Paragraphs>3198</Paragraphs>
  <Slides>74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74</vt:i4>
      </vt:variant>
    </vt:vector>
  </HeadingPairs>
  <TitlesOfParts>
    <vt:vector size="90" baseType="lpstr">
      <vt:lpstr>Arial</vt:lpstr>
      <vt:lpstr>宋体</vt:lpstr>
      <vt:lpstr>Wingdings</vt:lpstr>
      <vt:lpstr>Arial</vt:lpstr>
      <vt:lpstr>Segoe UI</vt:lpstr>
      <vt:lpstr>苹方-简</vt:lpstr>
      <vt:lpstr>微软雅黑</vt:lpstr>
      <vt:lpstr>微软雅黑</vt:lpstr>
      <vt:lpstr>汉仪旗黑</vt:lpstr>
      <vt:lpstr>宋体</vt:lpstr>
      <vt:lpstr>Arial Unicode MS</vt:lpstr>
      <vt:lpstr>Calibri</vt:lpstr>
      <vt:lpstr>Helvetica Neue</vt:lpstr>
      <vt:lpstr>汉仪书宋二KW</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任甲林</cp:lastModifiedBy>
  <cp:revision>51</cp:revision>
  <dcterms:created xsi:type="dcterms:W3CDTF">2026-07-13T13:31:04Z</dcterms:created>
  <dcterms:modified xsi:type="dcterms:W3CDTF">2026-07-13T13:31:04Z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AE9086B0930C80A122D04C6A963D20A9_43</vt:lpwstr>
  </property>
  <property fmtid="{D5CDD505-2E9C-101B-9397-08002B2CF9AE}" pid="3" name="KSOProductBuildVer">
    <vt:lpwstr>2052-6.7.1.8828</vt:lpwstr>
  </property>
</Properties>
</file>