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"/>
  </p:notesMasterIdLst>
  <p:sldIdLst>
    <p:sldId id="256" r:id="rId3"/>
    <p:sldId id="257" r:id="rId4"/>
    <p:sldId id="258" r:id="rId5"/>
    <p:sldId id="259" r:id="rId6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复用是否放在管理原则中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5730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TRAINING DECK · 2026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988820"/>
            <a:ext cx="1072865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6400" b="1" i="1">
                <a:solidFill>
                  <a:srgbClr val="E8D85C"/>
                </a:solidFill>
                <a:latin typeface="微软雅黑"/>
                <a:ea typeface="微软雅黑"/>
              </a:rPr>
              <a:t>MASE v2.3 开发过程框架</a:t>
            </a:r>
            <a:endParaRPr sz="6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363474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四 Agent · 六步开发主线 · 风险自适应 · 契约与证据闭环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MASE (Measures AI Software Engineering) · v2.3.0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6" name="Picture 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背景与动机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为什么需要统一框架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过程容易失控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AI 写得快，但需求、设计、代码和测试可能各说各话</a:t>
            </a:r>
            <a:r>
              <a:rPr lang="en-US" sz="1500">
                <a:solidFill>
                  <a:srgbClr val="D0D0D0"/>
                </a:solidFill>
                <a:latin typeface="微软雅黑"/>
                <a:ea typeface="微软雅黑"/>
              </a:rPr>
              <a:t/>
            </a: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/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99178" y="20116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73498" y="22860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小事流程过重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所有 change 都套完整设计，时间花在仪式而非风险上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66836" y="20116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1156" y="22860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完成难以证明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只说“测过了”不够，需要可重放、会过期的门禁证据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5E168"/>
                </a:solidFill>
                <a:latin typeface="微软雅黑"/>
                <a:ea typeface="微软雅黑"/>
              </a:rPr>
              <a:t>目标：一套框架 — 风险决定重量，契约说明边界，证据证明完成</a:t>
            </a:r>
            <a:endParaRPr sz="2200" b="1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02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动机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3" name="Picture 12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框架全景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四 Agent · 六步开发主线 · 三种过程档位 · 可选发布附加流程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2545003" cy="11887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9963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A1 计划与统管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判断风险 → 选择过程档位 → 维护门禁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459403" y="1737360"/>
            <a:ext cx="2545003" cy="11887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33723" y="2011680"/>
            <a:ext cx="19963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A2 需求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目标 → 场景 → Spec / 原型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187287" y="1737360"/>
            <a:ext cx="2545003" cy="11887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011680"/>
            <a:ext cx="19963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A3 开发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契约 → RED → 实现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15171" y="1737360"/>
            <a:ext cx="2545003" cy="11887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89491" y="2011680"/>
            <a:ext cx="19963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A4 质量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评审 · 验证 · BUG 闭环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645920" y="370332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33756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286000" y="329184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需求 Proposal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16975" y="33375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Plan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645920" y="420624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384048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86000" y="379476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设计 Design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716975" y="384048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Plan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645920" y="470916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0" y="434340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286000" y="429768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构建 Build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716975" y="43434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Do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645920" y="521208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84632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4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86000" y="480060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验证 Verify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16975" y="484632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Check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645920" y="571500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45920" y="534924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5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286000" y="530352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复盘 Retro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716975" y="53492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Act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645920" y="621792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0" y="585216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6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286000" y="5806440"/>
            <a:ext cx="6430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完成 Complete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716975" y="5852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Evidence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03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全景图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38" name="Picture 37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核心理念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六项开发原则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9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1520" y="21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01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1520" y="24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用户价值先行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1520" y="29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先确认可见结果、边界和不做什么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367738" y="19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38" y="21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02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17738" y="24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风险与影响适配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17738" y="29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先查影响链；低风险轻量走，高风险局部升级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03956" y="19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956" y="21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03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53956" y="24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契约优先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53956" y="29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先定义公共边界、不变量和失败语义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1520" y="40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520" y="42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04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81520" y="45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测试先行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1520" y="50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从相关失败测试开始，再写最小实现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04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management-principles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22" name="Picture 21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367738" y="40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17738" y="42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05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17738" y="45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人做判断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17738" y="50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人决定目标、验收、取舍和最终接受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003956" y="4050000"/>
            <a:ext cx="3456218" cy="1750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3956" y="4220000"/>
            <a:ext cx="600000" cy="36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06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53956" y="4570000"/>
            <a:ext cx="2956218" cy="44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E8D85C"/>
                </a:solidFill>
                <a:latin typeface="微软雅黑"/>
                <a:ea typeface="微软雅黑"/>
              </a:rPr>
              <a:t>证据闭环</a:t>
            </a:r>
            <a:endParaRPr sz="2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53956" y="5080000"/>
            <a:ext cx="2956218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D0D0D0"/>
                </a:solidFill>
                <a:latin typeface="微软雅黑"/>
                <a:ea typeface="微软雅黑"/>
              </a:rPr>
              <a:t>自动门禁绑定输入、日志和当前候选</a:t>
            </a:r>
            <a:endParaRPr sz="15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开发守则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200" b="1" i="1">
                <a:solidFill>
                  <a:srgbClr val="E8D85C"/>
                </a:solidFill>
                <a:latin typeface="微软雅黑"/>
                <a:ea typeface="微软雅黑"/>
              </a:rPr>
              <a:t>工程规则</a:t>
            </a:r>
            <a:endParaRPr sz="32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8745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01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需求先确认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先说清用户看得见的结果；UI 变化再确认原型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78727" y="18745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02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10247" y="182880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影响链先行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历史代码先查调用方与隐性依赖，再决定设计深度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03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TDD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先看到相关测试失败，再写最小实现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78727" y="25146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04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10247" y="246888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硬门禁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API 契约与适用的 P0 E2E 必须通过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05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10896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根因分析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修 BUG 前先取得失败证据，写出可证伪假设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78727" y="31546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06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10247" y="310896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系统化解决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修根因、补测试、查同类问题，不遮蔽症状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" y="37947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07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4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提交节奏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按纵向工作包或 Capability 提交，不按对话次数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8727" y="37947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08</a:t>
            </a:r>
            <a:endParaRPr sz="13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10247" y="3749040"/>
            <a:ext cx="44499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备份机制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删除、回退或迁移前先 dry-run 并备份</a:t>
            </a:r>
            <a:endParaRPr sz="13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05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engineering-rules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22" name="Picture 21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核心理念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验证职责分层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六项原则落地时，让人、AI 和自动化各自承担合适职责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39333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需求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3393338" cy="2286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844698" cy="1737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E8D85C"/>
                </a:solidFill>
                <a:latin typeface="微软雅黑"/>
                <a:ea typeface="微软雅黑"/>
              </a:rPr>
              <a:t>人确认需求与验收</a:t>
            </a:r>
            <a:endParaRPr sz="2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目标、边界、取舍和最终接受由人决定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99178" y="2468880"/>
            <a:ext cx="339333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设计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99178" y="2926080"/>
            <a:ext cx="3393338" cy="2286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3498" y="3200400"/>
            <a:ext cx="2844698" cy="1737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E8D85C"/>
                </a:solidFill>
                <a:latin typeface="微软雅黑"/>
                <a:ea typeface="微软雅黑"/>
              </a:rPr>
              <a:t>AI 辅助设计评审</a:t>
            </a:r>
            <a:endParaRPr sz="2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检查遗漏、矛盾、风险和替代方案；人拍板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66836" y="2468880"/>
            <a:ext cx="339333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实现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66836" y="2926080"/>
            <a:ext cx="3393338" cy="22860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1156" y="3200400"/>
            <a:ext cx="2844698" cy="1737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E8D85C"/>
                </a:solidFill>
                <a:latin typeface="微软雅黑"/>
                <a:ea typeface="微软雅黑"/>
              </a:rPr>
              <a:t>自动化取证</a:t>
            </a:r>
            <a:endParaRPr sz="2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门禁运行器记录命令、输入、日志和结果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06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vv-strategy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6" name="Picture 1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核心理念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原则落地：三次回看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核心理念前置到开发停止点；发现偏差就回到上一份承诺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45920" y="24231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7440" y="237744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开发前：目标与验收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结果可见吗？边界合理吗？错误能恢复吗？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45920" y="33375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77440" y="329184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实现前：风险与契约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影响链清楚吗？公共边界、失败语义和取舍定义了吗？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45920" y="42519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377440" y="420624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完成前：测试与证据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测试追踪到 Spec 吗？证据绑定当前候选吗？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53949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5E168"/>
                </a:solidFill>
                <a:latin typeface="微软雅黑"/>
                <a:ea typeface="微软雅黑"/>
              </a:rPr>
              <a:t>人负责判断，AI 辅助分析，自动化提供证据；三者不能互相替代</a:t>
            </a:r>
            <a:endParaRPr sz="1600" b="0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07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no-cheating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4" name="Picture 13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7200" b="0" i="1">
                <a:solidFill>
                  <a:srgbClr val="E8D85C"/>
                </a:solidFill>
                <a:latin typeface="Georgia" panose="02040502050405090303"/>
                <a:ea typeface="Georgia" panose="02040502050405090303"/>
              </a:rPr>
              <a:t>01</a:t>
            </a:r>
            <a:endParaRPr sz="7200" b="0" i="1">
              <a:solidFill>
                <a:srgbClr val="E8D85C"/>
              </a:solidFill>
              <a:latin typeface="Georgia" panose="02040502050405090303"/>
              <a:ea typeface="Georgia" panose="02040502050405090303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8D85C"/>
                </a:solidFill>
                <a:latin typeface="微软雅黑"/>
                <a:ea typeface="微软雅黑"/>
              </a:rPr>
              <a:t>Agent 层</a:t>
            </a:r>
            <a:endParaRPr sz="4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D0D0D0"/>
                </a:solidFill>
                <a:latin typeface="微软雅黑"/>
                <a:ea typeface="微软雅黑"/>
              </a:rPr>
              <a:t>四个角色 · 一条连续流程 · 风险越高越强调独立</a:t>
            </a:r>
            <a:endParaRPr sz="20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Orchestrator + 需求 + 开发 + 质量；轻量档可由一个 Agent 连续完成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6" name="Picture 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Agent 1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计划与统管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227167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78527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核心职责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接收变更 → 判断档位与影响 → 生成门禁计划 → 路由角色 → 归档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33007" y="2011680"/>
            <a:ext cx="5227167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7327" y="2286000"/>
            <a:ext cx="4678527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门禁计划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影响超限先阻断；其余按风险列出检查、顺序与状态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D0D0D0"/>
                </a:solidFill>
                <a:latin typeface="微软雅黑"/>
                <a:ea typeface="微软雅黑"/>
              </a:rPr>
              <a:t>门禁运行器按规范命令执行检查，并绑定输入、日志、结果和证据</a:t>
            </a:r>
            <a:endParaRPr sz="20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09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agent-1 · orchestrator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1" name="Picture 10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Agent 2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需求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3120" y="19659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34640" y="1920240"/>
            <a:ext cx="7253935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需求探索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理解目的、约束和成功标准，只问会改变结果的问题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03120" y="283464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34640" y="2788920"/>
            <a:ext cx="7253935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交互原型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只有 UI 行为变化时才做，用来确认“看得见、点得动”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103120" y="37033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03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34640" y="3657600"/>
            <a:ext cx="7253935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Spec 与测试设计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Spec 写行为与允许差异；独立测试用例用 Test ID 追踪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F5E168"/>
                </a:solidFill>
                <a:latin typeface="微软雅黑"/>
                <a:ea typeface="微软雅黑"/>
              </a:rPr>
              <a:t>产出：proposal / specs + 测试设计；UI 变化时附可确认原型</a:t>
            </a:r>
            <a:endParaRPr sz="1800" b="0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10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agent-2 · requirements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3" name="Picture 12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Agent 3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开发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454298" cy="13716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2905658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8D85C"/>
                </a:solidFill>
                <a:latin typeface="微软雅黑"/>
                <a:ea typeface="微软雅黑"/>
              </a:rPr>
              <a:t>技术预研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只为未知工具链、外部依赖或高风险行为做可重跑 POC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68698" y="1828800"/>
            <a:ext cx="3454298" cy="13716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3018" y="2103120"/>
            <a:ext cx="2905658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8D85C"/>
                </a:solidFill>
                <a:latin typeface="微软雅黑"/>
                <a:ea typeface="微软雅黑"/>
              </a:rPr>
              <a:t>风险与契约驱动设计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先做影响链分析；公共边界再定义输入、输出、不变量与错误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005876" y="1828800"/>
            <a:ext cx="3454298" cy="13716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0196" y="2103120"/>
            <a:ext cx="2905658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8D85C"/>
                </a:solidFill>
                <a:latin typeface="微软雅黑"/>
                <a:ea typeface="微软雅黑"/>
              </a:rPr>
              <a:t>分级 TDD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Spec → 契约 → RED → 最小实现 → 能力验证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728655" cy="1645920"/>
          </a:xfrm>
          <a:prstGeom prst="rect">
            <a:avLst/>
          </a:prstGeom>
          <a:solidFill>
            <a:srgbClr val="34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40480"/>
            <a:ext cx="1018001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E8D85C"/>
                </a:solidFill>
                <a:latin typeface="微软雅黑"/>
                <a:ea typeface="微软雅黑"/>
              </a:rPr>
              <a:t>V&amp;V：先得到相关 RED，再让可重放证据说话</a:t>
            </a:r>
            <a:endParaRPr sz="22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4389120"/>
            <a:ext cx="101800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D0D0D0"/>
                </a:solidFill>
                <a:latin typeface="微软雅黑"/>
                <a:ea typeface="微软雅黑"/>
              </a:rPr>
              <a:t>影响分析 → 契约与失败测试 → 最小实现 → 实际差异复扫</a:t>
            </a:r>
            <a:endParaRPr sz="16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48640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F5E168"/>
                </a:solidFill>
                <a:latin typeface="微软雅黑"/>
                <a:ea typeface="微软雅黑"/>
              </a:rPr>
              <a:t>人确定验收和取舍，AI 完成调研与实现，门禁记录结果</a:t>
            </a:r>
            <a:endParaRPr sz="1400" b="0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11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agent-3 · development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6" name="Picture 1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Agent 4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质量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5227167" cy="18288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678527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设计评审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对照调用方、隐性依赖、受影响 Spec 与契约，检查遗漏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33007" y="1920240"/>
            <a:ext cx="5227167" cy="18288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7327" y="2194560"/>
            <a:ext cx="4678527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UI 评审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只有 UI 变化时检查视觉、交互、响应式和无障碍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4023360"/>
            <a:ext cx="5227167" cy="18288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97680"/>
            <a:ext cx="4678527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代码质量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实际差异复扫 + diff 评审 + API 契约 + 风险检查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33007" y="4023360"/>
            <a:ext cx="5227167" cy="18288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4297680"/>
            <a:ext cx="4678527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BUG 修复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失败证据 → 根因假设 → 系统修复 → 回归 → 同类扫描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12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agent-4 · quality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4" name="Picture 13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7200" b="0" i="1">
                <a:solidFill>
                  <a:srgbClr val="E8D85C"/>
                </a:solidFill>
                <a:latin typeface="Georgia" panose="02040502050405090303"/>
                <a:ea typeface="Georgia" panose="02040502050405090303"/>
              </a:rPr>
              <a:t>02</a:t>
            </a:r>
            <a:endParaRPr sz="7200" b="0" i="1">
              <a:solidFill>
                <a:srgbClr val="E8D85C"/>
              </a:solidFill>
              <a:latin typeface="Georgia" panose="02040502050405090303"/>
              <a:ea typeface="Georgia" panose="02040502050405090303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8D85C"/>
                </a:solidFill>
                <a:latin typeface="微软雅黑"/>
                <a:ea typeface="微软雅黑"/>
              </a:rPr>
              <a:t>阶段层</a:t>
            </a:r>
            <a:endParaRPr sz="4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D0D0D0"/>
                </a:solidFill>
                <a:latin typeface="微软雅黑"/>
                <a:ea typeface="微软雅黑"/>
              </a:rPr>
              <a:t>六步开发主线（不是状态枚举）· 连续推进 · 风险决定门禁重量</a:t>
            </a:r>
            <a:endParaRPr sz="20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Schema 九 phase：draft / proposal / design / build / verify · retro / release / complete / archived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6" name="Picture 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1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需求 Proposal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45920" y="18745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A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1828800"/>
            <a:ext cx="816833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需求探索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确认可观察目标、约束、成功标准和不做什么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45920" y="26974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B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2651760"/>
            <a:ext cx="816833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交互原型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产品有 UI 且本 change 修改 UI 时，用原型确认核心操作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352044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C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377440" y="3474720"/>
            <a:ext cx="816833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验收场景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Given / When / Then 表达典型、边界和错误路径，不机械穷举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645920" y="4572000"/>
            <a:ext cx="8899855" cy="1097280"/>
          </a:xfrm>
          <a:prstGeom prst="rect">
            <a:avLst/>
          </a:prstGeom>
          <a:solidFill>
            <a:srgbClr val="34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4846320"/>
            <a:ext cx="835121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V&amp;V：人审阅目标与关键场景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Spec 是验收行为来源；原型帮助确认 UI，但不能反向发明需求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产出：proposal / specs；有 UI 变化时附原型  |  决策：基础过程档位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14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phase-1 · proposal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2 · Layer 1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风险分诊与技术预研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轻量档（Lite）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例如：文档、小型本地工具；走最短路径和相关测试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33007" y="19202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7327" y="21945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标准档（Standard）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例如：UI、文件、外部依赖、并发或持久化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38404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严格档（Strict）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例如：鉴权、支付、监管、密钥或不可逆迁移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33007" y="38404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41148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能力局部升级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能力命中高风险时只加深该能力，不能删除硬门禁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产出：过程档位 + L1 / L2 / L3 影响等级 + 门禁计划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15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phase-2 · tech-feasibility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2 · Layer 2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按风险做设计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88720" y="2468880"/>
            <a:ext cx="98142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6596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A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28800" y="1920240"/>
            <a:ext cx="4144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architecture.md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73775" y="19659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D0D0D0"/>
                </a:solidFill>
                <a:latin typeface="Consolas"/>
                <a:ea typeface="Consolas"/>
              </a:rPr>
              <a:t>标准 / 严格档：架构、模块边界、关键取舍</a:t>
            </a:r>
            <a:endParaRPr sz="13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88720" y="3108960"/>
            <a:ext cx="98142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60604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B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8800" y="2560320"/>
            <a:ext cx="4144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contract.md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73775" y="26060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D0D0D0"/>
                </a:solidFill>
                <a:latin typeface="Consolas"/>
                <a:ea typeface="Consolas"/>
              </a:rPr>
              <a:t>API / 公共协议：输入、输出、不变量、错误语义</a:t>
            </a:r>
            <a:endParaRPr sz="13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88720" y="3749040"/>
            <a:ext cx="98142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C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28800" y="3200400"/>
            <a:ext cx="4144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tasks.md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73775" y="32461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D0D0D0"/>
                </a:solidFill>
                <a:latin typeface="Consolas"/>
                <a:ea typeface="Consolas"/>
              </a:rPr>
              <a:t>纵向工作包 + reads + verify</a:t>
            </a:r>
            <a:endParaRPr sz="13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188720" y="4389120"/>
            <a:ext cx="98142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88620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D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28800" y="3840480"/>
            <a:ext cx="4144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specs/{capability}/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73775" y="38862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D0D0D0"/>
                </a:solidFill>
                <a:latin typeface="Consolas"/>
                <a:ea typeface="Consolas"/>
              </a:rPr>
              <a:t>用户可观察的验收行为与边界</a:t>
            </a:r>
            <a:endParaRPr sz="13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188720" y="5029200"/>
            <a:ext cx="98142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4526280"/>
            <a:ext cx="640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E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414497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风险自检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73775" y="45262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D0D0D0"/>
                </a:solidFill>
                <a:latin typeface="Consolas"/>
                <a:ea typeface="Consolas"/>
              </a:rPr>
              <a:t>调用方和隐性依赖查全了吗？契约、回滚和降级一致吗？</a:t>
            </a:r>
            <a:endParaRPr sz="13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188720" y="5212080"/>
            <a:ext cx="9814255" cy="1005840"/>
          </a:xfrm>
          <a:prstGeom prst="rect">
            <a:avLst/>
          </a:prstGeom>
          <a:solidFill>
            <a:srgbClr val="34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3040" y="5486400"/>
            <a:ext cx="926561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8D85C"/>
                </a:solidFill>
                <a:latin typeface="微软雅黑"/>
                <a:ea typeface="微软雅黑"/>
              </a:rPr>
              <a:t>V&amp;V：设计深度由风险决定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300">
                <a:solidFill>
                  <a:srgbClr val="D0D0D0"/>
                </a:solidFill>
                <a:latin typeface="微软雅黑"/>
                <a:ea typeface="微软雅黑"/>
              </a:rPr>
              <a:t>轻量档不强制完整设计；复杂模型或迁移才局部加深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微软雅黑"/>
                <a:ea typeface="微软雅黑"/>
              </a:rPr>
              <a:t>设计被后续任务和测试使用，才有价值</a:t>
            </a:r>
            <a:endParaRPr sz="14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16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phase-2 · architecture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29" name="Picture 28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3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构建 Build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20240" y="1737360"/>
            <a:ext cx="9082735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D85C"/>
                </a:solidFill>
                <a:latin typeface="微软雅黑"/>
                <a:ea typeface="微软雅黑"/>
              </a:rPr>
              <a:t>先写契约测试</a:t>
            </a:r>
            <a:endParaRPr sz="19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Spec → 前置 / 后置 / 不变量 → RED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20240" y="2514600"/>
            <a:ext cx="9082735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D85C"/>
                </a:solidFill>
                <a:latin typeface="微软雅黑"/>
                <a:ea typeface="微软雅黑"/>
              </a:rPr>
              <a:t>最小实现</a:t>
            </a:r>
            <a:endParaRPr sz="19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只写让当前失败转绿的必要代码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88720" y="33375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20240" y="3291840"/>
            <a:ext cx="9082735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D85C"/>
                </a:solidFill>
                <a:latin typeface="微软雅黑"/>
                <a:ea typeface="微软雅黑"/>
              </a:rPr>
              <a:t>微循环</a:t>
            </a:r>
            <a:endParaRPr sz="19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相关 unit / contract：红 → 绿 → 重构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8720" y="41148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4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920240" y="4069080"/>
            <a:ext cx="9082735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D85C"/>
                </a:solidFill>
                <a:latin typeface="微软雅黑"/>
                <a:ea typeface="微软雅黑"/>
              </a:rPr>
              <a:t>能力验证</a:t>
            </a:r>
            <a:endParaRPr sz="19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实际差异复扫；按影响等级运行相关集成或全链路测试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88720" y="489204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5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20240" y="4846320"/>
            <a:ext cx="9082735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D85C"/>
                </a:solidFill>
                <a:latin typeface="微软雅黑"/>
                <a:ea typeface="微软雅黑"/>
              </a:rPr>
              <a:t>评审与安全</a:t>
            </a:r>
            <a:endParaRPr sz="19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400">
                <a:solidFill>
                  <a:srgbClr val="D0D0D0"/>
                </a:solidFill>
                <a:latin typeface="微软雅黑"/>
                <a:ea typeface="微软雅黑"/>
              </a:rPr>
              <a:t>风险命中才加安全、回滚或独立评审</a:t>
            </a:r>
            <a:endParaRPr sz="14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188720" y="5760720"/>
            <a:ext cx="9814255" cy="914400"/>
          </a:xfrm>
          <a:prstGeom prst="rect">
            <a:avLst/>
          </a:prstGeom>
          <a:solidFill>
            <a:srgbClr val="34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6035040"/>
            <a:ext cx="92656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V&amp;V：测试通过 = 检查已满足；仍要对照 Spec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100">
                <a:solidFill>
                  <a:srgbClr val="D0D0D0"/>
                </a:solidFill>
                <a:latin typeface="微软雅黑"/>
                <a:ea typeface="微软雅黑"/>
              </a:rPr>
              <a:t/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" y="676656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能力验证通过后再提交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17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phase-3 · build · tdd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9" name="Picture 18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4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验证 Verify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895447" y="2171700"/>
            <a:ext cx="6400800" cy="18288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2446020"/>
            <a:ext cx="58521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E8D85C"/>
                </a:solidFill>
                <a:latin typeface="微软雅黑"/>
                <a:ea typeface="微软雅黑"/>
              </a:rPr>
              <a:t>BUG 修复闭环</a:t>
            </a:r>
            <a:endParaRPr sz="2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800">
                <a:solidFill>
                  <a:srgbClr val="D0D0D0"/>
                </a:solidFill>
                <a:latin typeface="微软雅黑"/>
                <a:ea typeface="微软雅黑"/>
              </a:rPr>
              <a:t>失败证据 → 可证伪根因 → 系统修复 → 回归测试 → 同类扫描</a:t>
            </a:r>
            <a:endParaRPr sz="18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427482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F5E168"/>
                </a:solidFill>
                <a:latin typeface="微软雅黑"/>
                <a:ea typeface="微软雅黑"/>
              </a:rPr>
              <a:t>原则：不从猜测改代码 · 不遮蔽症状 · 不漏掉同类风险</a:t>
            </a:r>
            <a:endParaRPr sz="2000" b="1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91490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工具：缺陷修复流程 + 相关门禁运行器；三次错误假设后停止并补证据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18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phase-4 · verify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0" name="Picture 9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5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复盘 Retro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3120" y="20574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A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收集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本轮失败证据、评审意见、最小反例和门禁日志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03120" y="29718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B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34640" y="292608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分析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高发 BUG、测试盲区、证据 stale 原因和流程短板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103120" y="38862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C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34640" y="384048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改进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更新规则、模板、测试或 gate；不把经验只留在聊天里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D0D0D0"/>
                </a:solidFill>
                <a:latin typeface="微软雅黑"/>
                <a:ea typeface="微软雅黑"/>
              </a:rPr>
              <a:t>重大、重复或可复用的问题才沉淀；小事不强制写复盘报告</a:t>
            </a:r>
            <a:endParaRPr sz="20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19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phase-5 · retrospective · pdca-act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3" name="Picture 12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阶段 6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完成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03120" y="196596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34640" y="192024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确认开发候选稳定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影响复扫、任务、相关门禁和人工确认都完成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03120" y="278892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34640" y="274320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候选冻结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固定代码、影响产物与输入摘要；相关变化使证据过期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103120" y="36118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34640" y="356616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最终验证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门禁运行器对冻结候选跑一次适用全量测试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03120" y="443484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4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34640" y="4389120"/>
            <a:ext cx="72539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发布时启用附加流程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600">
                <a:solidFill>
                  <a:srgbClr val="D0D0D0"/>
                </a:solidFill>
                <a:latin typeface="微软雅黑"/>
                <a:ea typeface="微软雅黑"/>
              </a:rPr>
              <a:t>仅在打包、发布、部署、线上验证或恢复时启用</a:t>
            </a:r>
            <a:endParaRPr sz="16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20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300" b="0" i="0">
                <a:solidFill>
                  <a:srgbClr val="7DCED0"/>
                </a:solidFill>
                <a:latin typeface="Consolas"/>
                <a:ea typeface="Consolas"/>
              </a:rPr>
              <a:t>候选 → 制品 → 目标 → 线上 → 观察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4" name="Picture 13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证据机制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证据新鲜度闭环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Oval 3"/>
          <p:cNvSpPr/>
          <p:nvPr/>
        </p:nvSpPr>
        <p:spPr>
          <a:xfrm>
            <a:off x="1055331" y="2011680"/>
            <a:ext cx="1828800" cy="1828800"/>
          </a:xfrm>
          <a:prstGeom prst="ellipse">
            <a:avLst/>
          </a:prstGeom>
          <a:solidFill>
            <a:srgbClr val="1F2858"/>
          </a:solidFill>
          <a:ln w="254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5331" y="2011680"/>
            <a:ext cx="1828800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 i="1">
                <a:solidFill>
                  <a:srgbClr val="E8D85C"/>
                </a:solidFill>
                <a:latin typeface="Georgia" panose="02040502050405090303"/>
              </a:rPr>
              <a:t>输入</a:t>
            </a:r>
            <a:endParaRPr sz="7200" b="1" i="1">
              <a:solidFill>
                <a:srgbClr val="E8D85C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2476423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绑定检查范围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2476423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微软雅黑"/>
                <a:ea typeface="微软雅黑"/>
              </a:rPr>
              <a:t>Spec、影响链、代码、测试、配置和候选</a:t>
            </a:r>
            <a:endParaRPr sz="14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Oval 7"/>
          <p:cNvSpPr/>
          <p:nvPr/>
        </p:nvSpPr>
        <p:spPr>
          <a:xfrm>
            <a:off x="3806075" y="2011680"/>
            <a:ext cx="1828800" cy="1828800"/>
          </a:xfrm>
          <a:prstGeom prst="ellipse">
            <a:avLst/>
          </a:prstGeom>
          <a:solidFill>
            <a:srgbClr val="1F2858"/>
          </a:solidFill>
          <a:ln w="254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06075" y="2011680"/>
            <a:ext cx="1828800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 i="1">
                <a:solidFill>
                  <a:srgbClr val="E8D85C"/>
                </a:solidFill>
                <a:latin typeface="Georgia" panose="02040502050405090303"/>
              </a:rPr>
              <a:t>执行</a:t>
            </a:r>
            <a:endParaRPr sz="7200" b="1" i="1">
              <a:solidFill>
                <a:srgbClr val="E8D85C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82263" y="4023360"/>
            <a:ext cx="2476423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执行规范命令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82263" y="4480560"/>
            <a:ext cx="2476423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微软雅黑"/>
                <a:ea typeface="微软雅黑"/>
              </a:rPr>
              <a:t>执行规范命令并保存完整日志</a:t>
            </a:r>
            <a:endParaRPr sz="14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6556819" y="2011680"/>
            <a:ext cx="1828800" cy="1828800"/>
          </a:xfrm>
          <a:prstGeom prst="ellipse">
            <a:avLst/>
          </a:prstGeom>
          <a:solidFill>
            <a:srgbClr val="1F2858"/>
          </a:solidFill>
          <a:ln w="254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819" y="2011680"/>
            <a:ext cx="1828800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 i="1">
                <a:solidFill>
                  <a:srgbClr val="E8D85C"/>
                </a:solidFill>
                <a:latin typeface="Georgia" panose="02040502050405090303"/>
              </a:rPr>
              <a:t>证据</a:t>
            </a:r>
            <a:endParaRPr sz="7200" b="1" i="1">
              <a:solidFill>
                <a:srgbClr val="E8D85C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33007" y="4023360"/>
            <a:ext cx="2476423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记录可重放结果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33007" y="4480560"/>
            <a:ext cx="2476423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微软雅黑"/>
                <a:ea typeface="微软雅黑"/>
              </a:rPr>
              <a:t>记录结果、摘要、制品和执行环境</a:t>
            </a:r>
            <a:endParaRPr sz="14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307563" y="2011680"/>
            <a:ext cx="1828800" cy="1828800"/>
          </a:xfrm>
          <a:prstGeom prst="ellipse">
            <a:avLst/>
          </a:prstGeom>
          <a:solidFill>
            <a:srgbClr val="1F2858"/>
          </a:solidFill>
          <a:ln w="254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7563" y="2011680"/>
            <a:ext cx="1828800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400" b="1" i="1">
                <a:solidFill>
                  <a:srgbClr val="E8D85C"/>
                </a:solidFill>
                <a:latin typeface="Georgia" panose="02040502050405090303"/>
              </a:rPr>
              <a:t>新鲜度</a:t>
            </a:r>
            <a:endParaRPr sz="7200" b="1" i="1">
              <a:solidFill>
                <a:srgbClr val="E8D85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83751" y="4023360"/>
            <a:ext cx="2476423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E8D85C"/>
                </a:solidFill>
                <a:latin typeface="微软雅黑"/>
                <a:ea typeface="微软雅黑"/>
              </a:rPr>
              <a:t>变化即重新验证</a:t>
            </a:r>
            <a:endParaRPr sz="20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983751" y="4480560"/>
            <a:ext cx="2476423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微软雅黑"/>
                <a:ea typeface="微软雅黑"/>
              </a:rPr>
              <a:t>输入变化即过期，必须重新验证</a:t>
            </a:r>
            <a:endParaRPr sz="14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21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pdca-cycle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22" name="Picture 21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追踪机制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需求到证据的追踪链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行为留在 Spec；可执行用例独立维护；通过稳定 ID 关联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Spec 场景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用户可观察行为、边界、错误与验收条件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99178" y="24688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3498" y="27432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测试设计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Test ID、测试层级、数据与预期结果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066836" y="2468880"/>
            <a:ext cx="3393338" cy="20116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41156" y="2743200"/>
            <a:ext cx="2844698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E8D85C"/>
                </a:solidFill>
                <a:latin typeface="微软雅黑"/>
                <a:ea typeface="微软雅黑"/>
              </a:rPr>
              <a:t>可执行测试与证据</a:t>
            </a:r>
            <a:endParaRPr sz="24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测试代码独立维护；门禁记录当前结果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F5E168"/>
                </a:solidFill>
                <a:latin typeface="微软雅黑"/>
                <a:ea typeface="微软雅黑"/>
              </a:rPr>
              <a:t>Spec ID → Test ID → selector → 门禁证据  |  任一变化都可追踪</a:t>
            </a:r>
            <a:endParaRPr sz="1800" b="0" i="0">
              <a:solidFill>
                <a:srgbClr val="F5E168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22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step-back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4" name="Picture 13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项目组织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项目结构与框架边界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645920" y="274320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05740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src/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2011680"/>
            <a:ext cx="359633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E8D85C"/>
                </a:solidFill>
                <a:latin typeface="微软雅黑"/>
                <a:ea typeface="微软雅黑"/>
              </a:rPr>
              <a:t>产品代码</a:t>
            </a:r>
            <a:endParaRPr sz="24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30975" y="20574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产品仓库自有源码；不进入 MASE 框架仓库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645920" y="342900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74320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tests/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697480"/>
            <a:ext cx="359633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E8D85C"/>
                </a:solidFill>
                <a:latin typeface="微软雅黑"/>
                <a:ea typeface="微软雅黑"/>
              </a:rPr>
              <a:t>测试代码</a:t>
            </a:r>
            <a:endParaRPr sz="24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30975" y="27432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产品仓库自有测试、测试数据与适配器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645920" y="411480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42900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.mase/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383280"/>
            <a:ext cx="359633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E8D85C"/>
                </a:solidFill>
                <a:latin typeface="微软雅黑"/>
                <a:ea typeface="微软雅黑"/>
              </a:rPr>
              <a:t>门禁证据</a:t>
            </a:r>
            <a:endParaRPr sz="24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30975" y="34290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.mase/gates.yaml · tests.yaml · evidence · baseline（Brownfield）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645920" y="4800600"/>
            <a:ext cx="8899855" cy="12700"/>
          </a:xfrm>
          <a:prstGeom prst="rect">
            <a:avLst/>
          </a:prstGeom>
          <a:solidFill>
            <a:srgbClr val="44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455" y="4114800"/>
            <a:ext cx="135318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7DCED0"/>
                </a:solidFill>
                <a:latin typeface="Consolas"/>
                <a:ea typeface="Consolas"/>
              </a:rPr>
              <a:t>openspec</a:t>
            </a:r>
            <a:endParaRPr sz="18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069080"/>
            <a:ext cx="3596335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E8D85C"/>
                </a:solidFill>
                <a:latin typeface="微软雅黑"/>
                <a:ea typeface="微软雅黑"/>
              </a:rPr>
              <a:t>变更事实</a:t>
            </a:r>
            <a:endParaRPr sz="24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30975" y="4114800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400" b="0" i="0">
                <a:solidFill>
                  <a:srgbClr val="D0D0D0"/>
                </a:solidFill>
                <a:latin typeface="Consolas"/>
                <a:ea typeface="Consolas"/>
              </a:rPr>
              <a:t>proposal · specs · tasks · mase-state.yaml + framework_contract</a:t>
            </a:r>
            <a:endParaRPr sz="1400" b="0" i="0">
              <a:solidFill>
                <a:srgbClr val="D0D0D0"/>
              </a:solidFill>
              <a:latin typeface="Consolas"/>
              <a:ea typeface="Consola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边界：产品独立仓库 | 已安装 CLI + 版本化 Schema | 框架用临时采用项目自测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23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project-structure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23" name="Picture 22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工具链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Skills 矩阵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2036003" cy="32004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487363" cy="2651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需求阶段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brainstorming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UI 原型（按需）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904683" y="1920240"/>
            <a:ext cx="2036003" cy="32004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79003" y="2194560"/>
            <a:ext cx="1487363" cy="2651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设计阶段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project-planning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contract-first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design-review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77846" y="1920240"/>
            <a:ext cx="2036003" cy="32004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52166" y="2194560"/>
            <a:ext cx="1487363" cy="2651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构建阶段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TDD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PBT（按风险）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code-review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安全评审（按风险）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251009" y="1920240"/>
            <a:ext cx="2036003" cy="32004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5329" y="2194560"/>
            <a:ext cx="1487363" cy="2651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验证阶段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缺陷修复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门禁运行器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隔离环境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424172" y="1920240"/>
            <a:ext cx="2036003" cy="320040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8492" y="2194560"/>
            <a:ext cx="1487363" cy="2651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8D85C"/>
                </a:solidFill>
                <a:latin typeface="微软雅黑"/>
                <a:ea typeface="微软雅黑"/>
              </a:rPr>
              <a:t>完成 / 发布</a:t>
            </a:r>
            <a:endParaRPr sz="18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freeze / status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release-software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200">
                <a:solidFill>
                  <a:srgbClr val="D0D0D0"/>
                </a:solidFill>
                <a:latin typeface="微软雅黑"/>
                <a:ea typeface="微软雅黑"/>
              </a:rPr>
              <a:t>git-commit</a:t>
            </a:r>
            <a:endParaRPr sz="12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24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skills-matrix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6" name="Picture 1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需求阶段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需求澄清（brainstorming）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把“想做什么”变成团队可以验收的结果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用户目标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先理解为什么做、谁会使用、什么结果有价值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可见结果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用操作、输出和错误行为描述成功，不只列功能名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约束与风险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技术栈、时间、合规、不可信输入和不可逆操作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批量澄清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只问会改变验收结果的问题，减少来回打断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25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brainstorming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需求阶段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交互原型（frontend-skill）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只在 UI 行为变化时使用，让需求“看得见、点得动”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先看参考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优先沿用用户给定页面、设计系统和现有交互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确认核心流程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覆盖用户真正要操作的主路径，不追求所有装饰细节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异常也要可见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空状态、失败提示、权限不足和恢复动作要能演示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原型不是需求源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冲突时回到用户目标和 Spec，不让原型自行加需求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26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frontend-skill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设计阶段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任务与上下文规划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任务拆成可验收工作包；上下文只带真正需要的信息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纵向任务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每项从 Spec 到测试和实现，交付一个可验证结果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依赖与并行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先标出真实依赖，再并行没有共享写入的工作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上下文路由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默认只读当前 Spec、相关接口与测试、diff 和交接摘要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产出 tasks.md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每项写清 reads 与 verify，避免“做完但无法验收”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27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project-planning-expert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设计阶段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契约优先（Contract First）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先把边界说清楚，再把它变成失败测试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来自 Spec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契约只提炼已确认的行为，不凭空发明默认值或幂等性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四类内容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前置条件、后置结果、不变量和错误响应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公共边界必做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API 和公共协议必须做契约测试；内部函数按风险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建立追踪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Spec ID → Contract ID → Test ID，失败时知道哪条承诺没兑现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28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code-quality-controller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设计阶段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设计评审（design-review）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评审重点随风险变化，不让所有项目都背同样重量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风险匹配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轻量档看 diff；标准档看能力边界；严格档做独立评审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需求一致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设计是否覆盖受影响 Spec？有没有多做或漏做？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契约与失败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API、状态机、并发和资源生命周期是否说清异常语义？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回滚与恢复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迁移、配置、数据和外部依赖出错时如何回到安全状态？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29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frontend-design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构建阶段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分级 TDD 与属性测试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先跑相关检查，能力边界再扩展，最后只验证冻结候选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Micro 微循环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当前 unit / contract：确认 RED → 最小实现 → 重构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属性测试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复杂输入、解析、数值边界或状态机命中时使用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可重放失败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保存随机种子、工具版本、重放命令和收缩后的最小反例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补充而不替代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属性测试补充确定性样例，不能替代 Spec 和典型回归测试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30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tdd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构建阶段 · 技能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网页验证与隔离环境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框架定义通用契约；产品维护自己的测试、测试数据和适配器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三层浏览器测试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界面契约 · P0 关键旅程 · P1 回归测试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按能力选择 P0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已安装 MASE 选测；未映射界面保守执行全部关键旅程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确定性隔离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独立服务和数据根；测试数据结构与摘要绑定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自动诊断减负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跟踪文件、日志和分类；重试后通过仍记录为不稳定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31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技能 · 网页测试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构建阶段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代码评审（code-review）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围绕受影响行为和当前 diff，给出可执行的分级反馈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Spec 与契约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实现是否覆盖受影响行为？错误语义是否一致？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可达代码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检查显性调用、隐性依赖、资源释放、并发和错误处理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问题驱动复审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首轮无异议即结束；有问题、候选变化或证据失效时继续复审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结构化反馈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标明严重级别、证据、影响和最小修复方向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32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code-review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构建阶段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安全评审（security-review）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由风险触发，不是每个标准档 change 都做深度扫描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触发条件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不可信输入、归档、鉴权、支付、密钥或迁移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输入与权限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注入、越权、租户隔离、资源上限和失败原子性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密钥与日志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凭据不落盘、不回显；证据日志必须脱敏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迁移与回滚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先 dry-run、备份和分阶段切换，再执行不可逆动作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33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security-review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验证阶段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200" b="1" i="1">
                <a:solidFill>
                  <a:srgbClr val="E8D85C"/>
                </a:solidFill>
                <a:latin typeface="微软雅黑"/>
                <a:ea typeface="微软雅黑"/>
              </a:rPr>
              <a:t>BUG 修复闭环</a:t>
            </a:r>
            <a:endParaRPr sz="32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D0D0D0"/>
                </a:solidFill>
                <a:latin typeface="微软雅黑"/>
                <a:ea typeface="微软雅黑"/>
              </a:rPr>
              <a:t>先证明为什么坏，再修根因并防止同类问题复发</a:t>
            </a:r>
            <a:endParaRPr sz="16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01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失败证据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先复现或取日志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447973" y="210312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5133" y="224028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02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85133" y="24688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根因假设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85133" y="278892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必须可证伪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64427" y="210312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1587" y="224028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03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01587" y="24688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系统修复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01587" y="278892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不遮蔽症状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880881" y="210312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041" y="224028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04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18041" y="24688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回归测试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18041" y="278892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固化失败场景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31520" y="338328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044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05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8680" y="374904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同类扫描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8680" y="40690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查找相同风险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447973" y="338328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5133" y="352044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06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85133" y="374904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证据更新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585133" y="40690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相关 gate 重跑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64427" y="338328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1587" y="352044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301587" y="374904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停止条件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301587" y="40690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三次错假设就补证据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880881" y="3383280"/>
            <a:ext cx="2579293" cy="109728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8041" y="3520440"/>
            <a:ext cx="230497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08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18041" y="374904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E8D85C"/>
                </a:solidFill>
                <a:latin typeface="微软雅黑"/>
                <a:ea typeface="微软雅黑"/>
              </a:rPr>
              <a:t>知识沉淀</a:t>
            </a:r>
            <a:endParaRPr sz="1600" b="1" i="0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018041" y="4069080"/>
            <a:ext cx="230497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D0D0D0"/>
                </a:solidFill>
                <a:latin typeface="微软雅黑"/>
                <a:ea typeface="微软雅黑"/>
              </a:rPr>
              <a:t>重大重复才记录</a:t>
            </a:r>
            <a:endParaRPr sz="1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645920" y="4754880"/>
            <a:ext cx="8899855" cy="1280160"/>
          </a:xfrm>
          <a:prstGeom prst="rect">
            <a:avLst/>
          </a:prstGeom>
          <a:solidFill>
            <a:srgbClr val="34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20240" y="5029200"/>
            <a:ext cx="83512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E8D85C"/>
                </a:solidFill>
                <a:latin typeface="微软雅黑"/>
                <a:ea typeface="微软雅黑"/>
              </a:rPr>
              <a:t>科学修复流程</a:t>
            </a:r>
            <a:endParaRPr sz="20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复现 → 假设 → 验证 → 修根因 → 回归 → 同类扫描 → 更新证据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34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bug-fixer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41" name="Picture 40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发布阶段 · Skill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400" b="1" i="1">
                <a:solidFill>
                  <a:srgbClr val="E8D85C"/>
                </a:solidFill>
                <a:latin typeface="微软雅黑"/>
                <a:ea typeface="微软雅黑"/>
              </a:rPr>
              <a:t>提交、发布与证据</a:t>
            </a:r>
            <a:endParaRPr sz="3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2865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800" b="0" i="0">
                <a:solidFill>
                  <a:srgbClr val="D0D0D0"/>
                </a:solidFill>
                <a:latin typeface="微软雅黑"/>
                <a:ea typeface="微软雅黑"/>
              </a:rPr>
              <a:t>开发、制品、线上与观察是不同事实；输入变化时证据会过期</a:t>
            </a:r>
            <a:endParaRPr sz="18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提交与不可变制品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工作包可回滚；制品绑定身份、来源与最终内容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33007" y="237744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265176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发布状态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candidate_ready / artifact_ready / target_ready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线上验证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artifact_ready ≠ live_verified；必须走真实消费者路径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233007" y="4297680"/>
            <a:ext cx="5227167" cy="1645920"/>
          </a:xfrm>
          <a:prstGeom prst="rect">
            <a:avLst/>
          </a:prstGeom>
          <a:solidFill>
            <a:srgbClr val="1F28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572000"/>
            <a:ext cx="4678527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E8D85C"/>
                </a:solidFill>
                <a:latin typeface="微软雅黑"/>
                <a:ea typeface="微软雅黑"/>
              </a:rPr>
              <a:t>观察与恢复</a:t>
            </a:r>
            <a:endParaRPr sz="22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ctr">
              <a:lnSpc>
                <a:spcPct val="130000"/>
              </a:lnSpc>
              <a:spcBef>
                <a:spcPts val="200"/>
              </a:spcBef>
            </a:pPr>
            <a:r>
              <a:rPr sz="1500">
                <a:solidFill>
                  <a:srgbClr val="D0D0D0"/>
                </a:solidFill>
                <a:latin typeface="微软雅黑"/>
                <a:ea typeface="微软雅黑"/>
              </a:rPr>
              <a:t>观察窗口结束前保留上一版、备份和恢复控制</a:t>
            </a:r>
            <a:endParaRPr sz="15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35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skill · git-commit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5" name="Picture 14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87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快速上手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3600" b="1" i="1">
                <a:solidFill>
                  <a:srgbClr val="E8D85C"/>
                </a:solidFill>
                <a:latin typeface="微软雅黑"/>
                <a:ea typeface="微软雅黑"/>
              </a:rPr>
              <a:t>三步启动</a:t>
            </a:r>
            <a:endParaRPr sz="36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45920" y="205740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1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201168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初始化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mase init demo --profile standard --stack python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645920" y="306324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2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301752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检查并创建 change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先写 proposal / specs / tasks，再做影响链分析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4069080"/>
            <a:ext cx="548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7DCED0"/>
                </a:solidFill>
                <a:latin typeface="Consolas"/>
                <a:ea typeface="Consolas"/>
              </a:rPr>
              <a:t>3</a:t>
            </a:r>
            <a:endParaRPr sz="16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377440" y="4023360"/>
            <a:ext cx="816833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D85C"/>
                </a:solidFill>
                <a:latin typeface="微软雅黑"/>
                <a:ea typeface="微软雅黑"/>
              </a:rPr>
              <a:t>按门禁推进</a:t>
            </a:r>
            <a:endParaRPr sz="2600" b="1">
              <a:solidFill>
                <a:srgbClr val="E8D85C"/>
              </a:solidFill>
              <a:latin typeface="微软雅黑"/>
              <a:ea typeface="微软雅黑"/>
            </a:endParaRPr>
          </a:p>
          <a:p>
            <a:pPr algn="l">
              <a:lnSpc>
                <a:spcPct val="120000"/>
              </a:lnSpc>
              <a:spcBef>
                <a:spcPts val="100"/>
              </a:spcBef>
            </a:pPr>
            <a:r>
              <a:rPr sz="1700">
                <a:solidFill>
                  <a:srgbClr val="D0D0D0"/>
                </a:solidFill>
                <a:latin typeface="微软雅黑"/>
                <a:ea typeface="微软雅黑"/>
              </a:rPr>
              <a:t>mase impact status；再 gate plan / run / freeze</a:t>
            </a:r>
            <a:endParaRPr sz="170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124047" y="5394960"/>
            <a:ext cx="2743200" cy="457200"/>
          </a:xfrm>
          <a:prstGeom prst="rect">
            <a:avLst/>
          </a:prstGeom>
          <a:solidFill>
            <a:srgbClr val="2A3870"/>
          </a:solidFill>
          <a:ln w="127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4047" y="5486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命令：mase init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324447" y="5394960"/>
            <a:ext cx="2743200" cy="457200"/>
          </a:xfrm>
          <a:prstGeom prst="rect">
            <a:avLst/>
          </a:prstGeom>
          <a:solidFill>
            <a:srgbClr val="2A3870"/>
          </a:solidFill>
          <a:ln w="12700">
            <a:solidFill>
              <a:srgbClr val="E8D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4447" y="548640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7DCED0"/>
                </a:solidFill>
                <a:latin typeface="Consolas"/>
                <a:ea typeface="Consolas"/>
              </a:rPr>
              <a:t>迁移：update --dry-run</a:t>
            </a:r>
            <a:endParaRPr sz="14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36 / 37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802575" y="64008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quick-start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16" name="Picture 1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54580"/>
            <a:ext cx="1072865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6400" b="1" i="1">
                <a:solidFill>
                  <a:srgbClr val="E8D85C"/>
                </a:solidFill>
                <a:latin typeface="微软雅黑"/>
                <a:ea typeface="微软雅黑"/>
              </a:rPr>
              <a:t>谢谢</a:t>
            </a:r>
            <a:endParaRPr sz="6400" b="1" i="1">
              <a:solidFill>
                <a:srgbClr val="E8D85C"/>
              </a:solidFill>
              <a:latin typeface="微软雅黑"/>
              <a:ea typeface="微软雅黑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400050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风险决定重量，契约定义边界，证据证明完成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4549140"/>
            <a:ext cx="1072865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2200" b="0" i="0">
                <a:solidFill>
                  <a:srgbClr val="D0D0D0"/>
                </a:solidFill>
                <a:latin typeface="微软雅黑"/>
                <a:ea typeface="微软雅黑"/>
              </a:rPr>
              <a:t>影响限定修改范围，风险决定过程重量，证据证明当前结果</a:t>
            </a:r>
            <a:endParaRPr sz="2200" b="0" i="0">
              <a:solidFill>
                <a:srgbClr val="D0D0D0"/>
              </a:solidFill>
              <a:latin typeface="微软雅黑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7DCED0"/>
                </a:solidFill>
                <a:latin typeface="Consolas"/>
                <a:ea typeface="Consolas"/>
              </a:rPr>
              <a:t>MASE v2.3.0  |  training deck · 2026</a:t>
            </a:r>
            <a:endParaRPr sz="1200" b="0" i="0">
              <a:solidFill>
                <a:srgbClr val="7DCED0"/>
              </a:solidFill>
              <a:latin typeface="Consolas"/>
              <a:ea typeface="Consolas"/>
            </a:endParaRPr>
          </a:p>
        </p:txBody>
      </p:sp>
      <p:pic>
        <p:nvPicPr>
          <p:cNvPr id="6" name="Picture 5" descr="measures无色Log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2286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6694</Words>
  <Application>WPS 文字</Application>
  <PresentationFormat>On-screen Show (4:3)</PresentationFormat>
  <Paragraphs>950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3" baseType="lpstr">
      <vt:lpstr>Arial</vt:lpstr>
      <vt:lpstr>宋体</vt:lpstr>
      <vt:lpstr>Wingdings</vt:lpstr>
      <vt:lpstr>Arial</vt:lpstr>
      <vt:lpstr>Consolas</vt:lpstr>
      <vt:lpstr>苹方-简</vt:lpstr>
      <vt:lpstr>微软雅黑</vt:lpstr>
      <vt:lpstr>Georgia</vt:lpstr>
      <vt:lpstr>汉仪旗黑</vt:lpstr>
      <vt:lpstr>微软雅黑</vt:lpstr>
      <vt:lpstr>宋体</vt:lpstr>
      <vt:lpstr>Arial Unicode MS</vt:lpstr>
      <vt:lpstr>Calibri</vt:lpstr>
      <vt:lpstr>Helvetica Neue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MASE v2.3 开发过程框架</dc:title>
  <dc:creator>Measures · MASE</dc:creator>
  <dc:description>Generated from the checksum-guarded V1 template and mase-training-v2.3.yaml; canonical rules remain in runtime sources.</dc:description>
  <cp:lastModifiedBy>任甲林</cp:lastModifiedBy>
  <cp:revision>4</cp:revision>
  <dcterms:created xsi:type="dcterms:W3CDTF">2026-07-10T00:33:32Z</dcterms:created>
  <dcterms:modified xsi:type="dcterms:W3CDTF">2026-07-10T00:33:32Z</dcterms:modified>
  <dc:subject>MASE v2.3 training in the V1 teaching structure</dc:subject>
  <cp:keywords>MASE,v2.3,V1-structure,risk-adaptive,TDD,contract,evidence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505DE976D14CA001C9854D6AC01355AB_43</vt:lpwstr>
  </property>
  <property fmtid="{D5CDD505-2E9C-101B-9397-08002B2CF9AE}" pid="3" name="KSOProductBuildVer">
    <vt:lpwstr>2052-6.7.1.8828</vt:lpwstr>
  </property>
</Properties>
</file>