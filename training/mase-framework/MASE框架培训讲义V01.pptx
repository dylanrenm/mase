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573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TRAINING DECK · 2026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988820"/>
            <a:ext cx="1072865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6400" b="1" i="1">
                <a:solidFill>
                  <a:srgbClr val="E8D85C"/>
                </a:solidFill>
                <a:latin typeface="微软雅黑"/>
                <a:ea typeface="微软雅黑"/>
              </a:rPr>
              <a:t>统一开发流程框架</a:t>
            </a:r>
            <a:endParaRPr sz="6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3474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一拖三 Agent · 六阶段 · PDCA 闭环 · TDD 驱动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MASE (Measures AI Software Engineering)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背景与动机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为什么需要统一框架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规范碎片化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OpenSpec 与 Superpower 两套设计文档体系并行，内容重叠，缺乏统一入口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99178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3498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工具无编排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17 个 Skills 散落各处，没有与开发阶段显式绑定，关键环节缺自动化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66836" y="20116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41156" y="22860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规则靠手工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TDD、合规检查、代码评审等 8 条规则纯靠人工记忆，无工具化强制执行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F5E168"/>
                </a:solidFill>
                <a:latin typeface="微软雅黑"/>
                <a:ea typeface="微软雅黑"/>
              </a:rPr>
              <a:t>目标：一个框架 — 统一规范、编排工具、自动化规则</a:t>
            </a:r>
            <a:endParaRPr sz="2200" b="1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动机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框架全景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一拖三 Agent · 六阶段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A1 计划与统管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Orchestrator — 调度、门禁、发布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59403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33723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A2 需求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探索 → 原型 → Proposal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87287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A3 开发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预研 → 设计 → TDD 构建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15171" y="1737360"/>
            <a:ext cx="2545003" cy="11887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491" y="2011680"/>
            <a:ext cx="1996363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A4 质量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评审 · 扫描 · BUG 修复 · 复盘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5920" y="370332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3375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0" y="329184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需求 Proposal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716975" y="33375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Plan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420624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8404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286000" y="379476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设计 Design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16975" y="384048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Plan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645920" y="470916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34340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86000" y="429768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构建 Build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16975" y="434340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Do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645920" y="521208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84632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286000" y="480060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验证 Verify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16975" y="484632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Check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45920" y="57150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534924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5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86000" y="530352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复盘 Retro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16975" y="534924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Act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645920" y="621792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45920" y="58521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6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286000" y="5806440"/>
            <a:ext cx="6430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发布 Release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716975" y="5852160"/>
            <a:ext cx="1828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—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03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全景图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38" name="Picture 37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管理原则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小步快跑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05840" y="329184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增量开发，每次交付最小可验证单元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3007" y="201168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7327" y="228600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07327" y="274320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一拖三制衡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07327" y="329184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Orchestrator 统筹三 Agent，分工协作、相互制衡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复用优先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539496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先查可复用构件清单，杜绝重复造轮子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33007" y="411480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7327" y="4389120"/>
            <a:ext cx="7315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07327" y="484632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600" b="1" i="0">
                <a:solidFill>
                  <a:srgbClr val="E8D85C"/>
                </a:solidFill>
                <a:latin typeface="微软雅黑"/>
                <a:ea typeface="微软雅黑"/>
              </a:rPr>
              <a:t>PDCA 闭环</a:t>
            </a:r>
            <a:endParaRPr sz="2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07327" y="5394960"/>
            <a:ext cx="4678527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500" b="0" i="0">
                <a:solidFill>
                  <a:srgbClr val="D0D0D0"/>
                </a:solidFill>
                <a:latin typeface="微软雅黑"/>
                <a:ea typeface="微软雅黑"/>
              </a:rPr>
              <a:t>Plan → Do → Check → Act，每一次开发都在进化</a:t>
            </a:r>
            <a:endParaRPr sz="15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management-principles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开发守则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200" b="1" i="1">
                <a:solidFill>
                  <a:srgbClr val="E8D85C"/>
                </a:solidFill>
                <a:latin typeface="微软雅黑"/>
                <a:ea typeface="微软雅黑"/>
              </a:rPr>
              <a:t>工程规则</a:t>
            </a:r>
            <a:endParaRPr sz="32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63040" y="182880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需求澄清确认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原型确认 + 用例对齐后才进入开发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78727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10247" y="182880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设计方案先行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修改代码之前必做设计方案，杜绝拍脑袋编码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3040" y="246888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TDD 驱动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每个功能必须有自动化测试，先写测试再写代码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78727" y="25146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10247" y="246888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合规检查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每次评审必须对照 spec + design 文档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310896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根因分析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任何改错必须先找到根本原因，不碰运气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78727" y="31546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10247" y="310896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系统化解决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杜绝临时补丁，只做系统性根治方案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07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63040" y="374904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提交节奏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每 20 次对话执行一次 Git 提交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78727" y="37947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7DCED0"/>
                </a:solidFill>
                <a:latin typeface="Consolas"/>
                <a:ea typeface="Consolas"/>
              </a:rPr>
              <a:t>08</a:t>
            </a:r>
            <a:endParaRPr sz="13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10247" y="3749040"/>
            <a:ext cx="44499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备份机制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300">
                <a:solidFill>
                  <a:srgbClr val="D0D0D0"/>
                </a:solidFill>
                <a:latin typeface="微软雅黑"/>
                <a:ea typeface="微软雅黑"/>
              </a:rPr>
              <a:t>删除或回退代码前必须做备份</a:t>
            </a:r>
            <a:endParaRPr sz="13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engineering-rules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V&amp;V 分层验证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让最擅长验证的那一方去做验证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需求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人 确认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人定标准，AI穷举场景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99178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设计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99178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3498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AI 评审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人只拍板方向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66836" y="2468880"/>
            <a:ext cx="339333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实现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66836" y="2926080"/>
            <a:ext cx="3393338" cy="22860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1156" y="3200400"/>
            <a:ext cx="2844698" cy="1737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自动化 验证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人不需逐行审阅代码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vv-strategy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人不能偷懒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V&amp;V 框架只对不偷懒的人有效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5920" y="24231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7440" y="23774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审阅 GWT 不是点"确认"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逐条想：这个场景会发生吗？边界有价值吗？异常逻辑对吗？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45920" y="3337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40" y="32918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拍板方向不是随手选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问AI：为什么推荐这个？另两个坑在哪？选错最坏会怎样？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4251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77440" y="420624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步步回头不是多此一举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设计支撑所有GWT了吗？代码兑现设计了吗？偏了立刻纠正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F5E168"/>
                </a:solidFill>
                <a:latin typeface="微软雅黑"/>
                <a:ea typeface="微软雅黑"/>
              </a:rPr>
              <a:t>AI是副驾驶，方向盘在人手里 — 人不握紧，再好的车也到不了</a:t>
            </a:r>
            <a:endParaRPr sz="16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07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no-cheating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7200" b="0" i="1">
                <a:solidFill>
                  <a:srgbClr val="E8D85C"/>
                </a:solidFill>
                <a:latin typeface="Georgia" panose="02040502050405090303"/>
                <a:ea typeface="Georgia" panose="02040502050405090303"/>
              </a:rPr>
              <a:t>01</a:t>
            </a:r>
            <a:endParaRPr sz="7200" b="0" i="1">
              <a:solidFill>
                <a:srgbClr val="E8D85C"/>
              </a:solidFill>
              <a:latin typeface="Georgia" panose="02040502050405090303"/>
              <a:ea typeface="Georgia" panose="020405020504050903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8D85C"/>
                </a:solidFill>
                <a:latin typeface="微软雅黑"/>
                <a:ea typeface="微软雅黑"/>
              </a:rPr>
              <a:t>Agent 层</a:t>
            </a:r>
            <a:endParaRPr sz="4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一拖三 · 分工协作 · 制衡设计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Orchestrator + 需求 + 开发 + 质量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计划与统管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5227167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4678527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核心职责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接收需求 → 分解子任务 → 分发 Agent 2/3/4 → 把控门禁 → 最终发布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2011680"/>
            <a:ext cx="5227167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286000"/>
            <a:ext cx="4678527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关键能力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Task 编排 (project-planning-expert) · 进度跟踪 · 门禁检查 · Release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整个框架的中枢 — 不亲自编码，但决定"谁在什么时候做什么"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09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agent-1 · orchestrator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1" name="Picture 10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2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1965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需求探索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brainstorming Skill — 理解目的、约束、成功标准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8346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78892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交互原型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frontend-skill — 可交互 HTML 覆盖核心流程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7033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657600"/>
            <a:ext cx="7253935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Proposal 文档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操作流程 + 系统测试用例表 + 验收标准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5E168"/>
                </a:solidFill>
                <a:latin typeface="微软雅黑"/>
                <a:ea typeface="微软雅黑"/>
              </a:rPr>
              <a:t>产出: proposal.md + HTML原型 + 系统测试用例表</a:t>
            </a:r>
            <a:endParaRPr sz="18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10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agent-2 · requirements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3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开发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技术预研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AI调研 + 多选一方案对比(优/缺点) + POC验证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68698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3018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架构设计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architecture.md + detailed-design.md + specs/*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05876" y="1828800"/>
            <a:ext cx="3454298" cy="13716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196" y="2103120"/>
            <a:ext cx="2905658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TDD 构建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Scenario → 测试 → 实现 → 评审 → 提交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10728655" cy="164592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840480"/>
            <a:ext cx="101800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1" i="0">
                <a:solidFill>
                  <a:srgbClr val="E8D85C"/>
                </a:solidFill>
                <a:latin typeface="微软雅黑"/>
                <a:ea typeface="微软雅黑"/>
              </a:rPr>
              <a:t>V&amp;V: AI 自评 + 人拍板方向</a:t>
            </a:r>
            <a:endParaRPr sz="22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4389120"/>
            <a:ext cx="101800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0D0D0"/>
                </a:solidFill>
                <a:latin typeface="微软雅黑"/>
                <a:ea typeface="微软雅黑"/>
              </a:rPr>
              <a:t>AI 做调研给方案对比 → 人看利弊拍板 → AI 完成详细设计 → 回查 GWT 自评一致性</a:t>
            </a:r>
            <a:endParaRPr sz="16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F5E168"/>
                </a:solidFill>
                <a:latin typeface="微软雅黑"/>
                <a:ea typeface="微软雅黑"/>
              </a:rPr>
              <a:t>人把握大方向，AI负责调研+细节 — 不是人一个人想，也不是AI一个人定</a:t>
            </a:r>
            <a:endParaRPr sz="14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11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agent-3 · development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Agent 4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质量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设计评审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code-quality-controller — 架构合规、需求一致性、技术可行性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192024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19456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前端评审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frontend-design — 视觉、交互、响应式、无障碍、性能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402336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9768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代码质量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code-review (含 spec 合规+代码规约) + 安全扫描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007" y="4023360"/>
            <a:ext cx="5227167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4297680"/>
            <a:ext cx="4678527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BUG 修复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bug-fixer v3 — 根因→系统修复→测试复盘→横向扫描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agent-4 · quality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7200" b="0" i="1">
                <a:solidFill>
                  <a:srgbClr val="E8D85C"/>
                </a:solidFill>
                <a:latin typeface="Georgia" panose="02040502050405090303"/>
                <a:ea typeface="Georgia" panose="02040502050405090303"/>
              </a:rPr>
              <a:t>02</a:t>
            </a:r>
            <a:endParaRPr sz="7200" b="0" i="1">
              <a:solidFill>
                <a:srgbClr val="E8D85C"/>
              </a:solidFill>
              <a:latin typeface="Georgia" panose="02040502050405090303"/>
              <a:ea typeface="Georgia" panose="02040502050405090303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4000" b="1" i="0">
                <a:solidFill>
                  <a:srgbClr val="E8D85C"/>
                </a:solidFill>
                <a:latin typeface="微软雅黑"/>
                <a:ea typeface="微软雅黑"/>
              </a:rPr>
              <a:t>阶段层</a:t>
            </a:r>
            <a:endParaRPr sz="4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六阶段 · 层层递进 · PDCA 闭环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2976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Proposal → Design → Build → Verify → Retro → Release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需求 Proposal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18745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182880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需求探索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brainstorming — 理解目的、约束、成功标准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26974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265176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交互原型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frontend-skill — 可交互 HTML 覆盖全部核心操作流程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35204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3474720"/>
            <a:ext cx="8168335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GWT 测试用例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Given-When-Then 穷举 Happy Path + 边界 + 异常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45920" y="4572000"/>
            <a:ext cx="8899855" cy="109728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4846320"/>
            <a:ext cx="835121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V&amp;V: 人审阅 GWT 用例确认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人不读需求文档，人审阅测试用例 — GWT 精确、无歧义、可传递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产出: proposal.md + HTML原型 + GWT测试用例  |  门禁: 人确认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phase-1 · proposal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2 · Layer 1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技术预研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三张汇总表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技术难点方案、非功能需求满足、外部依赖评估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33007" y="19202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07327" y="21945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联网调研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成熟方案借鉴 + 最新技术接口 + 方案对比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38404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POC 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所有外部依赖编写验证脚本并跑通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33007" y="38404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41148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可复用构件清单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提取现有轮子，避免重复造轮子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56692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产出: tech-feasibility.md  |  工具: WebSearch + RunCommand (POC)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phase-2 · tech-feasibility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2 · Layer 2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架构设计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88720" y="246888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96596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architecture.md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73775" y="19659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架构图 · 技术栈 · 模块边界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0604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28800" y="256032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detailed-design.md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73775" y="260604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管道流程 · 数据模型 · API · 真实数据快照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88720" y="374904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24612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828800" y="320040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tasks.md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73775" y="32461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project-planning-expert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88720" y="438912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388620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D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28800" y="384048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specs/{capability}/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73775" y="388620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GWT 验收规格（来自阶段一）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88720" y="5029200"/>
            <a:ext cx="98142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526280"/>
            <a:ext cx="640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E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828800" y="4480560"/>
            <a:ext cx="414497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AI 自评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73775" y="452628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300" b="0" i="0">
                <a:solidFill>
                  <a:srgbClr val="D0D0D0"/>
                </a:solidFill>
                <a:latin typeface="Consolas"/>
                <a:ea typeface="Consolas"/>
              </a:rPr>
              <a:t>回查GWT + 接口合约一致性 + 边界降级策略</a:t>
            </a:r>
            <a:endParaRPr sz="13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188720" y="5212080"/>
            <a:ext cx="9814255" cy="100584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486400"/>
            <a:ext cx="926561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V&amp;V: AI 多轮自评 + 人拍板方向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设计评审交给AI — 不会累、不会漏、不会"差不多就行"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分层审批 · 评审后进入 Build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phase-2 · architecture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9" name="Picture 28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3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构建 Build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20240" y="173736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复用检查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对照可复用构件清单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20240" y="251460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写测试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pytest 单元测试 (来自阶段一的 GWT 用例)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33375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20240" y="329184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写实现 → 跑测试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TDD 内层：红 → 绿 → 重构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20240" y="406908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功能测试 + 多格式一致性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webapp-testing + HTML/Word/Text 关键词对比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720" y="48920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5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20240" y="4846320"/>
            <a:ext cx="9082735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E8D85C"/>
                </a:solidFill>
                <a:latin typeface="微软雅黑"/>
                <a:ea typeface="微软雅黑"/>
              </a:rPr>
              <a:t>代码评审 + 安全扫描</a:t>
            </a:r>
            <a:endParaRPr sz="19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400">
                <a:solidFill>
                  <a:srgbClr val="D0D0D0"/>
                </a:solidFill>
                <a:latin typeface="微软雅黑"/>
                <a:ea typeface="微软雅黑"/>
              </a:rPr>
              <a:t>code-review + TRAE-security-review</a:t>
            </a:r>
            <a:endParaRPr sz="14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88720" y="5760720"/>
            <a:ext cx="9814255" cy="91440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6035040"/>
            <a:ext cx="926561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V&amp;V: 自动化测试 100% 通过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GWT 用例 → 自动化测试 — 测试绿灯 = 实现正确，人不需逐行审阅代码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676656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每个 Scenario 完成 → 提交  |  门禁: 测试全通过 + 评审通过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17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phase-3 · build · tdd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9" name="Picture 18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4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验证 Verify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447" y="2171700"/>
            <a:ext cx="6400800" cy="18288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169767" y="2446020"/>
            <a:ext cx="585216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800" b="1">
                <a:solidFill>
                  <a:srgbClr val="E8D85C"/>
                </a:solidFill>
                <a:latin typeface="微软雅黑"/>
                <a:ea typeface="微软雅黑"/>
              </a:rPr>
              <a:t>BUG 修复闭环</a:t>
            </a:r>
            <a:endParaRPr sz="2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800">
                <a:solidFill>
                  <a:srgbClr val="D0D0D0"/>
                </a:solidFill>
                <a:latin typeface="微软雅黑"/>
                <a:ea typeface="微软雅黑"/>
              </a:rPr>
              <a:t>根因分析 → 系统修复 → 回归验证 → 测试反哺 → 横向扫描 → 知识沉淀</a:t>
            </a:r>
            <a:endParaRPr sz="18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27482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5E168"/>
                </a:solidFill>
                <a:latin typeface="微软雅黑"/>
                <a:ea typeface="微软雅黑"/>
              </a:rPr>
              <a:t>原则：不找到根因不放过 · 不系统修复不放过 · 不沉淀不放过</a:t>
            </a:r>
            <a:endParaRPr sz="2000" b="1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91490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工具: bug-fixer v3 (含 TRAE-debugger 运行时调试)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18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phase-4 · verify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0" name="Picture 9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5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复盘 Retro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20574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A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20116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收集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本轮 lessons / cases / 评审记录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9718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B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9260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分析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高发 BUG 类型 · 测试盲区 · 设计缺陷 · 流程短板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8862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C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84048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改进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更新 Skill 规则 · 完善模板 · 强化门禁 · 更新代码规约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D0D0D0"/>
                </a:solidFill>
                <a:latin typeface="微软雅黑"/>
                <a:ea typeface="微软雅黑"/>
              </a:rPr>
              <a:t>每一次开发都在自我进化，而非简单"做完就完"</a:t>
            </a:r>
            <a:endParaRPr sz="20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19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phase-5 · retrospective · pdca-act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3" name="Picture 1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阶段 6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发布 Release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03120" y="196596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834640" y="192024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最终合规审查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对照全部 spec + design 全量检查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03120" y="278892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640" y="274320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使用手册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自动生成 docs/user-guide.md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03120" y="36118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34640" y="356616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Git Commit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git-commit Skill — Conventional Commit + 变更摘要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03120" y="44348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4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34640" y="4389120"/>
            <a:ext cx="72539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归档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600">
                <a:solidFill>
                  <a:srgbClr val="D0D0D0"/>
                </a:solidFill>
                <a:latin typeface="微软雅黑"/>
                <a:ea typeface="微软雅黑"/>
              </a:rPr>
              <a:t>归档 OpenSpec Change，关闭开发周期</a:t>
            </a:r>
            <a:endParaRPr sz="16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20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phase-6 · release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PDCA 闭环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55331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5331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P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Plan 计划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1+2 — 需求 + 设计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Oval 7"/>
          <p:cNvSpPr/>
          <p:nvPr/>
        </p:nvSpPr>
        <p:spPr>
          <a:xfrm>
            <a:off x="3806075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6075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D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82263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Do 执行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82263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3 — TDD 微循环构建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556819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819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C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33007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Check 检查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33007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4 — 验证 + BUG 修复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307563" y="2011680"/>
            <a:ext cx="1828800" cy="1828800"/>
          </a:xfrm>
          <a:prstGeom prst="ellipse">
            <a:avLst/>
          </a:prstGeom>
          <a:solidFill>
            <a:srgbClr val="1F2858"/>
          </a:solidFill>
          <a:ln w="254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7563" y="2011680"/>
            <a:ext cx="1828800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7200" b="1" i="1">
                <a:solidFill>
                  <a:srgbClr val="E8D85C"/>
                </a:solidFill>
                <a:latin typeface="Georgia" panose="02040502050405090303"/>
              </a:rPr>
              <a:t>A</a:t>
            </a:r>
            <a:endParaRPr sz="7200" b="1" i="1">
              <a:solidFill>
                <a:srgbClr val="E8D85C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83751" y="4023360"/>
            <a:ext cx="2476423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E8D85C"/>
                </a:solidFill>
                <a:latin typeface="微软雅黑"/>
                <a:ea typeface="微软雅黑"/>
              </a:rPr>
              <a:t>Act 改进</a:t>
            </a:r>
            <a:endParaRPr sz="20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83751" y="4480560"/>
            <a:ext cx="2476423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微软雅黑"/>
                <a:ea typeface="微软雅黑"/>
              </a:rPr>
              <a:t>阶段 5 — 复盘 + 系统进化</a:t>
            </a:r>
            <a:endParaRPr sz="14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21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pdca-cycle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2" name="Picture 21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核心理念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步步回头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每一步往前走之前，回头看一眼上一步的承诺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需求 GWT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整个流水线的唯一真相源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99178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3498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设计文档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接口合约一致吗？边界有降级吗？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66836" y="2468880"/>
            <a:ext cx="3393338" cy="20116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1156" y="2743200"/>
            <a:ext cx="2844698" cy="1463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400" b="1">
                <a:solidFill>
                  <a:srgbClr val="E8D85C"/>
                </a:solidFill>
                <a:latin typeface="微软雅黑"/>
                <a:ea typeface="微软雅黑"/>
              </a:rPr>
              <a:t>代码实现</a:t>
            </a:r>
            <a:endParaRPr sz="24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测试来自GWT，绿灯即正确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F5E168"/>
                </a:solidFill>
                <a:latin typeface="微软雅黑"/>
                <a:ea typeface="微软雅黑"/>
              </a:rPr>
              <a:t>需求 GWT ──→ 设计文档 ──→ 代码实现  |  每一步回头对照，偏了立刻纠正</a:t>
            </a:r>
            <a:endParaRPr sz="1800" b="0" i="0">
              <a:solidFill>
                <a:srgbClr val="F5E168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step-back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4" name="Picture 13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项目组织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目录结构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45920" y="27432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574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src/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34640" y="20116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产品代码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30975" y="20574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按 capability 分模块 · 子目录分层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45920" y="34290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7432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tests/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34640" y="26974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测试代码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30975" y="27432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镜像 src/ · unit / integration / fixtures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645920" y="41148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42900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docs/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34640" y="33832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文档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30975" y="34290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user-guide · lessons · cases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4800600"/>
            <a:ext cx="8899855" cy="12700"/>
          </a:xfrm>
          <a:prstGeom prst="rect">
            <a:avLst/>
          </a:prstGeom>
          <a:solidFill>
            <a:srgbClr val="44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81455" y="4114800"/>
            <a:ext cx="1353185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7DCED0"/>
                </a:solidFill>
                <a:latin typeface="Consolas"/>
                <a:ea typeface="Consolas"/>
              </a:rPr>
              <a:t>openspec/</a:t>
            </a:r>
            <a:endParaRPr sz="18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34640" y="4069080"/>
            <a:ext cx="359633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E8D85C"/>
                </a:solidFill>
                <a:latin typeface="微软雅黑"/>
                <a:ea typeface="微软雅黑"/>
              </a:rPr>
              <a:t>规范文档</a:t>
            </a:r>
            <a:endParaRPr sz="24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30975" y="411480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400" b="0" i="0">
                <a:solidFill>
                  <a:srgbClr val="D0D0D0"/>
                </a:solidFill>
                <a:latin typeface="Consolas"/>
                <a:ea typeface="Consolas"/>
              </a:rPr>
              <a:t>proposal · design · specs · tasks</a:t>
            </a:r>
            <a:endParaRPr sz="1400" b="0" i="0">
              <a:solidFill>
                <a:srgbClr val="D0D0D0"/>
              </a:solidFill>
              <a:latin typeface="Consolas"/>
              <a:ea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规则: 每类文件唯一位置 | 镜像原则 | Capability 对齐 | 根目录整洁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23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project-structure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23" name="Picture 22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工具链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Skills 矩阵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需求阶段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brainstorming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frontend-skill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904683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79003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设计阶段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code-quality-controller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frontend-design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project-planning-expert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77846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52166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构建阶段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test-driven-development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webapp-testing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code-review(含合规)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TRAE-security-review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251009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329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验证阶段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bug-fixer v3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(含 TRAE-debugger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运行时调试)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424172" y="1920240"/>
            <a:ext cx="2036003" cy="320040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8492" y="2194560"/>
            <a:ext cx="1487363" cy="2651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E8D85C"/>
                </a:solidFill>
                <a:latin typeface="微软雅黑"/>
                <a:ea typeface="微软雅黑"/>
              </a:rPr>
              <a:t>发布阶段</a:t>
            </a:r>
            <a:endParaRPr sz="18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git-commit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code-review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200">
                <a:solidFill>
                  <a:srgbClr val="D0D0D0"/>
                </a:solidFill>
                <a:latin typeface="微软雅黑"/>
                <a:ea typeface="微软雅黑"/>
              </a:rPr>
              <a:t>(最终合规)</a:t>
            </a:r>
            <a:endParaRPr sz="12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skills-matrix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需求阶段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brainstorming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探索用户意图、澄清需求边界、对齐成功标准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意图探索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理解用户的真实目的与核心诉求，而非表面功能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约束识别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技术栈、时间、资源、合规等限制条件梳理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可选方案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多方案对比，引导用户做出知情决策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成功标准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可验证的验收条件，为后续 Gherkin 打基础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brainstorming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需求阶段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frontend-skill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生成可交互HTML原型，让需求"看得见、点得动"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快速原型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覆盖核心操作流程的可交互HTML页面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视觉确认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可视化确认需求，避免文字描述歧义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操作流程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端到端操作路径复现，验证业务逻辑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快速迭代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基于反馈即时修改原型，低沟通成本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frontend-skill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project-planning-expert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将模糊需求转化为结构化、可执行的任务分解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任务分解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按 Capability 拆分子任务，粒度可控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依赖排序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识别任务间依赖，确定执行先后顺序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并行识别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标记可并行任务，支持多Agent协作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产出 tasks.md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结构化任务清单，供 Agent 1 编排调度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27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project-planning-expert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code-quality-controller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设计评审：SOLID原则 · GRASP模式 · 架构合规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需求一致性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对照 proposal 检查设计是否完整覆盖需求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设计质量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SOLID / GRASP 原则评审，识别代码坏味道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测试覆盖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检查 spec 覆盖率、边界条件、异常路径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可复用提取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识别可抽取构件，更新复用构件库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28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code-quality-controller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设计阶段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frontend-design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前端设计评审：视觉规范 · 交互逻辑 · 性能指标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视觉合规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色彩、字体、间距、响应式是否符合设计系统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交互审查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操作流程是否顺畅，异常状态是否覆盖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无障碍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a11y 检查：语义化、焦点、色彩对比度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性能评估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加载速度、资源体积、渲染性能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29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frontend-design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test-driven-development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TDD 微循环：先写测试 → 再写实现 → 重构优化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外层契约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基于 Gherkin spec 编写 pytest 测试骨架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红 → 绿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先写失败测试 → 最小实现使其通过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重构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消除重复、优化结构，保持测试全绿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最小单元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每次只实现一个 Scenario，小步快跑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30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tdd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webapp-testing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Playwright 驱动的 Web 应用功能测试与调试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浏览器自动化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Playwright 操控真实浏览器执行操作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功能验证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点击、输入、跳转、断言页面状态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截图对比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捕获页面截图，辅助 UI 回归检测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日志调试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查看浏览器控制台日志，快速定位问题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31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webapp-testing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code-review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多轮多代理并行评审 · spec合规 · 代码规约检查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Spec 合规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对照 spec 逐条检查实现是否完整覆盖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代码规约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命名、结构、错误处理、类型安全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并行评审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多代理并发检查不同维度，提升效率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结构化反馈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按严重程度分级输出，支持门禁判断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32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code-review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构建阶段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TRAE-security-review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代码安全漏洞扫描与安全最佳实践审查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漏洞扫描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注入攻击、XSS、CSRF、敏感信息泄露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依赖审计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第三方库已知漏洞检查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权限模型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认证、授权、会话管理的安全性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安全规约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加密、日志脱敏、输入校验等最佳实践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33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security-review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验证阶段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200" b="1" i="1">
                <a:solidFill>
                  <a:srgbClr val="E8D85C"/>
                </a:solidFill>
                <a:latin typeface="微软雅黑"/>
                <a:ea typeface="微软雅黑"/>
              </a:rPr>
              <a:t>bug-fixer v3</a:t>
            </a:r>
            <a:endParaRPr sz="32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D0D0D0"/>
                </a:solidFill>
                <a:latin typeface="微软雅黑"/>
                <a:ea typeface="微软雅黑"/>
              </a:rPr>
              <a:t>八大原则驱动的BUG修复闭环 · 含运行时调试</a:t>
            </a:r>
            <a:endParaRPr sz="16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01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根因分析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再动手修复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447973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5133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02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5133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系统化方案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85133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杜绝临时补丁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164427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1587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03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1587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回归验证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1587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通过才算修好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880881" y="210312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8041" y="224028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04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18041" y="24688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测试反哺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018041" y="278892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补测试+回写GWT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05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横向扫描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一并修复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447973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5133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85133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知识沉淀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85133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避免重犯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64427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1587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01587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三不放过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01587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·未沉淀不放过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880881" y="3383280"/>
            <a:ext cx="2579293" cy="109728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8041" y="3520440"/>
            <a:ext cx="2304973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08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018041" y="374904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E8D85C"/>
                </a:solidFill>
                <a:latin typeface="微软雅黑"/>
                <a:ea typeface="微软雅黑"/>
              </a:rPr>
              <a:t>运行时调试</a:t>
            </a:r>
            <a:endParaRPr sz="1600" b="1" i="0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018041" y="4069080"/>
            <a:ext cx="2304973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D0D0D0"/>
                </a:solidFill>
                <a:latin typeface="微软雅黑"/>
                <a:ea typeface="微软雅黑"/>
              </a:rPr>
              <a:t>科学调试流程</a:t>
            </a:r>
            <a:endParaRPr sz="1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645920" y="4754880"/>
            <a:ext cx="8899855" cy="1280160"/>
          </a:xfrm>
          <a:prstGeom prst="rect">
            <a:avLst/>
          </a:prstGeom>
          <a:solidFill>
            <a:srgbClr val="34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5029200"/>
            <a:ext cx="835121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000" b="1">
                <a:solidFill>
                  <a:srgbClr val="E8D85C"/>
                </a:solidFill>
                <a:latin typeface="微软雅黑"/>
                <a:ea typeface="微软雅黑"/>
              </a:rPr>
              <a:t>scientific debugging 流程</a:t>
            </a:r>
            <a:endParaRPr sz="20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假设 → 插桩 → 复现 → 分析 → 修复 → 回归验证 → 沉淀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34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bug-fixer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41" name="Picture 40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发布阶段 · Skill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400" b="1" i="1">
                <a:solidFill>
                  <a:srgbClr val="E8D85C"/>
                </a:solidFill>
                <a:latin typeface="微软雅黑"/>
                <a:ea typeface="微软雅黑"/>
              </a:rPr>
              <a:t>git-commit</a:t>
            </a:r>
            <a:endParaRPr sz="3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800" b="0" i="0">
                <a:solidFill>
                  <a:srgbClr val="D0D0D0"/>
                </a:solidFill>
                <a:latin typeface="微软雅黑"/>
                <a:ea typeface="微软雅黑"/>
              </a:rPr>
              <a:t>Conventional Commit · 智能暂存 · 消息自动生成</a:t>
            </a:r>
            <a:endParaRPr sz="18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类型自动推断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根据 diff 分析 feat/fix/refactor 等类型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33007" y="237744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265176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范围识别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从变更路径自动提取 scope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消息生成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Conventional Commit 格式的提交信息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33007" y="4297680"/>
            <a:ext cx="5227167" cy="1645920"/>
          </a:xfrm>
          <a:prstGeom prst="rect">
            <a:avLst/>
          </a:prstGeom>
          <a:solidFill>
            <a:srgbClr val="1F2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4572000"/>
            <a:ext cx="4678527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</a:pPr>
            <a:r>
              <a:rPr sz="2200" b="1">
                <a:solidFill>
                  <a:srgbClr val="E8D85C"/>
                </a:solidFill>
                <a:latin typeface="微软雅黑"/>
                <a:ea typeface="微软雅黑"/>
              </a:rPr>
              <a:t>智能分组</a:t>
            </a:r>
            <a:endParaRPr sz="22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ctr">
              <a:lnSpc>
                <a:spcPct val="130000"/>
              </a:lnSpc>
              <a:spcBef>
                <a:spcPts val="200"/>
              </a:spcBef>
            </a:pPr>
            <a:r>
              <a:rPr sz="1500">
                <a:solidFill>
                  <a:srgbClr val="D0D0D0"/>
                </a:solidFill>
                <a:latin typeface="微软雅黑"/>
                <a:ea typeface="微软雅黑"/>
              </a:rPr>
              <a:t>按逻辑分组暂存，避免大杂烩提交</a:t>
            </a:r>
            <a:endParaRPr sz="15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35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skill · git-commit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5" name="Picture 14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38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快速上手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3600" b="1" i="1">
                <a:solidFill>
                  <a:srgbClr val="E8D85C"/>
                </a:solidFill>
                <a:latin typeface="微软雅黑"/>
                <a:ea typeface="微软雅黑"/>
              </a:rPr>
              <a:t>三步启动</a:t>
            </a:r>
            <a:endParaRPr sz="36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45920" y="205740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1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377440" y="201168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复制模板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cp -r openspec/changes/_template/ openspec/changes/{project}/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5920" y="306324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2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77440" y="301752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创建目录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按 STRUCTURE.md 创建 src/ tests/ docs/ 分组目录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45920" y="4069080"/>
            <a:ext cx="548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7DCED0"/>
                </a:solidFill>
                <a:latin typeface="Consolas"/>
                <a:ea typeface="Consolas"/>
              </a:rPr>
              <a:t>3</a:t>
            </a:r>
            <a:endParaRPr sz="16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77440" y="4023360"/>
            <a:ext cx="816833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D85C"/>
                </a:solidFill>
                <a:latin typeface="微软雅黑"/>
                <a:ea typeface="微软雅黑"/>
              </a:rPr>
              <a:t>发起需求</a:t>
            </a:r>
            <a:endParaRPr sz="2600" b="1">
              <a:solidFill>
                <a:srgbClr val="E8D85C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700">
                <a:solidFill>
                  <a:srgbClr val="D0D0D0"/>
                </a:solidFill>
                <a:latin typeface="微软雅黑"/>
                <a:ea typeface="微软雅黑"/>
              </a:rPr>
              <a:t>对 AI 说："创建新项目 {name}" — 框架自动运转</a:t>
            </a:r>
            <a:endParaRPr sz="170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24047" y="5394960"/>
            <a:ext cx="2743200" cy="457200"/>
          </a:xfrm>
          <a:prstGeom prst="rect">
            <a:avLst/>
          </a:prstGeom>
          <a:solidFill>
            <a:srgbClr val="2A3870"/>
          </a:solidFill>
          <a:ln w="127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4047" y="5486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命令: "创建新项目"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24447" y="5394960"/>
            <a:ext cx="2743200" cy="457200"/>
          </a:xfrm>
          <a:prstGeom prst="rect">
            <a:avLst/>
          </a:prstGeom>
          <a:solidFill>
            <a:srgbClr val="2A3870"/>
          </a:solidFill>
          <a:ln w="12700">
            <a:solidFill>
              <a:srgbClr val="E8D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4447" y="548640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400" b="0" i="0">
                <a:solidFill>
                  <a:srgbClr val="7DCED0"/>
                </a:solidFill>
                <a:latin typeface="Consolas"/>
                <a:ea typeface="Consolas"/>
              </a:rPr>
              <a:t>命令: "复盘总结"</a:t>
            </a:r>
            <a:endParaRPr sz="14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36 / 37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02575" y="64008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quick-start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16" name="Picture 1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85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54580"/>
            <a:ext cx="1072865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6400" b="1" i="1">
                <a:solidFill>
                  <a:srgbClr val="E8D85C"/>
                </a:solidFill>
                <a:latin typeface="微软雅黑"/>
                <a:ea typeface="微软雅黑"/>
              </a:rPr>
              <a:t>谢谢</a:t>
            </a:r>
            <a:endParaRPr sz="6400" b="1" i="1">
              <a:solidFill>
                <a:srgbClr val="E8D85C"/>
              </a:solidFill>
              <a:latin typeface="微软雅黑"/>
              <a:ea typeface="微软雅黑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00050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每一次开发都是一次进化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4549140"/>
            <a:ext cx="1072865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2200" b="0" i="0">
                <a:solidFill>
                  <a:srgbClr val="D0D0D0"/>
                </a:solidFill>
                <a:latin typeface="微软雅黑"/>
                <a:ea typeface="微软雅黑"/>
              </a:rPr>
              <a:t>PDCA 不是终点，是起点</a:t>
            </a:r>
            <a:endParaRPr sz="2200" b="0" i="0">
              <a:solidFill>
                <a:srgbClr val="D0D0D0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7DCED0"/>
                </a:solidFill>
                <a:latin typeface="Consolas"/>
                <a:ea typeface="Consolas"/>
              </a:rPr>
              <a:t>unified-dev-framework  |  training deck · 2026</a:t>
            </a:r>
            <a:endParaRPr sz="1200" b="0" i="0">
              <a:solidFill>
                <a:srgbClr val="7DCED0"/>
              </a:solidFill>
              <a:latin typeface="Consolas"/>
              <a:ea typeface="Consolas"/>
            </a:endParaRPr>
          </a:p>
        </p:txBody>
      </p:sp>
      <p:pic>
        <p:nvPicPr>
          <p:cNvPr id="6" name="Picture 5" descr="measures无色Log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22860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6695</Words>
  <Application>WPS 文字</Application>
  <PresentationFormat>On-screen Show (4:3)</PresentationFormat>
  <Paragraphs>950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3" baseType="lpstr">
      <vt:lpstr>Arial</vt:lpstr>
      <vt:lpstr>宋体</vt:lpstr>
      <vt:lpstr>Wingdings</vt:lpstr>
      <vt:lpstr>Arial</vt:lpstr>
      <vt:lpstr>Consolas</vt:lpstr>
      <vt:lpstr>苹方-简</vt:lpstr>
      <vt:lpstr>微软雅黑</vt:lpstr>
      <vt:lpstr>Georgia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任甲林</cp:lastModifiedBy>
  <cp:revision>3</cp:revision>
  <dcterms:created xsi:type="dcterms:W3CDTF">2026-07-07T23:03:37Z</dcterms:created>
  <dcterms:modified xsi:type="dcterms:W3CDTF">2026-07-07T23:03:37Z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505DE976D14CA001C9854D6AC01355AB_43</vt:lpwstr>
  </property>
  <property fmtid="{D5CDD505-2E9C-101B-9397-08002B2CF9AE}" pid="3" name="KSOProductBuildVer">
    <vt:lpwstr>2052-6.7.1.8828</vt:lpwstr>
  </property>
</Properties>
</file>